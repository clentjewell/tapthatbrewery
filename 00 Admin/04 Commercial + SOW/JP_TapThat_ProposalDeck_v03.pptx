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Tap That is not in the beer business.</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It is in home entertainment, and in the business of bringing people together. The product does not just put beer in a glass at home. It turns an ordinary get-together into an occasion worth hosting.</a:t>
            </a:r>
          </a:p>
          <a:p>
            <a:pPr algn="l">
              <a:lnSpc>
                <a:spcPct val="150000"/>
              </a:lnSpc>
              <a:spcAft>
                <a:spcPts val="800"/>
              </a:spcAft>
            </a:pPr>
            <a:r>
              <a:rPr sz="1400" b="0">
                <a:solidFill>
                  <a:srgbClr val="111111"/>
                </a:solidFill>
                <a:latin typeface="Poppins"/>
              </a:rPr>
              <a:t>Every household deserves beer on tap stays as the ambition. It describes what you want to be true rather than why anyone buys. The brand idea sits underneath it, and it is the one that sells.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WHAT IT CHANGES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A design brief as much as a marketing one.</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If the category is home entertainment, a keg system belongs beside the outdoor kitchen, the high-end barbecue and the coffee machine, rather than beside the bar fridge.</a:t>
            </a:r>
          </a:p>
          <a:p>
            <a:pPr algn="l">
              <a:lnSpc>
                <a:spcPct val="150000"/>
              </a:lnSpc>
              <a:spcAft>
                <a:spcPts val="800"/>
              </a:spcAft>
            </a:pPr>
            <a:r>
              <a:rPr sz="1400" b="0">
                <a:solidFill>
                  <a:srgbClr val="111111"/>
                </a:solidFill>
                <a:latin typeface="Poppins"/>
              </a:rPr>
              <a:t>The systems on the market today read as appliances. Stand one next to a premium outdoor kitchen and it looks like equipment rather than something you chose. The comparison worth studying is the premium filtered-water tap: people pay for it because it looks right on the bench and they show it to visitors.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THE LINE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best night in, on tap.</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Chosen on 24 September from three drafts. It leans on occasion and hosting, which is the closest of the three to the idea underneath it and the easiest to build a campaign around.</a:t>
            </a:r>
          </a:p>
          <a:p>
            <a:pPr algn="l">
              <a:lnSpc>
                <a:spcPct val="150000"/>
              </a:lnSpc>
              <a:spcAft>
                <a:spcPts val="800"/>
              </a:spcAft>
            </a:pPr>
            <a:r>
              <a:rPr sz="1400" b="0">
                <a:solidFill>
                  <a:srgbClr val="111111"/>
                </a:solidFill>
                <a:latin typeface="Poppins"/>
              </a:rPr>
              <a:t>The two it beat name arguments the work still has to carry: social proof and the be-the-envy-of-your-friends register, and the beer quality argument for the people who buy on taste. Christy works the line into key messaging inside 30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programme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ticketed music and local business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The lead priority. They have bought the hardware and overcome every objection already.</a:t>
            </a:r>
          </a:p>
        </p:txBody>
      </p:sp>
      <p:graphicFrame>
        <p:nvGraphicFramePr>
          <p:cNvPr id="5" name="Table 4"/>
          <p:cNvGraphicFramePr>
            <a:graphicFrameLocks noGrp="1"/>
          </p:cNvGraphicFramePr>
          <p:nvPr/>
        </p:nvGraphicFramePr>
        <p:xfrm>
          <a:off x="914400" y="2880360"/>
          <a:ext cx="10362893" cy="316773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National retail,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Harvey Norman, JB Hi-Fi and The Good Guys. A gift-with-purchase or first keg free at franchisee level, plus the buyer database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lead priority. 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offer conditions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Compatibility check, one offer per household or venue, proof of ownership, liquor promotion wording, Meta targeting 18 and over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graphicFrame>
        <p:nvGraphicFramePr>
          <p:cNvPr id="4" name="Table 3"/>
          <p:cNvGraphicFramePr>
            <a:graphicFrameLocks noGrp="1"/>
          </p:cNvGraphicFramePr>
          <p:nvPr/>
        </p:nvGraphicFramePr>
        <p:xfrm>
          <a:off x="914400" y="2194560"/>
          <a:ext cx="10362893" cy="395447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reward worth passing on does. Rebuilt around a free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Internal 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same mechanic pointed at keg system sales, for the team and for existing customers. Tracked so it can be paid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Never Quit and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and the tracking that lets you pay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Hosted tasting nights, to test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test, not a commitment. An owner hosts at home and earns a free keg or credit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Service networks,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East coast technician routes already visiting thousands of businesses. A referral on a service visit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graphicFrame>
        <p:nvGraphicFramePr>
          <p:cNvPr id="4" name="Table 3"/>
          <p:cNvGraphicFramePr>
            <a:graphicFrameLocks noGrp="1"/>
          </p:cNvGraphicFramePr>
          <p:nvPr/>
        </p:nvGraphicFramePr>
        <p:xfrm>
          <a:off x="914400" y="2194560"/>
          <a:ext cx="10362893" cy="359931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Oktoberfest and the giveaway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first dated event. Campaign, artwork, entry mechanics into the CRM, and the follow-up that converts entries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Ticketed music and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replicable calendar, with the promotion built once and reused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Party rental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system in a house for a weekend is a demo the host runs. A keg guarantee replaces the $75 barrier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Membership redesign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programme serving the refill business, not two serving two shapes. Two posters quote different prices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2482588"/>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Settled: the best night in, on tap. Christy works it into key messaging and into every brief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Oktoberfest, the switcher, the referral programme, the ambassadors and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BEYOND THIS ENGAGEMENT</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Two of these are briefs, not the work itself.</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Designing for her, and the unit as an object worth owning. Acting on either is product and industrial design, with different people in it and a different order of spend.</a:t>
            </a:r>
          </a:p>
          <a:p>
            <a:pPr algn="l">
              <a:lnSpc>
                <a:spcPct val="150000"/>
              </a:lnSpc>
              <a:spcAft>
                <a:spcPts val="800"/>
              </a:spcAft>
            </a:pPr>
            <a:r>
              <a:rPr sz="1400" b="0">
                <a:solidFill>
                  <a:srgbClr val="111111"/>
                </a:solidFill>
                <a:latin typeface="Poppins"/>
              </a:rPr>
              <a:t>Both are scoped separately in the Product Design Brief, at /product-design-brief. They are concepts at this stage, not work booked into a horizon, which is why neither carries a date in the workstreams.</a:t>
            </a:r>
          </a:p>
        </p:txBody>
      </p:sp>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The decision it needs first is whether Tap That makes hardware, specifies it with a manufacturer, or licences the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Oktoberfest run, giveaway entries in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TIMELINE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On your ladder, not ours.</a:t>
            </a:r>
          </a:p>
        </p:txBody>
      </p:sp>
      <p:graphicFrame>
        <p:nvGraphicFramePr>
          <p:cNvPr id="4" name="Table 3"/>
          <p:cNvGraphicFramePr>
            <a:graphicFrameLocks noGrp="1"/>
          </p:cNvGraphicFramePr>
          <p:nvPr/>
        </p:nvGraphicFramePr>
        <p:xfrm>
          <a:off x="914400" y="2194560"/>
          <a:ext cx="10362895" cy="2507772"/>
        </p:xfrm>
        <a:graphic>
          <a:graphicData uri="http://schemas.openxmlformats.org/drawingml/2006/table">
            <a:tbl>
              <a:tblPr firstRow="0" bandRow="0">
                <a:tableStyleId>{2D5ABB26-0587-4C30-8999-92F81FD0307C}</a:tableStyleId>
              </a:tblPr>
              <a:tblGrid>
                <a:gridCol w="1761692"/>
                <a:gridCol w="8601203"/>
              </a:tblGrid>
              <a:tr h="274320">
                <a:tc>
                  <a:txBody>
                    <a:bodyPr wrap="square"/>
                    <a:lstStyle/>
                    <a:p>
                      <a:pPr>
                        <a:lnSpc>
                          <a:spcPct val="134000"/>
                        </a:lnSpc>
                      </a:pPr>
                      <a:r>
                        <a:rPr sz="900" b="0" spc="200">
                          <a:solidFill>
                            <a:srgbClr val="666666"/>
                          </a:solidFill>
                          <a:latin typeface="Poppins"/>
                        </a:rPr>
                        <a:t>HORIZON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IS TRUE AT THE END OF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30 days
Mid-October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Showroom or event space decided, and the Jewell split agreed. Messaging and journey signed on the home entertainment position. KPIs and the weekly rhythm set. Oktoberfest run. The 250 date chosen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 months
Mid-December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Website and SEM live. GoTab and Fishbowl connected, CRM triggers replacing the 90-day SMS. Lease-to-buy and delivery launched. Referral programme live, with trades carrying cards. Wholesale pipeline in the CRM. Next hire decided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6 months
March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 active keg refillers, or December if you take the Christmas date. Weddings and functions selling. Membership redesigned. Designing-for-her and hardware-as-object briefs in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1 year
September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and online driving most system sales. Replicable events calendar running. Cashflow positive, Justin on a wage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Three years, five years and the exit sit on the summary sheet. This covers the first year of the climb.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2507772"/>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Foundation builds. Website rebuild with the buy path and proof pages, SEM set-up, trigger-based CRM with segments, three campaign landing pages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$9,250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Programme design. Switcher offer and partner approach, referral programme, wholesale structure and hire brief, key messaging and the customer journey, Oktoberfest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$8,500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Running the sprint, three months. SEM and Meta management, JVP and wholesale outreach, content and artwork, the rhythm and the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$3,250 a month, $9,750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50% on acceptance, 50% at the mid-December review. Stop or continue at that review. The line fees are the standard rate and sum to $27,500; the discount is applied to the total.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thirteen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2177789"/>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Everything in Option A, delivered in the first three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Months four to twelve. Weddings and functions, membership redesign, the designing-for-her brief, range and hero marketing, club and venue offers, the events calendar, SEM, outreach, content and artwork continuing, the reviews at March and September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 a month + GST
normally $5,500
$30,000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Rates behind every figure: Client Director $1,500 a day, Client Manager $1,250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28 September, which puts Oktoberfest on 1 October inside the first week and closes the 30-day sprint before the end of October.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