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4572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JP · TAP THAT BREWERY · PROPOSAL</a:t>
            </a:r>
          </a:p>
        </p:txBody>
      </p:sp>
      <p:sp>
        <p:nvSpPr>
          <p:cNvPr id="3" name="TextBox 2"/>
          <p:cNvSpPr txBox="1"/>
          <p:nvPr/>
        </p:nvSpPr>
        <p:spPr>
          <a:xfrm>
            <a:off x="914400" y="3108960"/>
            <a:ext cx="10362895" cy="2377440"/>
          </a:xfrm>
          <a:prstGeom prst="rect">
            <a:avLst/>
          </a:prstGeom>
          <a:noFill/>
        </p:spPr>
        <p:txBody>
          <a:bodyPr wrap="square" lIns="0" rIns="0" tIns="0" bIns="0" anchor="b">
            <a:spAutoFit/>
          </a:bodyPr>
          <a:lstStyle/>
          <a:p>
            <a:pPr algn="l">
              <a:lnSpc>
                <a:spcPct val="102000"/>
              </a:lnSpc>
            </a:pPr>
            <a:r>
              <a:rPr sz="7200" b="1">
                <a:solidFill>
                  <a:srgbClr val="111111"/>
                </a:solidFill>
                <a:latin typeface="Poppins"/>
              </a:rPr>
              <a:t>Executing the</a:t>
            </a:r>
          </a:p>
          <a:p>
            <a:pPr algn="l">
              <a:lnSpc>
                <a:spcPct val="102000"/>
              </a:lnSpc>
            </a:pPr>
            <a:r>
              <a:rPr sz="7200" b="1">
                <a:solidFill>
                  <a:srgbClr val="111111"/>
                </a:solidFill>
                <a:latin typeface="Poppins"/>
              </a:rPr>
              <a:t>plan on a page.</a:t>
            </a:r>
          </a:p>
        </p:txBody>
      </p:sp>
      <p:sp>
        <p:nvSpPr>
          <p:cNvPr id="4" name="TextBox 3"/>
          <p:cNvSpPr txBox="1"/>
          <p:nvPr/>
        </p:nvSpPr>
        <p:spPr>
          <a:xfrm>
            <a:off x="914400" y="5806440"/>
            <a:ext cx="10362895" cy="457200"/>
          </a:xfrm>
          <a:prstGeom prst="rect">
            <a:avLst/>
          </a:prstGeom>
          <a:noFill/>
        </p:spPr>
        <p:txBody>
          <a:bodyPr wrap="square" lIns="0" rIns="0" tIns="0" bIns="0" anchor="t">
            <a:spAutoFit/>
          </a:bodyPr>
          <a:lstStyle/>
          <a:p>
            <a:pPr algn="l">
              <a:lnSpc>
                <a:spcPct val="120000"/>
              </a:lnSpc>
            </a:pPr>
            <a:r>
              <a:rPr sz="2000" b="0">
                <a:solidFill>
                  <a:srgbClr val="111111"/>
                </a:solidFill>
                <a:latin typeface="Poppins"/>
              </a:rPr>
              <a:t>Marketing strategy and execution. Twelve months.</a:t>
            </a:r>
          </a:p>
        </p:txBody>
      </p:sp>
      <p:sp>
        <p:nvSpPr>
          <p:cNvPr id="5" name="TextBox 4"/>
          <p:cNvSpPr txBox="1"/>
          <p:nvPr/>
        </p:nvSpPr>
        <p:spPr>
          <a:xfrm>
            <a:off x="7315200" y="6291072"/>
            <a:ext cx="3962095" cy="274320"/>
          </a:xfrm>
          <a:prstGeom prst="rect">
            <a:avLst/>
          </a:prstGeom>
          <a:noFill/>
        </p:spPr>
        <p:txBody>
          <a:bodyPr wrap="square" lIns="0" rIns="0" tIns="0" bIns="0" anchor="t">
            <a:spAutoFit/>
          </a:bodyPr>
          <a:lstStyle/>
          <a:p>
            <a:pPr algn="r">
              <a:lnSpc>
                <a:spcPct val="100000"/>
              </a:lnSpc>
            </a:pPr>
            <a:r>
              <a:rPr sz="1100" b="0">
                <a:solidFill>
                  <a:srgbClr val="666666"/>
                </a:solidFill>
                <a:latin typeface="Poppins"/>
              </a:rPr>
              <a:t>v03 · 23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01</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Where you are.</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The diagnosis, and what the catch-up settled.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DIAGNOSIS</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You do not have a strategy problem. You have an execution problem.</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Three weeks on, that still holds. The refill business reached 96 to 113 active customers without a marketing push. Meta ads are working and there is nowhere to send the traffic. The website, POS and CRM do not talk to each other, so every campaign underperforms before it launches.</a:t>
            </a:r>
          </a:p>
          <a:p>
            <a:pPr algn="l">
              <a:lnSpc>
                <a:spcPct val="150000"/>
              </a:lnSpc>
              <a:spcAft>
                <a:spcPts val="800"/>
              </a:spcAft>
            </a:pPr>
            <a:r>
              <a:rPr sz="1400" b="0">
                <a:solidFill>
                  <a:srgbClr val="111111"/>
                </a:solidFill>
                <a:latin typeface="Poppins"/>
              </a:rPr>
              <a:t>The constraint is hands, not ideas. We said that in August. Nothing since has changed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WHERE YOU START FROM</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Six numbers the plan runs on.</a:t>
            </a:r>
          </a:p>
        </p:txBody>
      </p:sp>
      <p:graphicFrame>
        <p:nvGraphicFramePr>
          <p:cNvPr id="4" name="Table 3"/>
          <p:cNvGraphicFramePr>
            <a:graphicFrameLocks noGrp="1"/>
          </p:cNvGraphicFramePr>
          <p:nvPr/>
        </p:nvGraphicFramePr>
        <p:xfrm>
          <a:off x="914400" y="2194560"/>
          <a:ext cx="10362894" cy="2254206"/>
        </p:xfrm>
        <a:graphic>
          <a:graphicData uri="http://schemas.openxmlformats.org/drawingml/2006/table">
            <a:tbl>
              <a:tblPr firstRow="0" bandRow="0">
                <a:tableStyleId>{2D5ABB26-0587-4C30-8999-92F81FD0307C}</a:tableStyleId>
              </a:tblPr>
              <a:tblGrid>
                <a:gridCol w="2279836"/>
                <a:gridCol w="8083058"/>
              </a:tblGrid>
              <a:tr h="274320">
                <a:tc>
                  <a:txBody>
                    <a:bodyPr wrap="square"/>
                    <a:lstStyle/>
                    <a:p>
                      <a:pPr>
                        <a:lnSpc>
                          <a:spcPct val="134000"/>
                        </a:lnSpc>
                      </a:pPr>
                      <a:r>
                        <a:rPr sz="900" b="0" spc="200">
                          <a:solidFill>
                            <a:srgbClr val="666666"/>
                          </a:solidFill>
                          <a:latin typeface="Poppins"/>
                        </a:rPr>
                        <a:t>THE NUMBER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IT IS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96 to 113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 customers, reached with no marketing push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56%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Of them bought their system somewhere else and switched anyway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refillers at six months. March 2027, or Christmas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1,000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Active refillers by year three, across three regions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$2.55 vs $12+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schooner at home against a schooner at the pub</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1 : 10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wholesale account is worth about ten households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A system that is not refilling is worth nothing. Every activity in this proposal is tested against the refiller number.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ONE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The room is a destination, not a walk-in bar.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The Tap Room makes money on events and functions and loses it on walk-in trade. You settled that in principle: it is an events and local business venue. Your own words, that Oktoberfest is a sugar hit and you would take week-on-week revenue over it, are the clearest statement of strategy in three weeks of conversation.</a:t>
            </a:r>
          </a:p>
          <a:p>
            <a:pPr algn="l">
              <a:lnSpc>
                <a:spcPct val="150000"/>
              </a:lnSpc>
              <a:spcAft>
                <a:spcPts val="800"/>
              </a:spcAft>
            </a:pPr>
            <a:r>
              <a:rPr sz="1400" b="0">
                <a:solidFill>
                  <a:srgbClr val="111111"/>
                </a:solidFill>
                <a:latin typeface="Poppins"/>
              </a:rPr>
              <a:t>What is left is whether the room reads as a showroom or an event space. That is your call inside 30 days, and everything here works under either.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TWO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Home entertainment, not beer.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Every household deserves beer on tap is your line and it stays as the ambition. The brand idea underneath it is what the product does to an ordinary Saturday, which is turn a catch-up into the one people talk about.</a:t>
            </a:r>
          </a:p>
          <a:p>
            <a:pPr algn="l">
              <a:lnSpc>
                <a:spcPct val="150000"/>
              </a:lnSpc>
              <a:spcAft>
                <a:spcPts val="800"/>
              </a:spcAft>
            </a:pPr>
            <a:r>
              <a:rPr sz="1400" b="0">
                <a:solidFill>
                  <a:srgbClr val="111111"/>
                </a:solidFill>
                <a:latin typeface="Poppins"/>
              </a:rPr>
              <a:t>That puts the kegerator beside the outdoor kitchen, the high-end barbecue and the coffee machine, rather than beside the bar fridge. It changes who will partner with you and what the hardware has to look like. Christy owns the wording.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Tap That is not in the beer business.</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It is in home entertainment, and in the business of bringing people together. The product does not just put beer in a glass at home. It turns an ordinary get-together into an occasion worth hosting.</a:t>
            </a:r>
          </a:p>
          <a:p>
            <a:pPr algn="l">
              <a:lnSpc>
                <a:spcPct val="150000"/>
              </a:lnSpc>
              <a:spcAft>
                <a:spcPts val="800"/>
              </a:spcAft>
            </a:pPr>
            <a:r>
              <a:rPr sz="1400" b="0">
                <a:solidFill>
                  <a:srgbClr val="111111"/>
                </a:solidFill>
                <a:latin typeface="Poppins"/>
              </a:rPr>
              <a:t>Every household deserves beer on tap stays as the ambition. It describes what you want to be true rather than why anyone buys. The brand idea sits underneath it, and it is the one that sells.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 · WHAT IT CHANGES</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A design brief as much as a marketing one.</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If the category is home entertainment, a keg system belongs beside the outdoor kitchen, the high-end barbecue and the coffee machine, rather than beside the bar fridge.</a:t>
            </a:r>
          </a:p>
          <a:p>
            <a:pPr algn="l">
              <a:lnSpc>
                <a:spcPct val="150000"/>
              </a:lnSpc>
              <a:spcAft>
                <a:spcPts val="800"/>
              </a:spcAft>
            </a:pPr>
            <a:r>
              <a:rPr sz="1400" b="0">
                <a:solidFill>
                  <a:srgbClr val="111111"/>
                </a:solidFill>
                <a:latin typeface="Poppins"/>
              </a:rPr>
              <a:t>The systems on the market today read as appliances. Stand one next to a premium outdoor kitchen and it looks like equipment rather than something you chose. The comparison worth studying is the premium filtered-water tap: people pay for it because it looks right on the bench and they show it to visitors.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POSITION · THE LINE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The best night in, on tap.</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Chosen on 24 September from three drafts. It leans on occasion and hosting, which is the closest of the three to the idea underneath it and the easiest to build a campaign around.</a:t>
            </a:r>
          </a:p>
          <a:p>
            <a:pPr algn="l">
              <a:lnSpc>
                <a:spcPct val="150000"/>
              </a:lnSpc>
              <a:spcAft>
                <a:spcPts val="800"/>
              </a:spcAft>
            </a:pPr>
            <a:r>
              <a:rPr sz="1400" b="0">
                <a:solidFill>
                  <a:srgbClr val="111111"/>
                </a:solidFill>
                <a:latin typeface="Poppins"/>
              </a:rPr>
              <a:t>The two it beat name arguments the work still has to carry: social proof and the be-the-envy-of-your-friends register, and the beer quality argument for the people who buy on taste. Christy works the line into key messaging inside 30 days.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SETTLED 18 SEPTEMBER · THREE OF THREE</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250 refillers is also the money number.</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Break-even is about $50,000 a month against a current run rate of $35,000 to $45,000, and one month has already hit it. You confirmed that 250 active refillers clears it. The six-month number and the money number are the same number.</a:t>
            </a:r>
          </a:p>
          <a:p>
            <a:pPr algn="l">
              <a:lnSpc>
                <a:spcPct val="150000"/>
              </a:lnSpc>
              <a:spcAft>
                <a:spcPts val="800"/>
              </a:spcAft>
            </a:pPr>
            <a:r>
              <a:rPr sz="1400" b="0">
                <a:solidFill>
                  <a:srgbClr val="111111"/>
                </a:solidFill>
                <a:latin typeface="Poppins"/>
              </a:rPr>
              <a:t>Which opens the one question this proposal cannot answer for you. Christy has put 250 by Christmas on the table given the outdoor entertaining season. March 2027 or Christmas 2026 should be settled before this is signed.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02</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The work.</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Seven workstreams, on your horizons.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AT A GLANCE</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Seven workstreams. The first carries the other six.</a:t>
            </a:r>
          </a:p>
        </p:txBody>
      </p:sp>
      <p:graphicFrame>
        <p:nvGraphicFramePr>
          <p:cNvPr id="4" name="Table 3"/>
          <p:cNvGraphicFramePr>
            <a:graphicFrameLocks noGrp="1"/>
          </p:cNvGraphicFramePr>
          <p:nvPr/>
        </p:nvGraphicFramePr>
        <p:xfrm>
          <a:off x="914400" y="2194560"/>
          <a:ext cx="10362893" cy="2584187"/>
        </p:xfrm>
        <a:graphic>
          <a:graphicData uri="http://schemas.openxmlformats.org/drawingml/2006/table">
            <a:tbl>
              <a:tblPr firstRow="0" bandRow="0">
                <a:tableStyleId>{2D5ABB26-0587-4C30-8999-92F81FD0307C}</a:tableStyleId>
              </a:tblPr>
              <a:tblGrid>
                <a:gridCol w="518144"/>
                <a:gridCol w="2901610"/>
                <a:gridCol w="6943139"/>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WORKSTREAM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THE MOVE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01</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Connect the system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Nothing compounds until the website, POS and CRM talk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Switch existing owners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number one. They have already bought the hardware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Referrals, JVPs, ambassadors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18% of sales already, on a program nobody can hold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04</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Tap Room as a destination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Events, functions and local business trade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05</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Wholesale as a function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Demand exists. Follow-up does not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Brand, range and proof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Sharpened, not rebuilt. Proof you own and barely use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Governance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Four numbers, one page, one rhythm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Horizons are your own: 30 days to mid-October, three months to mid-December, six months to March 2027, one year to September 2027.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01</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Connect the system.</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Spending more on ads before this is fixed buys traffic the business cannot catch.</a:t>
            </a:r>
          </a:p>
        </p:txBody>
      </p:sp>
      <p:graphicFrame>
        <p:nvGraphicFramePr>
          <p:cNvPr id="5" name="Table 4"/>
          <p:cNvGraphicFramePr>
            <a:graphicFrameLocks noGrp="1"/>
          </p:cNvGraphicFramePr>
          <p:nvPr/>
        </p:nvGraphicFramePr>
        <p:xfrm>
          <a:off x="914400" y="2880360"/>
          <a:ext cx="10362894" cy="3167734"/>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Website upgrade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CMS you run yourself, wired to GoTab, Fishbowl, the Pixel and the CRM. Integrations proven before launch, not promised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SEM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Search on the category nobody on the Gold Coast owns: beer at home, keg refills, keg systems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GoTab and Fishbowl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Every sale writes back to the customer record. We ready the CRM and the site so nothing is built twice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Trigger-based CRM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Consumption-timed reminders replace the blanket 90-day SMS. Four segments, one re-engagement flow</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Meta Ads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Switcher, giveaway, destination and retargeting, with a landing page for each rather than a home page for all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One monthly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Four numbers on one page. Active refiller defined once, before the first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02</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Switch the owners who already have a system.</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The lead priority. They have bought the hardware and overcome every objection already.</a:t>
            </a:r>
          </a:p>
        </p:txBody>
      </p:sp>
      <p:graphicFrame>
        <p:nvGraphicFramePr>
          <p:cNvPr id="5" name="Table 4"/>
          <p:cNvGraphicFramePr>
            <a:graphicFrameLocks noGrp="1"/>
          </p:cNvGraphicFramePr>
          <p:nvPr/>
        </p:nvGraphicFramePr>
        <p:xfrm>
          <a:off x="914400" y="2880360"/>
          <a:ext cx="10362893" cy="3167734"/>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National retail, to explore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Harvey Norman, JB Hi-Fi and The Good Guys. A gift-with-purchase or first keg free at franchisee level, plus the buyer database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Kegland and Benchy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Buy or partner for the owner databases. A refill voucher in the box</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Switcher campaign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lead priority. One offer, one page: you already have the hardware, we are the beer, first keg on us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Switcher offer conditions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Compatibility check, one offer per household or venue, proof of ownership, liquor promotion wording, Meta targeting 18 and over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Lease-to-buy and delivery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launch items. Offer page, CRM flow and launch creative for both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Outdoor kitchen specification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keg-and-tap unit as a standard inclusion. Visuals and a demand test before anything is manufactured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03</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Referrals, JVPs and ambassadors.</a:t>
            </a:r>
          </a:p>
        </p:txBody>
      </p:sp>
      <p:graphicFrame>
        <p:nvGraphicFramePr>
          <p:cNvPr id="4" name="Table 3"/>
          <p:cNvGraphicFramePr>
            <a:graphicFrameLocks noGrp="1"/>
          </p:cNvGraphicFramePr>
          <p:nvPr/>
        </p:nvGraphicFramePr>
        <p:xfrm>
          <a:off x="914400" y="2194560"/>
          <a:ext cx="10362893" cy="4056078"/>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Referral program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Tokens do not travel. A free keg does. Rebuilt around a keg and a QR card an owner hands to a mate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Internal referral program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same mechanic pointed at system sales, for the team and existing customers. Tracked so it can be paid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JVPs and partners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list, offer, outreach and follow-up from the CRM. Mark's venues, Never Quit and the tour operators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Trades as a referral force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Plumbers and kitchen installers carry the same card, with a kickback the CRM tracks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Influencer strategy and outreach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Three tiers: local reach, outdoor living, food and drink. Gifted first, paid where earned, to ABAC rules. Plan: tapthat-creator-plan.pages.dev</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UGC and ambassadors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Kurt, Troy, Mitch, Aden and Ash. The brief, the shoot plan, the release schedule, the rights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Hosted tasting nights, to test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test. An owner hosts at home and earns a keg or credit on anything sold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Service networks, to explore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East coast technician routes already visiting thousands of businesses. A referral on a service call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04</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The Tap Room as a destination.</a:t>
            </a:r>
          </a:p>
        </p:txBody>
      </p:sp>
      <p:graphicFrame>
        <p:nvGraphicFramePr>
          <p:cNvPr id="4" name="Table 3"/>
          <p:cNvGraphicFramePr>
            <a:graphicFrameLocks noGrp="1"/>
          </p:cNvGraphicFramePr>
          <p:nvPr/>
        </p:nvGraphicFramePr>
        <p:xfrm>
          <a:off x="914400" y="2194560"/>
          <a:ext cx="10362893" cy="2710970"/>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Competitions, twice a year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About thirty systems each. The insider offer lands the moment someone enters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Local business program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Lunch and after-work trade from the industrial area: offer, outreach list, collateral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Tours and tastings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Onto the circuit. The award and the bus parking are the reasons to stop here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Weddings and functions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Hens and bucks through to reception supply. Mark's roughly 300 weddings a year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Party rental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system in a house for a weekend is a demo the host runs. A keg guarantee replaces the $75 barrier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Membership redesign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Held at your request until you release it. One program for the refill business, not two. Two posters quote different prices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 hold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05</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Wholesale as a function.</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Bars have approached you and it has not converted. That is not a demand problem.</a:t>
            </a:r>
          </a:p>
        </p:txBody>
      </p:sp>
      <p:graphicFrame>
        <p:nvGraphicFramePr>
          <p:cNvPr id="5" name="Table 4"/>
          <p:cNvGraphicFramePr>
            <a:graphicFrameLocks noGrp="1"/>
          </p:cNvGraphicFramePr>
          <p:nvPr/>
        </p:nvGraphicFramePr>
        <p:xfrm>
          <a:off x="914400" y="2880360"/>
          <a:ext cx="10362894" cy="1721027"/>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Structure and KPIs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Targets, pipeline stages and reporting in the CRM, so the function exists before the person does. A brief for the next hire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Venue outreach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Event venues, niched venues and sporting clubs: the list, the offer, the twelve-touch sequence, run from the CRM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Club and venue offers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Club-branded kegs, season minimum guarantees, and rigs that move from footy to cricket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06</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Brand, range and proof.</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Not rebuilt. Sharpened around one enemy, overpriced pubs, and your own line.</a:t>
            </a:r>
          </a:p>
        </p:txBody>
      </p:sp>
      <p:graphicFrame>
        <p:nvGraphicFramePr>
          <p:cNvPr id="5" name="Table 4"/>
          <p:cNvGraphicFramePr>
            <a:graphicFrameLocks noGrp="1"/>
          </p:cNvGraphicFramePr>
          <p:nvPr/>
        </p:nvGraphicFramePr>
        <p:xfrm>
          <a:off x="914400" y="2880360"/>
          <a:ext cx="10362893" cy="2710970"/>
        </p:xfrm>
        <a:graphic>
          <a:graphicData uri="http://schemas.openxmlformats.org/drawingml/2006/table">
            <a:tbl>
              <a:tblPr firstRow="0" bandRow="0">
                <a:tableStyleId>{2D5ABB26-0587-4C30-8999-92F81FD0307C}</a:tableStyleId>
              </a:tblPr>
              <a:tblGrid>
                <a:gridCol w="2279836"/>
                <a:gridCol w="6632252"/>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Where the category sits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Settled: the best night in, on tap. Christy works it into key messaging and into every brief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Key messaging by market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page per segment: what we say, what we prove, what we ask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Customer journey mapped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First contact to first refill to reorder, with the CRM trigger at each step</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Proof assets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Crafted award, the reviews, no CO2, and the integrated units already selling and nowhere on the site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Range and heroes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Social proof at the point of sale: most popular, award winner, what to eat with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6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Campaign artwork</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switcher, the referral program, the ambassador and creator content, and the competition campaign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Ongoing</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WORKSTREAM 07</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Governance.</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Agreed on 18 September. Ronnie locks the standing day.</a:t>
            </a:r>
          </a:p>
        </p:txBody>
      </p:sp>
      <p:graphicFrame>
        <p:nvGraphicFramePr>
          <p:cNvPr id="5" name="Table 4"/>
          <p:cNvGraphicFramePr>
            <a:graphicFrameLocks noGrp="1"/>
          </p:cNvGraphicFramePr>
          <p:nvPr/>
        </p:nvGraphicFramePr>
        <p:xfrm>
          <a:off x="914400" y="2880360"/>
          <a:ext cx="10362894" cy="1721027"/>
        </p:xfrm>
        <a:graphic>
          <a:graphicData uri="http://schemas.openxmlformats.org/drawingml/2006/table">
            <a:tbl>
              <a:tblPr firstRow="0" bandRow="0">
                <a:tableStyleId>{2D5ABB26-0587-4C30-8999-92F81FD0307C}</a:tableStyleId>
              </a:tblPr>
              <a:tblGrid>
                <a:gridCol w="2072579"/>
                <a:gridCol w="6839510"/>
                <a:gridCol w="1450805"/>
              </a:tblGrid>
              <a:tr h="274320">
                <a:tc>
                  <a:txBody>
                    <a:bodyPr wrap="square"/>
                    <a:lstStyle/>
                    <a:p>
                      <a:pPr>
                        <a:lnSpc>
                          <a:spcPct val="134000"/>
                        </a:lnSpc>
                      </a:pPr>
                      <a:r>
                        <a:rPr sz="900" b="0" spc="200">
                          <a:solidFill>
                            <a:srgbClr val="666666"/>
                          </a:solidFill>
                          <a:latin typeface="Poppins"/>
                        </a:rPr>
                        <a:t>ACTIVITY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WE DELIVER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Meeting rhythm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 weekly 45 minutes with Harry and Justin, led by Christy. A monthly hour with both founders against the four numbers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Who does what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responsibility matrix, agreed and dated. It stays a draft until you and Chris return the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Reviews on your ladder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Mid-October, mid-December, March 2027, September 2027. Every review asks first whether active refillers moved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As dated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BEYOND THIS ENGAGEMENT</a:t>
            </a:r>
          </a:p>
        </p:txBody>
      </p:sp>
      <p:sp>
        <p:nvSpPr>
          <p:cNvPr id="3" name="TextBox 2"/>
          <p:cNvSpPr txBox="1"/>
          <p:nvPr/>
        </p:nvSpPr>
        <p:spPr>
          <a:xfrm>
            <a:off x="914400" y="1691640"/>
            <a:ext cx="10362895" cy="2103120"/>
          </a:xfrm>
          <a:prstGeom prst="rect">
            <a:avLst/>
          </a:prstGeom>
          <a:noFill/>
        </p:spPr>
        <p:txBody>
          <a:bodyPr wrap="square" lIns="0" rIns="0" tIns="0" bIns="0" anchor="t">
            <a:spAutoFit/>
          </a:bodyPr>
          <a:lstStyle/>
          <a:p>
            <a:pPr algn="l">
              <a:lnSpc>
                <a:spcPct val="112000"/>
              </a:lnSpc>
            </a:pPr>
            <a:r>
              <a:rPr sz="4200" b="0">
                <a:solidFill>
                  <a:srgbClr val="111111"/>
                </a:solidFill>
                <a:latin typeface="Poppins"/>
              </a:rPr>
              <a:t>Two of these are briefs, not the work itself.</a:t>
            </a:r>
          </a:p>
        </p:txBody>
      </p:sp>
      <p:sp>
        <p:nvSpPr>
          <p:cNvPr id="4" name="TextBox 3"/>
          <p:cNvSpPr txBox="1"/>
          <p:nvPr/>
        </p:nvSpPr>
        <p:spPr>
          <a:xfrm>
            <a:off x="914400" y="4114800"/>
            <a:ext cx="7863840" cy="2011680"/>
          </a:xfrm>
          <a:prstGeom prst="rect">
            <a:avLst/>
          </a:prstGeom>
          <a:noFill/>
        </p:spPr>
        <p:txBody>
          <a:bodyPr wrap="square" lIns="0" rIns="0" tIns="0" bIns="0" anchor="t">
            <a:spAutoFit/>
          </a:bodyPr>
          <a:lstStyle/>
          <a:p>
            <a:pPr algn="l">
              <a:lnSpc>
                <a:spcPct val="150000"/>
              </a:lnSpc>
              <a:spcAft>
                <a:spcPts val="800"/>
              </a:spcAft>
            </a:pPr>
            <a:r>
              <a:rPr sz="1400" b="0">
                <a:solidFill>
                  <a:srgbClr val="111111"/>
                </a:solidFill>
                <a:latin typeface="Poppins"/>
              </a:rPr>
              <a:t>Designing for her, and the unit as an object worth owning. Acting on either is product and industrial design, with different people in it and a different order of spend.</a:t>
            </a:r>
          </a:p>
          <a:p>
            <a:pPr algn="l">
              <a:lnSpc>
                <a:spcPct val="150000"/>
              </a:lnSpc>
              <a:spcAft>
                <a:spcPts val="800"/>
              </a:spcAft>
            </a:pPr>
            <a:r>
              <a:rPr sz="1400" b="0">
                <a:solidFill>
                  <a:srgbClr val="111111"/>
                </a:solidFill>
                <a:latin typeface="Poppins"/>
              </a:rPr>
              <a:t>Both are scoped separately in the Product Design Brief, at /product-design-brief. They are concepts at this stage, not work booked into a horizon, which is why neither carries a date in the workstreams.</a:t>
            </a:r>
          </a:p>
        </p:txBody>
      </p:sp>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The decision it needs first is whether Tap That makes hardware, specifies it with a manufacturer, or licences the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03</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How it runs.</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The first sprint, the ladder, and what we need from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THE FIRST 30 DAYS</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Your own 30-day list is the first sprint.</a:t>
            </a:r>
          </a:p>
        </p:txBody>
      </p:sp>
      <p:graphicFrame>
        <p:nvGraphicFramePr>
          <p:cNvPr id="4" name="Table 3"/>
          <p:cNvGraphicFramePr>
            <a:graphicFrameLocks noGrp="1"/>
          </p:cNvGraphicFramePr>
          <p:nvPr/>
        </p:nvGraphicFramePr>
        <p:xfrm>
          <a:off x="914400" y="2194560"/>
          <a:ext cx="10362894" cy="2914168"/>
        </p:xfrm>
        <a:graphic>
          <a:graphicData uri="http://schemas.openxmlformats.org/drawingml/2006/table">
            <a:tbl>
              <a:tblPr firstRow="0" bandRow="0">
                <a:tableStyleId>{2D5ABB26-0587-4C30-8999-92F81FD0307C}</a:tableStyleId>
              </a:tblPr>
              <a:tblGrid>
                <a:gridCol w="518144"/>
                <a:gridCol w="9844750"/>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WHAT CLOSES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01</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shape decision, finished. Showroom or event space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02</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Residential versus commercial. Where the energy goes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03</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Key messaging and the customer journey. Delivered by us, signed by you</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04</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KPIs and the meeting rhythm. Four numbers, one definition of active refiller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05</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Jewell split. What we own, what Harry and Justin keep</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Ambassadors named and briefed, with a shoot date in the calendar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07</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Settle $2.55 as the per-schooner figure on the live ad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08</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250 date. March 2027 or Christmas 2026</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We work it with you rather than around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WAYS OF WORKING</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Who does what, and how often.</a:t>
            </a:r>
          </a:p>
        </p:txBody>
      </p:sp>
      <p:graphicFrame>
        <p:nvGraphicFramePr>
          <p:cNvPr id="4" name="Table 3"/>
          <p:cNvGraphicFramePr>
            <a:graphicFrameLocks noGrp="1"/>
          </p:cNvGraphicFramePr>
          <p:nvPr/>
        </p:nvGraphicFramePr>
        <p:xfrm>
          <a:off x="914400" y="2194560"/>
          <a:ext cx="10362895" cy="2710970"/>
        </p:xfrm>
        <a:graphic>
          <a:graphicData uri="http://schemas.openxmlformats.org/drawingml/2006/table">
            <a:tbl>
              <a:tblPr firstRow="0" bandRow="0">
                <a:tableStyleId>{2D5ABB26-0587-4C30-8999-92F81FD0307C}</a:tableStyleId>
              </a:tblPr>
              <a:tblGrid>
                <a:gridCol w="1865321"/>
                <a:gridCol w="8497574"/>
              </a:tblGrid>
              <a:tr h="274320">
                <a:tc>
                  <a:txBody>
                    <a:bodyPr wrap="square"/>
                    <a:lstStyle/>
                    <a:p>
                      <a:pPr>
                        <a:lnSpc>
                          <a:spcPct val="134000"/>
                        </a:lnSpc>
                      </a:pPr>
                      <a:r>
                        <a:rPr sz="900" b="0" spc="200">
                          <a:solidFill>
                            <a:srgbClr val="666666"/>
                          </a:solidFill>
                          <a:latin typeface="Poppins"/>
                        </a:rPr>
                        <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HOW IT RUNS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Christy runs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Christy Kilmartin leads the engagement: strategy, direction, and the call on what gets built next. Your first call on anything</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Harry executes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Harry is the operator inside Tap That. Everything we design is built to be run from that seat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Weekly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Forty-five minutes with Harry and Justin, led by Christy. Ronnie locks the standing day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Monthly</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hour with both founders on the four numbers. Decisions taken in the room and recorded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Reviews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Mid-October, mid-December, March, September. A written review and a stop-or-continue conversation at each</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Sign-off</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One named person approves messaging, offers and anything that goes to market. We suggest Justin, with Chris consulted on brand and product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WHAT WE NEED FROM YOU</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Seven inputs, and when.</a:t>
            </a:r>
          </a:p>
        </p:txBody>
      </p:sp>
      <p:graphicFrame>
        <p:nvGraphicFramePr>
          <p:cNvPr id="4" name="Table 3"/>
          <p:cNvGraphicFramePr>
            <a:graphicFrameLocks noGrp="1"/>
          </p:cNvGraphicFramePr>
          <p:nvPr/>
        </p:nvGraphicFramePr>
        <p:xfrm>
          <a:off x="914400" y="2194560"/>
          <a:ext cx="10362894" cy="2584187"/>
        </p:xfrm>
        <a:graphic>
          <a:graphicData uri="http://schemas.openxmlformats.org/drawingml/2006/table">
            <a:tbl>
              <a:tblPr firstRow="0" bandRow="0">
                <a:tableStyleId>{2D5ABB26-0587-4C30-8999-92F81FD0307C}</a:tableStyleId>
              </a:tblPr>
              <a:tblGrid>
                <a:gridCol w="2694352"/>
                <a:gridCol w="7668542"/>
              </a:tblGrid>
              <a:tr h="274320">
                <a:tc>
                  <a:txBody>
                    <a:bodyPr wrap="square"/>
                    <a:lstStyle/>
                    <a:p>
                      <a:pPr>
                        <a:lnSpc>
                          <a:spcPct val="134000"/>
                        </a:lnSpc>
                      </a:pPr>
                      <a:r>
                        <a:rPr sz="900" b="0" spc="200">
                          <a:solidFill>
                            <a:srgbClr val="666666"/>
                          </a:solidFill>
                          <a:latin typeface="Poppins"/>
                        </a:rPr>
                        <a:t>INPUT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WHY, AND WHEN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Showroom or event space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last piece of the shape decision. Within 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250 date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March 2027 or Christmas 2026. It changes the shape of the first three months. Before this is signed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Jewell split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Your mark-up of the workstreams: what we own, what Harry and Justin keep. At the first weekly check-in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One definition of active refiller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Before the first monthly report, or the number gets argued about instead of acted on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$2.55 as the per-schooner figure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Confirmed on the live ad, and the other maths retired. Within 30 days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GoTab and Fishbowl timeline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It sequences the CRM build. Before the three-month sprint starts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Introductions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The ambassadors, Mark's venues, and the Kegland and Benchy contacts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1400" b="0" spc="200">
                <a:solidFill>
                  <a:srgbClr val="FAF8F4"/>
                </a:solidFill>
                <a:latin typeface="Poppins"/>
              </a:rPr>
              <a:t>PART 04</a:t>
            </a:r>
          </a:p>
        </p:txBody>
      </p:sp>
      <p:sp>
        <p:nvSpPr>
          <p:cNvPr id="3" name="TextBox 2"/>
          <p:cNvSpPr txBox="1"/>
          <p:nvPr/>
        </p:nvSpPr>
        <p:spPr>
          <a:xfrm>
            <a:off x="914400" y="2194560"/>
            <a:ext cx="10362895" cy="2377440"/>
          </a:xfrm>
          <a:prstGeom prst="rect">
            <a:avLst/>
          </a:prstGeom>
          <a:noFill/>
        </p:spPr>
        <p:txBody>
          <a:bodyPr wrap="square" lIns="0" rIns="0" tIns="0" bIns="0" anchor="ctr">
            <a:spAutoFit/>
          </a:bodyPr>
          <a:lstStyle/>
          <a:p>
            <a:pPr algn="l">
              <a:lnSpc>
                <a:spcPct val="100000"/>
              </a:lnSpc>
            </a:pPr>
            <a:r>
              <a:rPr sz="9600" b="0">
                <a:solidFill>
                  <a:srgbClr val="FAF8F4"/>
                </a:solidFill>
                <a:latin typeface="Poppins"/>
              </a:rPr>
              <a:t>Investment.</a:t>
            </a:r>
          </a:p>
        </p:txBody>
      </p:sp>
      <p:sp>
        <p:nvSpPr>
          <p:cNvPr id="4" name="TextBox 3"/>
          <p:cNvSpPr txBox="1"/>
          <p:nvPr/>
        </p:nvSpPr>
        <p:spPr>
          <a:xfrm>
            <a:off x="914400" y="5212080"/>
            <a:ext cx="10362895" cy="457200"/>
          </a:xfrm>
          <a:prstGeom prst="rect">
            <a:avLst/>
          </a:prstGeom>
          <a:noFill/>
        </p:spPr>
        <p:txBody>
          <a:bodyPr wrap="square" lIns="0" rIns="0" tIns="0" bIns="0" anchor="t">
            <a:spAutoFit/>
          </a:bodyPr>
          <a:lstStyle/>
          <a:p>
            <a:pPr algn="l">
              <a:lnSpc>
                <a:spcPct val="130000"/>
              </a:lnSpc>
            </a:pPr>
            <a:r>
              <a:rPr sz="1600" b="0">
                <a:solidFill>
                  <a:srgbClr val="FAF8F4"/>
                </a:solidFill>
                <a:latin typeface="Poppins"/>
              </a:rPr>
              <a:t>Two options, one plan, one rhythm.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OPTION A</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The ninety-day sprint.</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Discover and Design already delivered, rack value $20,000, charged at $4,995 on acceptance of either option.</a:t>
            </a:r>
          </a:p>
        </p:txBody>
      </p:sp>
      <p:graphicFrame>
        <p:nvGraphicFramePr>
          <p:cNvPr id="5" name="Table 4"/>
          <p:cNvGraphicFramePr>
            <a:graphicFrameLocks noGrp="1"/>
          </p:cNvGraphicFramePr>
          <p:nvPr/>
        </p:nvGraphicFramePr>
        <p:xfrm>
          <a:off x="914400" y="2880360"/>
          <a:ext cx="10362894" cy="2507772"/>
        </p:xfrm>
        <a:graphic>
          <a:graphicData uri="http://schemas.openxmlformats.org/drawingml/2006/table">
            <a:tbl>
              <a:tblPr firstRow="0" bandRow="0">
                <a:tableStyleId>{2D5ABB26-0587-4C30-8999-92F81FD0307C}</a:tableStyleId>
              </a:tblPr>
              <a:tblGrid>
                <a:gridCol w="8083058"/>
                <a:gridCol w="2279836"/>
              </a:tblGrid>
              <a:tr h="274320">
                <a:tc>
                  <a:txBody>
                    <a:bodyPr wrap="square"/>
                    <a:lstStyle/>
                    <a:p>
                      <a:pPr>
                        <a:lnSpc>
                          <a:spcPct val="134000"/>
                        </a:lnSpc>
                      </a:pPr>
                      <a:r>
                        <a:rPr sz="900" b="0" spc="200">
                          <a:solidFill>
                            <a:srgbClr val="666666"/>
                          </a:solidFill>
                          <a:latin typeface="Poppins"/>
                        </a:rPr>
                        <a:t>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FEE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Foundation builds. Website rebuild with the buy path and proof pages, SEM set-up, trigger-based CRM with segments, three campaign landing pages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$9,250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Program design. Switcher offer and partner approach, referral program, wholesale structure and hire brief, key messaging and the customer journey, the competition campaign</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$8,500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Running the sprint, three months. SEM and Meta management, JVP and wholesale outreach, content and artwork, the rhythm and the report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$3,250 a month, $9,750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558363">
                <a:tc>
                  <a:txBody>
                    <a:bodyPr wrap="square"/>
                    <a:lstStyle/>
                    <a:p>
                      <a:pPr>
                        <a:lnSpc>
                          <a:spcPct val="134000"/>
                        </a:lnSpc>
                      </a:pPr>
                      <a:r>
                        <a:rPr sz="1100" b="1">
                          <a:solidFill>
                            <a:srgbClr val="111111"/>
                          </a:solidFill>
                          <a:latin typeface="Poppins"/>
                        </a:rPr>
                        <a:t>Option A total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$25,000 + GST
normally $27,500</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6" name="TextBox 5"/>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$25,000 on acceptance, or $8,333 a month across the three months. Stop or continue at the mid-December review. The line fees are the standard rate and sum to $27,500; the discount is applied to the total.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OPTION B</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Twelve months.</a:t>
            </a:r>
          </a:p>
        </p:txBody>
      </p:sp>
      <p:sp>
        <p:nvSpPr>
          <p:cNvPr id="4" name="TextBox 3"/>
          <p:cNvSpPr txBox="1"/>
          <p:nvPr/>
        </p:nvSpPr>
        <p:spPr>
          <a:xfrm>
            <a:off x="914400" y="2084831"/>
            <a:ext cx="8778240" cy="548640"/>
          </a:xfrm>
          <a:prstGeom prst="rect">
            <a:avLst/>
          </a:prstGeom>
          <a:noFill/>
        </p:spPr>
        <p:txBody>
          <a:bodyPr wrap="square" lIns="0" rIns="0" tIns="0" bIns="0" anchor="t">
            <a:spAutoFit/>
          </a:bodyPr>
          <a:lstStyle/>
          <a:p>
            <a:pPr algn="l">
              <a:lnSpc>
                <a:spcPct val="140000"/>
              </a:lnSpc>
            </a:pPr>
            <a:r>
              <a:rPr sz="1300" b="0">
                <a:solidFill>
                  <a:srgbClr val="666666"/>
                </a:solidFill>
                <a:latin typeface="Poppins"/>
              </a:rPr>
              <a:t>An active refill customer is worth about $2,400 a year. Option B pays for itself at twenty-five additional refillers held for a year, and your own six-month target adds about 145.</a:t>
            </a:r>
          </a:p>
        </p:txBody>
      </p:sp>
      <p:graphicFrame>
        <p:nvGraphicFramePr>
          <p:cNvPr id="5" name="Table 4"/>
          <p:cNvGraphicFramePr>
            <a:graphicFrameLocks noGrp="1"/>
          </p:cNvGraphicFramePr>
          <p:nvPr/>
        </p:nvGraphicFramePr>
        <p:xfrm>
          <a:off x="914400" y="2880360"/>
          <a:ext cx="10362894" cy="2177789"/>
        </p:xfrm>
        <a:graphic>
          <a:graphicData uri="http://schemas.openxmlformats.org/drawingml/2006/table">
            <a:tbl>
              <a:tblPr firstRow="0" bandRow="0">
                <a:tableStyleId>{2D5ABB26-0587-4C30-8999-92F81FD0307C}</a:tableStyleId>
              </a:tblPr>
              <a:tblGrid>
                <a:gridCol w="7046768"/>
                <a:gridCol w="3316126"/>
              </a:tblGrid>
              <a:tr h="274320">
                <a:tc>
                  <a:txBody>
                    <a:bodyPr wrap="square"/>
                    <a:lstStyle/>
                    <a:p>
                      <a:pPr>
                        <a:lnSpc>
                          <a:spcPct val="134000"/>
                        </a:lnSpc>
                      </a:pPr>
                      <a:r>
                        <a:rPr sz="900" b="0" spc="200">
                          <a:solidFill>
                            <a:srgbClr val="666666"/>
                          </a:solidFill>
                          <a:latin typeface="Poppins"/>
                        </a:rPr>
                        <a:t>LINE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FEE</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Everything in Option A, delivered in the first three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Included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786744">
                <a:tc>
                  <a:txBody>
                    <a:bodyPr wrap="square"/>
                    <a:lstStyle/>
                    <a:p>
                      <a:pPr>
                        <a:lnSpc>
                          <a:spcPct val="134000"/>
                        </a:lnSpc>
                      </a:pPr>
                      <a:r>
                        <a:rPr sz="1100" b="1">
                          <a:solidFill>
                            <a:srgbClr val="111111"/>
                          </a:solidFill>
                          <a:latin typeface="Poppins"/>
                        </a:rPr>
                        <a:t>Months four to twelve. Weddings and functions, party rental reworked, the membership redesign when you release it, range and hero marketing, club and venue offers, SEM, outreach, content and artwork continuing, the reviews at March and September</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Included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786744">
                <a:tc>
                  <a:txBody>
                    <a:bodyPr wrap="square"/>
                    <a:lstStyle/>
                    <a:p>
                      <a:pPr>
                        <a:lnSpc>
                          <a:spcPct val="134000"/>
                        </a:lnSpc>
                      </a:pPr>
                      <a:r>
                        <a:rPr sz="1100" b="1">
                          <a:solidFill>
                            <a:srgbClr val="111111"/>
                          </a:solidFill>
                          <a:latin typeface="Poppins"/>
                        </a:rPr>
                        <a:t>Option B total</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$4,999 a month + GST
normally $5,500
$59,988 over twelve months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6" name="TextBox 5"/>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Monthly in advance. Minimum three months, then stop at any review with a month's notice.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111111"/>
                </a:solidFill>
                <a:latin typeface="Poppins"/>
              </a:rPr>
              <a:t>NOT INCLUDED</a:t>
            </a:r>
          </a:p>
        </p:txBody>
      </p:sp>
      <p:sp>
        <p:nvSpPr>
          <p:cNvPr id="3" name="TextBox 2"/>
          <p:cNvSpPr txBox="1"/>
          <p:nvPr/>
        </p:nvSpPr>
        <p:spPr>
          <a:xfrm>
            <a:off x="914400" y="1371600"/>
            <a:ext cx="10362895" cy="640080"/>
          </a:xfrm>
          <a:prstGeom prst="rect">
            <a:avLst/>
          </a:prstGeom>
          <a:noFill/>
        </p:spPr>
        <p:txBody>
          <a:bodyPr wrap="square" lIns="0" rIns="0" tIns="0" bIns="0" anchor="t">
            <a:spAutoFit/>
          </a:bodyPr>
          <a:lstStyle/>
          <a:p>
            <a:pPr algn="l">
              <a:lnSpc>
                <a:spcPct val="112000"/>
              </a:lnSpc>
            </a:pPr>
            <a:r>
              <a:rPr sz="2800" b="0">
                <a:solidFill>
                  <a:srgbClr val="111111"/>
                </a:solidFill>
                <a:latin typeface="Poppins"/>
              </a:rPr>
              <a:t>What sits outside the fee.</a:t>
            </a:r>
          </a:p>
        </p:txBody>
      </p:sp>
      <p:graphicFrame>
        <p:nvGraphicFramePr>
          <p:cNvPr id="4" name="Table 3"/>
          <p:cNvGraphicFramePr>
            <a:graphicFrameLocks noGrp="1"/>
          </p:cNvGraphicFramePr>
          <p:nvPr/>
        </p:nvGraphicFramePr>
        <p:xfrm>
          <a:off x="914400" y="2194560"/>
          <a:ext cx="10362894" cy="1594244"/>
        </p:xfrm>
        <a:graphic>
          <a:graphicData uri="http://schemas.openxmlformats.org/drawingml/2006/table">
            <a:tbl>
              <a:tblPr firstRow="0" bandRow="0">
                <a:tableStyleId>{2D5ABB26-0587-4C30-8999-92F81FD0307C}</a:tableStyleId>
              </a:tblPr>
              <a:tblGrid>
                <a:gridCol w="2901610"/>
                <a:gridCol w="7461284"/>
              </a:tblGrid>
              <a:tr h="274320">
                <a:tc>
                  <a:txBody>
                    <a:bodyPr wrap="square"/>
                    <a:lstStyle/>
                    <a:p>
                      <a:pPr>
                        <a:lnSpc>
                          <a:spcPct val="134000"/>
                        </a:lnSpc>
                      </a:pPr>
                      <a:r>
                        <a:rPr sz="900" b="0" spc="200">
                          <a:solidFill>
                            <a:srgbClr val="666666"/>
                          </a:solidFill>
                          <a:latin typeface="Poppins"/>
                        </a:rPr>
                        <a:t>ITEM</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900" b="0" spc="200">
                          <a:solidFill>
                            <a:srgbClr val="666666"/>
                          </a:solidFill>
                          <a:latin typeface="Poppins"/>
                        </a:rPr>
                        <a:t>HOW IT IS HANDLED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Media spend</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Billed directly by Meta and Google. Management of spend above $5,000 a month at 10% of the excess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Photography and video</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$1,250 a day, quoted per shoot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The Urban Legends booking widget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Scoped separately once the operator agrees to carry it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r h="329981">
                <a:tc>
                  <a:txBody>
                    <a:bodyPr wrap="square"/>
                    <a:lstStyle/>
                    <a:p>
                      <a:pPr>
                        <a:lnSpc>
                          <a:spcPct val="134000"/>
                        </a:lnSpc>
                      </a:pPr>
                      <a:r>
                        <a:rPr sz="1100" b="1">
                          <a:solidFill>
                            <a:srgbClr val="111111"/>
                          </a:solidFill>
                          <a:latin typeface="Poppins"/>
                        </a:rPr>
                        <a:t>Third-party software and print</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c>
                  <a:txBody>
                    <a:bodyPr wrap="square"/>
                    <a:lstStyle/>
                    <a:p>
                      <a:pPr>
                        <a:lnSpc>
                          <a:spcPct val="134000"/>
                        </a:lnSpc>
                      </a:pPr>
                      <a:r>
                        <a:rPr sz="1100" b="0">
                          <a:solidFill>
                            <a:srgbClr val="111111"/>
                          </a:solidFill>
                          <a:latin typeface="Poppins"/>
                        </a:rPr>
                        <a:t>GoTab, Fishbowl, any booking tool licence, and print runs</a:t>
                      </a:r>
                    </a:p>
                  </a:txBody>
                  <a:tcPr marL="0" marR="128016" marT="36576" marB="54864" anchor="t">
                    <a:lnB w="9525" cap="flat" cmpd="sng" algn="ctr">
                      <a:solidFill>
                        <a:srgbClr val="D4D2D0"/>
                      </a:solidFill>
                    </a:lnB>
                    <a:lnT w="0" cap="flat" cmpd="sng" algn="ctr">
                      <a:solidFill>
                        <a:srgbClr val="FAF8F4"/>
                      </a:solidFill>
                    </a:lnT>
                    <a:lnR w="0" cap="flat" cmpd="sng" algn="ctr">
                      <a:solidFill>
                        <a:srgbClr val="FAF8F4"/>
                      </a:solidFill>
                    </a:lnR>
                    <a:lnL w="0" cap="flat" cmpd="sng" algn="ctr">
                      <a:solidFill>
                        <a:srgbClr val="FAF8F4"/>
                      </a:solidFill>
                    </a:lnL>
                    <a:noFill/>
                  </a:tcPr>
                </a:tc>
              </a:tr>
            </a:tbl>
          </a:graphicData>
        </a:graphic>
      </p:graphicFrame>
      <p:sp>
        <p:nvSpPr>
          <p:cNvPr id="5" name="TextBox 4"/>
          <p:cNvSpPr txBox="1"/>
          <p:nvPr/>
        </p:nvSpPr>
        <p:spPr>
          <a:xfrm>
            <a:off x="914400" y="6291072"/>
            <a:ext cx="10362895" cy="274320"/>
          </a:xfrm>
          <a:prstGeom prst="rect">
            <a:avLst/>
          </a:prstGeom>
          <a:noFill/>
        </p:spPr>
        <p:txBody>
          <a:bodyPr wrap="square" lIns="0" rIns="0" tIns="0" bIns="0" anchor="t">
            <a:spAutoFit/>
          </a:bodyPr>
          <a:lstStyle/>
          <a:p>
            <a:pPr algn="l">
              <a:lnSpc>
                <a:spcPct val="100000"/>
              </a:lnSpc>
            </a:pPr>
            <a:r>
              <a:rPr sz="900" b="0">
                <a:solidFill>
                  <a:srgbClr val="666666"/>
                </a:solidFill>
                <a:latin typeface="Poppins"/>
              </a:rPr>
              <a:t>All figures are Australian dollars, exclude GST, and include project management and administration.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D5BFF"/>
        </a:solidFill>
        <a:effectLst/>
      </p:bgPr>
    </p:bg>
    <p:spTree>
      <p:nvGrpSpPr>
        <p:cNvPr id="1" name=""/>
        <p:cNvGrpSpPr/>
        <p:nvPr/>
      </p:nvGrpSpPr>
      <p:grpSpPr/>
      <p:sp>
        <p:nvSpPr>
          <p:cNvPr id="2" name="TextBox 1"/>
          <p:cNvSpPr txBox="1"/>
          <p:nvPr/>
        </p:nvSpPr>
        <p:spPr>
          <a:xfrm>
            <a:off x="914400" y="914400"/>
            <a:ext cx="10362895" cy="274320"/>
          </a:xfrm>
          <a:prstGeom prst="rect">
            <a:avLst/>
          </a:prstGeom>
          <a:noFill/>
        </p:spPr>
        <p:txBody>
          <a:bodyPr wrap="square" lIns="0" rIns="0" tIns="0" bIns="0" anchor="t">
            <a:spAutoFit/>
          </a:bodyPr>
          <a:lstStyle/>
          <a:p>
            <a:pPr algn="l">
              <a:lnSpc>
                <a:spcPct val="100000"/>
              </a:lnSpc>
            </a:pPr>
            <a:r>
              <a:rPr sz="900" b="0" spc="200">
                <a:solidFill>
                  <a:srgbClr val="FAF8F4"/>
                </a:solidFill>
                <a:latin typeface="Poppins"/>
              </a:rPr>
              <a:t>DECISION · PROPOSAL V03</a:t>
            </a:r>
          </a:p>
        </p:txBody>
      </p:sp>
      <p:sp>
        <p:nvSpPr>
          <p:cNvPr id="3" name="TextBox 2"/>
          <p:cNvSpPr txBox="1"/>
          <p:nvPr/>
        </p:nvSpPr>
        <p:spPr>
          <a:xfrm>
            <a:off x="914400" y="1554480"/>
            <a:ext cx="10362895" cy="914400"/>
          </a:xfrm>
          <a:prstGeom prst="rect">
            <a:avLst/>
          </a:prstGeom>
          <a:noFill/>
        </p:spPr>
        <p:txBody>
          <a:bodyPr wrap="square" lIns="0" rIns="0" tIns="0" bIns="0" anchor="t">
            <a:spAutoFit/>
          </a:bodyPr>
          <a:lstStyle/>
          <a:p>
            <a:pPr algn="l">
              <a:lnSpc>
                <a:spcPct val="120000"/>
              </a:lnSpc>
            </a:pPr>
            <a:r>
              <a:rPr sz="3200" b="1">
                <a:solidFill>
                  <a:srgbClr val="FAF8F4"/>
                </a:solidFill>
                <a:latin typeface="Poppins"/>
              </a:rPr>
              <a:t>Four decisions, and we start.</a:t>
            </a:r>
          </a:p>
        </p:txBody>
      </p:sp>
      <p:sp>
        <p:nvSpPr>
          <p:cNvPr id="4" name="TextBox 3"/>
          <p:cNvSpPr txBox="1"/>
          <p:nvPr/>
        </p:nvSpPr>
        <p:spPr>
          <a:xfrm>
            <a:off x="914400" y="2514600"/>
            <a:ext cx="8778240" cy="731520"/>
          </a:xfrm>
          <a:prstGeom prst="rect">
            <a:avLst/>
          </a:prstGeom>
          <a:noFill/>
        </p:spPr>
        <p:txBody>
          <a:bodyPr wrap="square" lIns="0" rIns="0" tIns="0" bIns="0" anchor="t">
            <a:spAutoFit/>
          </a:bodyPr>
          <a:lstStyle/>
          <a:p>
            <a:pPr algn="l">
              <a:lnSpc>
                <a:spcPct val="150000"/>
              </a:lnSpc>
            </a:pPr>
            <a:r>
              <a:rPr sz="1400" b="0">
                <a:solidFill>
                  <a:srgbClr val="FAF8F4"/>
                </a:solidFill>
                <a:latin typeface="Poppins"/>
              </a:rPr>
              <a:t>We propose the week of 12 October, which closes the 30-day sprint before the middle of November.</a:t>
            </a:r>
          </a:p>
        </p:txBody>
      </p:sp>
      <p:sp>
        <p:nvSpPr>
          <p:cNvPr id="5" name="TextBox 4"/>
          <p:cNvSpPr txBox="1"/>
          <p:nvPr/>
        </p:nvSpPr>
        <p:spPr>
          <a:xfrm>
            <a:off x="914400" y="3429000"/>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01</a:t>
            </a:r>
          </a:p>
        </p:txBody>
      </p:sp>
      <p:sp>
        <p:nvSpPr>
          <p:cNvPr id="6" name="TextBox 5"/>
          <p:cNvSpPr txBox="1"/>
          <p:nvPr/>
        </p:nvSpPr>
        <p:spPr>
          <a:xfrm>
            <a:off x="1371600" y="3429000"/>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Which option, A or B.</a:t>
            </a:r>
          </a:p>
        </p:txBody>
      </p:sp>
      <p:sp>
        <p:nvSpPr>
          <p:cNvPr id="7" name="TextBox 6"/>
          <p:cNvSpPr txBox="1"/>
          <p:nvPr/>
        </p:nvSpPr>
        <p:spPr>
          <a:xfrm>
            <a:off x="914400" y="3904488"/>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02</a:t>
            </a:r>
          </a:p>
        </p:txBody>
      </p:sp>
      <p:sp>
        <p:nvSpPr>
          <p:cNvPr id="8" name="TextBox 7"/>
          <p:cNvSpPr txBox="1"/>
          <p:nvPr/>
        </p:nvSpPr>
        <p:spPr>
          <a:xfrm>
            <a:off x="1371600" y="3904488"/>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Who signs for Tap That Brewery.</a:t>
            </a:r>
          </a:p>
        </p:txBody>
      </p:sp>
      <p:sp>
        <p:nvSpPr>
          <p:cNvPr id="9" name="TextBox 8"/>
          <p:cNvSpPr txBox="1"/>
          <p:nvPr/>
        </p:nvSpPr>
        <p:spPr>
          <a:xfrm>
            <a:off x="914400" y="4379976"/>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03</a:t>
            </a:r>
          </a:p>
        </p:txBody>
      </p:sp>
      <p:sp>
        <p:nvSpPr>
          <p:cNvPr id="10" name="TextBox 9"/>
          <p:cNvSpPr txBox="1"/>
          <p:nvPr/>
        </p:nvSpPr>
        <p:spPr>
          <a:xfrm>
            <a:off x="1371600" y="4379976"/>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The 250 date: March 2027, or Christmas 2026.</a:t>
            </a:r>
          </a:p>
        </p:txBody>
      </p:sp>
      <p:sp>
        <p:nvSpPr>
          <p:cNvPr id="11" name="TextBox 10"/>
          <p:cNvSpPr txBox="1"/>
          <p:nvPr/>
        </p:nvSpPr>
        <p:spPr>
          <a:xfrm>
            <a:off x="914400" y="4855464"/>
            <a:ext cx="457200" cy="365760"/>
          </a:xfrm>
          <a:prstGeom prst="rect">
            <a:avLst/>
          </a:prstGeom>
          <a:noFill/>
        </p:spPr>
        <p:txBody>
          <a:bodyPr wrap="square" lIns="0" rIns="0" tIns="0" bIns="0" anchor="t">
            <a:spAutoFit/>
          </a:bodyPr>
          <a:lstStyle/>
          <a:p>
            <a:pPr algn="l">
              <a:lnSpc>
                <a:spcPct val="130000"/>
              </a:lnSpc>
            </a:pPr>
            <a:r>
              <a:rPr sz="1400" b="1">
                <a:solidFill>
                  <a:srgbClr val="FAF8F4"/>
                </a:solidFill>
                <a:latin typeface="Poppins"/>
              </a:rPr>
              <a:t>04</a:t>
            </a:r>
          </a:p>
        </p:txBody>
      </p:sp>
      <p:sp>
        <p:nvSpPr>
          <p:cNvPr id="12" name="TextBox 11"/>
          <p:cNvSpPr txBox="1"/>
          <p:nvPr/>
        </p:nvSpPr>
        <p:spPr>
          <a:xfrm>
            <a:off x="1371600" y="4855464"/>
            <a:ext cx="9418320" cy="365760"/>
          </a:xfrm>
          <a:prstGeom prst="rect">
            <a:avLst/>
          </a:prstGeom>
          <a:noFill/>
        </p:spPr>
        <p:txBody>
          <a:bodyPr wrap="square" lIns="0" rIns="0" tIns="0" bIns="0" anchor="t">
            <a:spAutoFit/>
          </a:bodyPr>
          <a:lstStyle/>
          <a:p>
            <a:pPr algn="l">
              <a:lnSpc>
                <a:spcPct val="130000"/>
              </a:lnSpc>
            </a:pPr>
            <a:r>
              <a:rPr sz="1400" b="0">
                <a:solidFill>
                  <a:srgbClr val="FAF8F4"/>
                </a:solidFill>
                <a:latin typeface="Poppins"/>
              </a:rPr>
              <a:t>A start date.</a:t>
            </a:r>
          </a:p>
        </p:txBody>
      </p:sp>
      <p:cxnSp>
        <p:nvCxnSpPr>
          <p:cNvPr id="13" name="Connector 12"/>
          <p:cNvCxnSpPr/>
          <p:nvPr/>
        </p:nvCxnSpPr>
        <p:spPr>
          <a:xfrm>
            <a:off x="914400" y="5989320"/>
            <a:ext cx="10362895" cy="0"/>
          </a:xfrm>
          <a:prstGeom prst="line">
            <a:avLst/>
          </a:prstGeom>
          <a:ln w="6350">
            <a:solidFill>
              <a:srgbClr val="FAF8F4"/>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6144768"/>
            <a:ext cx="5120640" cy="274320"/>
          </a:xfrm>
          <a:prstGeom prst="rect">
            <a:avLst/>
          </a:prstGeom>
          <a:noFill/>
        </p:spPr>
        <p:txBody>
          <a:bodyPr wrap="square" lIns="0" rIns="0" tIns="0" bIns="0" anchor="t">
            <a:spAutoFit/>
          </a:bodyPr>
          <a:lstStyle/>
          <a:p>
            <a:pPr algn="l">
              <a:lnSpc>
                <a:spcPct val="100000"/>
              </a:lnSpc>
            </a:pPr>
            <a:r>
              <a:rPr sz="1100" b="0">
                <a:solidFill>
                  <a:srgbClr val="FAF8F4"/>
                </a:solidFill>
                <a:latin typeface="Poppins"/>
              </a:rPr>
              <a:t>Accepted for Tap That Brewery:</a:t>
            </a:r>
          </a:p>
        </p:txBody>
      </p:sp>
      <p:sp>
        <p:nvSpPr>
          <p:cNvPr id="15" name="TextBox 14"/>
          <p:cNvSpPr txBox="1"/>
          <p:nvPr/>
        </p:nvSpPr>
        <p:spPr>
          <a:xfrm>
            <a:off x="6583680" y="6144768"/>
            <a:ext cx="4693615" cy="274320"/>
          </a:xfrm>
          <a:prstGeom prst="rect">
            <a:avLst/>
          </a:prstGeom>
          <a:noFill/>
        </p:spPr>
        <p:txBody>
          <a:bodyPr wrap="square" lIns="0" rIns="0" tIns="0" bIns="0" anchor="t">
            <a:spAutoFit/>
          </a:bodyPr>
          <a:lstStyle/>
          <a:p>
            <a:pPr algn="r">
              <a:lnSpc>
                <a:spcPct val="100000"/>
              </a:lnSpc>
            </a:pPr>
            <a:r>
              <a:rPr sz="1100" b="0">
                <a:solidFill>
                  <a:srgbClr val="FAF8F4"/>
                </a:solidFill>
                <a:latin typeface="Poppins"/>
              </a:rPr>
              <a:t>For Jewell Projects: Clent Jewell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TextBox 1"/>
          <p:cNvSpPr txBox="1"/>
          <p:nvPr/>
        </p:nvSpPr>
        <p:spPr>
          <a:xfrm>
            <a:off x="914400" y="2011680"/>
            <a:ext cx="10362895" cy="2011680"/>
          </a:xfrm>
          <a:prstGeom prst="rect">
            <a:avLst/>
          </a:prstGeom>
          <a:noFill/>
        </p:spPr>
        <p:txBody>
          <a:bodyPr wrap="square" lIns="0" rIns="0" tIns="0" bIns="0" anchor="t">
            <a:spAutoFit/>
          </a:bodyPr>
          <a:lstStyle/>
          <a:p>
            <a:pPr algn="l">
              <a:lnSpc>
                <a:spcPct val="100000"/>
              </a:lnSpc>
            </a:pPr>
            <a:r>
              <a:rPr sz="12000" b="1">
                <a:solidFill>
                  <a:srgbClr val="111111"/>
                </a:solidFill>
                <a:latin typeface="Poppins"/>
              </a:rPr>
              <a:t>Next.</a:t>
            </a:r>
          </a:p>
        </p:txBody>
      </p:sp>
      <p:sp>
        <p:nvSpPr>
          <p:cNvPr id="3" name="TextBox 2"/>
          <p:cNvSpPr txBox="1"/>
          <p:nvPr/>
        </p:nvSpPr>
        <p:spPr>
          <a:xfrm>
            <a:off x="914400" y="4389120"/>
            <a:ext cx="10362895" cy="365760"/>
          </a:xfrm>
          <a:prstGeom prst="rect">
            <a:avLst/>
          </a:prstGeom>
          <a:noFill/>
        </p:spPr>
        <p:txBody>
          <a:bodyPr wrap="square" lIns="0" rIns="0" tIns="0" bIns="0" anchor="t">
            <a:spAutoFit/>
          </a:bodyPr>
          <a:lstStyle/>
          <a:p>
            <a:pPr algn="l">
              <a:lnSpc>
                <a:spcPct val="140000"/>
              </a:lnSpc>
            </a:pPr>
            <a:r>
              <a:rPr sz="1400" b="0">
                <a:solidFill>
                  <a:srgbClr val="111111"/>
                </a:solidFill>
                <a:latin typeface="Poppins"/>
              </a:rPr>
              <a:t>Signed proposal back, and the first weekly check-in booked.</a:t>
            </a:r>
          </a:p>
        </p:txBody>
      </p:sp>
      <p:sp>
        <p:nvSpPr>
          <p:cNvPr id="4" name="TextBox 3"/>
          <p:cNvSpPr txBox="1"/>
          <p:nvPr/>
        </p:nvSpPr>
        <p:spPr>
          <a:xfrm>
            <a:off x="914400" y="4800600"/>
            <a:ext cx="10362895" cy="365760"/>
          </a:xfrm>
          <a:prstGeom prst="rect">
            <a:avLst/>
          </a:prstGeom>
          <a:noFill/>
        </p:spPr>
        <p:txBody>
          <a:bodyPr wrap="square" lIns="0" rIns="0" tIns="0" bIns="0" anchor="t">
            <a:spAutoFit/>
          </a:bodyPr>
          <a:lstStyle/>
          <a:p>
            <a:pPr algn="l">
              <a:lnSpc>
                <a:spcPct val="140000"/>
              </a:lnSpc>
            </a:pPr>
            <a:r>
              <a:rPr sz="1400" b="0">
                <a:solidFill>
                  <a:srgbClr val="111111"/>
                </a:solidFill>
                <a:latin typeface="Poppins"/>
              </a:rPr>
              <a:t>Christy Kilmartin leads it · Clent Jewell · clent@jewellprojects.com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