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Text boxes and tables, not pictures. Words match the A3 sheet of the same name; if you change them here, tell us so the printed sheet is rebuilt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The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8246" y="365760"/>
            <a:ext cx="1165358"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8246" y="365760"/>
            <a:ext cx="1165358"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V02 · 16 SEPT 2026</a:t>
            </a:r>
            <a:endParaRPr lang="en-US" sz="650" dirty="0"/>
          </a:p>
        </p:txBody>
      </p:sp>
      <p:sp>
        <p:nvSpPr>
          <p:cNvPr id="7" name="Shape 3"/>
          <p:cNvSpPr/>
          <p:nvPr/>
        </p:nvSpPr>
        <p:spPr>
          <a:xfrm>
            <a:off x="11370203" y="365760"/>
            <a:ext cx="1218043"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370203" y="365760"/>
            <a:ext cx="1218043"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528736" y="365760"/>
            <a:ext cx="751467"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528736" y="365760"/>
            <a:ext cx="751467"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SUMMARY</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8397164" cy="2686259"/>
          </a:xfrm>
          <a:prstGeom prst="rect">
            <a:avLst/>
          </a:prstGeom>
          <a:solidFill>
            <a:srgbClr val="FFFFFF"/>
          </a:solidFill>
          <a:ln w="7620">
            <a:solidFill>
              <a:srgbClr val="E3E7EC"/>
            </a:solidFill>
            <a:prstDash val="solid"/>
          </a:ln>
        </p:spPr>
      </p:sp>
      <p:sp>
        <p:nvSpPr>
          <p:cNvPr id="13" name="Shape 9"/>
          <p:cNvSpPr/>
          <p:nvPr/>
        </p:nvSpPr>
        <p:spPr>
          <a:xfrm>
            <a:off x="323698" y="1115568"/>
            <a:ext cx="8397164"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8166764"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NORTH STAR</a:t>
            </a:r>
            <a:endParaRPr lang="en-US" sz="680" dirty="0"/>
          </a:p>
        </p:txBody>
      </p:sp>
      <p:sp>
        <p:nvSpPr>
          <p:cNvPr id="15" name="Text 11"/>
          <p:cNvSpPr txBox="1"/>
          <p:nvPr/>
        </p:nvSpPr>
        <p:spPr>
          <a:xfrm>
            <a:off x="438898" y="1400636"/>
            <a:ext cx="8166764" cy="661416"/>
          </a:xfrm>
          <a:prstGeom prst="rect">
            <a:avLst/>
          </a:prstGeom>
          <a:noFill/>
          <a:ln/>
        </p:spPr>
        <p:txBody>
          <a:bodyPr wrap="square" lIns="0" tIns="0" rIns="0" bIns="0" rtlCol="0" anchor="t"/>
          <a:lstStyle/>
          <a:p>
            <a:pPr indent="0" marL="0">
              <a:lnSpc>
                <a:spcPts val="1736"/>
              </a:lnSpc>
              <a:buNone/>
            </a:pPr>
            <a:r>
              <a:rPr lang="en-US" sz="1400" b="1" dirty="0">
                <a:solidFill>
                  <a:srgbClr val="0E171F"/>
                </a:solidFill>
                <a:latin typeface="Poppins" pitchFamily="34" charset="0"/>
                <a:ea typeface="Poppins" pitchFamily="34" charset="-122"/>
                <a:cs typeface="Poppins" pitchFamily="34" charset="-120"/>
              </a:rPr>
              <a:t>1,000 active keg refillers by year three, across the Gold Coast, Brisbane and Northern Rivers, residential and commercial, with 250 at six months (March 2027). Every decision gets tested against whether it moves that number.</a:t>
            </a:r>
            <a:endParaRPr lang="en-US" sz="1400" dirty="0"/>
          </a:p>
        </p:txBody>
      </p:sp>
      <p:sp>
        <p:nvSpPr>
          <p:cNvPr id="16" name="Text 12"/>
          <p:cNvSpPr txBox="1"/>
          <p:nvPr/>
        </p:nvSpPr>
        <p:spPr>
          <a:xfrm>
            <a:off x="438898" y="2139036"/>
            <a:ext cx="8166764"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shape decision underneath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three-way, not yet settled: a Taproom selling kegs, a Showroom selling beers, or an Event space doing both. JP recommended pausing walk-in trade to protect the refill business; Justin's own priority is to grow taproom traffic from local business, functions and ticketed music.</a:t>
            </a:r>
            <a:endParaRPr lang="en-US" sz="810" dirty="0"/>
          </a:p>
        </p:txBody>
      </p:sp>
      <p:sp>
        <p:nvSpPr>
          <p:cNvPr id="17" name="Text 13"/>
          <p:cNvSpPr txBox="1"/>
          <p:nvPr/>
        </p:nvSpPr>
        <p:spPr>
          <a:xfrm>
            <a:off x="438898" y="2678935"/>
            <a:ext cx="8166764"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If nothing is decided, the default continues.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Marketing time gets split across three shapes at once, the best insights stay buried in a long document, and 1,000 refillers stays a number on a page.</a:t>
            </a:r>
            <a:endParaRPr lang="en-US" sz="810" dirty="0"/>
          </a:p>
        </p:txBody>
      </p:sp>
      <p:sp>
        <p:nvSpPr>
          <p:cNvPr id="18" name="Text 14"/>
          <p:cNvSpPr txBox="1"/>
          <p:nvPr/>
        </p:nvSpPr>
        <p:spPr>
          <a:xfrm>
            <a:off x="438898" y="3064528"/>
            <a:ext cx="8166764"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Why this exists.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Christy's reading of the Discovery set: everything in it is equal, so none of it has shape. Clent asked for three things off the back of it: belief, clarity, momentum, because a decision made beats a strategy admired.</a:t>
            </a:r>
            <a:endParaRPr lang="en-US" sz="810" dirty="0"/>
          </a:p>
        </p:txBody>
      </p:sp>
      <p:sp>
        <p:nvSpPr>
          <p:cNvPr id="19" name="Shape 15"/>
          <p:cNvSpPr/>
          <p:nvPr/>
        </p:nvSpPr>
        <p:spPr>
          <a:xfrm>
            <a:off x="438898" y="3509012"/>
            <a:ext cx="8166764" cy="0"/>
          </a:xfrm>
          <a:prstGeom prst="line">
            <a:avLst/>
          </a:prstGeom>
          <a:noFill/>
          <a:ln w="7620">
            <a:solidFill>
              <a:srgbClr val="E3E7EC"/>
            </a:solidFill>
            <a:prstDash val="solid"/>
          </a:ln>
        </p:spPr>
      </p:sp>
      <p:sp>
        <p:nvSpPr>
          <p:cNvPr id="20" name="Text 16"/>
          <p:cNvSpPr txBox="1"/>
          <p:nvPr/>
        </p:nvSpPr>
        <p:spPr>
          <a:xfrm>
            <a:off x="438898" y="3566612"/>
            <a:ext cx="8166764"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North star is Justin's, from his plan on a page. JP framed it in the catch-up as 1,000 systems; refillers is the better measure, since a system not refilling is worth nothing.</a:t>
            </a:r>
            <a:endParaRPr lang="en-US" sz="700" dirty="0"/>
          </a:p>
        </p:txBody>
      </p:sp>
      <p:sp>
        <p:nvSpPr>
          <p:cNvPr id="21" name="Shape 17"/>
          <p:cNvSpPr/>
          <p:nvPr/>
        </p:nvSpPr>
        <p:spPr>
          <a:xfrm>
            <a:off x="8828761" y="1115568"/>
            <a:ext cx="5967146" cy="2686259"/>
          </a:xfrm>
          <a:prstGeom prst="rect">
            <a:avLst/>
          </a:prstGeom>
          <a:solidFill>
            <a:srgbClr val="FFFFFF"/>
          </a:solidFill>
          <a:ln w="7620">
            <a:solidFill>
              <a:srgbClr val="E3E7EC"/>
            </a:solidFill>
            <a:prstDash val="solid"/>
          </a:ln>
        </p:spPr>
      </p:sp>
      <p:sp>
        <p:nvSpPr>
          <p:cNvPr id="22" name="Text 18"/>
          <p:cNvSpPr txBox="1"/>
          <p:nvPr/>
        </p:nvSpPr>
        <p:spPr>
          <a:xfrm>
            <a:off x="8943961" y="1230768"/>
            <a:ext cx="5736746"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WHERE WE START FROM</a:t>
            </a:r>
            <a:endParaRPr lang="en-US" sz="680" dirty="0"/>
          </a:p>
        </p:txBody>
      </p:sp>
      <p:sp>
        <p:nvSpPr>
          <p:cNvPr id="23" name="Shape 19"/>
          <p:cNvSpPr/>
          <p:nvPr/>
        </p:nvSpPr>
        <p:spPr>
          <a:xfrm>
            <a:off x="8943961" y="1400636"/>
            <a:ext cx="1864249" cy="1106996"/>
          </a:xfrm>
          <a:prstGeom prst="rect">
            <a:avLst/>
          </a:prstGeom>
          <a:solidFill>
            <a:srgbClr val="F5F7FA"/>
          </a:solidFill>
          <a:ln w="7620">
            <a:solidFill>
              <a:srgbClr val="E3E7EC"/>
            </a:solidFill>
            <a:prstDash val="solid"/>
          </a:ln>
        </p:spPr>
      </p:sp>
      <p:sp>
        <p:nvSpPr>
          <p:cNvPr id="24" name="Text 20"/>
          <p:cNvSpPr txBox="1"/>
          <p:nvPr/>
        </p:nvSpPr>
        <p:spPr>
          <a:xfrm>
            <a:off x="9051961" y="1768057"/>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96–113</a:t>
            </a:r>
            <a:endParaRPr lang="en-US" sz="1400" dirty="0"/>
          </a:p>
        </p:txBody>
      </p:sp>
      <p:sp>
        <p:nvSpPr>
          <p:cNvPr id="25" name="Text 21"/>
          <p:cNvSpPr txBox="1"/>
          <p:nvPr/>
        </p:nvSpPr>
        <p:spPr>
          <a:xfrm>
            <a:off x="9051961" y="2049177"/>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 CUSTOMERS, NO PUSH</a:t>
            </a:r>
            <a:endParaRPr lang="en-US" sz="560" dirty="0"/>
          </a:p>
        </p:txBody>
      </p:sp>
      <p:sp>
        <p:nvSpPr>
          <p:cNvPr id="26" name="Shape 22"/>
          <p:cNvSpPr/>
          <p:nvPr/>
        </p:nvSpPr>
        <p:spPr>
          <a:xfrm>
            <a:off x="10880209" y="1400636"/>
            <a:ext cx="1864249" cy="1106996"/>
          </a:xfrm>
          <a:prstGeom prst="rect">
            <a:avLst/>
          </a:prstGeom>
          <a:solidFill>
            <a:srgbClr val="F5F7FA"/>
          </a:solidFill>
          <a:ln w="7620">
            <a:solidFill>
              <a:srgbClr val="E3E7EC"/>
            </a:solidFill>
            <a:prstDash val="solid"/>
          </a:ln>
        </p:spPr>
      </p:sp>
      <p:sp>
        <p:nvSpPr>
          <p:cNvPr id="27" name="Text 23"/>
          <p:cNvSpPr txBox="1"/>
          <p:nvPr/>
        </p:nvSpPr>
        <p:spPr>
          <a:xfrm>
            <a:off x="10988209" y="1768057"/>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250</a:t>
            </a:r>
            <a:endParaRPr lang="en-US" sz="1400" dirty="0"/>
          </a:p>
        </p:txBody>
      </p:sp>
      <p:sp>
        <p:nvSpPr>
          <p:cNvPr id="28" name="Text 24"/>
          <p:cNvSpPr txBox="1"/>
          <p:nvPr/>
        </p:nvSpPr>
        <p:spPr>
          <a:xfrm>
            <a:off x="10988209" y="2049177"/>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REFILLERS AT SIX MONTHS</a:t>
            </a:r>
            <a:endParaRPr lang="en-US" sz="560" dirty="0"/>
          </a:p>
        </p:txBody>
      </p:sp>
      <p:sp>
        <p:nvSpPr>
          <p:cNvPr id="29" name="Shape 25"/>
          <p:cNvSpPr/>
          <p:nvPr/>
        </p:nvSpPr>
        <p:spPr>
          <a:xfrm>
            <a:off x="12816458" y="1400636"/>
            <a:ext cx="1864249" cy="1106996"/>
          </a:xfrm>
          <a:prstGeom prst="rect">
            <a:avLst/>
          </a:prstGeom>
          <a:solidFill>
            <a:srgbClr val="F5F7FA"/>
          </a:solidFill>
          <a:ln w="7620">
            <a:solidFill>
              <a:srgbClr val="E3E7EC"/>
            </a:solidFill>
            <a:prstDash val="solid"/>
          </a:ln>
        </p:spPr>
      </p:sp>
      <p:sp>
        <p:nvSpPr>
          <p:cNvPr id="30" name="Text 26"/>
          <p:cNvSpPr txBox="1"/>
          <p:nvPr/>
        </p:nvSpPr>
        <p:spPr>
          <a:xfrm>
            <a:off x="12924458" y="1768057"/>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1,000</a:t>
            </a:r>
            <a:endParaRPr lang="en-US" sz="1400" dirty="0"/>
          </a:p>
        </p:txBody>
      </p:sp>
      <p:sp>
        <p:nvSpPr>
          <p:cNvPr id="31" name="Text 27"/>
          <p:cNvSpPr txBox="1"/>
          <p:nvPr/>
        </p:nvSpPr>
        <p:spPr>
          <a:xfrm>
            <a:off x="12924458" y="2049177"/>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ACTIVE REFILLERS BY YEAR THREE</a:t>
            </a:r>
            <a:endParaRPr lang="en-US" sz="560" dirty="0"/>
          </a:p>
        </p:txBody>
      </p:sp>
      <p:sp>
        <p:nvSpPr>
          <p:cNvPr id="32" name="Shape 28"/>
          <p:cNvSpPr/>
          <p:nvPr/>
        </p:nvSpPr>
        <p:spPr>
          <a:xfrm>
            <a:off x="8943961" y="2579632"/>
            <a:ext cx="1864249" cy="1106996"/>
          </a:xfrm>
          <a:prstGeom prst="rect">
            <a:avLst/>
          </a:prstGeom>
          <a:solidFill>
            <a:srgbClr val="F5F7FA"/>
          </a:solidFill>
          <a:ln w="7620">
            <a:solidFill>
              <a:srgbClr val="E3E7EC"/>
            </a:solidFill>
            <a:prstDash val="solid"/>
          </a:ln>
        </p:spPr>
      </p:sp>
      <p:sp>
        <p:nvSpPr>
          <p:cNvPr id="33" name="Text 29"/>
          <p:cNvSpPr txBox="1"/>
          <p:nvPr/>
        </p:nvSpPr>
        <p:spPr>
          <a:xfrm>
            <a:off x="9051961" y="294705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56%</a:t>
            </a:r>
            <a:endParaRPr lang="en-US" sz="1400" dirty="0"/>
          </a:p>
        </p:txBody>
      </p:sp>
      <p:sp>
        <p:nvSpPr>
          <p:cNvPr id="34" name="Text 30"/>
          <p:cNvSpPr txBox="1"/>
          <p:nvPr/>
        </p:nvSpPr>
        <p:spPr>
          <a:xfrm>
            <a:off x="9051961" y="3228173"/>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BOUGHT THEIR SYSTEM ELSEWHERE</a:t>
            </a:r>
            <a:endParaRPr lang="en-US" sz="560" dirty="0"/>
          </a:p>
        </p:txBody>
      </p:sp>
      <p:sp>
        <p:nvSpPr>
          <p:cNvPr id="35" name="Shape 31"/>
          <p:cNvSpPr/>
          <p:nvPr/>
        </p:nvSpPr>
        <p:spPr>
          <a:xfrm>
            <a:off x="10880209" y="2579632"/>
            <a:ext cx="1864249" cy="1106996"/>
          </a:xfrm>
          <a:prstGeom prst="rect">
            <a:avLst/>
          </a:prstGeom>
          <a:solidFill>
            <a:srgbClr val="F5F7FA"/>
          </a:solidFill>
          <a:ln w="7620">
            <a:solidFill>
              <a:srgbClr val="E3E7EC"/>
            </a:solidFill>
            <a:prstDash val="solid"/>
          </a:ln>
        </p:spPr>
      </p:sp>
      <p:sp>
        <p:nvSpPr>
          <p:cNvPr id="36" name="Text 32"/>
          <p:cNvSpPr txBox="1"/>
          <p:nvPr/>
        </p:nvSpPr>
        <p:spPr>
          <a:xfrm>
            <a:off x="10988209" y="294705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$2.55 vs $12+</a:t>
            </a:r>
            <a:endParaRPr lang="en-US" sz="1400" dirty="0"/>
          </a:p>
        </p:txBody>
      </p:sp>
      <p:sp>
        <p:nvSpPr>
          <p:cNvPr id="37" name="Text 33"/>
          <p:cNvSpPr txBox="1"/>
          <p:nvPr/>
        </p:nvSpPr>
        <p:spPr>
          <a:xfrm>
            <a:off x="10988209" y="3228173"/>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HOME SCHOONER PRICE VS PUB</a:t>
            </a:r>
            <a:endParaRPr lang="en-US" sz="560" dirty="0"/>
          </a:p>
        </p:txBody>
      </p:sp>
      <p:sp>
        <p:nvSpPr>
          <p:cNvPr id="38" name="Shape 34"/>
          <p:cNvSpPr/>
          <p:nvPr/>
        </p:nvSpPr>
        <p:spPr>
          <a:xfrm>
            <a:off x="12816458" y="2579632"/>
            <a:ext cx="1864249" cy="1106996"/>
          </a:xfrm>
          <a:prstGeom prst="rect">
            <a:avLst/>
          </a:prstGeom>
          <a:solidFill>
            <a:srgbClr val="F5F7FA"/>
          </a:solidFill>
          <a:ln w="7620">
            <a:solidFill>
              <a:srgbClr val="E3E7EC"/>
            </a:solidFill>
            <a:prstDash val="solid"/>
          </a:ln>
        </p:spPr>
      </p:sp>
      <p:sp>
        <p:nvSpPr>
          <p:cNvPr id="39" name="Text 35"/>
          <p:cNvSpPr txBox="1"/>
          <p:nvPr/>
        </p:nvSpPr>
        <p:spPr>
          <a:xfrm>
            <a:off x="12924458" y="2947053"/>
            <a:ext cx="1648249" cy="223520"/>
          </a:xfrm>
          <a:prstGeom prst="rect">
            <a:avLst/>
          </a:prstGeom>
          <a:noFill/>
          <a:ln/>
        </p:spPr>
        <p:txBody>
          <a:bodyPr wrap="square" lIns="0" tIns="0" rIns="0" bIns="0" rtlCol="0" anchor="t"/>
          <a:lstStyle/>
          <a:p>
            <a:pPr indent="0" marL="0">
              <a:lnSpc>
                <a:spcPts val="1400"/>
              </a:lnSpc>
              <a:buNone/>
            </a:pPr>
            <a:r>
              <a:rPr lang="en-US" sz="1400" b="1" dirty="0">
                <a:solidFill>
                  <a:srgbClr val="0066FF"/>
                </a:solidFill>
                <a:latin typeface="Poppins" pitchFamily="34" charset="0"/>
                <a:ea typeface="Poppins" pitchFamily="34" charset="-122"/>
                <a:cs typeface="Poppins" pitchFamily="34" charset="-120"/>
              </a:rPr>
              <a:t>1:10</a:t>
            </a:r>
            <a:endParaRPr lang="en-US" sz="1400" dirty="0"/>
          </a:p>
        </p:txBody>
      </p:sp>
      <p:sp>
        <p:nvSpPr>
          <p:cNvPr id="40" name="Text 36"/>
          <p:cNvSpPr txBox="1"/>
          <p:nvPr/>
        </p:nvSpPr>
        <p:spPr>
          <a:xfrm>
            <a:off x="12924458" y="3228173"/>
            <a:ext cx="1648249" cy="91034"/>
          </a:xfrm>
          <a:prstGeom prst="rect">
            <a:avLst/>
          </a:prstGeom>
          <a:noFill/>
          <a:ln/>
        </p:spPr>
        <p:txBody>
          <a:bodyPr wrap="square" lIns="0" tIns="0" rIns="0" bIns="0" rtlCol="0" anchor="t"/>
          <a:lstStyle/>
          <a:p>
            <a:pPr indent="0" marL="0">
              <a:lnSpc>
                <a:spcPts val="717"/>
              </a:lnSpc>
              <a:buNone/>
            </a:pPr>
            <a:r>
              <a:rPr lang="en-US" sz="560" b="1" spc="56" kern="0" dirty="0">
                <a:solidFill>
                  <a:srgbClr val="4A5565"/>
                </a:solidFill>
                <a:latin typeface="Poppins" pitchFamily="34" charset="0"/>
                <a:ea typeface="Poppins" pitchFamily="34" charset="-122"/>
                <a:cs typeface="Poppins" pitchFamily="34" charset="-120"/>
              </a:rPr>
              <a:t>WHOLESALE ACCOUNT VS HOUSEHOLD</a:t>
            </a:r>
            <a:endParaRPr lang="en-US" sz="560" dirty="0"/>
          </a:p>
        </p:txBody>
      </p:sp>
      <p:sp>
        <p:nvSpPr>
          <p:cNvPr id="41" name="Shape 37"/>
          <p:cNvSpPr/>
          <p:nvPr/>
        </p:nvSpPr>
        <p:spPr>
          <a:xfrm>
            <a:off x="323698" y="3909727"/>
            <a:ext cx="14472209" cy="3314958"/>
          </a:xfrm>
          <a:prstGeom prst="rect">
            <a:avLst/>
          </a:prstGeom>
          <a:solidFill>
            <a:srgbClr val="FFFFFF"/>
          </a:solidFill>
          <a:ln w="7620">
            <a:solidFill>
              <a:srgbClr val="E3E7EC"/>
            </a:solidFill>
            <a:prstDash val="solid"/>
          </a:ln>
        </p:spPr>
      </p:sp>
      <p:sp>
        <p:nvSpPr>
          <p:cNvPr id="42" name="Text 38"/>
          <p:cNvSpPr txBox="1"/>
          <p:nvPr/>
        </p:nvSpPr>
        <p:spPr>
          <a:xfrm>
            <a:off x="438898" y="4024927"/>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FOUR PLANS, ONE MOVE EACH</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the rest of this pack is a page per plan</a:t>
            </a:r>
            <a:endParaRPr lang="en-US" sz="680" dirty="0"/>
          </a:p>
        </p:txBody>
      </p:sp>
      <p:sp>
        <p:nvSpPr>
          <p:cNvPr id="43" name="Shape 39"/>
          <p:cNvSpPr/>
          <p:nvPr/>
        </p:nvSpPr>
        <p:spPr>
          <a:xfrm>
            <a:off x="438898" y="4194795"/>
            <a:ext cx="3479528" cy="2914690"/>
          </a:xfrm>
          <a:prstGeom prst="rect">
            <a:avLst/>
          </a:prstGeom>
          <a:solidFill>
            <a:srgbClr val="F5F7FA"/>
          </a:solidFill>
          <a:ln w="7620">
            <a:solidFill>
              <a:srgbClr val="E3E7EC"/>
            </a:solidFill>
            <a:prstDash val="solid"/>
          </a:ln>
        </p:spPr>
      </p:sp>
      <p:sp>
        <p:nvSpPr>
          <p:cNvPr id="44" name="Shape 40"/>
          <p:cNvSpPr/>
          <p:nvPr/>
        </p:nvSpPr>
        <p:spPr>
          <a:xfrm>
            <a:off x="438898" y="4194795"/>
            <a:ext cx="3479528" cy="28800"/>
          </a:xfrm>
          <a:prstGeom prst="rect">
            <a:avLst/>
          </a:prstGeom>
          <a:solidFill>
            <a:srgbClr val="0066FF"/>
          </a:solidFill>
          <a:ln w="12700">
            <a:solidFill>
              <a:srgbClr val="333333"/>
            </a:solidFill>
            <a:prstDash val="solid"/>
          </a:ln>
        </p:spPr>
      </p:sp>
      <p:sp>
        <p:nvSpPr>
          <p:cNvPr id="45" name="Text 41"/>
          <p:cNvSpPr txBox="1"/>
          <p:nvPr/>
        </p:nvSpPr>
        <p:spPr>
          <a:xfrm>
            <a:off x="532498"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BUSINESS</a:t>
            </a:r>
            <a:endParaRPr lang="en-US" sz="680" dirty="0"/>
          </a:p>
        </p:txBody>
      </p:sp>
      <p:sp>
        <p:nvSpPr>
          <p:cNvPr id="46" name="Text 42"/>
          <p:cNvSpPr txBox="1"/>
          <p:nvPr/>
        </p:nvSpPr>
        <p:spPr>
          <a:xfrm>
            <a:off x="532498"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Settle the shape, then the split.</a:t>
            </a:r>
            <a:endParaRPr lang="en-US" sz="960" dirty="0"/>
          </a:p>
        </p:txBody>
      </p:sp>
      <p:sp>
        <p:nvSpPr>
          <p:cNvPr id="47" name="Text 43"/>
          <p:cNvSpPr txBox="1"/>
          <p:nvPr/>
        </p:nvSpPr>
        <p:spPr>
          <a:xfrm>
            <a:off x="532498" y="4679120"/>
            <a:ext cx="3292328" cy="593954"/>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own 30-day call: a Taproom selling kegs, a Showroom selling beers, or an Event space doing both. Alongside it, clarity on who is buying, residential vs commercial, and where the energy goes.</a:t>
            </a:r>
            <a:endParaRPr lang="en-US" sz="790" dirty="0"/>
          </a:p>
        </p:txBody>
      </p:sp>
      <p:sp>
        <p:nvSpPr>
          <p:cNvPr id="48" name="Text 44"/>
          <p:cNvSpPr txBox="1"/>
          <p:nvPr/>
        </p:nvSpPr>
        <p:spPr>
          <a:xfrm>
            <a:off x="532498" y="5337874"/>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 picks the shape and the residential-vs-commercial split, inside 30 days.</a:t>
            </a:r>
            <a:endParaRPr lang="en-US" sz="790" dirty="0"/>
          </a:p>
        </p:txBody>
      </p:sp>
      <p:sp>
        <p:nvSpPr>
          <p:cNvPr id="49" name="Shape 45"/>
          <p:cNvSpPr/>
          <p:nvPr/>
        </p:nvSpPr>
        <p:spPr>
          <a:xfrm>
            <a:off x="4026325" y="4194795"/>
            <a:ext cx="3479528" cy="2914690"/>
          </a:xfrm>
          <a:prstGeom prst="rect">
            <a:avLst/>
          </a:prstGeom>
          <a:solidFill>
            <a:srgbClr val="F5F7FA"/>
          </a:solidFill>
          <a:ln w="7620">
            <a:solidFill>
              <a:srgbClr val="E3E7EC"/>
            </a:solidFill>
            <a:prstDash val="solid"/>
          </a:ln>
        </p:spPr>
      </p:sp>
      <p:sp>
        <p:nvSpPr>
          <p:cNvPr id="50" name="Shape 46"/>
          <p:cNvSpPr/>
          <p:nvPr/>
        </p:nvSpPr>
        <p:spPr>
          <a:xfrm>
            <a:off x="4026325" y="4194795"/>
            <a:ext cx="3479528" cy="28800"/>
          </a:xfrm>
          <a:prstGeom prst="rect">
            <a:avLst/>
          </a:prstGeom>
          <a:solidFill>
            <a:srgbClr val="0066FF"/>
          </a:solidFill>
          <a:ln w="12700">
            <a:solidFill>
              <a:srgbClr val="333333"/>
            </a:solidFill>
            <a:prstDash val="solid"/>
          </a:ln>
        </p:spPr>
      </p:sp>
      <p:sp>
        <p:nvSpPr>
          <p:cNvPr id="51" name="Text 47"/>
          <p:cNvSpPr txBox="1"/>
          <p:nvPr/>
        </p:nvSpPr>
        <p:spPr>
          <a:xfrm>
            <a:off x="4119925"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BRAND</a:t>
            </a:r>
            <a:endParaRPr lang="en-US" sz="680" dirty="0"/>
          </a:p>
        </p:txBody>
      </p:sp>
      <p:sp>
        <p:nvSpPr>
          <p:cNvPr id="52" name="Text 48"/>
          <p:cNvSpPr txBox="1"/>
          <p:nvPr/>
        </p:nvSpPr>
        <p:spPr>
          <a:xfrm>
            <a:off x="4119925"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Every household deserves beer on tap.</a:t>
            </a:r>
            <a:endParaRPr lang="en-US" sz="960" dirty="0"/>
          </a:p>
        </p:txBody>
      </p:sp>
      <p:sp>
        <p:nvSpPr>
          <p:cNvPr id="53" name="Text 49"/>
          <p:cNvSpPr txBox="1"/>
          <p:nvPr/>
        </p:nvSpPr>
        <p:spPr>
          <a:xfrm>
            <a:off x="4119925"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own line for the business, aimed at homeowners who entertain, venues, sports clubs and restaurants. Confirming key messaging for each target market is a 30-day item.</a:t>
            </a:r>
            <a:endParaRPr lang="en-US" sz="790" dirty="0"/>
          </a:p>
        </p:txBody>
      </p:sp>
      <p:sp>
        <p:nvSpPr>
          <p:cNvPr id="54" name="Text 50"/>
          <p:cNvSpPr txBox="1"/>
          <p:nvPr/>
        </p:nvSpPr>
        <p:spPr>
          <a:xfrm>
            <a:off x="4119925"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confirm key messaging by target market, inside 30 days.</a:t>
            </a:r>
            <a:endParaRPr lang="en-US" sz="790" dirty="0"/>
          </a:p>
        </p:txBody>
      </p:sp>
      <p:sp>
        <p:nvSpPr>
          <p:cNvPr id="55" name="Shape 51"/>
          <p:cNvSpPr/>
          <p:nvPr/>
        </p:nvSpPr>
        <p:spPr>
          <a:xfrm>
            <a:off x="7613752" y="4194795"/>
            <a:ext cx="3479528" cy="2914690"/>
          </a:xfrm>
          <a:prstGeom prst="rect">
            <a:avLst/>
          </a:prstGeom>
          <a:solidFill>
            <a:srgbClr val="F5F7FA"/>
          </a:solidFill>
          <a:ln w="7620">
            <a:solidFill>
              <a:srgbClr val="E3E7EC"/>
            </a:solidFill>
            <a:prstDash val="solid"/>
          </a:ln>
        </p:spPr>
      </p:sp>
      <p:sp>
        <p:nvSpPr>
          <p:cNvPr id="56" name="Shape 52"/>
          <p:cNvSpPr/>
          <p:nvPr/>
        </p:nvSpPr>
        <p:spPr>
          <a:xfrm>
            <a:off x="7613752" y="4194795"/>
            <a:ext cx="3479528" cy="28800"/>
          </a:xfrm>
          <a:prstGeom prst="rect">
            <a:avLst/>
          </a:prstGeom>
          <a:solidFill>
            <a:srgbClr val="0066FF"/>
          </a:solidFill>
          <a:ln w="12700">
            <a:solidFill>
              <a:srgbClr val="333333"/>
            </a:solidFill>
            <a:prstDash val="solid"/>
          </a:ln>
        </p:spPr>
      </p:sp>
      <p:sp>
        <p:nvSpPr>
          <p:cNvPr id="57" name="Text 53"/>
          <p:cNvSpPr txBox="1"/>
          <p:nvPr/>
        </p:nvSpPr>
        <p:spPr>
          <a:xfrm>
            <a:off x="7707352"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SALES AND MARKETING</a:t>
            </a:r>
            <a:endParaRPr lang="en-US" sz="680" dirty="0"/>
          </a:p>
        </p:txBody>
      </p:sp>
      <p:sp>
        <p:nvSpPr>
          <p:cNvPr id="58" name="Text 54"/>
          <p:cNvSpPr txBox="1"/>
          <p:nvPr/>
        </p:nvSpPr>
        <p:spPr>
          <a:xfrm>
            <a:off x="7707352"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Switch the owners who already have a system.</a:t>
            </a:r>
            <a:endParaRPr lang="en-US" sz="960" dirty="0"/>
          </a:p>
        </p:txBody>
      </p:sp>
      <p:sp>
        <p:nvSpPr>
          <p:cNvPr id="59" name="Text 55"/>
          <p:cNvSpPr txBox="1"/>
          <p:nvPr/>
        </p:nvSpPr>
        <p:spPr>
          <a:xfrm>
            <a:off x="7707352"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Justin's number one priority: find every existing keg system owner and move them onto Tap That refills. Alongside it, the website upgrade plus SEM, and a referral programme with JVPs.</a:t>
            </a:r>
            <a:endParaRPr lang="en-US" sz="790" dirty="0"/>
          </a:p>
        </p:txBody>
      </p:sp>
      <p:sp>
        <p:nvSpPr>
          <p:cNvPr id="60" name="Text 56"/>
          <p:cNvSpPr txBox="1"/>
          <p:nvPr/>
        </p:nvSpPr>
        <p:spPr>
          <a:xfrm>
            <a:off x="7707352"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build the outreach list of existing system owners and start the switch.</a:t>
            </a:r>
            <a:endParaRPr lang="en-US" sz="790" dirty="0"/>
          </a:p>
        </p:txBody>
      </p:sp>
      <p:sp>
        <p:nvSpPr>
          <p:cNvPr id="61" name="Shape 57"/>
          <p:cNvSpPr/>
          <p:nvPr/>
        </p:nvSpPr>
        <p:spPr>
          <a:xfrm>
            <a:off x="11201179" y="4194795"/>
            <a:ext cx="3479528" cy="2914690"/>
          </a:xfrm>
          <a:prstGeom prst="rect">
            <a:avLst/>
          </a:prstGeom>
          <a:solidFill>
            <a:srgbClr val="F5F7FA"/>
          </a:solidFill>
          <a:ln w="7620">
            <a:solidFill>
              <a:srgbClr val="E3E7EC"/>
            </a:solidFill>
            <a:prstDash val="solid"/>
          </a:ln>
        </p:spPr>
      </p:sp>
      <p:sp>
        <p:nvSpPr>
          <p:cNvPr id="62" name="Shape 58"/>
          <p:cNvSpPr/>
          <p:nvPr/>
        </p:nvSpPr>
        <p:spPr>
          <a:xfrm>
            <a:off x="11201179" y="4194795"/>
            <a:ext cx="3479528" cy="28800"/>
          </a:xfrm>
          <a:prstGeom prst="rect">
            <a:avLst/>
          </a:prstGeom>
          <a:solidFill>
            <a:srgbClr val="0066FF"/>
          </a:solidFill>
          <a:ln w="12700">
            <a:solidFill>
              <a:srgbClr val="333333"/>
            </a:solidFill>
            <a:prstDash val="solid"/>
          </a:ln>
        </p:spPr>
      </p:sp>
      <p:sp>
        <p:nvSpPr>
          <p:cNvPr id="63" name="Text 59"/>
          <p:cNvSpPr txBox="1"/>
          <p:nvPr/>
        </p:nvSpPr>
        <p:spPr>
          <a:xfrm>
            <a:off x="11294779" y="4288395"/>
            <a:ext cx="3292328"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ACTIVATION</a:t>
            </a:r>
            <a:endParaRPr lang="en-US" sz="680" dirty="0"/>
          </a:p>
        </p:txBody>
      </p:sp>
      <p:sp>
        <p:nvSpPr>
          <p:cNvPr id="64" name="Text 60"/>
          <p:cNvSpPr txBox="1"/>
          <p:nvPr/>
        </p:nvSpPr>
        <p:spPr>
          <a:xfrm>
            <a:off x="11294779" y="4458263"/>
            <a:ext cx="3292328" cy="156058"/>
          </a:xfrm>
          <a:prstGeom prst="rect">
            <a:avLst/>
          </a:prstGeom>
          <a:noFill/>
          <a:ln/>
        </p:spPr>
        <p:txBody>
          <a:bodyPr wrap="square" lIns="0" tIns="0" rIns="0" bIns="0" rtlCol="0" anchor="t"/>
          <a:lstStyle/>
          <a:p>
            <a:pPr indent="0" marL="0">
              <a:lnSpc>
                <a:spcPts val="1229"/>
              </a:lnSpc>
              <a:buNone/>
            </a:pPr>
            <a:r>
              <a:rPr lang="en-US" sz="960" b="1" dirty="0">
                <a:solidFill>
                  <a:srgbClr val="0E171F"/>
                </a:solidFill>
                <a:latin typeface="Poppins" pitchFamily="34" charset="0"/>
                <a:ea typeface="Poppins" pitchFamily="34" charset="-122"/>
                <a:cs typeface="Poppins" pitchFamily="34" charset="-120"/>
              </a:rPr>
              <a:t>Oktoberfest, then grow the room.</a:t>
            </a:r>
            <a:endParaRPr lang="en-US" sz="960" dirty="0"/>
          </a:p>
        </p:txBody>
      </p:sp>
      <p:sp>
        <p:nvSpPr>
          <p:cNvPr id="65" name="Text 61"/>
          <p:cNvSpPr txBox="1"/>
          <p:nvPr/>
        </p:nvSpPr>
        <p:spPr>
          <a:xfrm>
            <a:off x="11294779" y="4679120"/>
            <a:ext cx="3292328" cy="445465"/>
          </a:xfrm>
          <a:prstGeom prst="rect">
            <a:avLst/>
          </a:prstGeom>
          <a:noFill/>
          <a:ln/>
        </p:spPr>
        <p:txBody>
          <a:bodyPr wrap="square" lIns="0" tIns="0" rIns="0" bIns="0" rtlCol="0" anchor="t"/>
          <a:lstStyle/>
          <a:p>
            <a:pPr indent="0" marL="0">
              <a:lnSpc>
                <a:spcPts val="1169"/>
              </a:lnSpc>
              <a:buNone/>
            </a:pPr>
            <a:r>
              <a:rPr lang="en-US" sz="790" dirty="0">
                <a:solidFill>
                  <a:srgbClr val="4A5565"/>
                </a:solidFill>
                <a:latin typeface="Poppins" pitchFamily="34" charset="0"/>
                <a:ea typeface="Poppins" pitchFamily="34" charset="-122"/>
                <a:cs typeface="Poppins" pitchFamily="34" charset="-120"/>
              </a:rPr>
              <a:t>A successful Oktoberfest and keg system giveaway first. Then taproom traffic from local business, functions and ticketed music events, Justin's own priority for the room.</a:t>
            </a:r>
            <a:endParaRPr lang="en-US" sz="790" dirty="0"/>
          </a:p>
        </p:txBody>
      </p:sp>
      <p:sp>
        <p:nvSpPr>
          <p:cNvPr id="66" name="Text 62"/>
          <p:cNvSpPr txBox="1"/>
          <p:nvPr/>
        </p:nvSpPr>
        <p:spPr>
          <a:xfrm>
            <a:off x="11294779" y="5189385"/>
            <a:ext cx="3292328" cy="296977"/>
          </a:xfrm>
          <a:prstGeom prst="rect">
            <a:avLst/>
          </a:prstGeom>
          <a:noFill/>
          <a:ln/>
        </p:spPr>
        <p:txBody>
          <a:bodyPr wrap="square" lIns="0" tIns="0" rIns="0" bIns="0" rtlCol="0" anchor="t"/>
          <a:lstStyle/>
          <a:p>
            <a:pPr indent="0" marL="0">
              <a:lnSpc>
                <a:spcPts val="1169"/>
              </a:lnSpc>
              <a:buNone/>
            </a:pPr>
            <a:r>
              <a:rPr lang="en-US" sz="790" b="1" dirty="0">
                <a:solidFill>
                  <a:srgbClr val="0E171F"/>
                </a:solidFill>
                <a:latin typeface="Poppins" pitchFamily="34" charset="0"/>
                <a:ea typeface="Poppins" pitchFamily="34" charset="-122"/>
                <a:cs typeface="Poppins" pitchFamily="34" charset="-120"/>
              </a:rPr>
              <a:t>First step: </a:t>
            </a:r>
            <a:pPr indent="0" marL="0">
              <a:lnSpc>
                <a:spcPts val="1169"/>
              </a:lnSpc>
              <a:buNone/>
            </a:pPr>
            <a:r>
              <a:rPr lang="en-US" sz="790" dirty="0">
                <a:solidFill>
                  <a:srgbClr val="4A5565"/>
                </a:solidFill>
                <a:latin typeface="Poppins" pitchFamily="34" charset="0"/>
                <a:ea typeface="Poppins" pitchFamily="34" charset="-122"/>
                <a:cs typeface="Poppins" pitchFamily="34" charset="-120"/>
              </a:rPr>
              <a:t>deliver Oktoberfest and the giveaway, then book the first ticketed music night.</a:t>
            </a:r>
            <a:endParaRPr lang="en-US" sz="790" dirty="0"/>
          </a:p>
        </p:txBody>
      </p:sp>
      <p:sp>
        <p:nvSpPr>
          <p:cNvPr id="67" name="Shape 63"/>
          <p:cNvSpPr/>
          <p:nvPr/>
        </p:nvSpPr>
        <p:spPr>
          <a:xfrm>
            <a:off x="323698" y="7332584"/>
            <a:ext cx="4752137" cy="3143495"/>
          </a:xfrm>
          <a:prstGeom prst="rect">
            <a:avLst/>
          </a:prstGeom>
          <a:solidFill>
            <a:srgbClr val="FFFFFF"/>
          </a:solidFill>
          <a:ln w="7620">
            <a:solidFill>
              <a:srgbClr val="E3E7EC"/>
            </a:solidFill>
            <a:prstDash val="solid"/>
          </a:ln>
        </p:spPr>
      </p:sp>
      <p:sp>
        <p:nvSpPr>
          <p:cNvPr id="68" name="Text 64"/>
          <p:cNvSpPr txBox="1"/>
          <p:nvPr/>
        </p:nvSpPr>
        <p:spPr>
          <a:xfrm>
            <a:off x="438898"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SEQUENCE</a:t>
            </a:r>
            <a:endParaRPr lang="en-US" sz="680" dirty="0"/>
          </a:p>
        </p:txBody>
      </p:sp>
      <p:sp>
        <p:nvSpPr>
          <p:cNvPr id="69" name="Shape 65"/>
          <p:cNvSpPr/>
          <p:nvPr/>
        </p:nvSpPr>
        <p:spPr>
          <a:xfrm>
            <a:off x="438898" y="7617652"/>
            <a:ext cx="677440" cy="205740"/>
          </a:xfrm>
          <a:prstGeom prst="roundRect">
            <a:avLst>
              <a:gd name="adj" fmla="val 50000"/>
            </a:avLst>
          </a:prstGeom>
          <a:solidFill>
            <a:srgbClr val="0E171F"/>
          </a:solidFill>
          <a:ln w="12700">
            <a:solidFill>
              <a:srgbClr val="333333"/>
            </a:solidFill>
            <a:prstDash val="solid"/>
          </a:ln>
        </p:spPr>
      </p:sp>
      <p:sp>
        <p:nvSpPr>
          <p:cNvPr id="70" name="Text 66"/>
          <p:cNvSpPr txBox="1"/>
          <p:nvPr/>
        </p:nvSpPr>
        <p:spPr>
          <a:xfrm>
            <a:off x="438898" y="7617652"/>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30 DAYS</a:t>
            </a:r>
            <a:endParaRPr lang="en-US" sz="640" dirty="0"/>
          </a:p>
        </p:txBody>
      </p:sp>
      <p:sp>
        <p:nvSpPr>
          <p:cNvPr id="71" name="Text 67"/>
          <p:cNvSpPr txBox="1"/>
          <p:nvPr/>
        </p:nvSpPr>
        <p:spPr>
          <a:xfrm>
            <a:off x="1280929" y="7604851"/>
            <a:ext cx="3679705"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shape decision, KPIs and growth targets, meeting rhythm agreed.</a:t>
            </a:r>
            <a:endParaRPr lang="en-US" sz="810" dirty="0"/>
          </a:p>
        </p:txBody>
      </p:sp>
      <p:sp>
        <p:nvSpPr>
          <p:cNvPr id="72" name="Shape 68"/>
          <p:cNvSpPr/>
          <p:nvPr/>
        </p:nvSpPr>
        <p:spPr>
          <a:xfrm>
            <a:off x="438898" y="7927584"/>
            <a:ext cx="677440" cy="205740"/>
          </a:xfrm>
          <a:prstGeom prst="roundRect">
            <a:avLst>
              <a:gd name="adj" fmla="val 50000"/>
            </a:avLst>
          </a:prstGeom>
          <a:solidFill>
            <a:srgbClr val="0E171F"/>
          </a:solidFill>
          <a:ln w="12700">
            <a:solidFill>
              <a:srgbClr val="333333"/>
            </a:solidFill>
            <a:prstDash val="solid"/>
          </a:ln>
        </p:spPr>
      </p:sp>
      <p:sp>
        <p:nvSpPr>
          <p:cNvPr id="73" name="Text 69"/>
          <p:cNvSpPr txBox="1"/>
          <p:nvPr/>
        </p:nvSpPr>
        <p:spPr>
          <a:xfrm>
            <a:off x="438898" y="7927584"/>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 MONTHS</a:t>
            </a:r>
            <a:endParaRPr lang="en-US" sz="640" dirty="0"/>
          </a:p>
        </p:txBody>
      </p:sp>
      <p:sp>
        <p:nvSpPr>
          <p:cNvPr id="74" name="Text 70"/>
          <p:cNvSpPr txBox="1"/>
          <p:nvPr/>
        </p:nvSpPr>
        <p:spPr>
          <a:xfrm>
            <a:off x="1280929" y="7914782"/>
            <a:ext cx="367970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Website, GoTab and SEM live; existing owners contacted; next hire decided.</a:t>
            </a:r>
            <a:endParaRPr lang="en-US" sz="810" dirty="0"/>
          </a:p>
        </p:txBody>
      </p:sp>
      <p:sp>
        <p:nvSpPr>
          <p:cNvPr id="75" name="Shape 71"/>
          <p:cNvSpPr/>
          <p:nvPr/>
        </p:nvSpPr>
        <p:spPr>
          <a:xfrm>
            <a:off x="438898" y="8308381"/>
            <a:ext cx="677440" cy="205740"/>
          </a:xfrm>
          <a:prstGeom prst="roundRect">
            <a:avLst>
              <a:gd name="adj" fmla="val 50000"/>
            </a:avLst>
          </a:prstGeom>
          <a:solidFill>
            <a:srgbClr val="0E171F"/>
          </a:solidFill>
          <a:ln w="12700">
            <a:solidFill>
              <a:srgbClr val="333333"/>
            </a:solidFill>
            <a:prstDash val="solid"/>
          </a:ln>
        </p:spPr>
      </p:sp>
      <p:sp>
        <p:nvSpPr>
          <p:cNvPr id="76" name="Text 72"/>
          <p:cNvSpPr txBox="1"/>
          <p:nvPr/>
        </p:nvSpPr>
        <p:spPr>
          <a:xfrm>
            <a:off x="438898" y="8308381"/>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6 MONTHS</a:t>
            </a:r>
            <a:endParaRPr lang="en-US" sz="640" dirty="0"/>
          </a:p>
        </p:txBody>
      </p:sp>
      <p:sp>
        <p:nvSpPr>
          <p:cNvPr id="77" name="Text 73"/>
          <p:cNvSpPr txBox="1"/>
          <p:nvPr/>
        </p:nvSpPr>
        <p:spPr>
          <a:xfrm>
            <a:off x="1280929" y="8295580"/>
            <a:ext cx="3679705"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250 active keg refillers; a clear career pathway for Chris and Harry.</a:t>
            </a:r>
            <a:endParaRPr lang="en-US" sz="810" dirty="0"/>
          </a:p>
        </p:txBody>
      </p:sp>
      <p:sp>
        <p:nvSpPr>
          <p:cNvPr id="78" name="Shape 74"/>
          <p:cNvSpPr/>
          <p:nvPr/>
        </p:nvSpPr>
        <p:spPr>
          <a:xfrm>
            <a:off x="438898" y="8618313"/>
            <a:ext cx="677440" cy="205740"/>
          </a:xfrm>
          <a:prstGeom prst="roundRect">
            <a:avLst>
              <a:gd name="adj" fmla="val 50000"/>
            </a:avLst>
          </a:prstGeom>
          <a:solidFill>
            <a:srgbClr val="0E171F"/>
          </a:solidFill>
          <a:ln w="12700">
            <a:solidFill>
              <a:srgbClr val="333333"/>
            </a:solidFill>
            <a:prstDash val="solid"/>
          </a:ln>
        </p:spPr>
      </p:sp>
      <p:sp>
        <p:nvSpPr>
          <p:cNvPr id="79" name="Text 75"/>
          <p:cNvSpPr txBox="1"/>
          <p:nvPr/>
        </p:nvSpPr>
        <p:spPr>
          <a:xfrm>
            <a:off x="438898" y="8618313"/>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1 YEAR</a:t>
            </a:r>
            <a:endParaRPr lang="en-US" sz="640" dirty="0"/>
          </a:p>
        </p:txBody>
      </p:sp>
      <p:sp>
        <p:nvSpPr>
          <p:cNvPr id="80" name="Text 76"/>
          <p:cNvSpPr txBox="1"/>
          <p:nvPr/>
        </p:nvSpPr>
        <p:spPr>
          <a:xfrm>
            <a:off x="1280929" y="8605511"/>
            <a:ext cx="367970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Referrals and JVPs driving most sales; cashflow positive, Justin on a wage.</a:t>
            </a:r>
            <a:endParaRPr lang="en-US" sz="810" dirty="0"/>
          </a:p>
        </p:txBody>
      </p:sp>
      <p:sp>
        <p:nvSpPr>
          <p:cNvPr id="81" name="Shape 77"/>
          <p:cNvSpPr/>
          <p:nvPr/>
        </p:nvSpPr>
        <p:spPr>
          <a:xfrm>
            <a:off x="438898" y="8999110"/>
            <a:ext cx="677440" cy="205740"/>
          </a:xfrm>
          <a:prstGeom prst="roundRect">
            <a:avLst>
              <a:gd name="adj" fmla="val 50000"/>
            </a:avLst>
          </a:prstGeom>
          <a:solidFill>
            <a:srgbClr val="0E171F"/>
          </a:solidFill>
          <a:ln w="12700">
            <a:solidFill>
              <a:srgbClr val="333333"/>
            </a:solidFill>
            <a:prstDash val="solid"/>
          </a:ln>
        </p:spPr>
      </p:sp>
      <p:sp>
        <p:nvSpPr>
          <p:cNvPr id="82" name="Text 78"/>
          <p:cNvSpPr txBox="1"/>
          <p:nvPr/>
        </p:nvSpPr>
        <p:spPr>
          <a:xfrm>
            <a:off x="438898" y="8999110"/>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3 YEARS</a:t>
            </a:r>
            <a:endParaRPr lang="en-US" sz="640" dirty="0"/>
          </a:p>
        </p:txBody>
      </p:sp>
      <p:sp>
        <p:nvSpPr>
          <p:cNvPr id="83" name="Text 79"/>
          <p:cNvSpPr txBox="1"/>
          <p:nvPr/>
        </p:nvSpPr>
        <p:spPr>
          <a:xfrm>
            <a:off x="1280929" y="8986309"/>
            <a:ext cx="367970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1,000 active keg refillers: Gold Coast, Brisbane, Northern Rivers, residential and commercial.</a:t>
            </a:r>
            <a:endParaRPr lang="en-US" sz="810" dirty="0"/>
          </a:p>
        </p:txBody>
      </p:sp>
      <p:sp>
        <p:nvSpPr>
          <p:cNvPr id="84" name="Shape 80"/>
          <p:cNvSpPr/>
          <p:nvPr/>
        </p:nvSpPr>
        <p:spPr>
          <a:xfrm>
            <a:off x="438898" y="9379908"/>
            <a:ext cx="677440" cy="205740"/>
          </a:xfrm>
          <a:prstGeom prst="roundRect">
            <a:avLst>
              <a:gd name="adj" fmla="val 50000"/>
            </a:avLst>
          </a:prstGeom>
          <a:solidFill>
            <a:srgbClr val="0E171F"/>
          </a:solidFill>
          <a:ln w="12700">
            <a:solidFill>
              <a:srgbClr val="333333"/>
            </a:solidFill>
            <a:prstDash val="solid"/>
          </a:ln>
        </p:spPr>
      </p:sp>
      <p:sp>
        <p:nvSpPr>
          <p:cNvPr id="85" name="Text 81"/>
          <p:cNvSpPr txBox="1"/>
          <p:nvPr/>
        </p:nvSpPr>
        <p:spPr>
          <a:xfrm>
            <a:off x="438898" y="9379908"/>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5 YEARS</a:t>
            </a:r>
            <a:endParaRPr lang="en-US" sz="640" dirty="0"/>
          </a:p>
        </p:txBody>
      </p:sp>
      <p:sp>
        <p:nvSpPr>
          <p:cNvPr id="86" name="Text 82"/>
          <p:cNvSpPr txBox="1"/>
          <p:nvPr/>
        </p:nvSpPr>
        <p:spPr>
          <a:xfrm>
            <a:off x="1280929" y="9367106"/>
            <a:ext cx="367970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Rapid expansion: external investment, franchising, and a production facility.</a:t>
            </a:r>
            <a:endParaRPr lang="en-US" sz="810" dirty="0"/>
          </a:p>
        </p:txBody>
      </p:sp>
      <p:sp>
        <p:nvSpPr>
          <p:cNvPr id="87" name="Shape 83"/>
          <p:cNvSpPr/>
          <p:nvPr/>
        </p:nvSpPr>
        <p:spPr>
          <a:xfrm>
            <a:off x="438898" y="9760705"/>
            <a:ext cx="677440" cy="205740"/>
          </a:xfrm>
          <a:prstGeom prst="roundRect">
            <a:avLst>
              <a:gd name="adj" fmla="val 50000"/>
            </a:avLst>
          </a:prstGeom>
          <a:solidFill>
            <a:srgbClr val="0E171F"/>
          </a:solidFill>
          <a:ln w="12700">
            <a:solidFill>
              <a:srgbClr val="333333"/>
            </a:solidFill>
            <a:prstDash val="solid"/>
          </a:ln>
        </p:spPr>
      </p:sp>
      <p:sp>
        <p:nvSpPr>
          <p:cNvPr id="88" name="Text 84"/>
          <p:cNvSpPr txBox="1"/>
          <p:nvPr/>
        </p:nvSpPr>
        <p:spPr>
          <a:xfrm>
            <a:off x="438898" y="9760705"/>
            <a:ext cx="677440" cy="205740"/>
          </a:xfrm>
          <a:prstGeom prst="rect">
            <a:avLst/>
          </a:prstGeom>
          <a:noFill/>
          <a:ln/>
        </p:spPr>
        <p:txBody>
          <a:bodyPr wrap="square" lIns="0" tIns="0" rIns="0" bIns="0" rtlCol="0" anchor="ctr"/>
          <a:lstStyle/>
          <a:p>
            <a:pPr algn="ctr" indent="0" marL="0">
              <a:buNone/>
            </a:pPr>
            <a:r>
              <a:rPr lang="en-US" sz="640" b="1" spc="64" kern="0" dirty="0">
                <a:solidFill>
                  <a:srgbClr val="FFFFFF"/>
                </a:solidFill>
                <a:latin typeface="Poppins" pitchFamily="34" charset="0"/>
                <a:ea typeface="Poppins" pitchFamily="34" charset="-122"/>
                <a:cs typeface="Poppins" pitchFamily="34" charset="-120"/>
              </a:rPr>
              <a:t>10 YEARS</a:t>
            </a:r>
            <a:endParaRPr lang="en-US" sz="640" dirty="0"/>
          </a:p>
        </p:txBody>
      </p:sp>
      <p:sp>
        <p:nvSpPr>
          <p:cNvPr id="89" name="Text 85"/>
          <p:cNvSpPr txBox="1"/>
          <p:nvPr/>
        </p:nvSpPr>
        <p:spPr>
          <a:xfrm>
            <a:off x="1280929" y="9747904"/>
            <a:ext cx="3679705" cy="237744"/>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Exit. Justin's own words: "sell the sucker".</a:t>
            </a:r>
            <a:endParaRPr lang="en-US" sz="810" dirty="0"/>
          </a:p>
        </p:txBody>
      </p:sp>
      <p:sp>
        <p:nvSpPr>
          <p:cNvPr id="90" name="Shape 86"/>
          <p:cNvSpPr/>
          <p:nvPr/>
        </p:nvSpPr>
        <p:spPr>
          <a:xfrm>
            <a:off x="438898" y="10063249"/>
            <a:ext cx="4521737" cy="0"/>
          </a:xfrm>
          <a:prstGeom prst="line">
            <a:avLst/>
          </a:prstGeom>
          <a:noFill/>
          <a:ln w="7620">
            <a:solidFill>
              <a:srgbClr val="E3E7EC"/>
            </a:solidFill>
            <a:prstDash val="solid"/>
          </a:ln>
        </p:spPr>
      </p:sp>
      <p:sp>
        <p:nvSpPr>
          <p:cNvPr id="91" name="Text 87"/>
          <p:cNvSpPr txBox="1"/>
          <p:nvPr/>
        </p:nvSpPr>
        <p:spPr>
          <a:xfrm>
            <a:off x="438898" y="10120849"/>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ladder is Justin's, from his plan on a page. JP's proposed sprints on the Activation sheet now sit inside it.</a:t>
            </a:r>
            <a:endParaRPr lang="en-US" sz="700" dirty="0"/>
          </a:p>
        </p:txBody>
      </p:sp>
      <p:sp>
        <p:nvSpPr>
          <p:cNvPr id="92" name="Shape 88"/>
          <p:cNvSpPr/>
          <p:nvPr/>
        </p:nvSpPr>
        <p:spPr>
          <a:xfrm>
            <a:off x="5183734" y="7332584"/>
            <a:ext cx="4752137" cy="3143495"/>
          </a:xfrm>
          <a:prstGeom prst="rect">
            <a:avLst/>
          </a:prstGeom>
          <a:solidFill>
            <a:srgbClr val="FFFFFF"/>
          </a:solidFill>
          <a:ln w="7620">
            <a:solidFill>
              <a:srgbClr val="E3E7EC"/>
            </a:solidFill>
            <a:prstDash val="solid"/>
          </a:ln>
        </p:spPr>
      </p:sp>
      <p:sp>
        <p:nvSpPr>
          <p:cNvPr id="93" name="Text 89"/>
          <p:cNvSpPr txBox="1"/>
          <p:nvPr/>
        </p:nvSpPr>
        <p:spPr>
          <a:xfrm>
            <a:off x="5298934"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OWNS WHAT</a:t>
            </a:r>
            <a:endParaRPr lang="en-US" sz="68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298934" y="7617652"/>
          <a:ext cx="11339703" cy="914400"/>
        </p:xfrm>
        <a:graphic>
          <a:graphicData uri="http://schemas.openxmlformats.org/drawingml/2006/table">
            <a:tbl>
              <a:tblPr/>
              <a:tblGrid>
                <a:gridCol w="2354867"/>
                <a:gridCol w="625530"/>
                <a:gridCol w="1541340"/>
              </a:tblGrid>
              <a:tr h="343913">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Workstream</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Owns it</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Supports</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The shape decision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 Harry, Clent, Christy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Website, GoTab + Fishbowl, SEM</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Jewell Projects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Existing owners and referral programme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Taproom, events, Oktoberfest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Wholesale and next hire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59483">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Brand and messaging</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Justin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Christy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bl>
          </a:graphicData>
        </a:graphic>
      </p:graphicFrame>
      <p:sp>
        <p:nvSpPr>
          <p:cNvPr id="95" name="Shape 90"/>
          <p:cNvSpPr/>
          <p:nvPr/>
        </p:nvSpPr>
        <p:spPr>
          <a:xfrm>
            <a:off x="5298934" y="10183264"/>
            <a:ext cx="4521737" cy="0"/>
          </a:xfrm>
          <a:prstGeom prst="line">
            <a:avLst/>
          </a:prstGeom>
          <a:noFill/>
          <a:ln w="7620">
            <a:solidFill>
              <a:srgbClr val="E3E7EC"/>
            </a:solidFill>
            <a:prstDash val="solid"/>
          </a:ln>
        </p:spPr>
      </p:sp>
      <p:sp>
        <p:nvSpPr>
          <p:cNvPr id="96" name="Text 91"/>
          <p:cNvSpPr txBox="1"/>
          <p:nvPr/>
        </p:nvSpPr>
        <p:spPr>
          <a:xfrm>
            <a:off x="5298934"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A full responsibility matrix sits on the Activation sheet. This is the summary of it.</a:t>
            </a:r>
            <a:endParaRPr lang="en-US" sz="700" dirty="0"/>
          </a:p>
        </p:txBody>
      </p:sp>
      <p:sp>
        <p:nvSpPr>
          <p:cNvPr id="97" name="Shape 92"/>
          <p:cNvSpPr/>
          <p:nvPr/>
        </p:nvSpPr>
        <p:spPr>
          <a:xfrm>
            <a:off x="10043770" y="7332584"/>
            <a:ext cx="4752137" cy="3143495"/>
          </a:xfrm>
          <a:prstGeom prst="rect">
            <a:avLst/>
          </a:prstGeom>
          <a:solidFill>
            <a:srgbClr val="FFFFFF"/>
          </a:solidFill>
          <a:ln w="7620">
            <a:solidFill>
              <a:srgbClr val="E3E7EC"/>
            </a:solidFill>
            <a:prstDash val="solid"/>
          </a:ln>
        </p:spPr>
      </p:sp>
      <p:sp>
        <p:nvSpPr>
          <p:cNvPr id="98" name="Shape 93"/>
          <p:cNvSpPr/>
          <p:nvPr/>
        </p:nvSpPr>
        <p:spPr>
          <a:xfrm>
            <a:off x="10043770" y="7332584"/>
            <a:ext cx="4752137" cy="36000"/>
          </a:xfrm>
          <a:prstGeom prst="rect">
            <a:avLst/>
          </a:prstGeom>
          <a:solidFill>
            <a:srgbClr val="0066FF"/>
          </a:solidFill>
          <a:ln w="12700">
            <a:solidFill>
              <a:srgbClr val="333333"/>
            </a:solidFill>
            <a:prstDash val="solid"/>
          </a:ln>
        </p:spPr>
      </p:sp>
      <p:sp>
        <p:nvSpPr>
          <p:cNvPr id="99" name="Text 94"/>
          <p:cNvSpPr txBox="1"/>
          <p:nvPr/>
        </p:nvSpPr>
        <p:spPr>
          <a:xfrm>
            <a:off x="10158970" y="744778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JUSTIN DECIDES FIRST</a:t>
            </a:r>
            <a:endParaRPr lang="en-US" sz="680" dirty="0"/>
          </a:p>
        </p:txBody>
      </p:sp>
      <p:sp>
        <p:nvSpPr>
          <p:cNvPr id="100" name="Shape 95"/>
          <p:cNvSpPr/>
          <p:nvPr/>
        </p:nvSpPr>
        <p:spPr>
          <a:xfrm>
            <a:off x="10158970" y="7653692"/>
            <a:ext cx="50400" cy="50400"/>
          </a:xfrm>
          <a:prstGeom prst="rect">
            <a:avLst/>
          </a:prstGeom>
          <a:solidFill>
            <a:srgbClr val="0066FF"/>
          </a:solidFill>
          <a:ln w="12700">
            <a:solidFill>
              <a:srgbClr val="333333"/>
            </a:solidFill>
            <a:prstDash val="solid"/>
          </a:ln>
        </p:spPr>
      </p:sp>
      <p:sp>
        <p:nvSpPr>
          <p:cNvPr id="101" name="Text 96"/>
          <p:cNvSpPr txBox="1"/>
          <p:nvPr/>
        </p:nvSpPr>
        <p:spPr>
          <a:xfrm>
            <a:off x="10266970" y="7617652"/>
            <a:ext cx="4413737" cy="259588"/>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Taproom, Showroom, or Event space doing both?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JP recommended pausing walk-in trade; Justin's own priorities keep the room trading.</a:t>
            </a:r>
            <a:endParaRPr lang="en-US" sz="730" dirty="0"/>
          </a:p>
        </p:txBody>
      </p:sp>
      <p:sp>
        <p:nvSpPr>
          <p:cNvPr id="102" name="Shape 97"/>
          <p:cNvSpPr/>
          <p:nvPr/>
        </p:nvSpPr>
        <p:spPr>
          <a:xfrm>
            <a:off x="10158970" y="8207727"/>
            <a:ext cx="50400" cy="50400"/>
          </a:xfrm>
          <a:prstGeom prst="rect">
            <a:avLst/>
          </a:prstGeom>
          <a:solidFill>
            <a:srgbClr val="0066FF"/>
          </a:solidFill>
          <a:ln w="12700">
            <a:solidFill>
              <a:srgbClr val="333333"/>
            </a:solidFill>
            <a:prstDash val="solid"/>
          </a:ln>
        </p:spPr>
      </p:sp>
      <p:sp>
        <p:nvSpPr>
          <p:cNvPr id="103" name="Text 98"/>
          <p:cNvSpPr txBox="1"/>
          <p:nvPr/>
        </p:nvSpPr>
        <p:spPr>
          <a:xfrm>
            <a:off x="10266970" y="8171688"/>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Residential vs commercial: who is buying, and where does the energy go?</a:t>
            </a:r>
            <a:endParaRPr lang="en-US" sz="730" dirty="0"/>
          </a:p>
        </p:txBody>
      </p:sp>
      <p:sp>
        <p:nvSpPr>
          <p:cNvPr id="104" name="Shape 99"/>
          <p:cNvSpPr/>
          <p:nvPr/>
        </p:nvSpPr>
        <p:spPr>
          <a:xfrm>
            <a:off x="10158970" y="8631969"/>
            <a:ext cx="50400" cy="50400"/>
          </a:xfrm>
          <a:prstGeom prst="rect">
            <a:avLst/>
          </a:prstGeom>
          <a:solidFill>
            <a:srgbClr val="0066FF"/>
          </a:solidFill>
          <a:ln w="12700">
            <a:solidFill>
              <a:srgbClr val="333333"/>
            </a:solidFill>
            <a:prstDash val="solid"/>
          </a:ln>
        </p:spPr>
      </p:sp>
      <p:sp>
        <p:nvSpPr>
          <p:cNvPr id="105" name="Text 100"/>
          <p:cNvSpPr txBox="1"/>
          <p:nvPr/>
        </p:nvSpPr>
        <p:spPr>
          <a:xfrm>
            <a:off x="10266970" y="8595930"/>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External support, or do we try to do everything ourselves?</a:t>
            </a:r>
            <a:endParaRPr lang="en-US" sz="730" dirty="0"/>
          </a:p>
        </p:txBody>
      </p:sp>
      <p:sp>
        <p:nvSpPr>
          <p:cNvPr id="106" name="Shape 101"/>
          <p:cNvSpPr/>
          <p:nvPr/>
        </p:nvSpPr>
        <p:spPr>
          <a:xfrm>
            <a:off x="10158970" y="9056211"/>
            <a:ext cx="50400" cy="50400"/>
          </a:xfrm>
          <a:prstGeom prst="rect">
            <a:avLst/>
          </a:prstGeom>
          <a:solidFill>
            <a:srgbClr val="0066FF"/>
          </a:solidFill>
          <a:ln w="12700">
            <a:solidFill>
              <a:srgbClr val="333333"/>
            </a:solidFill>
            <a:prstDash val="solid"/>
          </a:ln>
        </p:spPr>
      </p:sp>
      <p:sp>
        <p:nvSpPr>
          <p:cNvPr id="107" name="Text 102"/>
          <p:cNvSpPr txBox="1"/>
          <p:nvPr/>
        </p:nvSpPr>
        <p:spPr>
          <a:xfrm>
            <a:off x="10266970" y="9020172"/>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The next hire: brewer vs wholesale plus bar coverage, hybrid either way.</a:t>
            </a:r>
            <a:endParaRPr lang="en-US" sz="730" dirty="0"/>
          </a:p>
        </p:txBody>
      </p:sp>
      <p:sp>
        <p:nvSpPr>
          <p:cNvPr id="108" name="Shape 103"/>
          <p:cNvSpPr/>
          <p:nvPr/>
        </p:nvSpPr>
        <p:spPr>
          <a:xfrm>
            <a:off x="10158970" y="9480453"/>
            <a:ext cx="50400" cy="50400"/>
          </a:xfrm>
          <a:prstGeom prst="rect">
            <a:avLst/>
          </a:prstGeom>
          <a:solidFill>
            <a:srgbClr val="0066FF"/>
          </a:solidFill>
          <a:ln w="12700">
            <a:solidFill>
              <a:srgbClr val="333333"/>
            </a:solidFill>
            <a:prstDash val="solid"/>
          </a:ln>
        </p:spPr>
      </p:sp>
      <p:sp>
        <p:nvSpPr>
          <p:cNvPr id="109" name="Text 104"/>
          <p:cNvSpPr txBox="1"/>
          <p:nvPr/>
        </p:nvSpPr>
        <p:spPr>
          <a:xfrm>
            <a:off x="10266970" y="9444413"/>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KPIs and growth targets: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keg system sales, active keg refillers, wholesale accounts.</a:t>
            </a:r>
            <a:endParaRPr lang="en-US" sz="730" dirty="0"/>
          </a:p>
        </p:txBody>
      </p:sp>
      <p:sp>
        <p:nvSpPr>
          <p:cNvPr id="110" name="Shape 105"/>
          <p:cNvSpPr/>
          <p:nvPr/>
        </p:nvSpPr>
        <p:spPr>
          <a:xfrm>
            <a:off x="10158970" y="9904695"/>
            <a:ext cx="50400" cy="50400"/>
          </a:xfrm>
          <a:prstGeom prst="rect">
            <a:avLst/>
          </a:prstGeom>
          <a:solidFill>
            <a:srgbClr val="0066FF"/>
          </a:solidFill>
          <a:ln w="12700">
            <a:solidFill>
              <a:srgbClr val="333333"/>
            </a:solidFill>
            <a:prstDash val="solid"/>
          </a:ln>
        </p:spPr>
      </p:sp>
      <p:sp>
        <p:nvSpPr>
          <p:cNvPr id="111" name="Text 106"/>
          <p:cNvSpPr txBox="1"/>
          <p:nvPr/>
        </p:nvSpPr>
        <p:spPr>
          <a:xfrm>
            <a:off x="10266970" y="9868655"/>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Meeting rhythm and agenda.</a:t>
            </a:r>
            <a:endParaRPr lang="en-US" sz="730" dirty="0"/>
          </a:p>
        </p:txBody>
      </p:sp>
      <p:sp>
        <p:nvSpPr>
          <p:cNvPr id="112" name="Shape 107"/>
          <p:cNvSpPr/>
          <p:nvPr/>
        </p:nvSpPr>
        <p:spPr>
          <a:xfrm>
            <a:off x="10158970" y="10063249"/>
            <a:ext cx="4521737" cy="0"/>
          </a:xfrm>
          <a:prstGeom prst="line">
            <a:avLst/>
          </a:prstGeom>
          <a:noFill/>
          <a:ln w="7620">
            <a:solidFill>
              <a:srgbClr val="E3E7EC"/>
            </a:solidFill>
            <a:prstDash val="solid"/>
          </a:ln>
        </p:spPr>
      </p:sp>
      <p:sp>
        <p:nvSpPr>
          <p:cNvPr id="113" name="Text 108"/>
          <p:cNvSpPr txBox="1"/>
          <p:nvPr/>
        </p:nvSpPr>
        <p:spPr>
          <a:xfrm>
            <a:off x="10158970" y="10120849"/>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Justin's own 30-day list, returned 16 September. The team's review of the JP deck was the agreed next step from the catch-up.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Business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8246" y="365760"/>
            <a:ext cx="1165358"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8246" y="365760"/>
            <a:ext cx="1165358"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V02 · 16 SEPT 2026</a:t>
            </a:r>
            <a:endParaRPr lang="en-US" sz="650" dirty="0"/>
          </a:p>
        </p:txBody>
      </p:sp>
      <p:sp>
        <p:nvSpPr>
          <p:cNvPr id="7" name="Shape 3"/>
          <p:cNvSpPr/>
          <p:nvPr/>
        </p:nvSpPr>
        <p:spPr>
          <a:xfrm>
            <a:off x="11370203" y="365760"/>
            <a:ext cx="1218043"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370203" y="365760"/>
            <a:ext cx="1218043"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29157" y="365760"/>
            <a:ext cx="951046"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29157" y="365760"/>
            <a:ext cx="951046"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01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7182155" cy="3048238"/>
          </a:xfrm>
          <a:prstGeom prst="rect">
            <a:avLst/>
          </a:prstGeom>
          <a:solidFill>
            <a:srgbClr val="FFFFFF"/>
          </a:solidFill>
          <a:ln w="7620">
            <a:solidFill>
              <a:srgbClr val="E3E7EC"/>
            </a:solidFill>
            <a:prstDash val="solid"/>
          </a:ln>
        </p:spPr>
      </p:sp>
      <p:sp>
        <p:nvSpPr>
          <p:cNvPr id="13" name="Shape 9"/>
          <p:cNvSpPr/>
          <p:nvPr/>
        </p:nvSpPr>
        <p:spPr>
          <a:xfrm>
            <a:off x="323698" y="1115568"/>
            <a:ext cx="7182155"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WHERE THE MONEY ACTUALLY IS</a:t>
            </a:r>
            <a:endParaRPr lang="en-US" sz="680" dirty="0"/>
          </a:p>
        </p:txBody>
      </p:sp>
      <p:sp>
        <p:nvSpPr>
          <p:cNvPr id="15" name="Text 11"/>
          <p:cNvSpPr txBox="1"/>
          <p:nvPr/>
        </p:nvSpPr>
        <p:spPr>
          <a:xfrm>
            <a:off x="438898" y="1400636"/>
            <a:ext cx="6951755" cy="409448"/>
          </a:xfrm>
          <a:prstGeom prst="rect">
            <a:avLst/>
          </a:prstGeom>
          <a:noFill/>
          <a:ln/>
        </p:spPr>
        <p:txBody>
          <a:bodyPr wrap="square" lIns="0" tIns="0" rIns="0" bIns="0" rtlCol="0" anchor="t"/>
          <a:lstStyle/>
          <a:p>
            <a:pPr indent="0" marL="0">
              <a:lnSpc>
                <a:spcPts val="1612"/>
              </a:lnSpc>
              <a:buNone/>
            </a:pPr>
            <a:r>
              <a:rPr lang="en-US" sz="1300" b="1" dirty="0">
                <a:solidFill>
                  <a:srgbClr val="0E171F"/>
                </a:solidFill>
                <a:latin typeface="Poppins" pitchFamily="34" charset="0"/>
                <a:ea typeface="Poppins" pitchFamily="34" charset="-122"/>
                <a:cs typeface="Poppins" pitchFamily="34" charset="-120"/>
              </a:rPr>
              <a:t>The system is the barrier. The refill is the business. Attention has been going to neither.</a:t>
            </a:r>
            <a:endParaRPr lang="en-US" sz="1300" dirty="0"/>
          </a:p>
        </p:txBody>
      </p:sp>
      <p:sp>
        <p:nvSpPr>
          <p:cNvPr id="16" name="Text 12"/>
          <p:cNvSpPr txBox="1"/>
          <p:nvPr/>
        </p:nvSpPr>
        <p:spPr>
          <a:xfrm>
            <a:off x="438898" y="1956014"/>
            <a:ext cx="6951755"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Systems go out close to cost, and the margin arrives later at roughly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$70 gross a keg</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 That makes this a subscription business wearing a brewery's clothes. A subscription business needs people to stay home and reorder. The Tap Room needs them to come in. Eighteen months of attention went to the half that loses money.</a:t>
            </a:r>
            <a:endParaRPr lang="en-US" sz="810" dirty="0"/>
          </a:p>
        </p:txBody>
      </p:sp>
      <p:sp>
        <p:nvSpPr>
          <p:cNvPr id="17" name="Text 13"/>
          <p:cNvSpPr txBox="1"/>
          <p:nvPr/>
        </p:nvSpPr>
        <p:spPr>
          <a:xfrm>
            <a:off x="438898" y="2564859"/>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fix is not optimisation, it is reshaping.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Running a brewery and a hospitality venue on a skeleton staff is not a resourcing problem to be solved with more hours.</a:t>
            </a:r>
            <a:endParaRPr lang="en-US" sz="810" dirty="0"/>
          </a:p>
        </p:txBody>
      </p:sp>
      <p:sp>
        <p:nvSpPr>
          <p:cNvPr id="18" name="Text 14"/>
          <p:cNvSpPr txBox="1"/>
          <p:nvPr/>
        </p:nvSpPr>
        <p:spPr>
          <a:xfrm>
            <a:off x="438898" y="3019399"/>
            <a:ext cx="6951755"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Justin frames the direction question as three-way: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Taproom selling kegs, a Showroom selling beers, or an Event space doing both. JP's recommendation is the second or the third, with walk-in paused. Justin's own priority list keeps taproom trade alive, growing it from local business, functions and ticketed music.</a:t>
            </a:r>
            <a:endParaRPr lang="en-US" sz="810" dirty="0"/>
          </a:p>
        </p:txBody>
      </p:sp>
      <p:sp>
        <p:nvSpPr>
          <p:cNvPr id="19" name="Shape 15"/>
          <p:cNvSpPr/>
          <p:nvPr/>
        </p:nvSpPr>
        <p:spPr>
          <a:xfrm>
            <a:off x="438898" y="3870991"/>
            <a:ext cx="6951755" cy="0"/>
          </a:xfrm>
          <a:prstGeom prst="line">
            <a:avLst/>
          </a:prstGeom>
          <a:noFill/>
          <a:ln w="7620">
            <a:solidFill>
              <a:srgbClr val="E3E7EC"/>
            </a:solidFill>
            <a:prstDash val="solid"/>
          </a:ln>
        </p:spPr>
      </p:sp>
      <p:sp>
        <p:nvSpPr>
          <p:cNvPr id="20" name="Text 16"/>
          <p:cNvSpPr txBox="1"/>
          <p:nvPr/>
        </p:nvSpPr>
        <p:spPr>
          <a:xfrm>
            <a:off x="438898" y="3928591"/>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Per-keg margin and system economics from the Discovery pack. Test them against the current P&amp;L before the plan is signed.</a:t>
            </a:r>
            <a:endParaRPr lang="en-US" sz="700" dirty="0"/>
          </a:p>
        </p:txBody>
      </p:sp>
      <p:sp>
        <p:nvSpPr>
          <p:cNvPr id="21" name="Shape 17"/>
          <p:cNvSpPr/>
          <p:nvPr/>
        </p:nvSpPr>
        <p:spPr>
          <a:xfrm>
            <a:off x="7613752" y="1115568"/>
            <a:ext cx="7182155" cy="3048238"/>
          </a:xfrm>
          <a:prstGeom prst="rect">
            <a:avLst/>
          </a:prstGeom>
          <a:solidFill>
            <a:srgbClr val="FFFFFF"/>
          </a:solidFill>
          <a:ln w="7620">
            <a:solidFill>
              <a:srgbClr val="E3E7EC"/>
            </a:solidFill>
            <a:prstDash val="solid"/>
          </a:ln>
        </p:spPr>
      </p:sp>
      <p:sp>
        <p:nvSpPr>
          <p:cNvPr id="22" name="Text 18"/>
          <p:cNvSpPr txBox="1"/>
          <p:nvPr/>
        </p:nvSpPr>
        <p:spPr>
          <a:xfrm>
            <a:off x="7728952" y="1230768"/>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FIVE UNITS, AND THE CALL ON EACH</a:t>
            </a:r>
            <a:endParaRPr lang="en-US" sz="6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28952" y="1400636"/>
          <a:ext cx="11339703" cy="914400"/>
        </p:xfrm>
        <a:graphic>
          <a:graphicData uri="http://schemas.openxmlformats.org/drawingml/2006/table">
            <a:tbl>
              <a:tblPr/>
              <a:tblGrid>
                <a:gridCol w="982902"/>
                <a:gridCol w="2984426"/>
                <a:gridCol w="2984426"/>
              </a:tblGrid>
              <a:tr h="343907">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Unit</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Today</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call</a:t>
                      </a:r>
                      <a:endParaRPr lang="en-US" sz="620" dirty="0">
                        <a:latin typeface="Poppins" charset="0"/>
                        <a:ea typeface="Poppins" charset="0"/>
                        <a:cs typeface="Poppins" charset="0"/>
                      </a:endParaRPr>
                    </a:p>
                  </a:txBody>
                  <a:tcPr marL="54000" marR="54000" marT="54000" marB="540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483836">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Keg systems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Sold near cost</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Lease-to-buy.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Plus a delivery service, Justin's three-month item</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483836">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Refills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96–113 active, residential and commercial, no push</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Scale.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This is the business. 250 by March 2027, 1,000 by year three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64659">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Taproom</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Walk-ins, local business, functions and events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Decide.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Justin's three-way, decided in 30 days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64659">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Wholesale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Approaches come in, nothing converts</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Resource. </a:t>
                      </a:r>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Next hire is brewer vs wholesale plus bar, hybrid</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64659">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Merchandise</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dirty="0">
                          <a:solidFill>
                            <a:srgbClr val="4A5565"/>
                          </a:solidFill>
                          <a:latin typeface="Poppins" pitchFamily="34" charset="0"/>
                          <a:ea typeface="Poppins" pitchFamily="34" charset="-122"/>
                          <a:cs typeface="Poppins" pitchFamily="34" charset="-120"/>
                        </a:rPr>
                        <a:t>Line five in Justin's plan</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38"/>
                        </a:lnSpc>
                        <a:buNone/>
                      </a:pPr>
                      <a:r>
                        <a:rPr lang="en-US" sz="690" b="1" dirty="0">
                          <a:solidFill>
                            <a:srgbClr val="0E171F"/>
                          </a:solidFill>
                          <a:latin typeface="Poppins" pitchFamily="34" charset="0"/>
                          <a:ea typeface="Poppins" pitchFamily="34" charset="-122"/>
                          <a:cs typeface="Poppins" pitchFamily="34" charset="-120"/>
                        </a:rPr>
                        <a:t>Keep it small.</a:t>
                      </a:r>
                      <a:endParaRPr lang="en-US" sz="690" dirty="0">
                        <a:latin typeface="Poppins" charset="0"/>
                        <a:ea typeface="Poppins" charset="0"/>
                        <a:cs typeface="Poppins" charset="0"/>
                      </a:endParaRPr>
                    </a:p>
                  </a:txBody>
                  <a:tcPr marL="54000" marR="54000" marT="54000" marB="540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24" name="Shape 19"/>
          <p:cNvSpPr/>
          <p:nvPr/>
        </p:nvSpPr>
        <p:spPr>
          <a:xfrm>
            <a:off x="7728952" y="3870991"/>
            <a:ext cx="6951755" cy="0"/>
          </a:xfrm>
          <a:prstGeom prst="line">
            <a:avLst/>
          </a:prstGeom>
          <a:noFill/>
          <a:ln w="7620">
            <a:solidFill>
              <a:srgbClr val="E3E7EC"/>
            </a:solidFill>
            <a:prstDash val="solid"/>
          </a:ln>
        </p:spPr>
      </p:sp>
      <p:sp>
        <p:nvSpPr>
          <p:cNvPr id="25" name="Text 20"/>
          <p:cNvSpPr txBox="1"/>
          <p:nvPr/>
        </p:nvSpPr>
        <p:spPr>
          <a:xfrm>
            <a:off x="7728952" y="3928591"/>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Canning is not in Justin's plan at all. Consistent with the room.</a:t>
            </a:r>
            <a:endParaRPr lang="en-US" sz="700" dirty="0"/>
          </a:p>
        </p:txBody>
      </p:sp>
      <p:sp>
        <p:nvSpPr>
          <p:cNvPr id="26" name="Shape 21"/>
          <p:cNvSpPr/>
          <p:nvPr/>
        </p:nvSpPr>
        <p:spPr>
          <a:xfrm>
            <a:off x="323698" y="4271705"/>
            <a:ext cx="4752137" cy="3106858"/>
          </a:xfrm>
          <a:prstGeom prst="rect">
            <a:avLst/>
          </a:prstGeom>
          <a:solidFill>
            <a:srgbClr val="FFFFFF"/>
          </a:solidFill>
          <a:ln w="7620">
            <a:solidFill>
              <a:srgbClr val="E3E7EC"/>
            </a:solidFill>
            <a:prstDash val="solid"/>
          </a:ln>
        </p:spPr>
      </p:sp>
      <p:sp>
        <p:nvSpPr>
          <p:cNvPr id="27" name="Text 22"/>
          <p:cNvSpPr txBox="1"/>
          <p:nvPr/>
        </p:nvSpPr>
        <p:spPr>
          <a:xfrm>
            <a:off x="438898"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CLIMB TO 1,000</a:t>
            </a:r>
            <a:endParaRPr lang="en-US" sz="680" dirty="0"/>
          </a:p>
        </p:txBody>
      </p:sp>
      <p:sp>
        <p:nvSpPr>
          <p:cNvPr id="28" name="Shape 23"/>
          <p:cNvSpPr/>
          <p:nvPr/>
        </p:nvSpPr>
        <p:spPr>
          <a:xfrm>
            <a:off x="438898" y="4556773"/>
            <a:ext cx="1459246" cy="571522"/>
          </a:xfrm>
          <a:prstGeom prst="rect">
            <a:avLst/>
          </a:prstGeom>
          <a:solidFill>
            <a:srgbClr val="F5F7FA"/>
          </a:solidFill>
          <a:ln w="7620">
            <a:solidFill>
              <a:srgbClr val="E3E7EC"/>
            </a:solidFill>
            <a:prstDash val="solid"/>
          </a:ln>
        </p:spPr>
      </p:sp>
      <p:sp>
        <p:nvSpPr>
          <p:cNvPr id="29" name="Text 24"/>
          <p:cNvSpPr txBox="1"/>
          <p:nvPr/>
        </p:nvSpPr>
        <p:spPr>
          <a:xfrm>
            <a:off x="546898"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250</a:t>
            </a:r>
            <a:endParaRPr lang="en-US" sz="1300" dirty="0"/>
          </a:p>
        </p:txBody>
      </p:sp>
      <p:sp>
        <p:nvSpPr>
          <p:cNvPr id="30" name="Text 25"/>
          <p:cNvSpPr txBox="1"/>
          <p:nvPr/>
        </p:nvSpPr>
        <p:spPr>
          <a:xfrm>
            <a:off x="546898" y="4911593"/>
            <a:ext cx="1243246"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ACTIVE REFILLERS AT SIX MONTHS</a:t>
            </a:r>
            <a:endParaRPr lang="en-US" sz="550" dirty="0"/>
          </a:p>
        </p:txBody>
      </p:sp>
      <p:sp>
        <p:nvSpPr>
          <p:cNvPr id="31" name="Shape 26"/>
          <p:cNvSpPr/>
          <p:nvPr/>
        </p:nvSpPr>
        <p:spPr>
          <a:xfrm>
            <a:off x="1970143" y="4556773"/>
            <a:ext cx="1459246" cy="571522"/>
          </a:xfrm>
          <a:prstGeom prst="rect">
            <a:avLst/>
          </a:prstGeom>
          <a:solidFill>
            <a:srgbClr val="F5F7FA"/>
          </a:solidFill>
          <a:ln w="7620">
            <a:solidFill>
              <a:srgbClr val="E3E7EC"/>
            </a:solidFill>
            <a:prstDash val="solid"/>
          </a:ln>
        </p:spPr>
      </p:sp>
      <p:sp>
        <p:nvSpPr>
          <p:cNvPr id="32" name="Text 27"/>
          <p:cNvSpPr txBox="1"/>
          <p:nvPr/>
        </p:nvSpPr>
        <p:spPr>
          <a:xfrm>
            <a:off x="2078143"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1,000</a:t>
            </a:r>
            <a:endParaRPr lang="en-US" sz="1300" dirty="0"/>
          </a:p>
        </p:txBody>
      </p:sp>
      <p:sp>
        <p:nvSpPr>
          <p:cNvPr id="33" name="Text 28"/>
          <p:cNvSpPr txBox="1"/>
          <p:nvPr/>
        </p:nvSpPr>
        <p:spPr>
          <a:xfrm>
            <a:off x="2078143" y="4911593"/>
            <a:ext cx="1243246"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BY YEAR THREE, GC, BRISBANE, NORTHERN RIVERS</a:t>
            </a:r>
            <a:endParaRPr lang="en-US" sz="550" dirty="0"/>
          </a:p>
        </p:txBody>
      </p:sp>
      <p:sp>
        <p:nvSpPr>
          <p:cNvPr id="34" name="Shape 29"/>
          <p:cNvSpPr/>
          <p:nvPr/>
        </p:nvSpPr>
        <p:spPr>
          <a:xfrm>
            <a:off x="3501389" y="4556773"/>
            <a:ext cx="1459246" cy="571522"/>
          </a:xfrm>
          <a:prstGeom prst="rect">
            <a:avLst/>
          </a:prstGeom>
          <a:solidFill>
            <a:srgbClr val="F5F7FA"/>
          </a:solidFill>
          <a:ln w="7620">
            <a:solidFill>
              <a:srgbClr val="E3E7EC"/>
            </a:solidFill>
            <a:prstDash val="solid"/>
          </a:ln>
        </p:spPr>
      </p:sp>
      <p:sp>
        <p:nvSpPr>
          <p:cNvPr id="35" name="Text 30"/>
          <p:cNvSpPr txBox="1"/>
          <p:nvPr/>
        </p:nvSpPr>
        <p:spPr>
          <a:xfrm>
            <a:off x="3609389" y="4643173"/>
            <a:ext cx="1243246" cy="210820"/>
          </a:xfrm>
          <a:prstGeom prst="rect">
            <a:avLst/>
          </a:prstGeom>
          <a:noFill/>
          <a:ln/>
        </p:spPr>
        <p:txBody>
          <a:bodyPr wrap="square" lIns="0" tIns="0" rIns="0" bIns="0" rtlCol="0" anchor="t"/>
          <a:lstStyle/>
          <a:p>
            <a:pPr indent="0" marL="0">
              <a:lnSpc>
                <a:spcPts val="1300"/>
              </a:lnSpc>
              <a:buNone/>
            </a:pPr>
            <a:r>
              <a:rPr lang="en-US" sz="1300" b="1" dirty="0">
                <a:solidFill>
                  <a:srgbClr val="0066FF"/>
                </a:solidFill>
                <a:latin typeface="Poppins" pitchFamily="34" charset="0"/>
                <a:ea typeface="Poppins" pitchFamily="34" charset="-122"/>
                <a:cs typeface="Poppins" pitchFamily="34" charset="-120"/>
              </a:rPr>
              <a:t>~$50k</a:t>
            </a:r>
            <a:endParaRPr lang="en-US" sz="1300" dirty="0"/>
          </a:p>
        </p:txBody>
      </p:sp>
      <p:sp>
        <p:nvSpPr>
          <p:cNvPr id="36" name="Text 31"/>
          <p:cNvSpPr txBox="1"/>
          <p:nvPr/>
        </p:nvSpPr>
        <p:spPr>
          <a:xfrm>
            <a:off x="3609389" y="4911593"/>
            <a:ext cx="1243246"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BREAKEVEN, JUSTIN'S FIGURE, PERIOD NOT STATED</a:t>
            </a:r>
            <a:endParaRPr lang="en-US" sz="550" dirty="0"/>
          </a:p>
        </p:txBody>
      </p:sp>
      <p:sp>
        <p:nvSpPr>
          <p:cNvPr id="37" name="Text 32"/>
          <p:cNvSpPr txBox="1"/>
          <p:nvPr/>
        </p:nvSpPr>
        <p:spPr>
          <a:xfrm>
            <a:off x="438898" y="5293895"/>
            <a:ext cx="4521737"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cheapest growth is still the 116 in the database who bought their system elsewhere. Their objections are overcome. Nobody has to be sold on the idea of beer at home.</a:t>
            </a:r>
            <a:endParaRPr lang="en-US" sz="810" dirty="0"/>
          </a:p>
        </p:txBody>
      </p:sp>
      <p:sp>
        <p:nvSpPr>
          <p:cNvPr id="38" name="Text 33"/>
          <p:cNvSpPr txBox="1"/>
          <p:nvPr/>
        </p:nvSpPr>
        <p:spPr>
          <a:xfrm>
            <a:off x="438898" y="5922410"/>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Partners move this number, campaigns do not.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Harvey Norman, Kegland and Benchy each put Tap That in front of people who have already bought the hardware. Justin's one-year marker is cashflow positive, with JM taking a wage.</a:t>
            </a:r>
            <a:endParaRPr lang="en-US" sz="810" dirty="0"/>
          </a:p>
        </p:txBody>
      </p:sp>
      <p:sp>
        <p:nvSpPr>
          <p:cNvPr id="39" name="Shape 34"/>
          <p:cNvSpPr/>
          <p:nvPr/>
        </p:nvSpPr>
        <p:spPr>
          <a:xfrm>
            <a:off x="438898" y="7085747"/>
            <a:ext cx="4521737" cy="0"/>
          </a:xfrm>
          <a:prstGeom prst="line">
            <a:avLst/>
          </a:prstGeom>
          <a:noFill/>
          <a:ln w="7620">
            <a:solidFill>
              <a:srgbClr val="E3E7EC"/>
            </a:solidFill>
            <a:prstDash val="solid"/>
          </a:ln>
        </p:spPr>
      </p:sp>
      <p:sp>
        <p:nvSpPr>
          <p:cNvPr id="40" name="Text 35"/>
          <p:cNvSpPr txBox="1"/>
          <p:nvPr/>
        </p:nvSpPr>
        <p:spPr>
          <a:xfrm>
            <a:off x="438898" y="714334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climb to 1,000 is not a marketing target, it is a distribution target. It needs partners, not posts.</a:t>
            </a:r>
            <a:endParaRPr lang="en-US" sz="700" dirty="0"/>
          </a:p>
        </p:txBody>
      </p:sp>
      <p:sp>
        <p:nvSpPr>
          <p:cNvPr id="41" name="Shape 36"/>
          <p:cNvSpPr/>
          <p:nvPr/>
        </p:nvSpPr>
        <p:spPr>
          <a:xfrm>
            <a:off x="5183734" y="4271705"/>
            <a:ext cx="4752137" cy="3106858"/>
          </a:xfrm>
          <a:prstGeom prst="rect">
            <a:avLst/>
          </a:prstGeom>
          <a:solidFill>
            <a:srgbClr val="FFFFFF"/>
          </a:solidFill>
          <a:ln w="7620">
            <a:solidFill>
              <a:srgbClr val="E3E7EC"/>
            </a:solidFill>
            <a:prstDash val="solid"/>
          </a:ln>
        </p:spPr>
      </p:sp>
      <p:sp>
        <p:nvSpPr>
          <p:cNvPr id="42" name="Text 37"/>
          <p:cNvSpPr txBox="1"/>
          <p:nvPr/>
        </p:nvSpPr>
        <p:spPr>
          <a:xfrm>
            <a:off x="5298934"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UNIT ECONOMICS, AND THE ARGUMENT</a:t>
            </a:r>
            <a:endParaRPr lang="en-US" sz="680" dirty="0"/>
          </a:p>
        </p:txBody>
      </p:sp>
      <p:sp>
        <p:nvSpPr>
          <p:cNvPr id="43" name="Text 38"/>
          <p:cNvSpPr txBox="1"/>
          <p:nvPr/>
        </p:nvSpPr>
        <p:spPr>
          <a:xfrm>
            <a:off x="5298934" y="4556773"/>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One wholesale account is worth about ten households.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That ratio is the whole case for resourcing wholesale ahead of another consumer campaign.</a:t>
            </a:r>
            <a:endParaRPr lang="en-US" sz="810" dirty="0"/>
          </a:p>
        </p:txBody>
      </p:sp>
      <p:sp>
        <p:nvSpPr>
          <p:cNvPr id="44" name="Text 39"/>
          <p:cNvSpPr txBox="1"/>
          <p:nvPr/>
        </p:nvSpPr>
        <p:spPr>
          <a:xfrm>
            <a:off x="5298934" y="4952469"/>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Members leak at 18%, non-members at 44%.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Attaching membership to a system sale is the single highest-return retention move available.</a:t>
            </a:r>
            <a:endParaRPr lang="en-US" sz="810" dirty="0"/>
          </a:p>
        </p:txBody>
      </p:sp>
      <p:sp>
        <p:nvSpPr>
          <p:cNvPr id="45" name="Text 40"/>
          <p:cNvSpPr txBox="1"/>
          <p:nvPr/>
        </p:nvSpPr>
        <p:spPr>
          <a:xfrm>
            <a:off x="5298934" y="5348165"/>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$2.55 a schooner at home, 2.5 cases for the price of one.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Against $12+ at the pub and $80+ for a case at the bottleshop.</a:t>
            </a:r>
            <a:endParaRPr lang="en-US" sz="810" dirty="0"/>
          </a:p>
        </p:txBody>
      </p:sp>
      <p:sp>
        <p:nvSpPr>
          <p:cNvPr id="46" name="Text 41"/>
          <p:cNvSpPr txBox="1"/>
          <p:nvPr/>
        </p:nvSpPr>
        <p:spPr>
          <a:xfrm>
            <a:off x="5298934" y="574386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63% of customers said they would host a demo at their own place.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That is a distribution channel sitting unused, and it costs nothing but coordination.</a:t>
            </a:r>
            <a:endParaRPr lang="en-US" sz="810" dirty="0"/>
          </a:p>
        </p:txBody>
      </p:sp>
      <p:sp>
        <p:nvSpPr>
          <p:cNvPr id="47" name="Text 42"/>
          <p:cNvSpPr txBox="1"/>
          <p:nvPr/>
        </p:nvSpPr>
        <p:spPr>
          <a:xfrm>
            <a:off x="5298934" y="6139558"/>
            <a:ext cx="4521737" cy="61722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membership programmes are running against one business.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If the room becomes a destination and refills lead, one of them is paying for a shape the business no longer has. Redesign both around the refill, or drop one. Justin lists a taproom membership as a three-month item, so the tension is live.</a:t>
            </a:r>
            <a:endParaRPr lang="en-US" sz="810" dirty="0"/>
          </a:p>
        </p:txBody>
      </p:sp>
      <p:sp>
        <p:nvSpPr>
          <p:cNvPr id="48" name="Shape 43"/>
          <p:cNvSpPr/>
          <p:nvPr/>
        </p:nvSpPr>
        <p:spPr>
          <a:xfrm>
            <a:off x="5298934" y="6965732"/>
            <a:ext cx="4521737" cy="0"/>
          </a:xfrm>
          <a:prstGeom prst="line">
            <a:avLst/>
          </a:prstGeom>
          <a:noFill/>
          <a:ln w="7620">
            <a:solidFill>
              <a:srgbClr val="E3E7EC"/>
            </a:solidFill>
            <a:prstDash val="solid"/>
          </a:ln>
        </p:spPr>
      </p:sp>
      <p:sp>
        <p:nvSpPr>
          <p:cNvPr id="49" name="Text 44"/>
          <p:cNvSpPr txBox="1"/>
          <p:nvPr/>
        </p:nvSpPr>
        <p:spPr>
          <a:xfrm>
            <a:off x="5298934" y="7023332"/>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open item is no longer which maths, it is making sure the live ad and every piece of collateral carry $2.55.</a:t>
            </a:r>
            <a:endParaRPr lang="en-US" sz="700" dirty="0"/>
          </a:p>
        </p:txBody>
      </p:sp>
      <p:sp>
        <p:nvSpPr>
          <p:cNvPr id="50" name="Shape 45"/>
          <p:cNvSpPr/>
          <p:nvPr/>
        </p:nvSpPr>
        <p:spPr>
          <a:xfrm>
            <a:off x="10043770" y="4271705"/>
            <a:ext cx="4752137" cy="3106858"/>
          </a:xfrm>
          <a:prstGeom prst="rect">
            <a:avLst/>
          </a:prstGeom>
          <a:solidFill>
            <a:srgbClr val="FFFFFF"/>
          </a:solidFill>
          <a:ln w="7620">
            <a:solidFill>
              <a:srgbClr val="E3E7EC"/>
            </a:solidFill>
            <a:prstDash val="solid"/>
          </a:ln>
        </p:spPr>
      </p:sp>
      <p:sp>
        <p:nvSpPr>
          <p:cNvPr id="51" name="Text 46"/>
          <p:cNvSpPr txBox="1"/>
          <p:nvPr/>
        </p:nvSpPr>
        <p:spPr>
          <a:xfrm>
            <a:off x="10158970" y="438690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CANNING QUESTION</a:t>
            </a:r>
            <a:endParaRPr lang="en-US" sz="680" dirty="0"/>
          </a:p>
        </p:txBody>
      </p:sp>
      <p:sp>
        <p:nvSpPr>
          <p:cNvPr id="52" name="Text 47"/>
          <p:cNvSpPr txBox="1"/>
          <p:nvPr/>
        </p:nvSpPr>
        <p:spPr>
          <a:xfrm>
            <a:off x="10158970" y="4556773"/>
            <a:ext cx="4521737" cy="161239"/>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Christy raised it. Tap That pushed back. It is not in Justin's plan.</a:t>
            </a:r>
            <a:endParaRPr lang="en-US" sz="920" dirty="0"/>
          </a:p>
        </p:txBody>
      </p:sp>
      <p:sp>
        <p:nvSpPr>
          <p:cNvPr id="53" name="Text 48"/>
          <p:cNvSpPr txBox="1"/>
          <p:nvPr/>
        </p:nvSpPr>
        <p:spPr>
          <a:xfrm>
            <a:off x="10158970" y="488361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For: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bottle shop is where people find out the brand exists, which no keg marketing reaches. It also opens bars and restaurants that will not give up a tap.</a:t>
            </a:r>
            <a:endParaRPr lang="en-US" sz="810" dirty="0"/>
          </a:p>
        </p:txBody>
      </p:sp>
      <p:sp>
        <p:nvSpPr>
          <p:cNvPr id="54" name="Text 49"/>
          <p:cNvSpPr txBox="1"/>
          <p:nvPr/>
        </p:nvSpPr>
        <p:spPr>
          <a:xfrm>
            <a:off x="10158970" y="535782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Against: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low margin, high effort, and it competes directly with the refill model this plan is built on. Tap That has already priced a small line and parked it.</a:t>
            </a:r>
            <a:endParaRPr lang="en-US" sz="810" dirty="0"/>
          </a:p>
        </p:txBody>
      </p:sp>
      <p:sp>
        <p:nvSpPr>
          <p:cNvPr id="55" name="Text 50"/>
          <p:cNvSpPr txBox="1"/>
          <p:nvPr/>
        </p:nvSpPr>
        <p:spPr>
          <a:xfrm>
            <a:off x="10158970" y="5832032"/>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would settle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costed run through the cannery contact next door, priced against Earth Brew at about $36 a four-pack.</a:t>
            </a:r>
            <a:endParaRPr lang="en-US" sz="810" dirty="0"/>
          </a:p>
        </p:txBody>
      </p:sp>
      <p:sp>
        <p:nvSpPr>
          <p:cNvPr id="56" name="Shape 51"/>
          <p:cNvSpPr/>
          <p:nvPr/>
        </p:nvSpPr>
        <p:spPr>
          <a:xfrm>
            <a:off x="10158970" y="7085747"/>
            <a:ext cx="4521737" cy="0"/>
          </a:xfrm>
          <a:prstGeom prst="line">
            <a:avLst/>
          </a:prstGeom>
          <a:noFill/>
          <a:ln w="7620">
            <a:solidFill>
              <a:srgbClr val="E3E7EC"/>
            </a:solidFill>
            <a:prstDash val="solid"/>
          </a:ln>
        </p:spPr>
      </p:sp>
      <p:sp>
        <p:nvSpPr>
          <p:cNvPr id="57" name="Text 52"/>
          <p:cNvSpPr txBox="1"/>
          <p:nvPr/>
        </p:nvSpPr>
        <p:spPr>
          <a:xfrm>
            <a:off x="10158970" y="714334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Worth revisiting if walk-in trade is wound back and a new awareness channel is needed.</a:t>
            </a:r>
            <a:endParaRPr lang="en-US" sz="700" dirty="0"/>
          </a:p>
        </p:txBody>
      </p:sp>
      <p:sp>
        <p:nvSpPr>
          <p:cNvPr id="58" name="Shape 53"/>
          <p:cNvSpPr/>
          <p:nvPr/>
        </p:nvSpPr>
        <p:spPr>
          <a:xfrm>
            <a:off x="323698" y="7486462"/>
            <a:ext cx="7182155" cy="2989618"/>
          </a:xfrm>
          <a:prstGeom prst="rect">
            <a:avLst/>
          </a:prstGeom>
          <a:solidFill>
            <a:srgbClr val="FFFFFF"/>
          </a:solidFill>
          <a:ln w="7620">
            <a:solidFill>
              <a:srgbClr val="E3E7EC"/>
            </a:solidFill>
            <a:prstDash val="solid"/>
          </a:ln>
        </p:spPr>
      </p:sp>
      <p:sp>
        <p:nvSpPr>
          <p:cNvPr id="59" name="Text 54"/>
          <p:cNvSpPr txBox="1"/>
          <p:nvPr/>
        </p:nvSpPr>
        <p:spPr>
          <a:xfrm>
            <a:off x="438898" y="760166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DECISIONS REQUIRED</a:t>
            </a:r>
            <a:endParaRPr lang="en-US" sz="680" dirty="0"/>
          </a:p>
        </p:txBody>
      </p:sp>
      <p:sp>
        <p:nvSpPr>
          <p:cNvPr id="60" name="Shape 55"/>
          <p:cNvSpPr/>
          <p:nvPr/>
        </p:nvSpPr>
        <p:spPr>
          <a:xfrm>
            <a:off x="438898" y="7816840"/>
            <a:ext cx="50400" cy="50400"/>
          </a:xfrm>
          <a:prstGeom prst="rect">
            <a:avLst/>
          </a:prstGeom>
          <a:solidFill>
            <a:srgbClr val="0066FF"/>
          </a:solidFill>
          <a:ln w="12700">
            <a:solidFill>
              <a:srgbClr val="333333"/>
            </a:solidFill>
            <a:prstDash val="solid"/>
          </a:ln>
        </p:spPr>
      </p:sp>
      <p:sp>
        <p:nvSpPr>
          <p:cNvPr id="61" name="Text 56"/>
          <p:cNvSpPr txBox="1"/>
          <p:nvPr/>
        </p:nvSpPr>
        <p:spPr>
          <a:xfrm>
            <a:off x="546898" y="777153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The three-way shape question.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Taproom, showroom or event space. Owner: Justin.</a:t>
            </a:r>
            <a:endParaRPr lang="en-US" sz="800" dirty="0"/>
          </a:p>
        </p:txBody>
      </p:sp>
      <p:sp>
        <p:nvSpPr>
          <p:cNvPr id="62" name="Shape 57"/>
          <p:cNvSpPr/>
          <p:nvPr/>
        </p:nvSpPr>
        <p:spPr>
          <a:xfrm>
            <a:off x="438898" y="8305043"/>
            <a:ext cx="50400" cy="50400"/>
          </a:xfrm>
          <a:prstGeom prst="rect">
            <a:avLst/>
          </a:prstGeom>
          <a:solidFill>
            <a:srgbClr val="0066FF"/>
          </a:solidFill>
          <a:ln w="12700">
            <a:solidFill>
              <a:srgbClr val="333333"/>
            </a:solidFill>
            <a:prstDash val="solid"/>
          </a:ln>
        </p:spPr>
      </p:sp>
      <p:sp>
        <p:nvSpPr>
          <p:cNvPr id="63" name="Text 58"/>
          <p:cNvSpPr txBox="1"/>
          <p:nvPr/>
        </p:nvSpPr>
        <p:spPr>
          <a:xfrm>
            <a:off x="546898" y="8259732"/>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Residential vs commercial.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Where the energy goes.</a:t>
            </a:r>
            <a:endParaRPr lang="en-US" sz="800" dirty="0"/>
          </a:p>
        </p:txBody>
      </p:sp>
      <p:sp>
        <p:nvSpPr>
          <p:cNvPr id="64" name="Shape 59"/>
          <p:cNvSpPr/>
          <p:nvPr/>
        </p:nvSpPr>
        <p:spPr>
          <a:xfrm>
            <a:off x="438898" y="8793245"/>
            <a:ext cx="50400" cy="50400"/>
          </a:xfrm>
          <a:prstGeom prst="rect">
            <a:avLst/>
          </a:prstGeom>
          <a:solidFill>
            <a:srgbClr val="0066FF"/>
          </a:solidFill>
          <a:ln w="12700">
            <a:solidFill>
              <a:srgbClr val="333333"/>
            </a:solidFill>
            <a:prstDash val="solid"/>
          </a:ln>
        </p:spPr>
      </p:sp>
      <p:sp>
        <p:nvSpPr>
          <p:cNvPr id="65" name="Text 60"/>
          <p:cNvSpPr txBox="1"/>
          <p:nvPr/>
        </p:nvSpPr>
        <p:spPr>
          <a:xfrm>
            <a:off x="546898" y="8747935"/>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External support vs in-house.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Do it ourselves or bring it in.</a:t>
            </a:r>
            <a:endParaRPr lang="en-US" sz="800" dirty="0"/>
          </a:p>
        </p:txBody>
      </p:sp>
      <p:sp>
        <p:nvSpPr>
          <p:cNvPr id="66" name="Shape 61"/>
          <p:cNvSpPr/>
          <p:nvPr/>
        </p:nvSpPr>
        <p:spPr>
          <a:xfrm>
            <a:off x="438898" y="9281448"/>
            <a:ext cx="50400" cy="50400"/>
          </a:xfrm>
          <a:prstGeom prst="rect">
            <a:avLst/>
          </a:prstGeom>
          <a:solidFill>
            <a:srgbClr val="0066FF"/>
          </a:solidFill>
          <a:ln w="12700">
            <a:solidFill>
              <a:srgbClr val="333333"/>
            </a:solidFill>
            <a:prstDash val="solid"/>
          </a:ln>
        </p:spPr>
      </p:sp>
      <p:sp>
        <p:nvSpPr>
          <p:cNvPr id="67" name="Text 62"/>
          <p:cNvSpPr txBox="1"/>
          <p:nvPr/>
        </p:nvSpPr>
        <p:spPr>
          <a:xfrm>
            <a:off x="546898" y="9236138"/>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Next hire.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Brewer vs wholesale plus bar coverage, hybrid.</a:t>
            </a:r>
            <a:endParaRPr lang="en-US" sz="800" dirty="0"/>
          </a:p>
        </p:txBody>
      </p:sp>
      <p:sp>
        <p:nvSpPr>
          <p:cNvPr id="68" name="Shape 63"/>
          <p:cNvSpPr/>
          <p:nvPr/>
        </p:nvSpPr>
        <p:spPr>
          <a:xfrm>
            <a:off x="438898" y="9769651"/>
            <a:ext cx="50400" cy="50400"/>
          </a:xfrm>
          <a:prstGeom prst="rect">
            <a:avLst/>
          </a:prstGeom>
          <a:solidFill>
            <a:srgbClr val="0066FF"/>
          </a:solidFill>
          <a:ln w="12700">
            <a:solidFill>
              <a:srgbClr val="333333"/>
            </a:solidFill>
            <a:prstDash val="solid"/>
          </a:ln>
        </p:spPr>
      </p:sp>
      <p:sp>
        <p:nvSpPr>
          <p:cNvPr id="69" name="Text 64"/>
          <p:cNvSpPr txBox="1"/>
          <p:nvPr/>
        </p:nvSpPr>
        <p:spPr>
          <a:xfrm>
            <a:off x="546898" y="972434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KPIs and growth targets.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Keg system sales, active keg refillers, wholesale accounts.</a:t>
            </a:r>
            <a:endParaRPr lang="en-US" sz="800" dirty="0"/>
          </a:p>
        </p:txBody>
      </p:sp>
      <p:sp>
        <p:nvSpPr>
          <p:cNvPr id="70" name="Shape 65"/>
          <p:cNvSpPr/>
          <p:nvPr/>
        </p:nvSpPr>
        <p:spPr>
          <a:xfrm>
            <a:off x="438898" y="10257854"/>
            <a:ext cx="50400" cy="50400"/>
          </a:xfrm>
          <a:prstGeom prst="rect">
            <a:avLst/>
          </a:prstGeom>
          <a:solidFill>
            <a:srgbClr val="0066FF"/>
          </a:solidFill>
          <a:ln w="12700">
            <a:solidFill>
              <a:srgbClr val="333333"/>
            </a:solidFill>
            <a:prstDash val="solid"/>
          </a:ln>
        </p:spPr>
      </p:sp>
      <p:sp>
        <p:nvSpPr>
          <p:cNvPr id="71" name="Text 66"/>
          <p:cNvSpPr txBox="1"/>
          <p:nvPr/>
        </p:nvSpPr>
        <p:spPr>
          <a:xfrm>
            <a:off x="546898" y="10212543"/>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Settle $2.55.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number on the live ad.</a:t>
            </a:r>
            <a:endParaRPr lang="en-US" sz="800" dirty="0"/>
          </a:p>
        </p:txBody>
      </p:sp>
      <p:sp>
        <p:nvSpPr>
          <p:cNvPr id="72" name="Shape 67"/>
          <p:cNvSpPr/>
          <p:nvPr/>
        </p:nvSpPr>
        <p:spPr>
          <a:xfrm>
            <a:off x="7613752" y="7486462"/>
            <a:ext cx="7182155" cy="2989618"/>
          </a:xfrm>
          <a:prstGeom prst="rect">
            <a:avLst/>
          </a:prstGeom>
          <a:solidFill>
            <a:srgbClr val="FFFFFF"/>
          </a:solidFill>
          <a:ln w="7620">
            <a:solidFill>
              <a:srgbClr val="E3E7EC"/>
            </a:solidFill>
            <a:prstDash val="solid"/>
          </a:ln>
        </p:spPr>
      </p:sp>
      <p:sp>
        <p:nvSpPr>
          <p:cNvPr id="73" name="Text 68"/>
          <p:cNvSpPr txBox="1"/>
          <p:nvPr/>
        </p:nvSpPr>
        <p:spPr>
          <a:xfrm>
            <a:off x="7728952" y="760166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COULD GO WRONG</a:t>
            </a:r>
            <a:endParaRPr lang="en-US" sz="680" dirty="0"/>
          </a:p>
        </p:txBody>
      </p:sp>
      <p:sp>
        <p:nvSpPr>
          <p:cNvPr id="74" name="Shape 69"/>
          <p:cNvSpPr/>
          <p:nvPr/>
        </p:nvSpPr>
        <p:spPr>
          <a:xfrm>
            <a:off x="7728952" y="7816840"/>
            <a:ext cx="50400" cy="50400"/>
          </a:xfrm>
          <a:prstGeom prst="rect">
            <a:avLst/>
          </a:prstGeom>
          <a:solidFill>
            <a:srgbClr val="0066FF"/>
          </a:solidFill>
          <a:ln w="12700">
            <a:solidFill>
              <a:srgbClr val="333333"/>
            </a:solidFill>
            <a:prstDash val="solid"/>
          </a:ln>
        </p:spPr>
      </p:sp>
      <p:sp>
        <p:nvSpPr>
          <p:cNvPr id="75" name="Text 70"/>
          <p:cNvSpPr txBox="1"/>
          <p:nvPr/>
        </p:nvSpPr>
        <p:spPr>
          <a:xfrm>
            <a:off x="7836952" y="777153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Pausing walk-ins costs community.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room built the ambassadors. Replace it with systems before it goes, not after.</a:t>
            </a:r>
            <a:endParaRPr lang="en-US" sz="800" dirty="0"/>
          </a:p>
        </p:txBody>
      </p:sp>
      <p:sp>
        <p:nvSpPr>
          <p:cNvPr id="76" name="Shape 71"/>
          <p:cNvSpPr/>
          <p:nvPr/>
        </p:nvSpPr>
        <p:spPr>
          <a:xfrm>
            <a:off x="7728952" y="8500261"/>
            <a:ext cx="50400" cy="50400"/>
          </a:xfrm>
          <a:prstGeom prst="rect">
            <a:avLst/>
          </a:prstGeom>
          <a:solidFill>
            <a:srgbClr val="0066FF"/>
          </a:solidFill>
          <a:ln w="12700">
            <a:solidFill>
              <a:srgbClr val="333333"/>
            </a:solidFill>
            <a:prstDash val="solid"/>
          </a:ln>
        </p:spPr>
      </p:sp>
      <p:sp>
        <p:nvSpPr>
          <p:cNvPr id="77" name="Text 72"/>
          <p:cNvSpPr txBox="1"/>
          <p:nvPr/>
        </p:nvSpPr>
        <p:spPr>
          <a:xfrm>
            <a:off x="7836952" y="8454950"/>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Wholesale hire without a process.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A salesperson with no CRM behind them will fail the same way the founders did.</a:t>
            </a:r>
            <a:endParaRPr lang="en-US" sz="800" dirty="0"/>
          </a:p>
        </p:txBody>
      </p:sp>
      <p:sp>
        <p:nvSpPr>
          <p:cNvPr id="78" name="Shape 73"/>
          <p:cNvSpPr/>
          <p:nvPr/>
        </p:nvSpPr>
        <p:spPr>
          <a:xfrm>
            <a:off x="7728952" y="9183682"/>
            <a:ext cx="50400" cy="50400"/>
          </a:xfrm>
          <a:prstGeom prst="rect">
            <a:avLst/>
          </a:prstGeom>
          <a:solidFill>
            <a:srgbClr val="0066FF"/>
          </a:solidFill>
          <a:ln w="12700">
            <a:solidFill>
              <a:srgbClr val="333333"/>
            </a:solidFill>
            <a:prstDash val="solid"/>
          </a:ln>
        </p:spPr>
      </p:sp>
      <p:sp>
        <p:nvSpPr>
          <p:cNvPr id="79" name="Text 74"/>
          <p:cNvSpPr txBox="1"/>
          <p:nvPr/>
        </p:nvSpPr>
        <p:spPr>
          <a:xfrm>
            <a:off x="7836952" y="9138371"/>
            <a:ext cx="6843755" cy="296672"/>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Chris is trapped in production.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Justin's words: highly valued and intelligent, but the business needs his time and knowledge freed up.</a:t>
            </a:r>
            <a:endParaRPr lang="en-US" sz="800" dirty="0"/>
          </a:p>
        </p:txBody>
      </p:sp>
      <p:sp>
        <p:nvSpPr>
          <p:cNvPr id="80" name="Shape 75"/>
          <p:cNvSpPr/>
          <p:nvPr/>
        </p:nvSpPr>
        <p:spPr>
          <a:xfrm>
            <a:off x="7728952" y="10015439"/>
            <a:ext cx="50400" cy="50400"/>
          </a:xfrm>
          <a:prstGeom prst="rect">
            <a:avLst/>
          </a:prstGeom>
          <a:solidFill>
            <a:srgbClr val="0066FF"/>
          </a:solidFill>
          <a:ln w="12700">
            <a:solidFill>
              <a:srgbClr val="333333"/>
            </a:solidFill>
            <a:prstDash val="solid"/>
          </a:ln>
        </p:spPr>
      </p:sp>
      <p:sp>
        <p:nvSpPr>
          <p:cNvPr id="81" name="Text 76"/>
          <p:cNvSpPr txBox="1"/>
          <p:nvPr/>
        </p:nvSpPr>
        <p:spPr>
          <a:xfrm>
            <a:off x="7836952" y="9970128"/>
            <a:ext cx="6843755" cy="148336"/>
          </a:xfrm>
          <a:prstGeom prst="rect">
            <a:avLst/>
          </a:prstGeom>
          <a:noFill/>
          <a:ln/>
        </p:spPr>
        <p:txBody>
          <a:bodyPr wrap="square" lIns="0" tIns="0" rIns="0" bIns="0" rtlCol="0" anchor="t"/>
          <a:lstStyle/>
          <a:p>
            <a:pPr indent="0" marL="0">
              <a:lnSpc>
                <a:spcPts val="1168"/>
              </a:lnSpc>
              <a:buNone/>
            </a:pPr>
            <a:r>
              <a:rPr lang="en-US" sz="800" b="1" dirty="0">
                <a:solidFill>
                  <a:srgbClr val="0E171F"/>
                </a:solidFill>
                <a:latin typeface="Poppins" pitchFamily="34" charset="0"/>
                <a:ea typeface="Poppins" pitchFamily="34" charset="-122"/>
                <a:cs typeface="Poppins" pitchFamily="34" charset="-120"/>
              </a:rPr>
              <a:t>Everything at once. </a:t>
            </a:r>
            <a:pPr indent="0" marL="0">
              <a:lnSpc>
                <a:spcPts val="1168"/>
              </a:lnSpc>
              <a:buNone/>
            </a:pPr>
            <a:r>
              <a:rPr lang="en-US" sz="800" dirty="0">
                <a:solidFill>
                  <a:srgbClr val="4A5565"/>
                </a:solidFill>
                <a:latin typeface="Poppins" pitchFamily="34" charset="0"/>
                <a:ea typeface="Poppins" pitchFamily="34" charset="-122"/>
                <a:cs typeface="Poppins" pitchFamily="34" charset="-120"/>
              </a:rPr>
              <a:t>The recurring failure has been starting things and moving on. Three moves finished beats ten started.</a:t>
            </a:r>
            <a:endParaRPr lang="en-US" sz="800" dirty="0"/>
          </a:p>
        </p:txBody>
      </p:sp>
      <p:sp>
        <p:nvSpPr>
          <p:cNvPr id="82" name="Shape 77"/>
          <p:cNvSpPr/>
          <p:nvPr/>
        </p:nvSpPr>
        <p:spPr>
          <a:xfrm>
            <a:off x="7728952" y="10183264"/>
            <a:ext cx="6951755" cy="0"/>
          </a:xfrm>
          <a:prstGeom prst="line">
            <a:avLst/>
          </a:prstGeom>
          <a:noFill/>
          <a:ln w="7620">
            <a:solidFill>
              <a:srgbClr val="E3E7EC"/>
            </a:solidFill>
            <a:prstDash val="solid"/>
          </a:ln>
        </p:spPr>
      </p:sp>
      <p:sp>
        <p:nvSpPr>
          <p:cNvPr id="83" name="Text 78"/>
          <p:cNvSpPr txBox="1"/>
          <p:nvPr/>
        </p:nvSpPr>
        <p:spPr>
          <a:xfrm>
            <a:off x="7728952" y="10240864"/>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Justin's own point in the catch-up: as this scales, the personal connection cannot hold. It has to be replicated in systems.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Brand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8246" y="365760"/>
            <a:ext cx="1165358"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8246" y="365760"/>
            <a:ext cx="1165358"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V02 · 16 SEPT 2026</a:t>
            </a:r>
            <a:endParaRPr lang="en-US" sz="650" dirty="0"/>
          </a:p>
        </p:txBody>
      </p:sp>
      <p:sp>
        <p:nvSpPr>
          <p:cNvPr id="7" name="Shape 3"/>
          <p:cNvSpPr/>
          <p:nvPr/>
        </p:nvSpPr>
        <p:spPr>
          <a:xfrm>
            <a:off x="11370203" y="365760"/>
            <a:ext cx="1218043"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370203" y="365760"/>
            <a:ext cx="1218043"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13084" y="365760"/>
            <a:ext cx="967119"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13084" y="365760"/>
            <a:ext cx="967119"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02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5967146" cy="2637898"/>
          </a:xfrm>
          <a:prstGeom prst="rect">
            <a:avLst/>
          </a:prstGeom>
          <a:solidFill>
            <a:srgbClr val="FFFFFF"/>
          </a:solidFill>
          <a:ln w="7620">
            <a:solidFill>
              <a:srgbClr val="E3E7EC"/>
            </a:solidFill>
            <a:prstDash val="solid"/>
          </a:ln>
        </p:spPr>
      </p:sp>
      <p:sp>
        <p:nvSpPr>
          <p:cNvPr id="13" name="Shape 9"/>
          <p:cNvSpPr/>
          <p:nvPr/>
        </p:nvSpPr>
        <p:spPr>
          <a:xfrm>
            <a:off x="323698" y="1115568"/>
            <a:ext cx="5967146"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5736746"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POSITION</a:t>
            </a:r>
            <a:endParaRPr lang="en-US" sz="680" dirty="0"/>
          </a:p>
        </p:txBody>
      </p:sp>
      <p:sp>
        <p:nvSpPr>
          <p:cNvPr id="15" name="Text 11"/>
          <p:cNvSpPr txBox="1"/>
          <p:nvPr/>
        </p:nvSpPr>
        <p:spPr>
          <a:xfrm>
            <a:off x="438898" y="1400636"/>
            <a:ext cx="5736746" cy="422046"/>
          </a:xfrm>
          <a:prstGeom prst="rect">
            <a:avLst/>
          </a:prstGeom>
          <a:noFill/>
          <a:ln/>
        </p:spPr>
        <p:txBody>
          <a:bodyPr wrap="square" lIns="0" tIns="0" rIns="0" bIns="0" rtlCol="0" anchor="t"/>
          <a:lstStyle/>
          <a:p>
            <a:pPr indent="0" marL="0">
              <a:lnSpc>
                <a:spcPts val="1662"/>
              </a:lnSpc>
              <a:buNone/>
            </a:pPr>
            <a:r>
              <a:rPr lang="en-US" sz="1340" b="1" dirty="0">
                <a:solidFill>
                  <a:srgbClr val="0E171F"/>
                </a:solidFill>
                <a:latin typeface="Poppins" pitchFamily="34" charset="0"/>
                <a:ea typeface="Poppins" pitchFamily="34" charset="-122"/>
                <a:cs typeface="Poppins" pitchFamily="34" charset="-120"/>
              </a:rPr>
              <a:t>The pub at your place. Fresher, cheaper by the schooner, and yours.</a:t>
            </a:r>
            <a:endParaRPr lang="en-US" sz="1340" dirty="0"/>
          </a:p>
        </p:txBody>
      </p:sp>
      <p:sp>
        <p:nvSpPr>
          <p:cNvPr id="16" name="Text 12"/>
          <p:cNvSpPr txBox="1"/>
          <p:nvPr/>
        </p:nvSpPr>
        <p:spPr>
          <a:xfrm>
            <a:off x="438898" y="1928317"/>
            <a:ext cx="5736746"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"Every household in Australia deserves beer on tap."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line, and the goal is bringing people together. Catching up with friends at a venue is stressful, rushed and expensive. Catching up at home is made easy: pub-quality beer and non-beer on tap, and a set-up that is the envy of your friends.</a:t>
            </a:r>
            <a:endParaRPr lang="en-US" sz="810" dirty="0"/>
          </a:p>
        </p:txBody>
      </p:sp>
      <p:sp>
        <p:nvSpPr>
          <p:cNvPr id="17" name="Text 13"/>
          <p:cNvSpPr txBox="1"/>
          <p:nvPr/>
        </p:nvSpPr>
        <p:spPr>
          <a:xfrm>
            <a:off x="438898" y="2496867"/>
            <a:ext cx="5736746"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It also settles what Tap That is not. Not a craft brewery competing on taps, not a bottle shop competing on price, and not a venue competing for a Friday night.</a:t>
            </a:r>
            <a:endParaRPr lang="en-US" sz="810" dirty="0"/>
          </a:p>
        </p:txBody>
      </p:sp>
      <p:sp>
        <p:nvSpPr>
          <p:cNvPr id="18" name="Text 14"/>
          <p:cNvSpPr txBox="1"/>
          <p:nvPr/>
        </p:nvSpPr>
        <p:spPr>
          <a:xfrm>
            <a:off x="438898" y="2911112"/>
            <a:ext cx="5736746"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Look for what the category does badly, not what it does well.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pub does beer at home badly. That is the gap.</a:t>
            </a:r>
            <a:endParaRPr lang="en-US" sz="810" dirty="0"/>
          </a:p>
        </p:txBody>
      </p:sp>
      <p:sp>
        <p:nvSpPr>
          <p:cNvPr id="19" name="Shape 15"/>
          <p:cNvSpPr/>
          <p:nvPr/>
        </p:nvSpPr>
        <p:spPr>
          <a:xfrm>
            <a:off x="438898" y="3460651"/>
            <a:ext cx="5736746" cy="0"/>
          </a:xfrm>
          <a:prstGeom prst="line">
            <a:avLst/>
          </a:prstGeom>
          <a:noFill/>
          <a:ln w="7620">
            <a:solidFill>
              <a:srgbClr val="E3E7EC"/>
            </a:solidFill>
            <a:prstDash val="solid"/>
          </a:ln>
        </p:spPr>
      </p:sp>
      <p:sp>
        <p:nvSpPr>
          <p:cNvPr id="20" name="Text 16"/>
          <p:cNvSpPr txBox="1"/>
          <p:nvPr/>
        </p:nvSpPr>
        <p:spPr>
          <a:xfrm>
            <a:off x="438898" y="3518251"/>
            <a:ext cx="5736746"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Nobody on the Gold Coast owns this category, in market or in search. That is the opening.</a:t>
            </a:r>
            <a:endParaRPr lang="en-US" sz="700" dirty="0"/>
          </a:p>
        </p:txBody>
      </p:sp>
      <p:sp>
        <p:nvSpPr>
          <p:cNvPr id="21" name="Shape 17"/>
          <p:cNvSpPr/>
          <p:nvPr/>
        </p:nvSpPr>
        <p:spPr>
          <a:xfrm>
            <a:off x="6398743" y="1115568"/>
            <a:ext cx="8397164" cy="2637898"/>
          </a:xfrm>
          <a:prstGeom prst="rect">
            <a:avLst/>
          </a:prstGeom>
          <a:solidFill>
            <a:srgbClr val="FFFFFF"/>
          </a:solidFill>
          <a:ln w="7620">
            <a:solidFill>
              <a:srgbClr val="E3E7EC"/>
            </a:solidFill>
            <a:prstDash val="solid"/>
          </a:ln>
        </p:spPr>
      </p:sp>
      <p:sp>
        <p:nvSpPr>
          <p:cNvPr id="22" name="Text 18"/>
          <p:cNvSpPr txBox="1"/>
          <p:nvPr/>
        </p:nvSpPr>
        <p:spPr>
          <a:xfrm>
            <a:off x="6513943" y="1230768"/>
            <a:ext cx="8166764"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THE ENEMY IS</a:t>
            </a:r>
            <a:endParaRPr lang="en-US" sz="680" dirty="0"/>
          </a:p>
        </p:txBody>
      </p:sp>
      <p:sp>
        <p:nvSpPr>
          <p:cNvPr id="23" name="Text 19"/>
          <p:cNvSpPr txBox="1"/>
          <p:nvPr/>
        </p:nvSpPr>
        <p:spPr>
          <a:xfrm>
            <a:off x="6513943" y="1400636"/>
            <a:ext cx="8166764" cy="322478"/>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Pubs at $12+ a schooner, bottleshops at $80+ a case, and home brew supply stores. Not the duopoly, not A&amp;A, not the keg delivery operators.</a:t>
            </a:r>
            <a:endParaRPr lang="en-US" sz="920" dirty="0"/>
          </a:p>
        </p:txBody>
      </p:sp>
      <p:sp>
        <p:nvSpPr>
          <p:cNvPr id="24" name="Text 20"/>
          <p:cNvSpPr txBox="1"/>
          <p:nvPr/>
        </p:nvSpPr>
        <p:spPr>
          <a:xfrm>
            <a:off x="6513943" y="1888714"/>
            <a:ext cx="8166764"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words: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more people drinking craft beer and not XXXX, the better.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Other breweries are not the enemy. Every price conversation should be unit economics: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$2.55 a schooner at home against $12+ at the pub</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 2.5 cases for the price of one.</a:t>
            </a:r>
            <a:endParaRPr lang="en-US" sz="810" dirty="0"/>
          </a:p>
        </p:txBody>
      </p:sp>
      <p:sp>
        <p:nvSpPr>
          <p:cNvPr id="25" name="Text 21"/>
          <p:cNvSpPr txBox="1"/>
          <p:nvPr/>
        </p:nvSpPr>
        <p:spPr>
          <a:xfrm>
            <a:off x="6513943" y="2362924"/>
            <a:ext cx="8166764" cy="15430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Do not get pulled into a keg price war.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It is the one fight where winning costs more than losing.</a:t>
            </a:r>
            <a:endParaRPr lang="en-US" sz="810" dirty="0"/>
          </a:p>
        </p:txBody>
      </p:sp>
      <p:sp>
        <p:nvSpPr>
          <p:cNvPr id="26" name="Text 22"/>
          <p:cNvSpPr txBox="1"/>
          <p:nvPr/>
        </p:nvSpPr>
        <p:spPr>
          <a:xfrm>
            <a:off x="6513943" y="2682829"/>
            <a:ext cx="8166764" cy="15430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A&amp;A's domain is suspended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and they have merged with Burleigh Homebrew. Following a competitor in that state down on price is worse than pointless.</a:t>
            </a:r>
            <a:endParaRPr lang="en-US" sz="810" dirty="0"/>
          </a:p>
        </p:txBody>
      </p:sp>
      <p:sp>
        <p:nvSpPr>
          <p:cNvPr id="27" name="Shape 23"/>
          <p:cNvSpPr/>
          <p:nvPr/>
        </p:nvSpPr>
        <p:spPr>
          <a:xfrm>
            <a:off x="6513943" y="3460651"/>
            <a:ext cx="8166764" cy="0"/>
          </a:xfrm>
          <a:prstGeom prst="line">
            <a:avLst/>
          </a:prstGeom>
          <a:noFill/>
          <a:ln w="7620">
            <a:solidFill>
              <a:srgbClr val="E3E7EC"/>
            </a:solidFill>
            <a:prstDash val="solid"/>
          </a:ln>
        </p:spPr>
      </p:sp>
      <p:sp>
        <p:nvSpPr>
          <p:cNvPr id="28" name="Text 24"/>
          <p:cNvSpPr txBox="1"/>
          <p:nvPr/>
        </p:nvSpPr>
        <p:spPr>
          <a:xfrm>
            <a:off x="6513943" y="3518251"/>
            <a:ext cx="8166764"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at-home figure is settled: $2.55 a schooner. Every piece of collateral and the live ad should carry it.</a:t>
            </a:r>
            <a:endParaRPr lang="en-US" sz="700" dirty="0"/>
          </a:p>
        </p:txBody>
      </p:sp>
      <p:sp>
        <p:nvSpPr>
          <p:cNvPr id="29" name="Shape 25"/>
          <p:cNvSpPr/>
          <p:nvPr/>
        </p:nvSpPr>
        <p:spPr>
          <a:xfrm>
            <a:off x="323698" y="3861365"/>
            <a:ext cx="4752137" cy="3341337"/>
          </a:xfrm>
          <a:prstGeom prst="rect">
            <a:avLst/>
          </a:prstGeom>
          <a:solidFill>
            <a:srgbClr val="FFFFFF"/>
          </a:solidFill>
          <a:ln w="7620">
            <a:solidFill>
              <a:srgbClr val="E3E7EC"/>
            </a:solidFill>
            <a:prstDash val="solid"/>
          </a:ln>
        </p:spPr>
      </p:sp>
      <p:sp>
        <p:nvSpPr>
          <p:cNvPr id="30" name="Text 26"/>
          <p:cNvSpPr txBox="1"/>
          <p:nvPr/>
        </p:nvSpPr>
        <p:spPr>
          <a:xfrm>
            <a:off x="438898" y="397656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HEROES, NOT A TAIL</a:t>
            </a:r>
            <a:endParaRPr lang="en-US" sz="680" dirty="0"/>
          </a:p>
        </p:txBody>
      </p:sp>
      <p:sp>
        <p:nvSpPr>
          <p:cNvPr id="31" name="Text 27"/>
          <p:cNvSpPr txBox="1"/>
          <p:nvPr/>
        </p:nvSpPr>
        <p:spPr>
          <a:xfrm>
            <a:off x="438898" y="4146433"/>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About 19 brew choices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is costing twice: cost of goods on the tail, and choice paralysis at the point of sale. It also means no single beer gets enough marketing to become known.</a:t>
            </a:r>
            <a:endParaRPr lang="en-US" sz="810" dirty="0"/>
          </a:p>
        </p:txBody>
      </p:sp>
      <p:sp>
        <p:nvSpPr>
          <p:cNvPr id="32" name="Text 28"/>
          <p:cNvSpPr txBox="1"/>
          <p:nvPr/>
        </p:nvSpPr>
        <p:spPr>
          <a:xfrm>
            <a:off x="438898" y="477494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Cutting the tail is not the point.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point is putting the freed marketing energy behind the heroes that remain. Romance the beer, not the venue.</a:t>
            </a:r>
            <a:endParaRPr lang="en-US" sz="810" dirty="0"/>
          </a:p>
        </p:txBody>
      </p:sp>
      <p:sp>
        <p:nvSpPr>
          <p:cNvPr id="33" name="Text 29"/>
          <p:cNvSpPr txBox="1"/>
          <p:nvPr/>
        </p:nvSpPr>
        <p:spPr>
          <a:xfrm>
            <a:off x="438898" y="5249158"/>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Add social proof at the point of sale: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most popular, award winning, what to eat with it. Missing in the room and missing on the site.</a:t>
            </a:r>
            <a:endParaRPr lang="en-US" sz="810" dirty="0"/>
          </a:p>
        </p:txBody>
      </p:sp>
      <p:sp>
        <p:nvSpPr>
          <p:cNvPr id="34" name="Shape 30"/>
          <p:cNvSpPr/>
          <p:nvPr/>
        </p:nvSpPr>
        <p:spPr>
          <a:xfrm>
            <a:off x="438898" y="6789872"/>
            <a:ext cx="4521737" cy="0"/>
          </a:xfrm>
          <a:prstGeom prst="line">
            <a:avLst/>
          </a:prstGeom>
          <a:noFill/>
          <a:ln w="7620">
            <a:solidFill>
              <a:srgbClr val="E3E7EC"/>
            </a:solidFill>
            <a:prstDash val="solid"/>
          </a:ln>
        </p:spPr>
      </p:sp>
      <p:sp>
        <p:nvSpPr>
          <p:cNvPr id="35" name="Text 31"/>
          <p:cNvSpPr txBox="1"/>
          <p:nvPr/>
        </p:nvSpPr>
        <p:spPr>
          <a:xfrm>
            <a:off x="438898" y="6847472"/>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27 taps and roughly a third not beer is core identity, not clutter. Cut brews, not the breadth of drink types.</a:t>
            </a:r>
            <a:endParaRPr lang="en-US" sz="700" dirty="0"/>
          </a:p>
        </p:txBody>
      </p:sp>
      <p:sp>
        <p:nvSpPr>
          <p:cNvPr id="36" name="Shape 32"/>
          <p:cNvSpPr/>
          <p:nvPr/>
        </p:nvSpPr>
        <p:spPr>
          <a:xfrm>
            <a:off x="5183734" y="3861365"/>
            <a:ext cx="4752137" cy="3341337"/>
          </a:xfrm>
          <a:prstGeom prst="rect">
            <a:avLst/>
          </a:prstGeom>
          <a:solidFill>
            <a:srgbClr val="FFFFFF"/>
          </a:solidFill>
          <a:ln w="7620">
            <a:solidFill>
              <a:srgbClr val="E3E7EC"/>
            </a:solidFill>
            <a:prstDash val="solid"/>
          </a:ln>
        </p:spPr>
      </p:sp>
      <p:sp>
        <p:nvSpPr>
          <p:cNvPr id="37" name="Text 33"/>
          <p:cNvSpPr txBox="1"/>
          <p:nvPr/>
        </p:nvSpPr>
        <p:spPr>
          <a:xfrm>
            <a:off x="5298934" y="397656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DESIGN FOR HER</a:t>
            </a:r>
            <a:endParaRPr lang="en-US" sz="680" dirty="0"/>
          </a:p>
        </p:txBody>
      </p:sp>
      <p:sp>
        <p:nvSpPr>
          <p:cNvPr id="38" name="Text 34"/>
          <p:cNvSpPr txBox="1"/>
          <p:nvPr/>
        </p:nvSpPr>
        <p:spPr>
          <a:xfrm>
            <a:off x="5298934" y="4146433"/>
            <a:ext cx="4521737" cy="161239"/>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The single largest unaddressed opportunity in the brand.</a:t>
            </a:r>
            <a:endParaRPr lang="en-US" sz="920" dirty="0"/>
          </a:p>
        </p:txBody>
      </p:sp>
      <p:sp>
        <p:nvSpPr>
          <p:cNvPr id="39" name="Text 35"/>
          <p:cNvSpPr txBox="1"/>
          <p:nvPr/>
        </p:nvSpPr>
        <p:spPr>
          <a:xfrm>
            <a:off x="5298934" y="4465361"/>
            <a:ext cx="4521737" cy="77152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range, the marketing and the hardware all read masculine. Covered is not the same as catered for. Christy's argument is the blunt one: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if women are not coming, men will not follow.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target segments, sharehouses, DINKs, young families, baby boomers, high-volume drinkers, cashed-up tradies, are households, and designing for her is how those households say yes.</a:t>
            </a:r>
            <a:endParaRPr lang="en-US" sz="810" dirty="0"/>
          </a:p>
        </p:txBody>
      </p:sp>
      <p:sp>
        <p:nvSpPr>
          <p:cNvPr id="40" name="Text 36"/>
          <p:cNvSpPr txBox="1"/>
          <p:nvPr/>
        </p:nvSpPr>
        <p:spPr>
          <a:xfrm>
            <a:off x="5298934" y="5394575"/>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it means in practice: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romance the RTD properly, build the hydration and light range as a real story, make products she is proud to serve, and design a system she is willing to have in eyesight at home.</a:t>
            </a:r>
            <a:endParaRPr lang="en-US" sz="810" dirty="0"/>
          </a:p>
        </p:txBody>
      </p:sp>
      <p:sp>
        <p:nvSpPr>
          <p:cNvPr id="41" name="Text 37"/>
          <p:cNvSpPr txBox="1"/>
          <p:nvPr/>
        </p:nvSpPr>
        <p:spPr>
          <a:xfrm>
            <a:off x="5298934" y="6015179"/>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Where to start: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wellness influencer collaborations, and co-developing something with a local fitness brand. Christy's example was a protein beer. The point is a product she would choose, not a product she tolerates.</a:t>
            </a:r>
            <a:endParaRPr lang="en-US" sz="810" dirty="0"/>
          </a:p>
        </p:txBody>
      </p:sp>
      <p:sp>
        <p:nvSpPr>
          <p:cNvPr id="42" name="Shape 38"/>
          <p:cNvSpPr/>
          <p:nvPr/>
        </p:nvSpPr>
        <p:spPr>
          <a:xfrm>
            <a:off x="5298934" y="6909887"/>
            <a:ext cx="4521737" cy="0"/>
          </a:xfrm>
          <a:prstGeom prst="line">
            <a:avLst/>
          </a:prstGeom>
          <a:noFill/>
          <a:ln w="7620">
            <a:solidFill>
              <a:srgbClr val="E3E7EC"/>
            </a:solidFill>
            <a:prstDash val="solid"/>
          </a:ln>
        </p:spPr>
      </p:sp>
      <p:sp>
        <p:nvSpPr>
          <p:cNvPr id="43" name="Text 39"/>
          <p:cNvSpPr txBox="1"/>
          <p:nvPr/>
        </p:nvSpPr>
        <p:spPr>
          <a:xfrm>
            <a:off x="5298934" y="6967487"/>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is a product and design brief, not a campaign. It will not be solved by a post.</a:t>
            </a:r>
            <a:endParaRPr lang="en-US" sz="700" dirty="0"/>
          </a:p>
        </p:txBody>
      </p:sp>
      <p:sp>
        <p:nvSpPr>
          <p:cNvPr id="44" name="Shape 40"/>
          <p:cNvSpPr/>
          <p:nvPr/>
        </p:nvSpPr>
        <p:spPr>
          <a:xfrm>
            <a:off x="10043770" y="3861365"/>
            <a:ext cx="4752137" cy="3341337"/>
          </a:xfrm>
          <a:prstGeom prst="rect">
            <a:avLst/>
          </a:prstGeom>
          <a:solidFill>
            <a:srgbClr val="FFFFFF"/>
          </a:solidFill>
          <a:ln w="7620">
            <a:solidFill>
              <a:srgbClr val="E3E7EC"/>
            </a:solidFill>
            <a:prstDash val="solid"/>
          </a:ln>
        </p:spPr>
      </p:sp>
      <p:sp>
        <p:nvSpPr>
          <p:cNvPr id="45" name="Text 41"/>
          <p:cNvSpPr txBox="1"/>
          <p:nvPr/>
        </p:nvSpPr>
        <p:spPr>
          <a:xfrm>
            <a:off x="10158970" y="3976565"/>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PROOF ALREADY OWNED AND BARELY USED</a:t>
            </a:r>
            <a:endParaRPr lang="en-US" sz="680" dirty="0"/>
          </a:p>
        </p:txBody>
      </p:sp>
      <p:sp>
        <p:nvSpPr>
          <p:cNvPr id="46" name="Shape 42"/>
          <p:cNvSpPr/>
          <p:nvPr/>
        </p:nvSpPr>
        <p:spPr>
          <a:xfrm>
            <a:off x="10158970" y="4181584"/>
            <a:ext cx="50400" cy="50400"/>
          </a:xfrm>
          <a:prstGeom prst="rect">
            <a:avLst/>
          </a:prstGeom>
          <a:solidFill>
            <a:srgbClr val="0066FF"/>
          </a:solidFill>
          <a:ln w="12700">
            <a:solidFill>
              <a:srgbClr val="333333"/>
            </a:solidFill>
            <a:prstDash val="solid"/>
          </a:ln>
        </p:spPr>
      </p:sp>
      <p:sp>
        <p:nvSpPr>
          <p:cNvPr id="47" name="Text 43"/>
          <p:cNvSpPr txBox="1"/>
          <p:nvPr/>
        </p:nvSpPr>
        <p:spPr>
          <a:xfrm>
            <a:off x="10266970" y="4146433"/>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Crafted Brewers' Choice award.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Won, and almost invisible. It belongs on the site, in the room, on the tap decals and in social.</a:t>
            </a:r>
            <a:endParaRPr lang="en-US" sz="720" dirty="0"/>
          </a:p>
        </p:txBody>
      </p:sp>
      <p:sp>
        <p:nvSpPr>
          <p:cNvPr id="48" name="Shape 44"/>
          <p:cNvSpPr/>
          <p:nvPr/>
        </p:nvSpPr>
        <p:spPr>
          <a:xfrm>
            <a:off x="10158970" y="4884847"/>
            <a:ext cx="50400" cy="50400"/>
          </a:xfrm>
          <a:prstGeom prst="rect">
            <a:avLst/>
          </a:prstGeom>
          <a:solidFill>
            <a:srgbClr val="0066FF"/>
          </a:solidFill>
          <a:ln w="12700">
            <a:solidFill>
              <a:srgbClr val="333333"/>
            </a:solidFill>
            <a:prstDash val="solid"/>
          </a:ln>
        </p:spPr>
      </p:sp>
      <p:sp>
        <p:nvSpPr>
          <p:cNvPr id="49" name="Text 45"/>
          <p:cNvSpPr txBox="1"/>
          <p:nvPr/>
        </p:nvSpPr>
        <p:spPr>
          <a:xfrm>
            <a:off x="10266970" y="4849696"/>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Fits any system, no CO2 with Talos kegs.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Two buying objections answered, both currently below the fold.</a:t>
            </a:r>
            <a:endParaRPr lang="en-US" sz="720" dirty="0"/>
          </a:p>
        </p:txBody>
      </p:sp>
      <p:sp>
        <p:nvSpPr>
          <p:cNvPr id="50" name="Shape 46"/>
          <p:cNvSpPr/>
          <p:nvPr/>
        </p:nvSpPr>
        <p:spPr>
          <a:xfrm>
            <a:off x="10158970" y="5588110"/>
            <a:ext cx="50400" cy="50400"/>
          </a:xfrm>
          <a:prstGeom prst="rect">
            <a:avLst/>
          </a:prstGeom>
          <a:solidFill>
            <a:srgbClr val="0066FF"/>
          </a:solidFill>
          <a:ln w="12700">
            <a:solidFill>
              <a:srgbClr val="333333"/>
            </a:solidFill>
            <a:prstDash val="solid"/>
          </a:ln>
        </p:spPr>
      </p:sp>
      <p:sp>
        <p:nvSpPr>
          <p:cNvPr id="51" name="Text 47"/>
          <p:cNvSpPr txBox="1"/>
          <p:nvPr/>
        </p:nvSpPr>
        <p:spPr>
          <a:xfrm>
            <a:off x="10266970" y="5552960"/>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1,000 giveaway entries and strong reviews.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Demand for the hardware is demonstrated, and the reviews are present but unpromoted and invisible to AI search.</a:t>
            </a:r>
            <a:endParaRPr lang="en-US" sz="720" dirty="0"/>
          </a:p>
        </p:txBody>
      </p:sp>
      <p:sp>
        <p:nvSpPr>
          <p:cNvPr id="52" name="Shape 48"/>
          <p:cNvSpPr/>
          <p:nvPr/>
        </p:nvSpPr>
        <p:spPr>
          <a:xfrm>
            <a:off x="10158970" y="6291374"/>
            <a:ext cx="50400" cy="50400"/>
          </a:xfrm>
          <a:prstGeom prst="rect">
            <a:avLst/>
          </a:prstGeom>
          <a:solidFill>
            <a:srgbClr val="0066FF"/>
          </a:solidFill>
          <a:ln w="12700">
            <a:solidFill>
              <a:srgbClr val="333333"/>
            </a:solidFill>
            <a:prstDash val="solid"/>
          </a:ln>
        </p:spPr>
      </p:sp>
      <p:sp>
        <p:nvSpPr>
          <p:cNvPr id="53" name="Text 49"/>
          <p:cNvSpPr txBox="1"/>
          <p:nvPr/>
        </p:nvSpPr>
        <p:spPr>
          <a:xfrm>
            <a:off x="10266970" y="6256223"/>
            <a:ext cx="4413737" cy="256032"/>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Named brand ambassadors and UGC providers.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Kurt, Troy, Mitch, Aden and Ash, Justin's own list, ready to deploy within three months.</a:t>
            </a:r>
            <a:endParaRPr lang="en-US" sz="720" dirty="0"/>
          </a:p>
        </p:txBody>
      </p:sp>
      <p:sp>
        <p:nvSpPr>
          <p:cNvPr id="54" name="Shape 50"/>
          <p:cNvSpPr/>
          <p:nvPr/>
        </p:nvSpPr>
        <p:spPr>
          <a:xfrm>
            <a:off x="10158970" y="6994637"/>
            <a:ext cx="50400" cy="50400"/>
          </a:xfrm>
          <a:prstGeom prst="rect">
            <a:avLst/>
          </a:prstGeom>
          <a:solidFill>
            <a:srgbClr val="0066FF"/>
          </a:solidFill>
          <a:ln w="12700">
            <a:solidFill>
              <a:srgbClr val="333333"/>
            </a:solidFill>
            <a:prstDash val="solid"/>
          </a:ln>
        </p:spPr>
      </p:sp>
      <p:sp>
        <p:nvSpPr>
          <p:cNvPr id="55" name="Text 51"/>
          <p:cNvSpPr txBox="1"/>
          <p:nvPr/>
        </p:nvSpPr>
        <p:spPr>
          <a:xfrm>
            <a:off x="10266970" y="6959486"/>
            <a:ext cx="4413737" cy="128016"/>
          </a:xfrm>
          <a:prstGeom prst="rect">
            <a:avLst/>
          </a:prstGeom>
          <a:noFill/>
          <a:ln/>
        </p:spPr>
        <p:txBody>
          <a:bodyPr wrap="square" lIns="0" tIns="0" rIns="0" bIns="0" rtlCol="0" anchor="t"/>
          <a:lstStyle/>
          <a:p>
            <a:pPr indent="0" marL="0">
              <a:lnSpc>
                <a:spcPts val="1008"/>
              </a:lnSpc>
              <a:buNone/>
            </a:pPr>
            <a:r>
              <a:rPr lang="en-US" sz="720" b="1" dirty="0">
                <a:solidFill>
                  <a:srgbClr val="0E171F"/>
                </a:solidFill>
                <a:latin typeface="Poppins" pitchFamily="34" charset="0"/>
                <a:ea typeface="Poppins" pitchFamily="34" charset="-122"/>
                <a:cs typeface="Poppins" pitchFamily="34" charset="-120"/>
              </a:rPr>
              <a:t>Oktoberfest, with the keg system giveaway. </a:t>
            </a:r>
            <a:pPr indent="0" marL="0">
              <a:lnSpc>
                <a:spcPts val="1008"/>
              </a:lnSpc>
              <a:buNone/>
            </a:pPr>
            <a:r>
              <a:rPr lang="en-US" sz="720" dirty="0">
                <a:solidFill>
                  <a:srgbClr val="4A5565"/>
                </a:solidFill>
                <a:latin typeface="Poppins" pitchFamily="34" charset="0"/>
                <a:ea typeface="Poppins" pitchFamily="34" charset="-122"/>
                <a:cs typeface="Poppins" pitchFamily="34" charset="-120"/>
              </a:rPr>
              <a:t>A proof moment in the next 30 days.</a:t>
            </a:r>
            <a:endParaRPr lang="en-US" sz="720" dirty="0"/>
          </a:p>
        </p:txBody>
      </p:sp>
      <p:sp>
        <p:nvSpPr>
          <p:cNvPr id="56" name="Shape 52"/>
          <p:cNvSpPr/>
          <p:nvPr/>
        </p:nvSpPr>
        <p:spPr>
          <a:xfrm>
            <a:off x="323698" y="7310602"/>
            <a:ext cx="7182155" cy="3165478"/>
          </a:xfrm>
          <a:prstGeom prst="rect">
            <a:avLst/>
          </a:prstGeom>
          <a:solidFill>
            <a:srgbClr val="FFFFFF"/>
          </a:solidFill>
          <a:ln w="7620">
            <a:solidFill>
              <a:srgbClr val="E3E7EC"/>
            </a:solidFill>
            <a:prstDash val="solid"/>
          </a:ln>
        </p:spPr>
      </p:sp>
      <p:sp>
        <p:nvSpPr>
          <p:cNvPr id="57" name="Text 53"/>
          <p:cNvSpPr txBox="1"/>
          <p:nvPr/>
        </p:nvSpPr>
        <p:spPr>
          <a:xfrm>
            <a:off x="438898" y="742580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IDENTITY HOUSEKEEPING, AND WHAT IS STILL OPEN</a:t>
            </a:r>
            <a:endParaRPr lang="en-US" sz="680" dirty="0"/>
          </a:p>
        </p:txBody>
      </p:sp>
      <p:sp>
        <p:nvSpPr>
          <p:cNvPr id="58" name="Shape 54"/>
          <p:cNvSpPr/>
          <p:nvPr/>
        </p:nvSpPr>
        <p:spPr>
          <a:xfrm>
            <a:off x="438898" y="7632636"/>
            <a:ext cx="50400" cy="50400"/>
          </a:xfrm>
          <a:prstGeom prst="rect">
            <a:avLst/>
          </a:prstGeom>
          <a:solidFill>
            <a:srgbClr val="0066FF"/>
          </a:solidFill>
          <a:ln w="12700">
            <a:solidFill>
              <a:srgbClr val="333333"/>
            </a:solidFill>
            <a:prstDash val="solid"/>
          </a:ln>
        </p:spPr>
      </p:sp>
      <p:sp>
        <p:nvSpPr>
          <p:cNvPr id="59" name="Text 55"/>
          <p:cNvSpPr txBox="1"/>
          <p:nvPr/>
        </p:nvSpPr>
        <p:spPr>
          <a:xfrm>
            <a:off x="546898" y="7595670"/>
            <a:ext cx="6843755" cy="263296"/>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The name on the mark.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Documents say Tap That Brewery, the badge says Brewery &amp; Keghouse. Founders' call. Until it is made, never crop the badge.</a:t>
            </a:r>
            <a:endParaRPr lang="en-US" sz="730" dirty="0"/>
          </a:p>
        </p:txBody>
      </p:sp>
      <p:sp>
        <p:nvSpPr>
          <p:cNvPr id="60" name="Shape 56"/>
          <p:cNvSpPr/>
          <p:nvPr/>
        </p:nvSpPr>
        <p:spPr>
          <a:xfrm>
            <a:off x="438898" y="8598255"/>
            <a:ext cx="50400" cy="50400"/>
          </a:xfrm>
          <a:prstGeom prst="rect">
            <a:avLst/>
          </a:prstGeom>
          <a:solidFill>
            <a:srgbClr val="0066FF"/>
          </a:solidFill>
          <a:ln w="12700">
            <a:solidFill>
              <a:srgbClr val="333333"/>
            </a:solidFill>
            <a:prstDash val="solid"/>
          </a:ln>
        </p:spPr>
      </p:sp>
      <p:sp>
        <p:nvSpPr>
          <p:cNvPr id="61" name="Text 57"/>
          <p:cNvSpPr txBox="1"/>
          <p:nvPr/>
        </p:nvSpPr>
        <p:spPr>
          <a:xfrm>
            <a:off x="546898" y="8561289"/>
            <a:ext cx="6843755" cy="131648"/>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Two live membership posters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quote different prices. One has to be withdrawn.</a:t>
            </a:r>
            <a:endParaRPr lang="en-US" sz="730" dirty="0"/>
          </a:p>
        </p:txBody>
      </p:sp>
      <p:sp>
        <p:nvSpPr>
          <p:cNvPr id="62" name="Shape 58"/>
          <p:cNvSpPr/>
          <p:nvPr/>
        </p:nvSpPr>
        <p:spPr>
          <a:xfrm>
            <a:off x="438898" y="9432226"/>
            <a:ext cx="50400" cy="50400"/>
          </a:xfrm>
          <a:prstGeom prst="rect">
            <a:avLst/>
          </a:prstGeom>
          <a:solidFill>
            <a:srgbClr val="0066FF"/>
          </a:solidFill>
          <a:ln w="12700">
            <a:solidFill>
              <a:srgbClr val="333333"/>
            </a:solidFill>
            <a:prstDash val="solid"/>
          </a:ln>
        </p:spPr>
      </p:sp>
      <p:sp>
        <p:nvSpPr>
          <p:cNvPr id="63" name="Text 59"/>
          <p:cNvSpPr txBox="1"/>
          <p:nvPr/>
        </p:nvSpPr>
        <p:spPr>
          <a:xfrm>
            <a:off x="546898" y="9395260"/>
            <a:ext cx="6843755" cy="131648"/>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Source files.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Vector logos and font names are still outstanding, so the colour and type calls in the guidelines stay provisional.</a:t>
            </a:r>
            <a:endParaRPr lang="en-US" sz="730" dirty="0"/>
          </a:p>
        </p:txBody>
      </p:sp>
      <p:sp>
        <p:nvSpPr>
          <p:cNvPr id="64" name="Shape 60"/>
          <p:cNvSpPr/>
          <p:nvPr/>
        </p:nvSpPr>
        <p:spPr>
          <a:xfrm>
            <a:off x="438898" y="10266198"/>
            <a:ext cx="50400" cy="50400"/>
          </a:xfrm>
          <a:prstGeom prst="rect">
            <a:avLst/>
          </a:prstGeom>
          <a:solidFill>
            <a:srgbClr val="0066FF"/>
          </a:solidFill>
          <a:ln w="12700">
            <a:solidFill>
              <a:srgbClr val="333333"/>
            </a:solidFill>
            <a:prstDash val="solid"/>
          </a:ln>
        </p:spPr>
      </p:sp>
      <p:sp>
        <p:nvSpPr>
          <p:cNvPr id="65" name="Text 61"/>
          <p:cNvSpPr txBox="1"/>
          <p:nvPr/>
        </p:nvSpPr>
        <p:spPr>
          <a:xfrm>
            <a:off x="546898" y="10229231"/>
            <a:ext cx="6843755" cy="131648"/>
          </a:xfrm>
          <a:prstGeom prst="rect">
            <a:avLst/>
          </a:prstGeom>
          <a:noFill/>
          <a:ln/>
        </p:spPr>
        <p:txBody>
          <a:bodyPr wrap="square" lIns="0" tIns="0" rIns="0" bIns="0" rtlCol="0" anchor="t"/>
          <a:lstStyle/>
          <a:p>
            <a:pPr indent="0" marL="0">
              <a:lnSpc>
                <a:spcPts val="1037"/>
              </a:lnSpc>
              <a:buNone/>
            </a:pPr>
            <a:r>
              <a:rPr lang="en-US" sz="730" b="1" dirty="0">
                <a:solidFill>
                  <a:srgbClr val="0E171F"/>
                </a:solidFill>
                <a:latin typeface="Poppins" pitchFamily="34" charset="0"/>
                <a:ea typeface="Poppins" pitchFamily="34" charset="-122"/>
                <a:cs typeface="Poppins" pitchFamily="34" charset="-120"/>
              </a:rPr>
              <a:t>30 days, per Justin. </a:t>
            </a:r>
            <a:pPr indent="0" marL="0">
              <a:lnSpc>
                <a:spcPts val="1037"/>
              </a:lnSpc>
              <a:buNone/>
            </a:pPr>
            <a:r>
              <a:rPr lang="en-US" sz="730" dirty="0">
                <a:solidFill>
                  <a:srgbClr val="4A5565"/>
                </a:solidFill>
                <a:latin typeface="Poppins" pitchFamily="34" charset="0"/>
                <a:ea typeface="Poppins" pitchFamily="34" charset="-122"/>
                <a:cs typeface="Poppins" pitchFamily="34" charset="-120"/>
              </a:rPr>
              <a:t>Confirm key messaging for each target market, and get the customer journey mapped.</a:t>
            </a:r>
            <a:endParaRPr lang="en-US" sz="730" dirty="0"/>
          </a:p>
        </p:txBody>
      </p:sp>
      <p:sp>
        <p:nvSpPr>
          <p:cNvPr id="66" name="Shape 62"/>
          <p:cNvSpPr/>
          <p:nvPr/>
        </p:nvSpPr>
        <p:spPr>
          <a:xfrm>
            <a:off x="7613752" y="7310602"/>
            <a:ext cx="7182155" cy="3165478"/>
          </a:xfrm>
          <a:prstGeom prst="rect">
            <a:avLst/>
          </a:prstGeom>
          <a:solidFill>
            <a:srgbClr val="FFFFFF"/>
          </a:solidFill>
          <a:ln w="7620">
            <a:solidFill>
              <a:srgbClr val="E3E7EC"/>
            </a:solidFill>
            <a:prstDash val="solid"/>
          </a:ln>
        </p:spPr>
      </p:sp>
      <p:sp>
        <p:nvSpPr>
          <p:cNvPr id="67" name="Text 63"/>
          <p:cNvSpPr txBox="1"/>
          <p:nvPr/>
        </p:nvSpPr>
        <p:spPr>
          <a:xfrm>
            <a:off x="7728952" y="7425802"/>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VOICE, AND THE RULE THAT GOVERNS IT</a:t>
            </a:r>
            <a:endParaRPr lang="en-US" sz="680" dirty="0"/>
          </a:p>
        </p:txBody>
      </p:sp>
      <p:sp>
        <p:nvSpPr>
          <p:cNvPr id="68" name="Text 64"/>
          <p:cNvSpPr txBox="1"/>
          <p:nvPr/>
        </p:nvSpPr>
        <p:spPr>
          <a:xfrm>
            <a:off x="7728952" y="7595670"/>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Green leads, gold accents, never the reverse.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Bold condensed caps for headlines, a plain workhorse sans for reading. No scripts, no serifs.</a:t>
            </a:r>
            <a:endParaRPr lang="en-US" sz="810" dirty="0"/>
          </a:p>
        </p:txBody>
      </p:sp>
      <p:sp>
        <p:nvSpPr>
          <p:cNvPr id="69" name="Text 65"/>
          <p:cNvSpPr txBox="1"/>
          <p:nvPr/>
        </p:nvSpPr>
        <p:spPr>
          <a:xfrm>
            <a:off x="7728952" y="8069880"/>
            <a:ext cx="6951755"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registers.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Cheeky for names and moments, at exactly the level the trading name sets. Plain and generous for money, service and responsibility. Never crude beyond the name's own wink, never beer-snob, never discount-shouty. Justin's own register, be the envy of your friends, cashed-up tradies, sets the ceiling for how far the cheek goes.</a:t>
            </a:r>
            <a:endParaRPr lang="en-US" sz="810" dirty="0"/>
          </a:p>
        </p:txBody>
      </p:sp>
      <p:sp>
        <p:nvSpPr>
          <p:cNvPr id="70" name="Text 66"/>
          <p:cNvSpPr txBox="1"/>
          <p:nvPr/>
        </p:nvSpPr>
        <p:spPr>
          <a:xfrm>
            <a:off x="7728952" y="8698395"/>
            <a:ext cx="6951755"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Photography: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 real room, real customers, available light. Not stock, and not anything that could not have been taken at Burleigh Heads.</a:t>
            </a:r>
            <a:endParaRPr lang="en-US" sz="810" dirty="0"/>
          </a:p>
        </p:txBody>
      </p:sp>
      <p:sp>
        <p:nvSpPr>
          <p:cNvPr id="71" name="Shape 67"/>
          <p:cNvSpPr/>
          <p:nvPr/>
        </p:nvSpPr>
        <p:spPr>
          <a:xfrm>
            <a:off x="7728952" y="10183264"/>
            <a:ext cx="6951755" cy="0"/>
          </a:xfrm>
          <a:prstGeom prst="line">
            <a:avLst/>
          </a:prstGeom>
          <a:noFill/>
          <a:ln w="7620">
            <a:solidFill>
              <a:srgbClr val="E3E7EC"/>
            </a:solidFill>
            <a:prstDash val="solid"/>
          </a:ln>
        </p:spPr>
      </p:sp>
      <p:sp>
        <p:nvSpPr>
          <p:cNvPr id="72" name="Text 68"/>
          <p:cNvSpPr txBox="1"/>
          <p:nvPr/>
        </p:nvSpPr>
        <p:spPr>
          <a:xfrm>
            <a:off x="7728952" y="10240864"/>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The event flyers already built follow this. They are the reference for anything new.</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Sales and marketing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8246" y="365760"/>
            <a:ext cx="1165358"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8246" y="365760"/>
            <a:ext cx="1165358"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V02 · 16 SEPT 2026</a:t>
            </a:r>
            <a:endParaRPr lang="en-US" sz="650" dirty="0"/>
          </a:p>
        </p:txBody>
      </p:sp>
      <p:sp>
        <p:nvSpPr>
          <p:cNvPr id="7" name="Shape 3"/>
          <p:cNvSpPr/>
          <p:nvPr/>
        </p:nvSpPr>
        <p:spPr>
          <a:xfrm>
            <a:off x="11370203" y="365760"/>
            <a:ext cx="1218043"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370203" y="365760"/>
            <a:ext cx="1218043"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10256" y="365760"/>
            <a:ext cx="969947"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10256" y="365760"/>
            <a:ext cx="969947"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03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14472209" cy="2743414"/>
          </a:xfrm>
          <a:prstGeom prst="rect">
            <a:avLst/>
          </a:prstGeom>
          <a:solidFill>
            <a:srgbClr val="FFFFFF"/>
          </a:solidFill>
          <a:ln w="7620">
            <a:solidFill>
              <a:srgbClr val="E3E7EC"/>
            </a:solidFill>
            <a:prstDash val="solid"/>
          </a:ln>
        </p:spPr>
      </p:sp>
      <p:sp>
        <p:nvSpPr>
          <p:cNvPr id="13" name="Shape 9"/>
          <p:cNvSpPr/>
          <p:nvPr/>
        </p:nvSpPr>
        <p:spPr>
          <a:xfrm>
            <a:off x="323698" y="1115568"/>
            <a:ext cx="14472209"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BEFORE ANYTHING ELSE: CONNECT THE SYSTEM</a:t>
            </a:r>
            <a:endParaRPr lang="en-US" sz="680" dirty="0"/>
          </a:p>
        </p:txBody>
      </p:sp>
      <p:sp>
        <p:nvSpPr>
          <p:cNvPr id="15" name="Text 11"/>
          <p:cNvSpPr txBox="1"/>
          <p:nvPr/>
        </p:nvSpPr>
        <p:spPr>
          <a:xfrm>
            <a:off x="438898" y="1400636"/>
            <a:ext cx="14241809" cy="195275"/>
          </a:xfrm>
          <a:prstGeom prst="rect">
            <a:avLst/>
          </a:prstGeom>
          <a:noFill/>
          <a:ln/>
        </p:spPr>
        <p:txBody>
          <a:bodyPr wrap="square" lIns="0" tIns="0" rIns="0" bIns="0" rtlCol="0" anchor="t"/>
          <a:lstStyle/>
          <a:p>
            <a:pPr indent="0" marL="0">
              <a:lnSpc>
                <a:spcPts val="1538"/>
              </a:lnSpc>
              <a:buNone/>
            </a:pPr>
            <a:r>
              <a:rPr lang="en-US" sz="1240" b="1" dirty="0">
                <a:solidFill>
                  <a:srgbClr val="0E171F"/>
                </a:solidFill>
                <a:latin typeface="Poppins" pitchFamily="34" charset="0"/>
                <a:ea typeface="Poppins" pitchFamily="34" charset="-122"/>
                <a:cs typeface="Poppins" pitchFamily="34" charset="-120"/>
              </a:rPr>
              <a:t>Nothing talks to anything. Every campaign is set up to underperform before it launches.</a:t>
            </a:r>
            <a:endParaRPr lang="en-US" sz="1240" dirty="0"/>
          </a:p>
        </p:txBody>
      </p:sp>
      <p:sp>
        <p:nvSpPr>
          <p:cNvPr id="16" name="Shape 12"/>
          <p:cNvSpPr/>
          <p:nvPr/>
        </p:nvSpPr>
        <p:spPr>
          <a:xfrm>
            <a:off x="438898" y="1761511"/>
            <a:ext cx="2762042" cy="1739856"/>
          </a:xfrm>
          <a:prstGeom prst="rect">
            <a:avLst/>
          </a:prstGeom>
          <a:solidFill>
            <a:srgbClr val="F5F7FA"/>
          </a:solidFill>
          <a:ln w="7620">
            <a:solidFill>
              <a:srgbClr val="E3E7EC"/>
            </a:solidFill>
            <a:prstDash val="solid"/>
          </a:ln>
        </p:spPr>
      </p:sp>
      <p:sp>
        <p:nvSpPr>
          <p:cNvPr id="17" name="Shape 13"/>
          <p:cNvSpPr/>
          <p:nvPr/>
        </p:nvSpPr>
        <p:spPr>
          <a:xfrm>
            <a:off x="438898" y="1761511"/>
            <a:ext cx="2762042" cy="28800"/>
          </a:xfrm>
          <a:prstGeom prst="rect">
            <a:avLst/>
          </a:prstGeom>
          <a:solidFill>
            <a:srgbClr val="0066FF"/>
          </a:solidFill>
          <a:ln w="12700">
            <a:solidFill>
              <a:srgbClr val="333333"/>
            </a:solidFill>
            <a:prstDash val="solid"/>
          </a:ln>
        </p:spPr>
      </p:sp>
      <p:sp>
        <p:nvSpPr>
          <p:cNvPr id="18" name="Text 14"/>
          <p:cNvSpPr txBox="1"/>
          <p:nvPr/>
        </p:nvSpPr>
        <p:spPr>
          <a:xfrm>
            <a:off x="532498" y="185511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META ADS</a:t>
            </a:r>
            <a:endParaRPr lang="en-US" sz="660" dirty="0"/>
          </a:p>
        </p:txBody>
      </p:sp>
      <p:sp>
        <p:nvSpPr>
          <p:cNvPr id="19" name="Text 15"/>
          <p:cNvSpPr txBox="1"/>
          <p:nvPr/>
        </p:nvSpPr>
        <p:spPr>
          <a:xfrm>
            <a:off x="532498" y="2021677"/>
            <a:ext cx="2574842" cy="135331"/>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Working. Driving traffic and foot traffic already.</a:t>
            </a:r>
            <a:endParaRPr lang="en-US" sz="740" dirty="0"/>
          </a:p>
        </p:txBody>
      </p:sp>
      <p:sp>
        <p:nvSpPr>
          <p:cNvPr id="20" name="Text 16"/>
          <p:cNvSpPr txBox="1"/>
          <p:nvPr/>
        </p:nvSpPr>
        <p:spPr>
          <a:xfrm>
            <a:off x="532498" y="2221808"/>
            <a:ext cx="2574842" cy="270662"/>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Needs: somewhere to send the traffic.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Justin's 3-month item: a confirmed budget breakdown.</a:t>
            </a:r>
            <a:endParaRPr lang="en-US" sz="740" dirty="0"/>
          </a:p>
        </p:txBody>
      </p:sp>
      <p:sp>
        <p:nvSpPr>
          <p:cNvPr id="21" name="Shape 17"/>
          <p:cNvSpPr/>
          <p:nvPr/>
        </p:nvSpPr>
        <p:spPr>
          <a:xfrm>
            <a:off x="3308839" y="1761511"/>
            <a:ext cx="2762042" cy="1739856"/>
          </a:xfrm>
          <a:prstGeom prst="rect">
            <a:avLst/>
          </a:prstGeom>
          <a:solidFill>
            <a:srgbClr val="F5F7FA"/>
          </a:solidFill>
          <a:ln w="7620">
            <a:solidFill>
              <a:srgbClr val="E3E7EC"/>
            </a:solidFill>
            <a:prstDash val="solid"/>
          </a:ln>
        </p:spPr>
      </p:sp>
      <p:sp>
        <p:nvSpPr>
          <p:cNvPr id="22" name="Shape 18"/>
          <p:cNvSpPr/>
          <p:nvPr/>
        </p:nvSpPr>
        <p:spPr>
          <a:xfrm>
            <a:off x="3308839" y="1761511"/>
            <a:ext cx="2762042" cy="28800"/>
          </a:xfrm>
          <a:prstGeom prst="rect">
            <a:avLst/>
          </a:prstGeom>
          <a:solidFill>
            <a:srgbClr val="0066FF"/>
          </a:solidFill>
          <a:ln w="12700">
            <a:solidFill>
              <a:srgbClr val="333333"/>
            </a:solidFill>
            <a:prstDash val="solid"/>
          </a:ln>
        </p:spPr>
      </p:sp>
      <p:sp>
        <p:nvSpPr>
          <p:cNvPr id="23" name="Text 19"/>
          <p:cNvSpPr txBox="1"/>
          <p:nvPr/>
        </p:nvSpPr>
        <p:spPr>
          <a:xfrm>
            <a:off x="3402439" y="185511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WEBSITE + SEM</a:t>
            </a:r>
            <a:endParaRPr lang="en-US" sz="660" dirty="0"/>
          </a:p>
        </p:txBody>
      </p:sp>
      <p:sp>
        <p:nvSpPr>
          <p:cNvPr id="24" name="Text 20"/>
          <p:cNvSpPr txBox="1"/>
          <p:nvPr/>
        </p:nvSpPr>
        <p:spPr>
          <a:xfrm>
            <a:off x="3402439" y="202167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A brochure, not a conversion tool. No path to a system or a refill.</a:t>
            </a:r>
            <a:endParaRPr lang="en-US" sz="740" dirty="0"/>
          </a:p>
        </p:txBody>
      </p:sp>
      <p:sp>
        <p:nvSpPr>
          <p:cNvPr id="25" name="Text 21"/>
          <p:cNvSpPr txBox="1"/>
          <p:nvPr/>
        </p:nvSpPr>
        <p:spPr>
          <a:xfrm>
            <a:off x="3402439" y="2357140"/>
            <a:ext cx="2574842" cy="270662"/>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Justin's priority two, 3-month item: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website upgrade plus SEM, with a buy path, proof and an FAQ.</a:t>
            </a:r>
            <a:endParaRPr lang="en-US" sz="740" dirty="0"/>
          </a:p>
        </p:txBody>
      </p:sp>
      <p:sp>
        <p:nvSpPr>
          <p:cNvPr id="26" name="Shape 22"/>
          <p:cNvSpPr/>
          <p:nvPr/>
        </p:nvSpPr>
        <p:spPr>
          <a:xfrm>
            <a:off x="6178781" y="1761511"/>
            <a:ext cx="2762042" cy="1739856"/>
          </a:xfrm>
          <a:prstGeom prst="rect">
            <a:avLst/>
          </a:prstGeom>
          <a:solidFill>
            <a:srgbClr val="F5F7FA"/>
          </a:solidFill>
          <a:ln w="7620">
            <a:solidFill>
              <a:srgbClr val="E3E7EC"/>
            </a:solidFill>
            <a:prstDash val="solid"/>
          </a:ln>
        </p:spPr>
      </p:sp>
      <p:sp>
        <p:nvSpPr>
          <p:cNvPr id="27" name="Shape 23"/>
          <p:cNvSpPr/>
          <p:nvPr/>
        </p:nvSpPr>
        <p:spPr>
          <a:xfrm>
            <a:off x="6178781" y="1761511"/>
            <a:ext cx="2762042" cy="28800"/>
          </a:xfrm>
          <a:prstGeom prst="rect">
            <a:avLst/>
          </a:prstGeom>
          <a:solidFill>
            <a:srgbClr val="0066FF"/>
          </a:solidFill>
          <a:ln w="12700">
            <a:solidFill>
              <a:srgbClr val="333333"/>
            </a:solidFill>
            <a:prstDash val="solid"/>
          </a:ln>
        </p:spPr>
      </p:sp>
      <p:sp>
        <p:nvSpPr>
          <p:cNvPr id="28" name="Text 24"/>
          <p:cNvSpPr txBox="1"/>
          <p:nvPr/>
        </p:nvSpPr>
        <p:spPr>
          <a:xfrm>
            <a:off x="6272381" y="185511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POS AND INVENTORY</a:t>
            </a:r>
            <a:endParaRPr lang="en-US" sz="660" dirty="0"/>
          </a:p>
        </p:txBody>
      </p:sp>
      <p:sp>
        <p:nvSpPr>
          <p:cNvPr id="29" name="Text 25"/>
          <p:cNvSpPr txBox="1"/>
          <p:nvPr/>
        </p:nvSpPr>
        <p:spPr>
          <a:xfrm>
            <a:off x="6272381" y="202167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Sales happen here and never reach the customer record.</a:t>
            </a:r>
            <a:endParaRPr lang="en-US" sz="740" dirty="0"/>
          </a:p>
        </p:txBody>
      </p:sp>
      <p:sp>
        <p:nvSpPr>
          <p:cNvPr id="30" name="Text 26"/>
          <p:cNvSpPr txBox="1"/>
          <p:nvPr/>
        </p:nvSpPr>
        <p:spPr>
          <a:xfrm>
            <a:off x="6272381" y="2357140"/>
            <a:ext cx="2574842" cy="270662"/>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Justin's 3-month item: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transition to GoTab plus Fishbowl, writing back to the CRM.</a:t>
            </a:r>
            <a:endParaRPr lang="en-US" sz="740" dirty="0"/>
          </a:p>
        </p:txBody>
      </p:sp>
      <p:sp>
        <p:nvSpPr>
          <p:cNvPr id="31" name="Shape 27"/>
          <p:cNvSpPr/>
          <p:nvPr/>
        </p:nvSpPr>
        <p:spPr>
          <a:xfrm>
            <a:off x="9048722" y="1761511"/>
            <a:ext cx="2762042" cy="1739856"/>
          </a:xfrm>
          <a:prstGeom prst="rect">
            <a:avLst/>
          </a:prstGeom>
          <a:solidFill>
            <a:srgbClr val="F5F7FA"/>
          </a:solidFill>
          <a:ln w="7620">
            <a:solidFill>
              <a:srgbClr val="E3E7EC"/>
            </a:solidFill>
            <a:prstDash val="solid"/>
          </a:ln>
        </p:spPr>
      </p:sp>
      <p:sp>
        <p:nvSpPr>
          <p:cNvPr id="32" name="Shape 28"/>
          <p:cNvSpPr/>
          <p:nvPr/>
        </p:nvSpPr>
        <p:spPr>
          <a:xfrm>
            <a:off x="9048722" y="1761511"/>
            <a:ext cx="2762042" cy="28800"/>
          </a:xfrm>
          <a:prstGeom prst="rect">
            <a:avLst/>
          </a:prstGeom>
          <a:solidFill>
            <a:srgbClr val="0066FF"/>
          </a:solidFill>
          <a:ln w="12700">
            <a:solidFill>
              <a:srgbClr val="333333"/>
            </a:solidFill>
            <a:prstDash val="solid"/>
          </a:ln>
        </p:spPr>
      </p:sp>
      <p:sp>
        <p:nvSpPr>
          <p:cNvPr id="33" name="Text 29"/>
          <p:cNvSpPr txBox="1"/>
          <p:nvPr/>
        </p:nvSpPr>
        <p:spPr>
          <a:xfrm>
            <a:off x="9142322" y="185511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CRM</a:t>
            </a:r>
            <a:endParaRPr lang="en-US" sz="660" dirty="0"/>
          </a:p>
        </p:txBody>
      </p:sp>
      <p:sp>
        <p:nvSpPr>
          <p:cNvPr id="34" name="Text 30"/>
          <p:cNvSpPr txBox="1"/>
          <p:nvPr/>
        </p:nvSpPr>
        <p:spPr>
          <a:xfrm>
            <a:off x="9142322" y="202167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Partly built, stalled. Blanket 90-day SMS is the only automation.</a:t>
            </a:r>
            <a:endParaRPr lang="en-US" sz="740" dirty="0"/>
          </a:p>
        </p:txBody>
      </p:sp>
      <p:sp>
        <p:nvSpPr>
          <p:cNvPr id="35" name="Text 31"/>
          <p:cNvSpPr txBox="1"/>
          <p:nvPr/>
        </p:nvSpPr>
        <p:spPr>
          <a:xfrm>
            <a:off x="9142322" y="2357140"/>
            <a:ext cx="2574842" cy="405994"/>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Needs: consumption triggers and segments.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Justin's 3-month item: a system for re-engaging lapsed keg customers.</a:t>
            </a:r>
            <a:endParaRPr lang="en-US" sz="740" dirty="0"/>
          </a:p>
        </p:txBody>
      </p:sp>
      <p:sp>
        <p:nvSpPr>
          <p:cNvPr id="36" name="Shape 32"/>
          <p:cNvSpPr/>
          <p:nvPr/>
        </p:nvSpPr>
        <p:spPr>
          <a:xfrm>
            <a:off x="11918664" y="1761511"/>
            <a:ext cx="2762042" cy="1739856"/>
          </a:xfrm>
          <a:prstGeom prst="rect">
            <a:avLst/>
          </a:prstGeom>
          <a:solidFill>
            <a:srgbClr val="F5F7FA"/>
          </a:solidFill>
          <a:ln w="7620">
            <a:solidFill>
              <a:srgbClr val="E3E7EC"/>
            </a:solidFill>
            <a:prstDash val="solid"/>
          </a:ln>
        </p:spPr>
      </p:sp>
      <p:sp>
        <p:nvSpPr>
          <p:cNvPr id="37" name="Shape 33"/>
          <p:cNvSpPr/>
          <p:nvPr/>
        </p:nvSpPr>
        <p:spPr>
          <a:xfrm>
            <a:off x="11918664" y="1761511"/>
            <a:ext cx="2762042" cy="28800"/>
          </a:xfrm>
          <a:prstGeom prst="rect">
            <a:avLst/>
          </a:prstGeom>
          <a:solidFill>
            <a:srgbClr val="0066FF"/>
          </a:solidFill>
          <a:ln w="12700">
            <a:solidFill>
              <a:srgbClr val="333333"/>
            </a:solidFill>
            <a:prstDash val="solid"/>
          </a:ln>
        </p:spPr>
      </p:sp>
      <p:sp>
        <p:nvSpPr>
          <p:cNvPr id="38" name="Text 34"/>
          <p:cNvSpPr txBox="1"/>
          <p:nvPr/>
        </p:nvSpPr>
        <p:spPr>
          <a:xfrm>
            <a:off x="12012264" y="1855111"/>
            <a:ext cx="2574842" cy="108966"/>
          </a:xfrm>
          <a:prstGeom prst="rect">
            <a:avLst/>
          </a:prstGeom>
          <a:noFill/>
          <a:ln/>
        </p:spPr>
        <p:txBody>
          <a:bodyPr wrap="square" lIns="0" tIns="0" rIns="0" bIns="0" rtlCol="0" anchor="t"/>
          <a:lstStyle/>
          <a:p>
            <a:pPr indent="0" marL="0">
              <a:lnSpc>
                <a:spcPts val="858"/>
              </a:lnSpc>
              <a:buNone/>
            </a:pPr>
            <a:r>
              <a:rPr lang="en-US" sz="660" b="1" spc="66" kern="0" dirty="0">
                <a:solidFill>
                  <a:srgbClr val="0E171F"/>
                </a:solidFill>
                <a:latin typeface="Poppins" pitchFamily="34" charset="0"/>
                <a:ea typeface="Poppins" pitchFamily="34" charset="-122"/>
                <a:cs typeface="Poppins" pitchFamily="34" charset="-120"/>
              </a:rPr>
              <a:t>ONLINE STORE</a:t>
            </a:r>
            <a:endParaRPr lang="en-US" sz="660" dirty="0"/>
          </a:p>
        </p:txBody>
      </p:sp>
      <p:sp>
        <p:nvSpPr>
          <p:cNvPr id="39" name="Text 35"/>
          <p:cNvSpPr txBox="1"/>
          <p:nvPr/>
        </p:nvSpPr>
        <p:spPr>
          <a:xfrm>
            <a:off x="12012264" y="2021677"/>
            <a:ext cx="2574842" cy="270662"/>
          </a:xfrm>
          <a:prstGeom prst="rect">
            <a:avLst/>
          </a:prstGeom>
          <a:noFill/>
          <a:ln/>
        </p:spPr>
        <p:txBody>
          <a:bodyPr wrap="square" lIns="0" tIns="0" rIns="0" bIns="0" rtlCol="0" anchor="t"/>
          <a:lstStyle/>
          <a:p>
            <a:pPr indent="0" marL="0">
              <a:lnSpc>
                <a:spcPts val="1066"/>
              </a:lnSpc>
              <a:buNone/>
            </a:pPr>
            <a:r>
              <a:rPr lang="en-US" sz="740" dirty="0">
                <a:solidFill>
                  <a:srgbClr val="4A5565"/>
                </a:solidFill>
                <a:latin typeface="Poppins" pitchFamily="34" charset="0"/>
                <a:ea typeface="Poppins" pitchFamily="34" charset="-122"/>
                <a:cs typeface="Poppins" pitchFamily="34" charset="-120"/>
              </a:rPr>
              <a:t>Partly built, stalled. Cannot support the offers this plan needs.</a:t>
            </a:r>
            <a:endParaRPr lang="en-US" sz="740" dirty="0"/>
          </a:p>
        </p:txBody>
      </p:sp>
      <p:sp>
        <p:nvSpPr>
          <p:cNvPr id="40" name="Text 36"/>
          <p:cNvSpPr txBox="1"/>
          <p:nvPr/>
        </p:nvSpPr>
        <p:spPr>
          <a:xfrm>
            <a:off x="12012264" y="2357140"/>
            <a:ext cx="2574842" cy="405994"/>
          </a:xfrm>
          <a:prstGeom prst="rect">
            <a:avLst/>
          </a:prstGeom>
          <a:noFill/>
          <a:ln/>
        </p:spPr>
        <p:txBody>
          <a:bodyPr wrap="square" lIns="0" tIns="0" rIns="0" bIns="0" rtlCol="0" anchor="t"/>
          <a:lstStyle/>
          <a:p>
            <a:pPr indent="0" marL="0">
              <a:lnSpc>
                <a:spcPts val="1066"/>
              </a:lnSpc>
              <a:buNone/>
            </a:pPr>
            <a:r>
              <a:rPr lang="en-US" sz="740" b="1" dirty="0">
                <a:solidFill>
                  <a:srgbClr val="0E171F"/>
                </a:solidFill>
                <a:latin typeface="Poppins" pitchFamily="34" charset="0"/>
                <a:ea typeface="Poppins" pitchFamily="34" charset="-122"/>
                <a:cs typeface="Poppins" pitchFamily="34" charset="-120"/>
              </a:rPr>
              <a:t>Must support at launch: </a:t>
            </a:r>
            <a:pPr indent="0" marL="0">
              <a:lnSpc>
                <a:spcPts val="1066"/>
              </a:lnSpc>
              <a:buNone/>
            </a:pPr>
            <a:r>
              <a:rPr lang="en-US" sz="740" dirty="0">
                <a:solidFill>
                  <a:srgbClr val="4A5565"/>
                </a:solidFill>
                <a:latin typeface="Poppins" pitchFamily="34" charset="0"/>
                <a:ea typeface="Poppins" pitchFamily="34" charset="-122"/>
                <a:cs typeface="Poppins" pitchFamily="34" charset="-120"/>
              </a:rPr>
              <a:t>memberships, vouchers, delivery, lease-to-buy systems and the keg delivery service.</a:t>
            </a:r>
            <a:endParaRPr lang="en-US" sz="740" dirty="0"/>
          </a:p>
        </p:txBody>
      </p:sp>
      <p:sp>
        <p:nvSpPr>
          <p:cNvPr id="41" name="Shape 37"/>
          <p:cNvSpPr/>
          <p:nvPr/>
        </p:nvSpPr>
        <p:spPr>
          <a:xfrm>
            <a:off x="438898" y="3566167"/>
            <a:ext cx="14241809" cy="0"/>
          </a:xfrm>
          <a:prstGeom prst="line">
            <a:avLst/>
          </a:prstGeom>
          <a:noFill/>
          <a:ln w="7620">
            <a:solidFill>
              <a:srgbClr val="E3E7EC"/>
            </a:solidFill>
            <a:prstDash val="solid"/>
          </a:ln>
        </p:spPr>
      </p:sp>
      <p:sp>
        <p:nvSpPr>
          <p:cNvPr id="42" name="Text 38"/>
          <p:cNvSpPr txBox="1"/>
          <p:nvPr/>
        </p:nvSpPr>
        <p:spPr>
          <a:xfrm>
            <a:off x="438898" y="3623767"/>
            <a:ext cx="14241809"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This is the first fix. Spending more on ads before it is fixed buys traffic the business cannot catch.</a:t>
            </a:r>
            <a:endParaRPr lang="en-US" sz="700" dirty="0"/>
          </a:p>
        </p:txBody>
      </p:sp>
      <p:sp>
        <p:nvSpPr>
          <p:cNvPr id="43" name="Shape 39"/>
          <p:cNvSpPr/>
          <p:nvPr/>
        </p:nvSpPr>
        <p:spPr>
          <a:xfrm>
            <a:off x="323698" y="3966881"/>
            <a:ext cx="7182155" cy="3429267"/>
          </a:xfrm>
          <a:prstGeom prst="rect">
            <a:avLst/>
          </a:prstGeom>
          <a:solidFill>
            <a:srgbClr val="FFFFFF"/>
          </a:solidFill>
          <a:ln w="7620">
            <a:solidFill>
              <a:srgbClr val="E3E7EC"/>
            </a:solidFill>
            <a:prstDash val="solid"/>
          </a:ln>
        </p:spPr>
      </p:sp>
      <p:sp>
        <p:nvSpPr>
          <p:cNvPr id="44" name="Text 40"/>
          <p:cNvSpPr txBox="1"/>
          <p:nvPr/>
        </p:nvSpPr>
        <p:spPr>
          <a:xfrm>
            <a:off x="438898" y="4082081"/>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WE ARE TALKING TO, AND WHAT CHANGES</a:t>
            </a:r>
            <a:endParaRPr lang="en-US" sz="68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38898" y="4251949"/>
          <a:ext cx="11339703" cy="914400"/>
        </p:xfrm>
        <a:graphic>
          <a:graphicData uri="http://schemas.openxmlformats.org/drawingml/2006/table">
            <a:tbl>
              <a:tblPr/>
              <a:tblGrid>
                <a:gridCol w="3475877"/>
                <a:gridCol w="3475877"/>
              </a:tblGrid>
              <a:tr h="332616">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Segment</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message</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51641">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Residential vs commercial</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Justin's 30-day call: where the energy goes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469090">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Household segments</a:t>
                      </a:r>
                      <a:endParaRPr lang="en-US" sz="680" dirty="0">
                        <a:latin typeface="Poppins" charset="0"/>
                        <a:ea typeface="Poppins" charset="0"/>
                        <a:cs typeface="Poppins" charset="0"/>
                      </a:endParaRPr>
                    </a:p>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Sharehouses, DINKs, young families, boomers, high-volume drinkers, tradies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Catching up with friends made easy. $2.55 a schooner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469090">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Owns a system, bought elsewhere</a:t>
                      </a:r>
                      <a:endParaRPr lang="en-US" sz="680" dirty="0">
                        <a:latin typeface="Poppins" charset="0"/>
                        <a:ea typeface="Poppins" charset="0"/>
                        <a:cs typeface="Poppins" charset="0"/>
                      </a:endParaRPr>
                    </a:p>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56% of refill customers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You already have the hardware. We are the beer. First keg on us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51641">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Lapsed, forgot</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Consumption-triggered reminder, free delivery, one tap to reorder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51641">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Lapsed, cutting back</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Low, non-alcoholic, low-carb. A healthier option, not less beer</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51641">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Never owned a system</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Cost per schooner against the pub. No CO2. Try it at a party first</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351641">
                <a:tc>
                  <a:txBody>
                    <a:bodyPr/>
                    <a:lstStyle/>
                    <a:p>
                      <a:pPr algn="l" indent="0" marL="0">
                        <a:lnSpc>
                          <a:spcPts val="925"/>
                        </a:lnSpc>
                        <a:buNone/>
                      </a:pPr>
                      <a:r>
                        <a:rPr lang="en-US" sz="680" b="1" dirty="0">
                          <a:solidFill>
                            <a:srgbClr val="0E171F"/>
                          </a:solidFill>
                          <a:latin typeface="Poppins" pitchFamily="34" charset="0"/>
                          <a:ea typeface="Poppins" pitchFamily="34" charset="-122"/>
                          <a:cs typeface="Poppins" pitchFamily="34" charset="-120"/>
                        </a:rPr>
                        <a:t>Venues and clubs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925"/>
                        </a:lnSpc>
                        <a:buNone/>
                      </a:pPr>
                      <a:r>
                        <a:rPr lang="en-US" sz="680" dirty="0">
                          <a:solidFill>
                            <a:srgbClr val="4A5565"/>
                          </a:solidFill>
                          <a:latin typeface="Poppins" pitchFamily="34" charset="0"/>
                          <a:ea typeface="Poppins" pitchFamily="34" charset="-122"/>
                          <a:cs typeface="Poppins" pitchFamily="34" charset="-120"/>
                        </a:rPr>
                        <a:t>Margin, exclusivity, club-branded kegs, season guarantees</a:t>
                      </a:r>
                      <a:endParaRPr lang="en-US" sz="68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46" name="Shape 41"/>
          <p:cNvSpPr/>
          <p:nvPr/>
        </p:nvSpPr>
        <p:spPr>
          <a:xfrm>
            <a:off x="7613752" y="3966881"/>
            <a:ext cx="7182155" cy="3429267"/>
          </a:xfrm>
          <a:prstGeom prst="rect">
            <a:avLst/>
          </a:prstGeom>
          <a:solidFill>
            <a:srgbClr val="FFFFFF"/>
          </a:solidFill>
          <a:ln w="7620">
            <a:solidFill>
              <a:srgbClr val="E3E7EC"/>
            </a:solidFill>
            <a:prstDash val="solid"/>
          </a:ln>
        </p:spPr>
      </p:sp>
      <p:sp>
        <p:nvSpPr>
          <p:cNvPr id="47" name="Text 42"/>
          <p:cNvSpPr txBox="1"/>
          <p:nvPr/>
        </p:nvSpPr>
        <p:spPr>
          <a:xfrm>
            <a:off x="7728952" y="4082081"/>
            <a:ext cx="6951755"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TWO HIGHEST-RETURN MOVES</a:t>
            </a:r>
            <a:endParaRPr lang="en-US" sz="680" dirty="0"/>
          </a:p>
        </p:txBody>
      </p:sp>
      <p:sp>
        <p:nvSpPr>
          <p:cNvPr id="48" name="Text 43"/>
          <p:cNvSpPr txBox="1"/>
          <p:nvPr/>
        </p:nvSpPr>
        <p:spPr>
          <a:xfrm>
            <a:off x="7728952" y="4251949"/>
            <a:ext cx="6951755"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01 · Convert the owners who are already sold.</a:t>
            </a:r>
            <a:endParaRPr lang="en-US" sz="860" dirty="0"/>
          </a:p>
        </p:txBody>
      </p:sp>
      <p:sp>
        <p:nvSpPr>
          <p:cNvPr id="49" name="Text 44"/>
          <p:cNvSpPr txBox="1"/>
          <p:nvPr/>
        </p:nvSpPr>
        <p:spPr>
          <a:xfrm>
            <a:off x="7728952" y="4485456"/>
            <a:ext cx="6951755"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priority one, with a 3-month item: a strategy to transition every existing keg system owner onto Tap That refills. Voucher tied to Harvey Norman sales, the Kegland and corny keg databases, and Benchy. Bunnings-installer model: they sell hardware, we are named first call.</a:t>
            </a:r>
            <a:endParaRPr lang="en-US" sz="810" dirty="0"/>
          </a:p>
        </p:txBody>
      </p:sp>
      <p:sp>
        <p:nvSpPr>
          <p:cNvPr id="50" name="Text 45"/>
          <p:cNvSpPr txBox="1"/>
          <p:nvPr/>
        </p:nvSpPr>
        <p:spPr>
          <a:xfrm>
            <a:off x="7728952" y="5031155"/>
            <a:ext cx="6951755"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02 · Take the friction out of reordering.</a:t>
            </a:r>
            <a:endParaRPr lang="en-US" sz="860" dirty="0"/>
          </a:p>
        </p:txBody>
      </p:sp>
      <p:sp>
        <p:nvSpPr>
          <p:cNvPr id="51" name="Text 46"/>
          <p:cNvSpPr txBox="1"/>
          <p:nvPr/>
        </p:nvSpPr>
        <p:spPr>
          <a:xfrm>
            <a:off x="7728952" y="5264662"/>
            <a:ext cx="695175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Free delivery and consumption-triggered reminders replace the 90-day SMS. Justin's launch items: lease-to-buy systems and a keg delivery service.</a:t>
            </a:r>
            <a:endParaRPr lang="en-US" sz="810" dirty="0"/>
          </a:p>
        </p:txBody>
      </p:sp>
      <p:sp>
        <p:nvSpPr>
          <p:cNvPr id="52" name="Text 47"/>
          <p:cNvSpPr txBox="1"/>
          <p:nvPr/>
        </p:nvSpPr>
        <p:spPr>
          <a:xfrm>
            <a:off x="7728952" y="5656056"/>
            <a:ext cx="6951755"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03 · Split the lapsed list in two.</a:t>
            </a:r>
            <a:endParaRPr lang="en-US" sz="860" dirty="0"/>
          </a:p>
        </p:txBody>
      </p:sp>
      <p:sp>
        <p:nvSpPr>
          <p:cNvPr id="53" name="Text 48"/>
          <p:cNvSpPr txBox="1"/>
          <p:nvPr/>
        </p:nvSpPr>
        <p:spPr>
          <a:xfrm>
            <a:off x="7728952" y="5889563"/>
            <a:ext cx="695175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Some are cutting back, needing the low and non-alcoholic range; some just forgot, needing one tap to reorder. </a:t>
            </a:r>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split is not established.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3-month item: a re-engagement system for lapsed customers.</a:t>
            </a:r>
            <a:endParaRPr lang="en-US" sz="810" dirty="0"/>
          </a:p>
        </p:txBody>
      </p:sp>
      <p:sp>
        <p:nvSpPr>
          <p:cNvPr id="54" name="Text 49"/>
          <p:cNvSpPr txBox="1"/>
          <p:nvPr/>
        </p:nvSpPr>
        <p:spPr>
          <a:xfrm>
            <a:off x="7728952" y="6280956"/>
            <a:ext cx="6951755" cy="150724"/>
          </a:xfrm>
          <a:prstGeom prst="rect">
            <a:avLst/>
          </a:prstGeom>
          <a:noFill/>
          <a:ln/>
        </p:spPr>
        <p:txBody>
          <a:bodyPr wrap="square" lIns="0" tIns="0" rIns="0" bIns="0" rtlCol="0" anchor="t"/>
          <a:lstStyle/>
          <a:p>
            <a:pPr indent="0" marL="0">
              <a:lnSpc>
                <a:spcPts val="1187"/>
              </a:lnSpc>
              <a:buNone/>
            </a:pPr>
            <a:r>
              <a:rPr lang="en-US" sz="860" b="1" dirty="0">
                <a:solidFill>
                  <a:srgbClr val="0E171F"/>
                </a:solidFill>
                <a:latin typeface="Poppins" pitchFamily="34" charset="0"/>
                <a:ea typeface="Poppins" pitchFamily="34" charset="-122"/>
                <a:cs typeface="Poppins" pitchFamily="34" charset="-120"/>
              </a:rPr>
              <a:t>04 · Referrals, JVPs and online drive system sales.</a:t>
            </a:r>
            <a:endParaRPr lang="en-US" sz="860" dirty="0"/>
          </a:p>
        </p:txBody>
      </p:sp>
      <p:sp>
        <p:nvSpPr>
          <p:cNvPr id="55" name="Text 50"/>
          <p:cNvSpPr txBox="1"/>
          <p:nvPr/>
        </p:nvSpPr>
        <p:spPr>
          <a:xfrm>
            <a:off x="7728952" y="6514464"/>
            <a:ext cx="6951755"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priority three and one-year marker for most keg sales. 3-month items: referral programme and Bring a Mate live; JVP/referral list built, outreach started; UGC/ambassador content (Kurt, Troy, Mitch, Aden, Ash) ready.</a:t>
            </a:r>
            <a:endParaRPr lang="en-US" sz="810" dirty="0"/>
          </a:p>
        </p:txBody>
      </p:sp>
      <p:sp>
        <p:nvSpPr>
          <p:cNvPr id="56" name="Shape 51"/>
          <p:cNvSpPr/>
          <p:nvPr/>
        </p:nvSpPr>
        <p:spPr>
          <a:xfrm>
            <a:off x="7728952" y="7103333"/>
            <a:ext cx="6951755" cy="0"/>
          </a:xfrm>
          <a:prstGeom prst="line">
            <a:avLst/>
          </a:prstGeom>
          <a:noFill/>
          <a:ln w="7620">
            <a:solidFill>
              <a:srgbClr val="E3E7EC"/>
            </a:solidFill>
            <a:prstDash val="solid"/>
          </a:ln>
        </p:spPr>
      </p:sp>
      <p:sp>
        <p:nvSpPr>
          <p:cNvPr id="57" name="Text 52"/>
          <p:cNvSpPr txBox="1"/>
          <p:nvPr/>
        </p:nvSpPr>
        <p:spPr>
          <a:xfrm>
            <a:off x="7728952" y="7160933"/>
            <a:ext cx="6951755"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JP holds Harvey Norman franchisee contacts, plus a contact with 20,000-plus installs across Harvey Norman, JB Hi-Fi and Good Guys.</a:t>
            </a:r>
            <a:endParaRPr lang="en-US" sz="700" dirty="0"/>
          </a:p>
        </p:txBody>
      </p:sp>
      <p:sp>
        <p:nvSpPr>
          <p:cNvPr id="58" name="Shape 53"/>
          <p:cNvSpPr/>
          <p:nvPr/>
        </p:nvSpPr>
        <p:spPr>
          <a:xfrm>
            <a:off x="323698" y="7504048"/>
            <a:ext cx="4752137" cy="2972032"/>
          </a:xfrm>
          <a:prstGeom prst="rect">
            <a:avLst/>
          </a:prstGeom>
          <a:solidFill>
            <a:srgbClr val="FFFFFF"/>
          </a:solidFill>
          <a:ln w="7620">
            <a:solidFill>
              <a:srgbClr val="E3E7EC"/>
            </a:solidFill>
            <a:prstDash val="solid"/>
          </a:ln>
        </p:spPr>
      </p:sp>
      <p:sp>
        <p:nvSpPr>
          <p:cNvPr id="59" name="Text 54"/>
          <p:cNvSpPr txBox="1"/>
          <p:nvPr/>
        </p:nvSpPr>
        <p:spPr>
          <a:xfrm>
            <a:off x="438898" y="7619248"/>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WHOLESALE AS A FUNCTION</a:t>
            </a:r>
            <a:endParaRPr lang="en-US" sz="680" dirty="0"/>
          </a:p>
        </p:txBody>
      </p:sp>
      <p:sp>
        <p:nvSpPr>
          <p:cNvPr id="60" name="Text 55"/>
          <p:cNvSpPr txBox="1"/>
          <p:nvPr/>
        </p:nvSpPr>
        <p:spPr>
          <a:xfrm>
            <a:off x="438898" y="7789116"/>
            <a:ext cx="4521737" cy="462915"/>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Bars have approached Tap That and it still has not converted. That is not a demand problem, it is the absence of follow-up and sales experience. Justin's priority five, with a 3-month item: outreach to event venues and niched venues.</a:t>
            </a:r>
            <a:endParaRPr lang="en-US" sz="810" dirty="0"/>
          </a:p>
        </p:txBody>
      </p:sp>
      <p:sp>
        <p:nvSpPr>
          <p:cNvPr id="61" name="Text 56"/>
          <p:cNvSpPr txBox="1"/>
          <p:nvPr/>
        </p:nvSpPr>
        <p:spPr>
          <a:xfrm>
            <a:off x="438898" y="8332218"/>
            <a:ext cx="4521737" cy="77152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Stand it up properly: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full-timer or a commissioned agent, targets and KPIs, a pipeline in the CRM rather than in someone's head. The room put it at about twelve touch points before a venue buys beer, and Tap That has the first one and almost none of the eleven after it. The next hire is undecided between a brewer and wholesale plus bar coverage, hybrid either way.</a:t>
            </a:r>
            <a:endParaRPr lang="en-US" sz="810" dirty="0"/>
          </a:p>
        </p:txBody>
      </p:sp>
      <p:sp>
        <p:nvSpPr>
          <p:cNvPr id="62" name="Text 57"/>
          <p:cNvSpPr txBox="1"/>
          <p:nvPr/>
        </p:nvSpPr>
        <p:spPr>
          <a:xfrm>
            <a:off x="438898" y="9183931"/>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Then go after the shape of it: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custom systems for sporting clubs, club-branded kegs, minimum guarantees per season, and moving rigs from footy to cricket so they earn year-round.</a:t>
            </a:r>
            <a:endParaRPr lang="en-US" sz="810" dirty="0"/>
          </a:p>
        </p:txBody>
      </p:sp>
      <p:sp>
        <p:nvSpPr>
          <p:cNvPr id="63" name="Text 58"/>
          <p:cNvSpPr txBox="1"/>
          <p:nvPr/>
        </p:nvSpPr>
        <p:spPr>
          <a:xfrm>
            <a:off x="438898" y="9727033"/>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And work around the duopoly.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Lock-in is not satisfaction, and venues are already forming buying groups to get around it.</a:t>
            </a:r>
            <a:endParaRPr lang="en-US" sz="810" dirty="0"/>
          </a:p>
        </p:txBody>
      </p:sp>
      <p:sp>
        <p:nvSpPr>
          <p:cNvPr id="64" name="Shape 59"/>
          <p:cNvSpPr/>
          <p:nvPr/>
        </p:nvSpPr>
        <p:spPr>
          <a:xfrm>
            <a:off x="438898" y="10183264"/>
            <a:ext cx="4521737" cy="0"/>
          </a:xfrm>
          <a:prstGeom prst="line">
            <a:avLst/>
          </a:prstGeom>
          <a:noFill/>
          <a:ln w="7620">
            <a:solidFill>
              <a:srgbClr val="E3E7EC"/>
            </a:solidFill>
            <a:prstDash val="solid"/>
          </a:ln>
        </p:spPr>
      </p:sp>
      <p:sp>
        <p:nvSpPr>
          <p:cNvPr id="65" name="Text 60"/>
          <p:cNvSpPr txBox="1"/>
          <p:nvPr/>
        </p:nvSpPr>
        <p:spPr>
          <a:xfrm>
            <a:off x="438898"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One account is worth about ten households. This is where the return is.</a:t>
            </a:r>
            <a:endParaRPr lang="en-US" sz="700" dirty="0"/>
          </a:p>
        </p:txBody>
      </p:sp>
      <p:sp>
        <p:nvSpPr>
          <p:cNvPr id="66" name="Shape 61"/>
          <p:cNvSpPr/>
          <p:nvPr/>
        </p:nvSpPr>
        <p:spPr>
          <a:xfrm>
            <a:off x="5183734" y="7504048"/>
            <a:ext cx="4752137" cy="2972032"/>
          </a:xfrm>
          <a:prstGeom prst="rect">
            <a:avLst/>
          </a:prstGeom>
          <a:solidFill>
            <a:srgbClr val="FFFFFF"/>
          </a:solidFill>
          <a:ln w="7620">
            <a:solidFill>
              <a:srgbClr val="E3E7EC"/>
            </a:solidFill>
            <a:prstDash val="solid"/>
          </a:ln>
        </p:spPr>
      </p:sp>
      <p:sp>
        <p:nvSpPr>
          <p:cNvPr id="67" name="Text 62"/>
          <p:cNvSpPr txBox="1"/>
          <p:nvPr/>
        </p:nvSpPr>
        <p:spPr>
          <a:xfrm>
            <a:off x="5298934" y="7619248"/>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FOUND BY PEOPLE, AND BY MACHINES</a:t>
            </a:r>
            <a:endParaRPr lang="en-US" sz="680" dirty="0"/>
          </a:p>
        </p:txBody>
      </p:sp>
      <p:sp>
        <p:nvSpPr>
          <p:cNvPr id="68" name="Text 63"/>
          <p:cNvSpPr txBox="1"/>
          <p:nvPr/>
        </p:nvSpPr>
        <p:spPr>
          <a:xfrm>
            <a:off x="5298934" y="7789116"/>
            <a:ext cx="452173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Within six to twelve months a large share of web traffic will expect an answer from AI search rather than a list of links. The site has to be readable by both.</a:t>
            </a:r>
            <a:endParaRPr lang="en-US" sz="810" dirty="0"/>
          </a:p>
        </p:txBody>
      </p:sp>
      <p:sp>
        <p:nvSpPr>
          <p:cNvPr id="69" name="Text 64"/>
          <p:cNvSpPr txBox="1"/>
          <p:nvPr/>
        </p:nvSpPr>
        <p:spPr>
          <a:xfrm>
            <a:off x="5298934" y="8263326"/>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 basics that are missing: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real About page, an FAQ that answers the buying objections, reviews on the site, and the awards page the Crafted win deserves. Justin's tech item, SEM, runs alongside these GEO basics, not instead of them.</a:t>
            </a:r>
            <a:endParaRPr lang="en-US" sz="810" dirty="0"/>
          </a:p>
        </p:txBody>
      </p:sp>
      <p:sp>
        <p:nvSpPr>
          <p:cNvPr id="70" name="Text 65"/>
          <p:cNvSpPr txBox="1"/>
          <p:nvPr/>
        </p:nvSpPr>
        <p:spPr>
          <a:xfrm>
            <a:off x="5298934" y="889184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Reviews are the cheapest asset here.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They exist, they are strong, and they sit on platforms rather than on the site where a model can read them.</a:t>
            </a:r>
            <a:endParaRPr lang="en-US" sz="810" dirty="0"/>
          </a:p>
        </p:txBody>
      </p:sp>
      <p:sp>
        <p:nvSpPr>
          <p:cNvPr id="71" name="Text 66"/>
          <p:cNvSpPr txBox="1"/>
          <p:nvPr/>
        </p:nvSpPr>
        <p:spPr>
          <a:xfrm>
            <a:off x="5298934" y="936605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Then the category play: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nobody owns beer at home on the Gold Coast in search. Owning it is cheaper now than it will ever be again.</a:t>
            </a:r>
            <a:endParaRPr lang="en-US" sz="810" dirty="0"/>
          </a:p>
        </p:txBody>
      </p:sp>
      <p:sp>
        <p:nvSpPr>
          <p:cNvPr id="72" name="Shape 67"/>
          <p:cNvSpPr/>
          <p:nvPr/>
        </p:nvSpPr>
        <p:spPr>
          <a:xfrm>
            <a:off x="10043770" y="7504048"/>
            <a:ext cx="4752137" cy="2972032"/>
          </a:xfrm>
          <a:prstGeom prst="rect">
            <a:avLst/>
          </a:prstGeom>
          <a:solidFill>
            <a:srgbClr val="FFFFFF"/>
          </a:solidFill>
          <a:ln w="7620">
            <a:solidFill>
              <a:srgbClr val="E3E7EC"/>
            </a:solidFill>
            <a:prstDash val="solid"/>
          </a:ln>
        </p:spPr>
      </p:sp>
      <p:sp>
        <p:nvSpPr>
          <p:cNvPr id="73" name="Text 68"/>
          <p:cNvSpPr txBox="1"/>
          <p:nvPr/>
        </p:nvSpPr>
        <p:spPr>
          <a:xfrm>
            <a:off x="10158970" y="7619248"/>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WHAT WE MEASURE</a:t>
            </a:r>
            <a:endParaRPr lang="en-US" sz="680" dirty="0"/>
          </a:p>
        </p:txBody>
      </p:sp>
      <p:sp>
        <p:nvSpPr>
          <p:cNvPr id="74" name="Shape 69"/>
          <p:cNvSpPr/>
          <p:nvPr/>
        </p:nvSpPr>
        <p:spPr>
          <a:xfrm>
            <a:off x="10158970" y="7789116"/>
            <a:ext cx="2224868" cy="546122"/>
          </a:xfrm>
          <a:prstGeom prst="rect">
            <a:avLst/>
          </a:prstGeom>
          <a:solidFill>
            <a:srgbClr val="F5F7FA"/>
          </a:solidFill>
          <a:ln w="7620">
            <a:solidFill>
              <a:srgbClr val="E3E7EC"/>
            </a:solidFill>
            <a:prstDash val="solid"/>
          </a:ln>
        </p:spPr>
      </p:sp>
      <p:sp>
        <p:nvSpPr>
          <p:cNvPr id="75" name="Text 70"/>
          <p:cNvSpPr txBox="1"/>
          <p:nvPr/>
        </p:nvSpPr>
        <p:spPr>
          <a:xfrm>
            <a:off x="10266970" y="7875516"/>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Systems</a:t>
            </a:r>
            <a:endParaRPr lang="en-US" sz="1100" dirty="0"/>
          </a:p>
        </p:txBody>
      </p:sp>
      <p:sp>
        <p:nvSpPr>
          <p:cNvPr id="76" name="Text 71"/>
          <p:cNvSpPr txBox="1"/>
          <p:nvPr/>
        </p:nvSpPr>
        <p:spPr>
          <a:xfrm>
            <a:off x="10266970" y="8118536"/>
            <a:ext cx="2008868"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KEG SYSTEM SALES</a:t>
            </a:r>
            <a:endParaRPr lang="en-US" sz="550" dirty="0"/>
          </a:p>
        </p:txBody>
      </p:sp>
      <p:sp>
        <p:nvSpPr>
          <p:cNvPr id="77" name="Shape 72"/>
          <p:cNvSpPr/>
          <p:nvPr/>
        </p:nvSpPr>
        <p:spPr>
          <a:xfrm>
            <a:off x="12455838" y="7789116"/>
            <a:ext cx="2224868" cy="546122"/>
          </a:xfrm>
          <a:prstGeom prst="rect">
            <a:avLst/>
          </a:prstGeom>
          <a:solidFill>
            <a:srgbClr val="F5F7FA"/>
          </a:solidFill>
          <a:ln w="7620">
            <a:solidFill>
              <a:srgbClr val="E3E7EC"/>
            </a:solidFill>
            <a:prstDash val="solid"/>
          </a:ln>
        </p:spPr>
      </p:sp>
      <p:sp>
        <p:nvSpPr>
          <p:cNvPr id="78" name="Text 73"/>
          <p:cNvSpPr txBox="1"/>
          <p:nvPr/>
        </p:nvSpPr>
        <p:spPr>
          <a:xfrm>
            <a:off x="12563838" y="7875516"/>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Refillers</a:t>
            </a:r>
            <a:endParaRPr lang="en-US" sz="1100" dirty="0"/>
          </a:p>
        </p:txBody>
      </p:sp>
      <p:sp>
        <p:nvSpPr>
          <p:cNvPr id="79" name="Text 74"/>
          <p:cNvSpPr txBox="1"/>
          <p:nvPr/>
        </p:nvSpPr>
        <p:spPr>
          <a:xfrm>
            <a:off x="12563838" y="8118536"/>
            <a:ext cx="2008868"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ACTIVE KEG REFILLERS, AGAINST 250 THEN 1,000</a:t>
            </a:r>
            <a:endParaRPr lang="en-US" sz="550" dirty="0"/>
          </a:p>
        </p:txBody>
      </p:sp>
      <p:sp>
        <p:nvSpPr>
          <p:cNvPr id="80" name="Shape 75"/>
          <p:cNvSpPr/>
          <p:nvPr/>
        </p:nvSpPr>
        <p:spPr>
          <a:xfrm>
            <a:off x="10158970" y="8407238"/>
            <a:ext cx="2224868" cy="546122"/>
          </a:xfrm>
          <a:prstGeom prst="rect">
            <a:avLst/>
          </a:prstGeom>
          <a:solidFill>
            <a:srgbClr val="F5F7FA"/>
          </a:solidFill>
          <a:ln w="7620">
            <a:solidFill>
              <a:srgbClr val="E3E7EC"/>
            </a:solidFill>
            <a:prstDash val="solid"/>
          </a:ln>
        </p:spPr>
      </p:sp>
      <p:sp>
        <p:nvSpPr>
          <p:cNvPr id="81" name="Text 76"/>
          <p:cNvSpPr txBox="1"/>
          <p:nvPr/>
        </p:nvSpPr>
        <p:spPr>
          <a:xfrm>
            <a:off x="10266970" y="8493638"/>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Accounts</a:t>
            </a:r>
            <a:endParaRPr lang="en-US" sz="1100" dirty="0"/>
          </a:p>
        </p:txBody>
      </p:sp>
      <p:sp>
        <p:nvSpPr>
          <p:cNvPr id="82" name="Text 77"/>
          <p:cNvSpPr txBox="1"/>
          <p:nvPr/>
        </p:nvSpPr>
        <p:spPr>
          <a:xfrm>
            <a:off x="10266970" y="8736658"/>
            <a:ext cx="2008868"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WHOLESALE ACCOUNTS</a:t>
            </a:r>
            <a:endParaRPr lang="en-US" sz="550" dirty="0"/>
          </a:p>
        </p:txBody>
      </p:sp>
      <p:sp>
        <p:nvSpPr>
          <p:cNvPr id="83" name="Shape 78"/>
          <p:cNvSpPr/>
          <p:nvPr/>
        </p:nvSpPr>
        <p:spPr>
          <a:xfrm>
            <a:off x="12455838" y="8407238"/>
            <a:ext cx="2224868" cy="546122"/>
          </a:xfrm>
          <a:prstGeom prst="rect">
            <a:avLst/>
          </a:prstGeom>
          <a:solidFill>
            <a:srgbClr val="F5F7FA"/>
          </a:solidFill>
          <a:ln w="7620">
            <a:solidFill>
              <a:srgbClr val="E3E7EC"/>
            </a:solidFill>
            <a:prstDash val="solid"/>
          </a:ln>
        </p:spPr>
      </p:sp>
      <p:sp>
        <p:nvSpPr>
          <p:cNvPr id="84" name="Text 79"/>
          <p:cNvSpPr txBox="1"/>
          <p:nvPr/>
        </p:nvSpPr>
        <p:spPr>
          <a:xfrm>
            <a:off x="12563838" y="8493638"/>
            <a:ext cx="2008868" cy="185420"/>
          </a:xfrm>
          <a:prstGeom prst="rect">
            <a:avLst/>
          </a:prstGeom>
          <a:noFill/>
          <a:ln/>
        </p:spPr>
        <p:txBody>
          <a:bodyPr wrap="square" lIns="0" tIns="0" rIns="0" bIns="0" rtlCol="0" anchor="t"/>
          <a:lstStyle/>
          <a:p>
            <a:pPr indent="0" marL="0">
              <a:lnSpc>
                <a:spcPts val="1100"/>
              </a:lnSpc>
              <a:buNone/>
            </a:pPr>
            <a:r>
              <a:rPr lang="en-US" sz="1100" b="1" dirty="0">
                <a:solidFill>
                  <a:srgbClr val="0066FF"/>
                </a:solidFill>
                <a:latin typeface="Poppins" pitchFamily="34" charset="0"/>
                <a:ea typeface="Poppins" pitchFamily="34" charset="-122"/>
                <a:cs typeface="Poppins" pitchFamily="34" charset="-120"/>
              </a:rPr>
              <a:t>Leak</a:t>
            </a:r>
            <a:endParaRPr lang="en-US" sz="1100" dirty="0"/>
          </a:p>
        </p:txBody>
      </p:sp>
      <p:sp>
        <p:nvSpPr>
          <p:cNvPr id="85" name="Text 80"/>
          <p:cNvSpPr txBox="1"/>
          <p:nvPr/>
        </p:nvSpPr>
        <p:spPr>
          <a:xfrm>
            <a:off x="12563838" y="8736658"/>
            <a:ext cx="2008868" cy="176022"/>
          </a:xfrm>
          <a:prstGeom prst="rect">
            <a:avLst/>
          </a:prstGeom>
          <a:noFill/>
          <a:ln/>
        </p:spPr>
        <p:txBody>
          <a:bodyPr wrap="square" lIns="0" tIns="0" rIns="0" bIns="0" rtlCol="0" anchor="t"/>
          <a:lstStyle/>
          <a:p>
            <a:pPr indent="0" marL="0">
              <a:lnSpc>
                <a:spcPts val="693"/>
              </a:lnSpc>
              <a:buNone/>
            </a:pPr>
            <a:r>
              <a:rPr lang="en-US" sz="550" b="1" spc="55" kern="0" dirty="0">
                <a:solidFill>
                  <a:srgbClr val="4A5565"/>
                </a:solidFill>
                <a:latin typeface="Poppins" pitchFamily="34" charset="0"/>
                <a:ea typeface="Poppins" pitchFamily="34" charset="-122"/>
                <a:cs typeface="Poppins" pitchFamily="34" charset="-120"/>
              </a:rPr>
              <a:t>LAPSE RATE, MEMBER VS NON-MEMBER</a:t>
            </a:r>
            <a:endParaRPr lang="en-US" sz="550" dirty="0"/>
          </a:p>
        </p:txBody>
      </p:sp>
      <p:sp>
        <p:nvSpPr>
          <p:cNvPr id="86" name="Text 81"/>
          <p:cNvSpPr txBox="1"/>
          <p:nvPr/>
        </p:nvSpPr>
        <p:spPr>
          <a:xfrm>
            <a:off x="10158970" y="9118960"/>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One report, monthly, four numbers.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three, plus the lapse rate, which is JP's addition. Not a dashboard nobody opens.</a:t>
            </a:r>
            <a:endParaRPr lang="en-US" sz="810" dirty="0"/>
          </a:p>
        </p:txBody>
      </p:sp>
      <p:sp>
        <p:nvSpPr>
          <p:cNvPr id="87" name="Text 82"/>
          <p:cNvSpPr txBox="1"/>
          <p:nvPr/>
        </p:nvSpPr>
        <p:spPr>
          <a:xfrm>
            <a:off x="10158970" y="9593170"/>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Active keg refillers needs one agreed definition.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Settle it before the first report, or the number will be argued about instead of acted on.</a:t>
            </a:r>
            <a:endParaRPr lang="en-US" sz="8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ite/brand/tapthat-icon.png">    </p:cNvPr>
          <p:cNvPicPr>
            <a:picLocks noChangeAspect="1"/>
          </p:cNvPicPr>
          <p:nvPr/>
        </p:nvPicPr>
        <p:blipFill>
          <a:blip r:embed="rId1"/>
          <a:stretch>
            <a:fillRect/>
          </a:stretch>
        </p:blipFill>
        <p:spPr>
          <a:xfrm>
            <a:off x="323698" y="301752"/>
            <a:ext cx="360000" cy="360000"/>
          </a:xfrm>
          <a:prstGeom prst="rect">
            <a:avLst/>
          </a:prstGeom>
        </p:spPr>
      </p:pic>
      <p:sp>
        <p:nvSpPr>
          <p:cNvPr id="3" name="Text 0"/>
          <p:cNvSpPr txBox="1"/>
          <p:nvPr/>
        </p:nvSpPr>
        <p:spPr>
          <a:xfrm>
            <a:off x="827698" y="310896"/>
            <a:ext cx="8229600" cy="402336"/>
          </a:xfrm>
          <a:prstGeom prst="rect">
            <a:avLst/>
          </a:prstGeom>
          <a:noFill/>
          <a:ln/>
        </p:spPr>
        <p:txBody>
          <a:bodyPr wrap="square" lIns="0" tIns="0" rIns="0" bIns="0" rtlCol="0" anchor="b"/>
          <a:lstStyle/>
          <a:p>
            <a:pPr indent="0" marL="0">
              <a:buNone/>
            </a:pPr>
            <a:r>
              <a:rPr lang="en-US" sz="2100" b="1" dirty="0">
                <a:solidFill>
                  <a:srgbClr val="0E171F"/>
                </a:solidFill>
                <a:latin typeface="Poppins" pitchFamily="34" charset="0"/>
                <a:ea typeface="Poppins" pitchFamily="34" charset="-122"/>
                <a:cs typeface="Poppins" pitchFamily="34" charset="-120"/>
              </a:rPr>
              <a:t>Activation plan – on a page</a:t>
            </a:r>
            <a:endParaRPr lang="en-US" sz="2100" dirty="0"/>
          </a:p>
        </p:txBody>
      </p:sp>
      <p:pic>
        <p:nvPicPr>
          <p:cNvPr id="4" name="Image 1" descr="../site/brand/jewell-wordmark.png">    </p:cNvPr>
          <p:cNvPicPr>
            <a:picLocks noChangeAspect="1"/>
          </p:cNvPicPr>
          <p:nvPr/>
        </p:nvPicPr>
        <p:blipFill>
          <a:blip r:embed="rId2"/>
          <a:stretch>
            <a:fillRect/>
          </a:stretch>
        </p:blipFill>
        <p:spPr>
          <a:xfrm>
            <a:off x="13915605" y="394290"/>
            <a:ext cx="880302" cy="194400"/>
          </a:xfrm>
          <a:prstGeom prst="rect">
            <a:avLst/>
          </a:prstGeom>
        </p:spPr>
      </p:pic>
      <p:sp>
        <p:nvSpPr>
          <p:cNvPr id="5" name="Shape 1"/>
          <p:cNvSpPr/>
          <p:nvPr/>
        </p:nvSpPr>
        <p:spPr>
          <a:xfrm>
            <a:off x="12678246" y="365760"/>
            <a:ext cx="1165358" cy="251460"/>
          </a:xfrm>
          <a:prstGeom prst="roundRect">
            <a:avLst>
              <a:gd name="adj" fmla="val 50000"/>
            </a:avLst>
          </a:prstGeom>
          <a:solidFill>
            <a:srgbClr val="FFFFFF"/>
          </a:solidFill>
          <a:ln w="9525">
            <a:solidFill>
              <a:srgbClr val="E3E7EC"/>
            </a:solidFill>
            <a:prstDash val="solid"/>
          </a:ln>
        </p:spPr>
      </p:sp>
      <p:sp>
        <p:nvSpPr>
          <p:cNvPr id="6" name="Text 2"/>
          <p:cNvSpPr txBox="1"/>
          <p:nvPr/>
        </p:nvSpPr>
        <p:spPr>
          <a:xfrm>
            <a:off x="12678246" y="365760"/>
            <a:ext cx="1165358"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V02 · 16 SEPT 2026</a:t>
            </a:r>
            <a:endParaRPr lang="en-US" sz="650" dirty="0"/>
          </a:p>
        </p:txBody>
      </p:sp>
      <p:sp>
        <p:nvSpPr>
          <p:cNvPr id="7" name="Shape 3"/>
          <p:cNvSpPr/>
          <p:nvPr/>
        </p:nvSpPr>
        <p:spPr>
          <a:xfrm>
            <a:off x="11370203" y="365760"/>
            <a:ext cx="1218043" cy="251460"/>
          </a:xfrm>
          <a:prstGeom prst="roundRect">
            <a:avLst>
              <a:gd name="adj" fmla="val 50000"/>
            </a:avLst>
          </a:prstGeom>
          <a:solidFill>
            <a:srgbClr val="FFFFFF"/>
          </a:solidFill>
          <a:ln w="9525">
            <a:solidFill>
              <a:srgbClr val="E3E7EC"/>
            </a:solidFill>
            <a:prstDash val="solid"/>
          </a:ln>
        </p:spPr>
      </p:sp>
      <p:sp>
        <p:nvSpPr>
          <p:cNvPr id="8" name="Text 4"/>
          <p:cNvSpPr txBox="1"/>
          <p:nvPr/>
        </p:nvSpPr>
        <p:spPr>
          <a:xfrm>
            <a:off x="11370203" y="365760"/>
            <a:ext cx="1218043" cy="251460"/>
          </a:xfrm>
          <a:prstGeom prst="rect">
            <a:avLst/>
          </a:prstGeom>
          <a:noFill/>
          <a:ln/>
        </p:spPr>
        <p:txBody>
          <a:bodyPr wrap="square" lIns="0" tIns="0" rIns="0" bIns="0" rtlCol="0" anchor="ctr"/>
          <a:lstStyle/>
          <a:p>
            <a:pPr algn="ctr" indent="0" marL="0">
              <a:buNone/>
            </a:pPr>
            <a:r>
              <a:rPr lang="en-US" sz="650" b="1" spc="78" kern="0" dirty="0">
                <a:solidFill>
                  <a:srgbClr val="4A5565"/>
                </a:solidFill>
                <a:latin typeface="Poppins" pitchFamily="34" charset="0"/>
                <a:ea typeface="Poppins" pitchFamily="34" charset="-122"/>
                <a:cs typeface="Poppins" pitchFamily="34" charset="-120"/>
              </a:rPr>
              <a:t>TAP THAT BREWERY</a:t>
            </a:r>
            <a:endParaRPr lang="en-US" sz="650" dirty="0"/>
          </a:p>
        </p:txBody>
      </p:sp>
      <p:sp>
        <p:nvSpPr>
          <p:cNvPr id="9" name="Shape 5"/>
          <p:cNvSpPr/>
          <p:nvPr/>
        </p:nvSpPr>
        <p:spPr>
          <a:xfrm>
            <a:off x="10304303" y="365760"/>
            <a:ext cx="975900" cy="251460"/>
          </a:xfrm>
          <a:prstGeom prst="roundRect">
            <a:avLst>
              <a:gd name="adj" fmla="val 50000"/>
            </a:avLst>
          </a:prstGeom>
          <a:solidFill>
            <a:srgbClr val="FFFFFF"/>
          </a:solidFill>
          <a:ln w="9525">
            <a:solidFill>
              <a:srgbClr val="0066FF"/>
            </a:solidFill>
            <a:prstDash val="solid"/>
          </a:ln>
        </p:spPr>
      </p:sp>
      <p:sp>
        <p:nvSpPr>
          <p:cNvPr id="10" name="Text 6"/>
          <p:cNvSpPr txBox="1"/>
          <p:nvPr/>
        </p:nvSpPr>
        <p:spPr>
          <a:xfrm>
            <a:off x="10304303" y="365760"/>
            <a:ext cx="975900" cy="251460"/>
          </a:xfrm>
          <a:prstGeom prst="rect">
            <a:avLst/>
          </a:prstGeom>
          <a:noFill/>
          <a:ln/>
        </p:spPr>
        <p:txBody>
          <a:bodyPr wrap="square" lIns="0" tIns="0" rIns="0" bIns="0" rtlCol="0" anchor="ctr"/>
          <a:lstStyle/>
          <a:p>
            <a:pPr algn="ctr" indent="0" marL="0">
              <a:buNone/>
            </a:pPr>
            <a:r>
              <a:rPr lang="en-US" sz="650" b="1" spc="78" kern="0" dirty="0">
                <a:solidFill>
                  <a:srgbClr val="0066FF"/>
                </a:solidFill>
                <a:latin typeface="Poppins" pitchFamily="34" charset="0"/>
                <a:ea typeface="Poppins" pitchFamily="34" charset="-122"/>
                <a:cs typeface="Poppins" pitchFamily="34" charset="-120"/>
              </a:rPr>
              <a:t>PLAN 04 OF 04</a:t>
            </a:r>
            <a:endParaRPr lang="en-US" sz="650" dirty="0"/>
          </a:p>
        </p:txBody>
      </p:sp>
      <p:sp>
        <p:nvSpPr>
          <p:cNvPr id="11" name="Shape 7"/>
          <p:cNvSpPr/>
          <p:nvPr/>
        </p:nvSpPr>
        <p:spPr>
          <a:xfrm>
            <a:off x="323698" y="969264"/>
            <a:ext cx="14472209" cy="0"/>
          </a:xfrm>
          <a:prstGeom prst="line">
            <a:avLst/>
          </a:prstGeom>
          <a:noFill/>
          <a:ln w="25400">
            <a:solidFill>
              <a:srgbClr val="0E171F"/>
            </a:solidFill>
            <a:prstDash val="solid"/>
          </a:ln>
        </p:spPr>
      </p:sp>
      <p:sp>
        <p:nvSpPr>
          <p:cNvPr id="12" name="Shape 8"/>
          <p:cNvSpPr/>
          <p:nvPr/>
        </p:nvSpPr>
        <p:spPr>
          <a:xfrm>
            <a:off x="323698" y="1115568"/>
            <a:ext cx="14472209" cy="3087069"/>
          </a:xfrm>
          <a:prstGeom prst="rect">
            <a:avLst/>
          </a:prstGeom>
          <a:solidFill>
            <a:srgbClr val="FFFFFF"/>
          </a:solidFill>
          <a:ln w="7620">
            <a:solidFill>
              <a:srgbClr val="E3E7EC"/>
            </a:solidFill>
            <a:prstDash val="solid"/>
          </a:ln>
        </p:spPr>
      </p:sp>
      <p:sp>
        <p:nvSpPr>
          <p:cNvPr id="13" name="Shape 9"/>
          <p:cNvSpPr/>
          <p:nvPr/>
        </p:nvSpPr>
        <p:spPr>
          <a:xfrm>
            <a:off x="323698" y="1115568"/>
            <a:ext cx="14472209" cy="36000"/>
          </a:xfrm>
          <a:prstGeom prst="rect">
            <a:avLst/>
          </a:prstGeom>
          <a:solidFill>
            <a:srgbClr val="0066FF"/>
          </a:solidFill>
          <a:ln w="12700">
            <a:solidFill>
              <a:srgbClr val="333333"/>
            </a:solidFill>
            <a:prstDash val="solid"/>
          </a:ln>
        </p:spPr>
      </p:sp>
      <p:sp>
        <p:nvSpPr>
          <p:cNvPr id="14" name="Text 10"/>
          <p:cNvSpPr txBox="1"/>
          <p:nvPr/>
        </p:nvSpPr>
        <p:spPr>
          <a:xfrm>
            <a:off x="438898" y="1230768"/>
            <a:ext cx="14241809"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JUSTIN'S LADDER</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his own horizons, dated from 16 September</a:t>
            </a:r>
            <a:endParaRPr lang="en-US" sz="680" dirty="0"/>
          </a:p>
        </p:txBody>
      </p:sp>
      <p:sp>
        <p:nvSpPr>
          <p:cNvPr id="15" name="Shape 11"/>
          <p:cNvSpPr/>
          <p:nvPr/>
        </p:nvSpPr>
        <p:spPr>
          <a:xfrm>
            <a:off x="438898" y="1400636"/>
            <a:ext cx="3479528" cy="2444386"/>
          </a:xfrm>
          <a:prstGeom prst="rect">
            <a:avLst/>
          </a:prstGeom>
          <a:solidFill>
            <a:srgbClr val="F5F7FA"/>
          </a:solidFill>
          <a:ln w="7620">
            <a:solidFill>
              <a:srgbClr val="E3E7EC"/>
            </a:solidFill>
            <a:prstDash val="solid"/>
          </a:ln>
        </p:spPr>
      </p:sp>
      <p:sp>
        <p:nvSpPr>
          <p:cNvPr id="16" name="Shape 12"/>
          <p:cNvSpPr/>
          <p:nvPr/>
        </p:nvSpPr>
        <p:spPr>
          <a:xfrm>
            <a:off x="438898" y="1400636"/>
            <a:ext cx="3479528" cy="28800"/>
          </a:xfrm>
          <a:prstGeom prst="rect">
            <a:avLst/>
          </a:prstGeom>
          <a:solidFill>
            <a:srgbClr val="0066FF"/>
          </a:solidFill>
          <a:ln w="12700">
            <a:solidFill>
              <a:srgbClr val="333333"/>
            </a:solidFill>
            <a:prstDash val="solid"/>
          </a:ln>
        </p:spPr>
      </p:sp>
      <p:sp>
        <p:nvSpPr>
          <p:cNvPr id="17" name="Text 13"/>
          <p:cNvSpPr txBox="1"/>
          <p:nvPr/>
        </p:nvSpPr>
        <p:spPr>
          <a:xfrm>
            <a:off x="532498"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30 DAYS · TO MID-OCTOBER</a:t>
            </a:r>
            <a:endParaRPr lang="en-US" sz="650" dirty="0"/>
          </a:p>
        </p:txBody>
      </p:sp>
      <p:sp>
        <p:nvSpPr>
          <p:cNvPr id="18" name="Shape 14"/>
          <p:cNvSpPr/>
          <p:nvPr/>
        </p:nvSpPr>
        <p:spPr>
          <a:xfrm>
            <a:off x="532498" y="1697019"/>
            <a:ext cx="50400" cy="50400"/>
          </a:xfrm>
          <a:prstGeom prst="rect">
            <a:avLst/>
          </a:prstGeom>
          <a:solidFill>
            <a:srgbClr val="0066FF"/>
          </a:solidFill>
          <a:ln w="12700">
            <a:solidFill>
              <a:srgbClr val="333333"/>
            </a:solidFill>
            <a:prstDash val="solid"/>
          </a:ln>
        </p:spPr>
      </p:sp>
      <p:sp>
        <p:nvSpPr>
          <p:cNvPr id="19" name="Text 15"/>
          <p:cNvSpPr txBox="1"/>
          <p:nvPr/>
        </p:nvSpPr>
        <p:spPr>
          <a:xfrm>
            <a:off x="626098"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Three-way shape decision: taproom, showroom or event space</a:t>
            </a:r>
            <a:endParaRPr lang="en-US" sz="740" dirty="0"/>
          </a:p>
        </p:txBody>
      </p:sp>
      <p:sp>
        <p:nvSpPr>
          <p:cNvPr id="20" name="Shape 16"/>
          <p:cNvSpPr/>
          <p:nvPr/>
        </p:nvSpPr>
        <p:spPr>
          <a:xfrm>
            <a:off x="532498" y="1873671"/>
            <a:ext cx="50400" cy="50400"/>
          </a:xfrm>
          <a:prstGeom prst="rect">
            <a:avLst/>
          </a:prstGeom>
          <a:solidFill>
            <a:srgbClr val="0066FF"/>
          </a:solidFill>
          <a:ln w="12700">
            <a:solidFill>
              <a:srgbClr val="333333"/>
            </a:solidFill>
            <a:prstDash val="solid"/>
          </a:ln>
        </p:spPr>
      </p:sp>
      <p:sp>
        <p:nvSpPr>
          <p:cNvPr id="21" name="Text 17"/>
          <p:cNvSpPr txBox="1"/>
          <p:nvPr/>
        </p:nvSpPr>
        <p:spPr>
          <a:xfrm>
            <a:off x="626098"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Customer journey mapped, key messaging confirmed</a:t>
            </a:r>
            <a:endParaRPr lang="en-US" sz="740" dirty="0"/>
          </a:p>
        </p:txBody>
      </p:sp>
      <p:sp>
        <p:nvSpPr>
          <p:cNvPr id="22" name="Shape 18"/>
          <p:cNvSpPr/>
          <p:nvPr/>
        </p:nvSpPr>
        <p:spPr>
          <a:xfrm>
            <a:off x="532498" y="2050322"/>
            <a:ext cx="50400" cy="50400"/>
          </a:xfrm>
          <a:prstGeom prst="rect">
            <a:avLst/>
          </a:prstGeom>
          <a:solidFill>
            <a:srgbClr val="0066FF"/>
          </a:solidFill>
          <a:ln w="12700">
            <a:solidFill>
              <a:srgbClr val="333333"/>
            </a:solidFill>
            <a:prstDash val="solid"/>
          </a:ln>
        </p:spPr>
      </p:sp>
      <p:sp>
        <p:nvSpPr>
          <p:cNvPr id="23" name="Text 19"/>
          <p:cNvSpPr txBox="1"/>
          <p:nvPr/>
        </p:nvSpPr>
        <p:spPr>
          <a:xfrm>
            <a:off x="626098"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KPIs, growth targets and meeting rhythm set</a:t>
            </a:r>
            <a:endParaRPr lang="en-US" sz="740" dirty="0"/>
          </a:p>
        </p:txBody>
      </p:sp>
      <p:sp>
        <p:nvSpPr>
          <p:cNvPr id="24" name="Shape 20"/>
          <p:cNvSpPr/>
          <p:nvPr/>
        </p:nvSpPr>
        <p:spPr>
          <a:xfrm>
            <a:off x="532498" y="2226974"/>
            <a:ext cx="50400" cy="50400"/>
          </a:xfrm>
          <a:prstGeom prst="rect">
            <a:avLst/>
          </a:prstGeom>
          <a:solidFill>
            <a:srgbClr val="0066FF"/>
          </a:solidFill>
          <a:ln w="12700">
            <a:solidFill>
              <a:srgbClr val="333333"/>
            </a:solidFill>
            <a:prstDash val="solid"/>
          </a:ln>
        </p:spPr>
      </p:sp>
      <p:sp>
        <p:nvSpPr>
          <p:cNvPr id="25" name="Text 21"/>
          <p:cNvSpPr txBox="1"/>
          <p:nvPr/>
        </p:nvSpPr>
        <p:spPr>
          <a:xfrm>
            <a:off x="626098" y="2189106"/>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Residential vs commercial, external support vs in-house</a:t>
            </a:r>
            <a:endParaRPr lang="en-US" sz="740" dirty="0"/>
          </a:p>
        </p:txBody>
      </p:sp>
      <p:sp>
        <p:nvSpPr>
          <p:cNvPr id="26" name="Shape 22"/>
          <p:cNvSpPr/>
          <p:nvPr/>
        </p:nvSpPr>
        <p:spPr>
          <a:xfrm>
            <a:off x="532498" y="2403626"/>
            <a:ext cx="50400" cy="50400"/>
          </a:xfrm>
          <a:prstGeom prst="rect">
            <a:avLst/>
          </a:prstGeom>
          <a:solidFill>
            <a:srgbClr val="0066FF"/>
          </a:solidFill>
          <a:ln w="12700">
            <a:solidFill>
              <a:srgbClr val="333333"/>
            </a:solidFill>
            <a:prstDash val="solid"/>
          </a:ln>
        </p:spPr>
      </p:sp>
      <p:sp>
        <p:nvSpPr>
          <p:cNvPr id="27" name="Text 23"/>
          <p:cNvSpPr txBox="1"/>
          <p:nvPr/>
        </p:nvSpPr>
        <p:spPr>
          <a:xfrm>
            <a:off x="626098" y="2365757"/>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Brand ambassadors named: Kurt, Troy, Mitch, Aden, Ash</a:t>
            </a:r>
            <a:endParaRPr lang="en-US" sz="740" dirty="0"/>
          </a:p>
        </p:txBody>
      </p:sp>
      <p:sp>
        <p:nvSpPr>
          <p:cNvPr id="28" name="Shape 24"/>
          <p:cNvSpPr/>
          <p:nvPr/>
        </p:nvSpPr>
        <p:spPr>
          <a:xfrm>
            <a:off x="532498" y="2580277"/>
            <a:ext cx="50400" cy="50400"/>
          </a:xfrm>
          <a:prstGeom prst="rect">
            <a:avLst/>
          </a:prstGeom>
          <a:solidFill>
            <a:srgbClr val="0066FF"/>
          </a:solidFill>
          <a:ln w="12700">
            <a:solidFill>
              <a:srgbClr val="333333"/>
            </a:solidFill>
            <a:prstDash val="solid"/>
          </a:ln>
        </p:spPr>
      </p:sp>
      <p:sp>
        <p:nvSpPr>
          <p:cNvPr id="29" name="Text 25"/>
          <p:cNvSpPr txBox="1"/>
          <p:nvPr/>
        </p:nvSpPr>
        <p:spPr>
          <a:xfrm>
            <a:off x="626098" y="2542409"/>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Oktoberfest and the keg system giveaway</a:t>
            </a:r>
            <a:endParaRPr lang="en-US" sz="740" dirty="0"/>
          </a:p>
        </p:txBody>
      </p:sp>
      <p:sp>
        <p:nvSpPr>
          <p:cNvPr id="30" name="Shape 26"/>
          <p:cNvSpPr/>
          <p:nvPr/>
        </p:nvSpPr>
        <p:spPr>
          <a:xfrm>
            <a:off x="4026325" y="1400636"/>
            <a:ext cx="3479528" cy="2444386"/>
          </a:xfrm>
          <a:prstGeom prst="rect">
            <a:avLst/>
          </a:prstGeom>
          <a:solidFill>
            <a:srgbClr val="F5F7FA"/>
          </a:solidFill>
          <a:ln w="7620">
            <a:solidFill>
              <a:srgbClr val="E3E7EC"/>
            </a:solidFill>
            <a:prstDash val="solid"/>
          </a:ln>
        </p:spPr>
      </p:sp>
      <p:sp>
        <p:nvSpPr>
          <p:cNvPr id="31" name="Shape 27"/>
          <p:cNvSpPr/>
          <p:nvPr/>
        </p:nvSpPr>
        <p:spPr>
          <a:xfrm>
            <a:off x="4026325" y="1400636"/>
            <a:ext cx="3479528" cy="28800"/>
          </a:xfrm>
          <a:prstGeom prst="rect">
            <a:avLst/>
          </a:prstGeom>
          <a:solidFill>
            <a:srgbClr val="0066FF"/>
          </a:solidFill>
          <a:ln w="12700">
            <a:solidFill>
              <a:srgbClr val="333333"/>
            </a:solidFill>
            <a:prstDash val="solid"/>
          </a:ln>
        </p:spPr>
      </p:sp>
      <p:sp>
        <p:nvSpPr>
          <p:cNvPr id="32" name="Text 28"/>
          <p:cNvSpPr txBox="1"/>
          <p:nvPr/>
        </p:nvSpPr>
        <p:spPr>
          <a:xfrm>
            <a:off x="4119925"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3 MONTHS · TO MID-DECEMBER</a:t>
            </a:r>
            <a:endParaRPr lang="en-US" sz="650" dirty="0"/>
          </a:p>
        </p:txBody>
      </p:sp>
      <p:sp>
        <p:nvSpPr>
          <p:cNvPr id="33" name="Shape 29"/>
          <p:cNvSpPr/>
          <p:nvPr/>
        </p:nvSpPr>
        <p:spPr>
          <a:xfrm>
            <a:off x="4119925" y="1697019"/>
            <a:ext cx="50400" cy="50400"/>
          </a:xfrm>
          <a:prstGeom prst="rect">
            <a:avLst/>
          </a:prstGeom>
          <a:solidFill>
            <a:srgbClr val="0066FF"/>
          </a:solidFill>
          <a:ln w="12700">
            <a:solidFill>
              <a:srgbClr val="333333"/>
            </a:solidFill>
            <a:prstDash val="solid"/>
          </a:ln>
        </p:spPr>
      </p:sp>
      <p:sp>
        <p:nvSpPr>
          <p:cNvPr id="34" name="Text 30"/>
          <p:cNvSpPr txBox="1"/>
          <p:nvPr/>
        </p:nvSpPr>
        <p:spPr>
          <a:xfrm>
            <a:off x="4213525"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Website upgrade, SEM, GoTab and Fishbowl transition</a:t>
            </a:r>
            <a:endParaRPr lang="en-US" sz="740" dirty="0"/>
          </a:p>
        </p:txBody>
      </p:sp>
      <p:sp>
        <p:nvSpPr>
          <p:cNvPr id="35" name="Shape 31"/>
          <p:cNvSpPr/>
          <p:nvPr/>
        </p:nvSpPr>
        <p:spPr>
          <a:xfrm>
            <a:off x="4119925" y="1873671"/>
            <a:ext cx="50400" cy="50400"/>
          </a:xfrm>
          <a:prstGeom prst="rect">
            <a:avLst/>
          </a:prstGeom>
          <a:solidFill>
            <a:srgbClr val="0066FF"/>
          </a:solidFill>
          <a:ln w="12700">
            <a:solidFill>
              <a:srgbClr val="333333"/>
            </a:solidFill>
            <a:prstDash val="solid"/>
          </a:ln>
        </p:spPr>
      </p:sp>
      <p:sp>
        <p:nvSpPr>
          <p:cNvPr id="36" name="Text 32"/>
          <p:cNvSpPr txBox="1"/>
          <p:nvPr/>
        </p:nvSpPr>
        <p:spPr>
          <a:xfrm>
            <a:off x="4213525"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Lease-to-buy keg systems and delivery service</a:t>
            </a:r>
            <a:endParaRPr lang="en-US" sz="740" dirty="0"/>
          </a:p>
        </p:txBody>
      </p:sp>
      <p:sp>
        <p:nvSpPr>
          <p:cNvPr id="37" name="Shape 33"/>
          <p:cNvSpPr/>
          <p:nvPr/>
        </p:nvSpPr>
        <p:spPr>
          <a:xfrm>
            <a:off x="4119925" y="2050322"/>
            <a:ext cx="50400" cy="50400"/>
          </a:xfrm>
          <a:prstGeom prst="rect">
            <a:avLst/>
          </a:prstGeom>
          <a:solidFill>
            <a:srgbClr val="0066FF"/>
          </a:solidFill>
          <a:ln w="12700">
            <a:solidFill>
              <a:srgbClr val="333333"/>
            </a:solidFill>
            <a:prstDash val="solid"/>
          </a:ln>
        </p:spPr>
      </p:sp>
      <p:sp>
        <p:nvSpPr>
          <p:cNvPr id="38" name="Text 34"/>
          <p:cNvSpPr txBox="1"/>
          <p:nvPr/>
        </p:nvSpPr>
        <p:spPr>
          <a:xfrm>
            <a:off x="4213525"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JVPs, referral partners; referral programme, Bring a Mate</a:t>
            </a:r>
            <a:endParaRPr lang="en-US" sz="740" dirty="0"/>
          </a:p>
        </p:txBody>
      </p:sp>
      <p:sp>
        <p:nvSpPr>
          <p:cNvPr id="39" name="Shape 35"/>
          <p:cNvSpPr/>
          <p:nvPr/>
        </p:nvSpPr>
        <p:spPr>
          <a:xfrm>
            <a:off x="4119925" y="2226974"/>
            <a:ext cx="50400" cy="50400"/>
          </a:xfrm>
          <a:prstGeom prst="rect">
            <a:avLst/>
          </a:prstGeom>
          <a:solidFill>
            <a:srgbClr val="0066FF"/>
          </a:solidFill>
          <a:ln w="12700">
            <a:solidFill>
              <a:srgbClr val="333333"/>
            </a:solidFill>
            <a:prstDash val="solid"/>
          </a:ln>
        </p:spPr>
      </p:sp>
      <p:sp>
        <p:nvSpPr>
          <p:cNvPr id="40" name="Text 36"/>
          <p:cNvSpPr txBox="1"/>
          <p:nvPr/>
        </p:nvSpPr>
        <p:spPr>
          <a:xfrm>
            <a:off x="4213525" y="2189106"/>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Existing-owner switch strategy, lapsed re-engagement system</a:t>
            </a:r>
            <a:endParaRPr lang="en-US" sz="740" dirty="0"/>
          </a:p>
        </p:txBody>
      </p:sp>
      <p:sp>
        <p:nvSpPr>
          <p:cNvPr id="41" name="Shape 37"/>
          <p:cNvSpPr/>
          <p:nvPr/>
        </p:nvSpPr>
        <p:spPr>
          <a:xfrm>
            <a:off x="4119925" y="2403626"/>
            <a:ext cx="50400" cy="50400"/>
          </a:xfrm>
          <a:prstGeom prst="rect">
            <a:avLst/>
          </a:prstGeom>
          <a:solidFill>
            <a:srgbClr val="0066FF"/>
          </a:solidFill>
          <a:ln w="12700">
            <a:solidFill>
              <a:srgbClr val="333333"/>
            </a:solidFill>
            <a:prstDash val="solid"/>
          </a:ln>
        </p:spPr>
      </p:sp>
      <p:sp>
        <p:nvSpPr>
          <p:cNvPr id="42" name="Text 38"/>
          <p:cNvSpPr txBox="1"/>
          <p:nvPr/>
        </p:nvSpPr>
        <p:spPr>
          <a:xfrm>
            <a:off x="4213525" y="2365757"/>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Taproom: local business, events, membership</a:t>
            </a:r>
            <a:endParaRPr lang="en-US" sz="740" dirty="0"/>
          </a:p>
        </p:txBody>
      </p:sp>
      <p:sp>
        <p:nvSpPr>
          <p:cNvPr id="43" name="Shape 39"/>
          <p:cNvSpPr/>
          <p:nvPr/>
        </p:nvSpPr>
        <p:spPr>
          <a:xfrm>
            <a:off x="4119925" y="2580277"/>
            <a:ext cx="50400" cy="50400"/>
          </a:xfrm>
          <a:prstGeom prst="rect">
            <a:avLst/>
          </a:prstGeom>
          <a:solidFill>
            <a:srgbClr val="0066FF"/>
          </a:solidFill>
          <a:ln w="12700">
            <a:solidFill>
              <a:srgbClr val="333333"/>
            </a:solidFill>
            <a:prstDash val="solid"/>
          </a:ln>
        </p:spPr>
      </p:sp>
      <p:sp>
        <p:nvSpPr>
          <p:cNvPr id="44" name="Text 40"/>
          <p:cNvSpPr txBox="1"/>
          <p:nvPr/>
        </p:nvSpPr>
        <p:spPr>
          <a:xfrm>
            <a:off x="4213525" y="2542409"/>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Wholesale outreach; next hire decided</a:t>
            </a:r>
            <a:endParaRPr lang="en-US" sz="740" dirty="0"/>
          </a:p>
        </p:txBody>
      </p:sp>
      <p:sp>
        <p:nvSpPr>
          <p:cNvPr id="45" name="Shape 41"/>
          <p:cNvSpPr/>
          <p:nvPr/>
        </p:nvSpPr>
        <p:spPr>
          <a:xfrm>
            <a:off x="7613752" y="1400636"/>
            <a:ext cx="3479528" cy="2444386"/>
          </a:xfrm>
          <a:prstGeom prst="rect">
            <a:avLst/>
          </a:prstGeom>
          <a:solidFill>
            <a:srgbClr val="F5F7FA"/>
          </a:solidFill>
          <a:ln w="7620">
            <a:solidFill>
              <a:srgbClr val="E3E7EC"/>
            </a:solidFill>
            <a:prstDash val="solid"/>
          </a:ln>
        </p:spPr>
      </p:sp>
      <p:sp>
        <p:nvSpPr>
          <p:cNvPr id="46" name="Shape 42"/>
          <p:cNvSpPr/>
          <p:nvPr/>
        </p:nvSpPr>
        <p:spPr>
          <a:xfrm>
            <a:off x="7613752" y="1400636"/>
            <a:ext cx="3479528" cy="28800"/>
          </a:xfrm>
          <a:prstGeom prst="rect">
            <a:avLst/>
          </a:prstGeom>
          <a:solidFill>
            <a:srgbClr val="0066FF"/>
          </a:solidFill>
          <a:ln w="12700">
            <a:solidFill>
              <a:srgbClr val="333333"/>
            </a:solidFill>
            <a:prstDash val="solid"/>
          </a:ln>
        </p:spPr>
      </p:sp>
      <p:sp>
        <p:nvSpPr>
          <p:cNvPr id="47" name="Text 43"/>
          <p:cNvSpPr txBox="1"/>
          <p:nvPr/>
        </p:nvSpPr>
        <p:spPr>
          <a:xfrm>
            <a:off x="7707352"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6 MONTHS · TO MARCH 2027</a:t>
            </a:r>
            <a:endParaRPr lang="en-US" sz="650" dirty="0"/>
          </a:p>
        </p:txBody>
      </p:sp>
      <p:sp>
        <p:nvSpPr>
          <p:cNvPr id="48" name="Shape 44"/>
          <p:cNvSpPr/>
          <p:nvPr/>
        </p:nvSpPr>
        <p:spPr>
          <a:xfrm>
            <a:off x="7707352" y="1697019"/>
            <a:ext cx="50400" cy="50400"/>
          </a:xfrm>
          <a:prstGeom prst="rect">
            <a:avLst/>
          </a:prstGeom>
          <a:solidFill>
            <a:srgbClr val="0066FF"/>
          </a:solidFill>
          <a:ln w="12700">
            <a:solidFill>
              <a:srgbClr val="333333"/>
            </a:solidFill>
            <a:prstDash val="solid"/>
          </a:ln>
        </p:spPr>
      </p:sp>
      <p:sp>
        <p:nvSpPr>
          <p:cNvPr id="49" name="Text 45"/>
          <p:cNvSpPr txBox="1"/>
          <p:nvPr/>
        </p:nvSpPr>
        <p:spPr>
          <a:xfrm>
            <a:off x="7800952"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250 active keg refillers reached</a:t>
            </a:r>
            <a:endParaRPr lang="en-US" sz="740" dirty="0"/>
          </a:p>
        </p:txBody>
      </p:sp>
      <p:sp>
        <p:nvSpPr>
          <p:cNvPr id="50" name="Shape 46"/>
          <p:cNvSpPr/>
          <p:nvPr/>
        </p:nvSpPr>
        <p:spPr>
          <a:xfrm>
            <a:off x="7707352" y="1873671"/>
            <a:ext cx="50400" cy="50400"/>
          </a:xfrm>
          <a:prstGeom prst="rect">
            <a:avLst/>
          </a:prstGeom>
          <a:solidFill>
            <a:srgbClr val="0066FF"/>
          </a:solidFill>
          <a:ln w="12700">
            <a:solidFill>
              <a:srgbClr val="333333"/>
            </a:solidFill>
            <a:prstDash val="solid"/>
          </a:ln>
        </p:spPr>
      </p:sp>
      <p:sp>
        <p:nvSpPr>
          <p:cNvPr id="51" name="Text 47"/>
          <p:cNvSpPr txBox="1"/>
          <p:nvPr/>
        </p:nvSpPr>
        <p:spPr>
          <a:xfrm>
            <a:off x="7800952"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Career pathways defined for Chris and Harry</a:t>
            </a:r>
            <a:endParaRPr lang="en-US" sz="740" dirty="0"/>
          </a:p>
        </p:txBody>
      </p:sp>
      <p:sp>
        <p:nvSpPr>
          <p:cNvPr id="52" name="Shape 48"/>
          <p:cNvSpPr/>
          <p:nvPr/>
        </p:nvSpPr>
        <p:spPr>
          <a:xfrm>
            <a:off x="11201179" y="1400636"/>
            <a:ext cx="3479528" cy="2444386"/>
          </a:xfrm>
          <a:prstGeom prst="rect">
            <a:avLst/>
          </a:prstGeom>
          <a:solidFill>
            <a:srgbClr val="F5F7FA"/>
          </a:solidFill>
          <a:ln w="7620">
            <a:solidFill>
              <a:srgbClr val="E3E7EC"/>
            </a:solidFill>
            <a:prstDash val="solid"/>
          </a:ln>
        </p:spPr>
      </p:sp>
      <p:sp>
        <p:nvSpPr>
          <p:cNvPr id="53" name="Shape 49"/>
          <p:cNvSpPr/>
          <p:nvPr/>
        </p:nvSpPr>
        <p:spPr>
          <a:xfrm>
            <a:off x="11201179" y="1400636"/>
            <a:ext cx="3479528" cy="28800"/>
          </a:xfrm>
          <a:prstGeom prst="rect">
            <a:avLst/>
          </a:prstGeom>
          <a:solidFill>
            <a:srgbClr val="0066FF"/>
          </a:solidFill>
          <a:ln w="12700">
            <a:solidFill>
              <a:srgbClr val="333333"/>
            </a:solidFill>
            <a:prstDash val="solid"/>
          </a:ln>
        </p:spPr>
      </p:sp>
      <p:sp>
        <p:nvSpPr>
          <p:cNvPr id="54" name="Text 50"/>
          <p:cNvSpPr txBox="1"/>
          <p:nvPr/>
        </p:nvSpPr>
        <p:spPr>
          <a:xfrm>
            <a:off x="11294779" y="1494236"/>
            <a:ext cx="3292328" cy="107315"/>
          </a:xfrm>
          <a:prstGeom prst="rect">
            <a:avLst/>
          </a:prstGeom>
          <a:noFill/>
          <a:ln/>
        </p:spPr>
        <p:txBody>
          <a:bodyPr wrap="square" lIns="0" tIns="0" rIns="0" bIns="0" rtlCol="0" anchor="t"/>
          <a:lstStyle/>
          <a:p>
            <a:pPr indent="0" marL="0">
              <a:lnSpc>
                <a:spcPts val="845"/>
              </a:lnSpc>
              <a:buNone/>
            </a:pPr>
            <a:r>
              <a:rPr lang="en-US" sz="650" b="1" spc="65" kern="0" dirty="0">
                <a:solidFill>
                  <a:srgbClr val="0066FF"/>
                </a:solidFill>
                <a:latin typeface="Poppins" pitchFamily="34" charset="0"/>
                <a:ea typeface="Poppins" pitchFamily="34" charset="-122"/>
                <a:cs typeface="Poppins" pitchFamily="34" charset="-120"/>
              </a:rPr>
              <a:t>1 YEAR · TO SEPTEMBER 2027</a:t>
            </a:r>
            <a:endParaRPr lang="en-US" sz="650" dirty="0"/>
          </a:p>
        </p:txBody>
      </p:sp>
      <p:sp>
        <p:nvSpPr>
          <p:cNvPr id="55" name="Shape 51"/>
          <p:cNvSpPr/>
          <p:nvPr/>
        </p:nvSpPr>
        <p:spPr>
          <a:xfrm>
            <a:off x="11294779" y="1697019"/>
            <a:ext cx="50400" cy="50400"/>
          </a:xfrm>
          <a:prstGeom prst="rect">
            <a:avLst/>
          </a:prstGeom>
          <a:solidFill>
            <a:srgbClr val="0066FF"/>
          </a:solidFill>
          <a:ln w="12700">
            <a:solidFill>
              <a:srgbClr val="333333"/>
            </a:solidFill>
            <a:prstDash val="solid"/>
          </a:ln>
        </p:spPr>
      </p:sp>
      <p:sp>
        <p:nvSpPr>
          <p:cNvPr id="56" name="Text 52"/>
          <p:cNvSpPr txBox="1"/>
          <p:nvPr/>
        </p:nvSpPr>
        <p:spPr>
          <a:xfrm>
            <a:off x="11388379" y="1659151"/>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Referrals, JVPs and online driving most system sales</a:t>
            </a:r>
            <a:endParaRPr lang="en-US" sz="740" dirty="0"/>
          </a:p>
        </p:txBody>
      </p:sp>
      <p:sp>
        <p:nvSpPr>
          <p:cNvPr id="57" name="Shape 53"/>
          <p:cNvSpPr/>
          <p:nvPr/>
        </p:nvSpPr>
        <p:spPr>
          <a:xfrm>
            <a:off x="11294779" y="1873671"/>
            <a:ext cx="50400" cy="50400"/>
          </a:xfrm>
          <a:prstGeom prst="rect">
            <a:avLst/>
          </a:prstGeom>
          <a:solidFill>
            <a:srgbClr val="0066FF"/>
          </a:solidFill>
          <a:ln w="12700">
            <a:solidFill>
              <a:srgbClr val="333333"/>
            </a:solidFill>
            <a:prstDash val="solid"/>
          </a:ln>
        </p:spPr>
      </p:sp>
      <p:sp>
        <p:nvSpPr>
          <p:cNvPr id="58" name="Text 54"/>
          <p:cNvSpPr txBox="1"/>
          <p:nvPr/>
        </p:nvSpPr>
        <p:spPr>
          <a:xfrm>
            <a:off x="11388379" y="1835803"/>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Replicable events and promotions calendar in place</a:t>
            </a:r>
            <a:endParaRPr lang="en-US" sz="740" dirty="0"/>
          </a:p>
        </p:txBody>
      </p:sp>
      <p:sp>
        <p:nvSpPr>
          <p:cNvPr id="59" name="Shape 55"/>
          <p:cNvSpPr/>
          <p:nvPr/>
        </p:nvSpPr>
        <p:spPr>
          <a:xfrm>
            <a:off x="11294779" y="2050322"/>
            <a:ext cx="50400" cy="50400"/>
          </a:xfrm>
          <a:prstGeom prst="rect">
            <a:avLst/>
          </a:prstGeom>
          <a:solidFill>
            <a:srgbClr val="0066FF"/>
          </a:solidFill>
          <a:ln w="12700">
            <a:solidFill>
              <a:srgbClr val="333333"/>
            </a:solidFill>
            <a:prstDash val="solid"/>
          </a:ln>
        </p:spPr>
      </p:sp>
      <p:sp>
        <p:nvSpPr>
          <p:cNvPr id="60" name="Text 56"/>
          <p:cNvSpPr txBox="1"/>
          <p:nvPr/>
        </p:nvSpPr>
        <p:spPr>
          <a:xfrm>
            <a:off x="11388379" y="2012454"/>
            <a:ext cx="3198728" cy="133452"/>
          </a:xfrm>
          <a:prstGeom prst="rect">
            <a:avLst/>
          </a:prstGeom>
          <a:noFill/>
          <a:ln/>
        </p:spPr>
        <p:txBody>
          <a:bodyPr wrap="square" lIns="0" tIns="0" rIns="0" bIns="0" rtlCol="0" anchor="t"/>
          <a:lstStyle/>
          <a:p>
            <a:pPr indent="0" marL="0">
              <a:lnSpc>
                <a:spcPts val="1051"/>
              </a:lnSpc>
              <a:buNone/>
            </a:pPr>
            <a:r>
              <a:rPr lang="en-US" sz="740" dirty="0">
                <a:solidFill>
                  <a:srgbClr val="4A5565"/>
                </a:solidFill>
                <a:latin typeface="Poppins" pitchFamily="34" charset="0"/>
                <a:ea typeface="Poppins" pitchFamily="34" charset="-122"/>
                <a:cs typeface="Poppins" pitchFamily="34" charset="-120"/>
              </a:rPr>
              <a:t>Cashflow positive, JM on a wage</a:t>
            </a:r>
            <a:endParaRPr lang="en-US" sz="740" dirty="0"/>
          </a:p>
        </p:txBody>
      </p:sp>
      <p:sp>
        <p:nvSpPr>
          <p:cNvPr id="61" name="Shape 57"/>
          <p:cNvSpPr/>
          <p:nvPr/>
        </p:nvSpPr>
        <p:spPr>
          <a:xfrm>
            <a:off x="438898" y="3909822"/>
            <a:ext cx="14241809" cy="0"/>
          </a:xfrm>
          <a:prstGeom prst="line">
            <a:avLst/>
          </a:prstGeom>
          <a:noFill/>
          <a:ln w="7620">
            <a:solidFill>
              <a:srgbClr val="E3E7EC"/>
            </a:solidFill>
            <a:prstDash val="solid"/>
          </a:ln>
        </p:spPr>
      </p:sp>
      <p:sp>
        <p:nvSpPr>
          <p:cNvPr id="62" name="Text 58"/>
          <p:cNvSpPr txBox="1"/>
          <p:nvPr/>
        </p:nvSpPr>
        <p:spPr>
          <a:xfrm>
            <a:off x="438898" y="3967422"/>
            <a:ext cx="14241809"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Longer horizons, 1,000 refillers and proprietary system supply at three years, expansion, franchising and a production facility at five years, exit at ten to twelve, sit on the summary sheet. Clent is overseas from the end of September.</a:t>
            </a:r>
            <a:endParaRPr lang="en-US" sz="700" dirty="0"/>
          </a:p>
        </p:txBody>
      </p:sp>
      <p:sp>
        <p:nvSpPr>
          <p:cNvPr id="63" name="Shape 59"/>
          <p:cNvSpPr/>
          <p:nvPr/>
        </p:nvSpPr>
        <p:spPr>
          <a:xfrm>
            <a:off x="323698" y="4310536"/>
            <a:ext cx="4752137" cy="3087069"/>
          </a:xfrm>
          <a:prstGeom prst="rect">
            <a:avLst/>
          </a:prstGeom>
          <a:solidFill>
            <a:srgbClr val="FFFFFF"/>
          </a:solidFill>
          <a:ln w="7620">
            <a:solidFill>
              <a:srgbClr val="E3E7EC"/>
            </a:solidFill>
            <a:prstDash val="solid"/>
          </a:ln>
        </p:spPr>
      </p:sp>
      <p:sp>
        <p:nvSpPr>
          <p:cNvPr id="64" name="Text 60"/>
          <p:cNvSpPr txBox="1"/>
          <p:nvPr/>
        </p:nvSpPr>
        <p:spPr>
          <a:xfrm>
            <a:off x="438898" y="4425736"/>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THE DESTINATION PROGRAMME</a:t>
            </a:r>
            <a:endParaRPr lang="en-US" sz="680" dirty="0"/>
          </a:p>
        </p:txBody>
      </p:sp>
      <p:sp>
        <p:nvSpPr>
          <p:cNvPr id="65" name="Text 61"/>
          <p:cNvSpPr txBox="1"/>
          <p:nvPr/>
        </p:nvSpPr>
        <p:spPr>
          <a:xfrm>
            <a:off x="438898" y="4595604"/>
            <a:ext cx="4521737" cy="322478"/>
          </a:xfrm>
          <a:prstGeom prst="rect">
            <a:avLst/>
          </a:prstGeom>
          <a:noFill/>
          <a:ln/>
        </p:spPr>
        <p:txBody>
          <a:bodyPr wrap="square" lIns="0" tIns="0" rIns="0" bIns="0" rtlCol="0" anchor="t"/>
          <a:lstStyle/>
          <a:p>
            <a:pPr indent="0" marL="0">
              <a:lnSpc>
                <a:spcPts val="1270"/>
              </a:lnSpc>
              <a:buNone/>
            </a:pPr>
            <a:r>
              <a:rPr lang="en-US" sz="920" b="1" dirty="0">
                <a:solidFill>
                  <a:srgbClr val="0E171F"/>
                </a:solidFill>
                <a:latin typeface="Poppins" pitchFamily="34" charset="0"/>
                <a:ea typeface="Poppins" pitchFamily="34" charset="-122"/>
                <a:cs typeface="Poppins" pitchFamily="34" charset="-120"/>
              </a:rPr>
              <a:t>The room already makes money on events. This is about selling them deliberately.</a:t>
            </a:r>
            <a:endParaRPr lang="en-US" sz="920" dirty="0"/>
          </a:p>
        </p:txBody>
      </p:sp>
      <p:sp>
        <p:nvSpPr>
          <p:cNvPr id="66" name="Text 62"/>
          <p:cNvSpPr txBox="1"/>
          <p:nvPr/>
        </p:nvSpPr>
        <p:spPr>
          <a:xfrm>
            <a:off x="438898" y="5018741"/>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Tours.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Get onto the circuit. The bus parking is an asset, not a liability. Build the Urban Legends booking widget so operators stop coordinating venue by venue.</a:t>
            </a:r>
            <a:endParaRPr lang="en-US" sz="810" dirty="0"/>
          </a:p>
        </p:txBody>
      </p:sp>
      <p:sp>
        <p:nvSpPr>
          <p:cNvPr id="67" name="Text 63"/>
          <p:cNvSpPr txBox="1"/>
          <p:nvPr/>
        </p:nvSpPr>
        <p:spPr>
          <a:xfrm>
            <a:off x="438898" y="5428010"/>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Weddings and functions.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PR to tourism operators, event and wedding planners. The signature wedding brew turns one booking into reception volume and a take-home sample.</a:t>
            </a:r>
            <a:endParaRPr lang="en-US" sz="810" dirty="0"/>
          </a:p>
        </p:txBody>
      </p:sp>
      <p:sp>
        <p:nvSpPr>
          <p:cNvPr id="68" name="Text 64"/>
          <p:cNvSpPr txBox="1"/>
          <p:nvPr/>
        </p:nvSpPr>
        <p:spPr>
          <a:xfrm>
            <a:off x="438898" y="5991584"/>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Local business and ticketed music.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Justin's own taproom priorities: lunch and after-work trade from local business, and ticketed music events, not pausing walk-ins.</a:t>
            </a:r>
            <a:endParaRPr lang="en-US" sz="810" dirty="0"/>
          </a:p>
        </p:txBody>
      </p:sp>
      <p:sp>
        <p:nvSpPr>
          <p:cNvPr id="69" name="Text 65"/>
          <p:cNvSpPr txBox="1"/>
          <p:nvPr/>
        </p:nvSpPr>
        <p:spPr>
          <a:xfrm>
            <a:off x="438898" y="6400854"/>
            <a:ext cx="4521737" cy="30861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Party rental is the quiet one.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system in a house for a weekend is a demo the host runs for you, in front of the people who might buy one.</a:t>
            </a:r>
            <a:endParaRPr lang="en-US" sz="810" dirty="0"/>
          </a:p>
        </p:txBody>
      </p:sp>
      <p:sp>
        <p:nvSpPr>
          <p:cNvPr id="70" name="Shape 66"/>
          <p:cNvSpPr/>
          <p:nvPr/>
        </p:nvSpPr>
        <p:spPr>
          <a:xfrm>
            <a:off x="438898" y="6984775"/>
            <a:ext cx="4521737" cy="0"/>
          </a:xfrm>
          <a:prstGeom prst="line">
            <a:avLst/>
          </a:prstGeom>
          <a:noFill/>
          <a:ln w="7620">
            <a:solidFill>
              <a:srgbClr val="E3E7EC"/>
            </a:solidFill>
            <a:prstDash val="solid"/>
          </a:ln>
        </p:spPr>
      </p:sp>
      <p:sp>
        <p:nvSpPr>
          <p:cNvPr id="71" name="Text 67"/>
          <p:cNvSpPr txBox="1"/>
          <p:nvPr/>
        </p:nvSpPr>
        <p:spPr>
          <a:xfrm>
            <a:off x="438898" y="7042375"/>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First dated event: Oktoberfest plus the keg system giveaway. Taproom membership sits on Justin's three-month list; the business sheet flags two membership programmes as a cost to resolve.</a:t>
            </a:r>
            <a:endParaRPr lang="en-US" sz="700" dirty="0"/>
          </a:p>
        </p:txBody>
      </p:sp>
      <p:sp>
        <p:nvSpPr>
          <p:cNvPr id="72" name="Shape 68"/>
          <p:cNvSpPr/>
          <p:nvPr/>
        </p:nvSpPr>
        <p:spPr>
          <a:xfrm>
            <a:off x="5183734" y="4310536"/>
            <a:ext cx="4752137" cy="3087069"/>
          </a:xfrm>
          <a:prstGeom prst="rect">
            <a:avLst/>
          </a:prstGeom>
          <a:solidFill>
            <a:srgbClr val="FFFFFF"/>
          </a:solidFill>
          <a:ln w="7620">
            <a:solidFill>
              <a:srgbClr val="E3E7EC"/>
            </a:solidFill>
            <a:prstDash val="solid"/>
          </a:ln>
        </p:spPr>
      </p:sp>
      <p:sp>
        <p:nvSpPr>
          <p:cNvPr id="73" name="Text 69"/>
          <p:cNvSpPr txBox="1"/>
          <p:nvPr/>
        </p:nvSpPr>
        <p:spPr>
          <a:xfrm>
            <a:off x="5298934" y="4425736"/>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PARTNERSHIPS TO OPEN</a:t>
            </a:r>
            <a:endParaRPr lang="en-US" sz="68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298934" y="4595604"/>
          <a:ext cx="11339703" cy="914400"/>
        </p:xfrm>
        <a:graphic>
          <a:graphicData uri="http://schemas.openxmlformats.org/drawingml/2006/table">
            <a:tbl>
              <a:tblPr/>
              <a:tblGrid>
                <a:gridCol w="1459421"/>
                <a:gridCol w="2512445"/>
                <a:gridCol w="549871"/>
              </a:tblGrid>
              <a:tr h="232426">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Who</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The play</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Lead</a:t>
                      </a:r>
                      <a:endParaRPr lang="en-US" sz="620" dirty="0">
                        <a:latin typeface="Poppins" charset="0"/>
                        <a:ea typeface="Poppins" charset="0"/>
                        <a:cs typeface="Poppins" charset="0"/>
                      </a:endParaRPr>
                    </a:p>
                  </a:txBody>
                  <a:tcPr marL="46800" marR="46800" marT="46800" marB="468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361991">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Harvey Norman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GWP or first keg free at point of sale, plus the buyer database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Kegland / corny keg</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Buy the owner databases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Tap That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Benchy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Official partnership and database</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Tap That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Mark's venues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About 300 weddings a year across two venues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Zip water contacts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About 1,000 distribution points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Cannery contact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Parked. Canning is not in Justin's plan</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Clent</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47996">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JVPs and referral partners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List built, outreach started within three months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361991">
                <a:tc>
                  <a:txBody>
                    <a:bodyPr/>
                    <a:lstStyle/>
                    <a:p>
                      <a:pPr algn="l" indent="0" marL="0">
                        <a:lnSpc>
                          <a:spcPts val="898"/>
                        </a:lnSpc>
                        <a:buNone/>
                      </a:pPr>
                      <a:r>
                        <a:rPr lang="en-US" sz="660" b="1" dirty="0">
                          <a:solidFill>
                            <a:srgbClr val="0E171F"/>
                          </a:solidFill>
                          <a:latin typeface="Poppins" pitchFamily="34" charset="0"/>
                          <a:ea typeface="Poppins" pitchFamily="34" charset="-122"/>
                          <a:cs typeface="Poppins" pitchFamily="34" charset="-120"/>
                        </a:rPr>
                        <a:t>Brand ambassadors</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Kurt, Troy, Mitch, Aden, Ash. UGC content ready to deploy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l" indent="0" marL="0">
                        <a:lnSpc>
                          <a:spcPts val="898"/>
                        </a:lnSpc>
                        <a:buNone/>
                      </a:pPr>
                      <a:r>
                        <a:rPr lang="en-US" sz="660" dirty="0">
                          <a:solidFill>
                            <a:srgbClr val="4A5565"/>
                          </a:solidFill>
                          <a:latin typeface="Poppins" pitchFamily="34" charset="0"/>
                          <a:ea typeface="Poppins" pitchFamily="34" charset="-122"/>
                          <a:cs typeface="Poppins" pitchFamily="34" charset="-120"/>
                        </a:rPr>
                        <a:t>Harry</a:t>
                      </a:r>
                      <a:endParaRPr lang="en-US" sz="660" dirty="0">
                        <a:latin typeface="Poppins" charset="0"/>
                        <a:ea typeface="Poppins" charset="0"/>
                        <a:cs typeface="Poppins" charset="0"/>
                      </a:endParaRPr>
                    </a:p>
                  </a:txBody>
                  <a:tcPr marL="46800" marR="46800" marT="46800" marB="468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bl>
          </a:graphicData>
        </a:graphic>
      </p:graphicFrame>
      <p:sp>
        <p:nvSpPr>
          <p:cNvPr id="75" name="Shape 70"/>
          <p:cNvSpPr/>
          <p:nvPr/>
        </p:nvSpPr>
        <p:spPr>
          <a:xfrm>
            <a:off x="5298934" y="7104790"/>
            <a:ext cx="4521737" cy="0"/>
          </a:xfrm>
          <a:prstGeom prst="line">
            <a:avLst/>
          </a:prstGeom>
          <a:noFill/>
          <a:ln w="7620">
            <a:solidFill>
              <a:srgbClr val="E3E7EC"/>
            </a:solidFill>
            <a:prstDash val="solid"/>
          </a:ln>
        </p:spPr>
      </p:sp>
      <p:sp>
        <p:nvSpPr>
          <p:cNvPr id="76" name="Text 71"/>
          <p:cNvSpPr txBox="1"/>
          <p:nvPr/>
        </p:nvSpPr>
        <p:spPr>
          <a:xfrm>
            <a:off x="5298934" y="7162390"/>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Named in the catch-up and in Justin's plan. The ambassadors are Justin's list.</a:t>
            </a:r>
            <a:endParaRPr lang="en-US" sz="700" dirty="0"/>
          </a:p>
        </p:txBody>
      </p:sp>
      <p:sp>
        <p:nvSpPr>
          <p:cNvPr id="77" name="Shape 72"/>
          <p:cNvSpPr/>
          <p:nvPr/>
        </p:nvSpPr>
        <p:spPr>
          <a:xfrm>
            <a:off x="10043770" y="4310536"/>
            <a:ext cx="4752137" cy="3087069"/>
          </a:xfrm>
          <a:prstGeom prst="rect">
            <a:avLst/>
          </a:prstGeom>
          <a:solidFill>
            <a:srgbClr val="FFFFFF"/>
          </a:solidFill>
          <a:ln w="7620">
            <a:solidFill>
              <a:srgbClr val="E3E7EC"/>
            </a:solidFill>
            <a:prstDash val="solid"/>
          </a:ln>
        </p:spPr>
      </p:sp>
      <p:sp>
        <p:nvSpPr>
          <p:cNvPr id="78" name="Text 73"/>
          <p:cNvSpPr txBox="1"/>
          <p:nvPr/>
        </p:nvSpPr>
        <p:spPr>
          <a:xfrm>
            <a:off x="10158970" y="4425736"/>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ARTWORK, ALREADY BUILT</a:t>
            </a:r>
            <a:endParaRPr lang="en-US" sz="680" dirty="0"/>
          </a:p>
        </p:txBody>
      </p:sp>
      <p:sp>
        <p:nvSpPr>
          <p:cNvPr id="79" name="Text 74"/>
          <p:cNvSpPr txBox="1"/>
          <p:nvPr/>
        </p:nvSpPr>
        <p:spPr>
          <a:xfrm>
            <a:off x="10158970" y="4595604"/>
            <a:ext cx="4521737" cy="308610"/>
          </a:xfrm>
          <a:prstGeom prst="rect">
            <a:avLst/>
          </a:prstGeom>
          <a:noFill/>
          <a:ln/>
        </p:spPr>
        <p:txBody>
          <a:bodyPr wrap="square" lIns="0" tIns="0" rIns="0" bIns="0" rtlCol="0" anchor="t"/>
          <a:lstStyle/>
          <a:p>
            <a:pPr indent="0" marL="0">
              <a:lnSpc>
                <a:spcPts val="1215"/>
              </a:lnSpc>
              <a:buNone/>
            </a:pPr>
            <a:r>
              <a:rPr lang="en-US" sz="810" dirty="0">
                <a:solidFill>
                  <a:srgbClr val="4A5565"/>
                </a:solidFill>
                <a:latin typeface="Poppins" pitchFamily="34" charset="0"/>
                <a:ea typeface="Poppins" pitchFamily="34" charset="-122"/>
                <a:cs typeface="Poppins" pitchFamily="34" charset="-120"/>
              </a:rPr>
              <a:t>Four A4 event flyers are print-ready in Tap That's own format: weddings, bucks and hens, work functions, tours and tastings. Copy is a first pass and expects an edit.</a:t>
            </a:r>
            <a:endParaRPr lang="en-US" sz="810" dirty="0"/>
          </a:p>
        </p:txBody>
      </p:sp>
      <p:sp>
        <p:nvSpPr>
          <p:cNvPr id="80" name="Text 75"/>
          <p:cNvSpPr txBox="1"/>
          <p:nvPr/>
        </p:nvSpPr>
        <p:spPr>
          <a:xfrm>
            <a:off x="10158970" y="5069814"/>
            <a:ext cx="4521737" cy="617220"/>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Two image sets exist.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One on commissioned concept photography, one on August site-visit photography. The concept set looks better and is right for a pitch. Anything going out as real venue marketing runs the venue set, or the four frames get shot properly.</a:t>
            </a:r>
            <a:endParaRPr lang="en-US" sz="810" dirty="0"/>
          </a:p>
        </p:txBody>
      </p:sp>
      <p:sp>
        <p:nvSpPr>
          <p:cNvPr id="81" name="Text 76"/>
          <p:cNvSpPr txBox="1"/>
          <p:nvPr/>
        </p:nvSpPr>
        <p:spPr>
          <a:xfrm>
            <a:off x="10158970" y="5852634"/>
            <a:ext cx="4521737" cy="462915"/>
          </a:xfrm>
          <a:prstGeom prst="rect">
            <a:avLst/>
          </a:prstGeom>
          <a:noFill/>
          <a:ln/>
        </p:spPr>
        <p:txBody>
          <a:bodyPr wrap="square" lIns="0" tIns="0" rIns="0" bIns="0" rtlCol="0" anchor="t"/>
          <a:lstStyle/>
          <a:p>
            <a:pPr indent="0" marL="0">
              <a:lnSpc>
                <a:spcPts val="1215"/>
              </a:lnSpc>
              <a:buNone/>
            </a:pPr>
            <a:r>
              <a:rPr lang="en-US" sz="810" b="1" dirty="0">
                <a:solidFill>
                  <a:srgbClr val="0E171F"/>
                </a:solidFill>
                <a:latin typeface="Poppins" pitchFamily="34" charset="0"/>
                <a:ea typeface="Poppins" pitchFamily="34" charset="-122"/>
                <a:cs typeface="Poppins" pitchFamily="34" charset="-120"/>
              </a:rPr>
              <a:t>What is still needed: </a:t>
            </a:r>
            <a:pPr indent="0" marL="0">
              <a:lnSpc>
                <a:spcPts val="1215"/>
              </a:lnSpc>
              <a:buNone/>
            </a:pPr>
            <a:r>
              <a:rPr lang="en-US" sz="810" dirty="0">
                <a:solidFill>
                  <a:srgbClr val="4A5565"/>
                </a:solidFill>
                <a:latin typeface="Poppins" pitchFamily="34" charset="0"/>
                <a:ea typeface="Poppins" pitchFamily="34" charset="-122"/>
                <a:cs typeface="Poppins" pitchFamily="34" charset="-120"/>
              </a:rPr>
              <a:t>a wording pass from Christy, the per-schooner figure settled before any price goes on a flyer, and a decision on whether these print or stay digital. Next pieces: UGC and brand ambassador content, and Oktoberfest artwork.</a:t>
            </a:r>
            <a:endParaRPr lang="en-US" sz="810" dirty="0"/>
          </a:p>
        </p:txBody>
      </p:sp>
      <p:sp>
        <p:nvSpPr>
          <p:cNvPr id="82" name="Shape 77"/>
          <p:cNvSpPr/>
          <p:nvPr/>
        </p:nvSpPr>
        <p:spPr>
          <a:xfrm>
            <a:off x="10158970" y="6984775"/>
            <a:ext cx="4521737" cy="0"/>
          </a:xfrm>
          <a:prstGeom prst="line">
            <a:avLst/>
          </a:prstGeom>
          <a:noFill/>
          <a:ln w="7620">
            <a:solidFill>
              <a:srgbClr val="E3E7EC"/>
            </a:solidFill>
            <a:prstDash val="solid"/>
          </a:ln>
        </p:spPr>
      </p:sp>
      <p:sp>
        <p:nvSpPr>
          <p:cNvPr id="83" name="Text 78"/>
          <p:cNvSpPr txBox="1"/>
          <p:nvPr/>
        </p:nvSpPr>
        <p:spPr>
          <a:xfrm>
            <a:off x="10158970" y="7042375"/>
            <a:ext cx="4521737" cy="240030"/>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Tap That's guidelines rule out anything that could not have been taken at Burleigh Heads. That is the test.</a:t>
            </a:r>
            <a:endParaRPr lang="en-US" sz="700" dirty="0"/>
          </a:p>
        </p:txBody>
      </p:sp>
      <p:sp>
        <p:nvSpPr>
          <p:cNvPr id="84" name="Shape 79"/>
          <p:cNvSpPr/>
          <p:nvPr/>
        </p:nvSpPr>
        <p:spPr>
          <a:xfrm>
            <a:off x="323698" y="7505504"/>
            <a:ext cx="9612173" cy="2970575"/>
          </a:xfrm>
          <a:prstGeom prst="rect">
            <a:avLst/>
          </a:prstGeom>
          <a:solidFill>
            <a:srgbClr val="FFFFFF"/>
          </a:solidFill>
          <a:ln w="7620">
            <a:solidFill>
              <a:srgbClr val="E3E7EC"/>
            </a:solidFill>
            <a:prstDash val="solid"/>
          </a:ln>
        </p:spPr>
      </p:sp>
      <p:sp>
        <p:nvSpPr>
          <p:cNvPr id="85" name="Text 80"/>
          <p:cNvSpPr txBox="1"/>
          <p:nvPr/>
        </p:nvSpPr>
        <p:spPr>
          <a:xfrm>
            <a:off x="438898" y="7620704"/>
            <a:ext cx="9381773"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WHO DOES WHAT</a:t>
            </a:r>
            <a:pPr indent="0" marL="0">
              <a:lnSpc>
                <a:spcPts val="884"/>
              </a:lnSpc>
              <a:buNone/>
            </a:pPr>
            <a:r>
              <a:rPr lang="en-US" sz="680" spc="27" kern="0" dirty="0">
                <a:solidFill>
                  <a:srgbClr val="4A5565"/>
                </a:solidFill>
                <a:latin typeface="Poppins" pitchFamily="34" charset="0"/>
                <a:ea typeface="Poppins" pitchFamily="34" charset="-122"/>
                <a:cs typeface="Poppins" pitchFamily="34" charset="-120"/>
              </a:rPr>
              <a:t>  : R responsible · A accountable · C consulted</a:t>
            </a:r>
            <a:endParaRPr lang="en-US" sz="68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38898" y="7790572"/>
          <a:ext cx="11339703" cy="914400"/>
        </p:xfrm>
        <a:graphic>
          <a:graphicData uri="http://schemas.openxmlformats.org/drawingml/2006/table">
            <a:tbl>
              <a:tblPr/>
              <a:tblGrid>
                <a:gridCol w="3563845"/>
                <a:gridCol w="1006200"/>
                <a:gridCol w="913262"/>
                <a:gridCol w="964157"/>
                <a:gridCol w="923958"/>
                <a:gridCol w="1171424"/>
                <a:gridCol w="838926"/>
              </a:tblGrid>
              <a:tr h="275851">
                <a:tc>
                  <a:txBody>
                    <a:bodyPr/>
                    <a:lstStyle/>
                    <a:p>
                      <a:pPr algn="l"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Workstream</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Justin</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Chris</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Harry</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Clent</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Christy</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c>
                  <a:txBody>
                    <a:bodyPr/>
                    <a:lstStyle/>
                    <a:p>
                      <a:pPr algn="ctr" indent="0" marL="0">
                        <a:lnSpc>
                          <a:spcPts val="775"/>
                        </a:lnSpc>
                        <a:buNone/>
                      </a:pPr>
                      <a:r>
                        <a:rPr lang="en-US" sz="620" b="1" spc="62" kern="0" dirty="0">
                          <a:solidFill>
                            <a:srgbClr val="FFFFFF"/>
                          </a:solidFill>
                          <a:latin typeface="Poppins" pitchFamily="34" charset="0"/>
                          <a:ea typeface="Poppins" pitchFamily="34" charset="-122"/>
                          <a:cs typeface="Poppins" pitchFamily="34" charset="-120"/>
                        </a:rPr>
                        <a:t>JP</a:t>
                      </a:r>
                      <a:endParaRPr lang="en-US" sz="620" dirty="0">
                        <a:latin typeface="Poppins" charset="0"/>
                        <a:ea typeface="Poppins" charset="0"/>
                        <a:cs typeface="Poppins" charset="0"/>
                      </a:endParaRPr>
                    </a:p>
                  </a:txBody>
                  <a:tcPr marL="50400" marR="50400" marT="50400" marB="50400" anchor="ctr">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0E171F"/>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The shape decision</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Website, GoTab + Fishbowl, SEM</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Existing owners, referrals, JVPs</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Taproom, events, Oktoberfest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Wholesale and next hire</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Brand, messaging, proof</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FFFFF"/>
                    </a:solidFill>
                  </a:tcPr>
                </a:tc>
              </a:tr>
              <a:tr h="293149">
                <a:tc>
                  <a:txBody>
                    <a:bodyPr/>
                    <a:lstStyle/>
                    <a:p>
                      <a:pPr algn="l" indent="0" marL="0">
                        <a:lnSpc>
                          <a:spcPts val="911"/>
                        </a:lnSpc>
                        <a:buNone/>
                      </a:pPr>
                      <a:r>
                        <a:rPr lang="en-US" sz="670" dirty="0">
                          <a:solidFill>
                            <a:srgbClr val="4A5565"/>
                          </a:solidFill>
                          <a:latin typeface="Poppins" pitchFamily="34" charset="0"/>
                          <a:ea typeface="Poppins" pitchFamily="34" charset="-122"/>
                          <a:cs typeface="Poppins" pitchFamily="34" charset="-120"/>
                        </a:rPr>
                        <a:t>Campaign artwork</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A</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dirty="0">
                          <a:solidFill>
                            <a:srgbClr val="4A5565"/>
                          </a:solidFill>
                          <a:latin typeface="Poppins" pitchFamily="34" charset="0"/>
                          <a:ea typeface="Poppins" pitchFamily="34" charset="-122"/>
                          <a:cs typeface="Poppins" pitchFamily="34" charset="-120"/>
                        </a:rPr>
                        <a:t>C</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c>
                  <a:txBody>
                    <a:bodyPr/>
                    <a:lstStyle/>
                    <a:p>
                      <a:pPr algn="ctr" indent="0" marL="0">
                        <a:lnSpc>
                          <a:spcPts val="911"/>
                        </a:lnSpc>
                        <a:buNone/>
                      </a:pPr>
                      <a:r>
                        <a:rPr lang="en-US" sz="670" b="1" dirty="0">
                          <a:solidFill>
                            <a:srgbClr val="0E171F"/>
                          </a:solidFill>
                          <a:latin typeface="Poppins" pitchFamily="34" charset="0"/>
                          <a:ea typeface="Poppins" pitchFamily="34" charset="-122"/>
                          <a:cs typeface="Poppins" pitchFamily="34" charset="-120"/>
                        </a:rPr>
                        <a:t>R</a:t>
                      </a:r>
                      <a:endParaRPr lang="en-US" sz="670" dirty="0">
                        <a:latin typeface="Poppins" charset="0"/>
                        <a:ea typeface="Poppins" charset="0"/>
                        <a:cs typeface="Poppins" charset="0"/>
                      </a:endParaRPr>
                    </a:p>
                  </a:txBody>
                  <a:tcPr marL="50400" marR="50400" marT="50400" marB="50400" anchor="t">
                    <a:lnL w="0" cap="flat" cmpd="sng" algn="ctr">
                      <a:noFill/>
                    </a:lnL>
                    <a:lnR w="0" cap="flat" cmpd="sng" algn="ctr">
                      <a:noFill/>
                    </a:lnR>
                    <a:lnT w="0" cap="flat" cmpd="sng" algn="ctr">
                      <a:noFill/>
                    </a:lnT>
                    <a:lnB w="7620" cap="flat" cmpd="sng" algn="ctr">
                      <a:solidFill>
                        <a:srgbClr val="E3E7EC"/>
                      </a:solidFill>
                      <a:prstDash val="solid"/>
                      <a:round/>
                      <a:headEnd type="none" w="med" len="med"/>
                      <a:tailEnd type="none" w="med" len="med"/>
                    </a:lnB>
                    <a:solidFill>
                      <a:srgbClr val="F5F7FA"/>
                    </a:solidFill>
                  </a:tcPr>
                </a:tc>
              </a:tr>
            </a:tbl>
          </a:graphicData>
        </a:graphic>
      </p:graphicFrame>
      <p:sp>
        <p:nvSpPr>
          <p:cNvPr id="87" name="Shape 81"/>
          <p:cNvSpPr/>
          <p:nvPr/>
        </p:nvSpPr>
        <p:spPr>
          <a:xfrm>
            <a:off x="438898" y="10183264"/>
            <a:ext cx="9381773" cy="0"/>
          </a:xfrm>
          <a:prstGeom prst="line">
            <a:avLst/>
          </a:prstGeom>
          <a:noFill/>
          <a:ln w="7620">
            <a:solidFill>
              <a:srgbClr val="E3E7EC"/>
            </a:solidFill>
            <a:prstDash val="solid"/>
          </a:ln>
        </p:spPr>
      </p:sp>
      <p:sp>
        <p:nvSpPr>
          <p:cNvPr id="88" name="Text 82"/>
          <p:cNvSpPr txBox="1"/>
          <p:nvPr/>
        </p:nvSpPr>
        <p:spPr>
          <a:xfrm>
            <a:off x="438898" y="10240864"/>
            <a:ext cx="9381773"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Draft for the next conversation. Wholesale has no R on purpose, that is the hire; brewer vs wholesale plus bar is Justin's call. Chris is trapped in production, and this matrix has to free him, not load him.</a:t>
            </a:r>
            <a:endParaRPr lang="en-US" sz="700" dirty="0"/>
          </a:p>
        </p:txBody>
      </p:sp>
      <p:sp>
        <p:nvSpPr>
          <p:cNvPr id="89" name="Shape 83"/>
          <p:cNvSpPr/>
          <p:nvPr/>
        </p:nvSpPr>
        <p:spPr>
          <a:xfrm>
            <a:off x="10043770" y="7505504"/>
            <a:ext cx="4752137" cy="2970575"/>
          </a:xfrm>
          <a:prstGeom prst="rect">
            <a:avLst/>
          </a:prstGeom>
          <a:solidFill>
            <a:srgbClr val="FFFFFF"/>
          </a:solidFill>
          <a:ln w="7620">
            <a:solidFill>
              <a:srgbClr val="E3E7EC"/>
            </a:solidFill>
            <a:prstDash val="solid"/>
          </a:ln>
        </p:spPr>
      </p:sp>
      <p:sp>
        <p:nvSpPr>
          <p:cNvPr id="90" name="Text 84"/>
          <p:cNvSpPr txBox="1"/>
          <p:nvPr/>
        </p:nvSpPr>
        <p:spPr>
          <a:xfrm>
            <a:off x="10158970" y="7620704"/>
            <a:ext cx="4521737" cy="112268"/>
          </a:xfrm>
          <a:prstGeom prst="rect">
            <a:avLst/>
          </a:prstGeom>
          <a:noFill/>
          <a:ln/>
        </p:spPr>
        <p:txBody>
          <a:bodyPr wrap="square" lIns="0" tIns="0" rIns="0" bIns="0" rtlCol="0" anchor="t"/>
          <a:lstStyle/>
          <a:p>
            <a:pPr indent="0" marL="0">
              <a:lnSpc>
                <a:spcPts val="884"/>
              </a:lnSpc>
              <a:buNone/>
            </a:pPr>
            <a:r>
              <a:rPr lang="en-US" sz="680" b="1" spc="95" kern="0" dirty="0">
                <a:solidFill>
                  <a:srgbClr val="0066FF"/>
                </a:solidFill>
                <a:latin typeface="Poppins" pitchFamily="34" charset="0"/>
                <a:ea typeface="Poppins" pitchFamily="34" charset="-122"/>
                <a:cs typeface="Poppins" pitchFamily="34" charset="-120"/>
              </a:rPr>
              <a:t>CHECKPOINTS</a:t>
            </a:r>
            <a:endParaRPr lang="en-US" sz="680" dirty="0"/>
          </a:p>
        </p:txBody>
      </p:sp>
      <p:sp>
        <p:nvSpPr>
          <p:cNvPr id="91" name="Shape 85"/>
          <p:cNvSpPr/>
          <p:nvPr/>
        </p:nvSpPr>
        <p:spPr>
          <a:xfrm>
            <a:off x="10158970" y="7826611"/>
            <a:ext cx="50400" cy="50400"/>
          </a:xfrm>
          <a:prstGeom prst="rect">
            <a:avLst/>
          </a:prstGeom>
          <a:solidFill>
            <a:srgbClr val="0066FF"/>
          </a:solidFill>
          <a:ln w="12700">
            <a:solidFill>
              <a:srgbClr val="333333"/>
            </a:solidFill>
            <a:prstDash val="solid"/>
          </a:ln>
        </p:spPr>
      </p:sp>
      <p:sp>
        <p:nvSpPr>
          <p:cNvPr id="92" name="Text 86"/>
          <p:cNvSpPr txBox="1"/>
          <p:nvPr/>
        </p:nvSpPr>
        <p:spPr>
          <a:xfrm>
            <a:off x="10266970" y="7790572"/>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Thu 17 Sept.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Justin's commitments back. Still stands.</a:t>
            </a:r>
            <a:endParaRPr lang="en-US" sz="730" dirty="0"/>
          </a:p>
        </p:txBody>
      </p:sp>
      <p:sp>
        <p:nvSpPr>
          <p:cNvPr id="93" name="Shape 87"/>
          <p:cNvSpPr/>
          <p:nvPr/>
        </p:nvSpPr>
        <p:spPr>
          <a:xfrm>
            <a:off x="10158970" y="8266231"/>
            <a:ext cx="50400" cy="50400"/>
          </a:xfrm>
          <a:prstGeom prst="rect">
            <a:avLst/>
          </a:prstGeom>
          <a:solidFill>
            <a:srgbClr val="0066FF"/>
          </a:solidFill>
          <a:ln w="12700">
            <a:solidFill>
              <a:srgbClr val="333333"/>
            </a:solidFill>
            <a:prstDash val="solid"/>
          </a:ln>
        </p:spPr>
      </p:sp>
      <p:sp>
        <p:nvSpPr>
          <p:cNvPr id="94" name="Text 88"/>
          <p:cNvSpPr txBox="1"/>
          <p:nvPr/>
        </p:nvSpPr>
        <p:spPr>
          <a:xfrm>
            <a:off x="10266970" y="8230191"/>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w/c 21 Sept.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Clent and Christy regroup, plan confirmed, owners named. Still stands.</a:t>
            </a:r>
            <a:endParaRPr lang="en-US" sz="730" dirty="0"/>
          </a:p>
        </p:txBody>
      </p:sp>
      <p:sp>
        <p:nvSpPr>
          <p:cNvPr id="95" name="Shape 89"/>
          <p:cNvSpPr/>
          <p:nvPr/>
        </p:nvSpPr>
        <p:spPr>
          <a:xfrm>
            <a:off x="10158970" y="8705851"/>
            <a:ext cx="50400" cy="50400"/>
          </a:xfrm>
          <a:prstGeom prst="rect">
            <a:avLst/>
          </a:prstGeom>
          <a:solidFill>
            <a:srgbClr val="0066FF"/>
          </a:solidFill>
          <a:ln w="12700">
            <a:solidFill>
              <a:srgbClr val="333333"/>
            </a:solidFill>
            <a:prstDash val="solid"/>
          </a:ln>
        </p:spPr>
      </p:sp>
      <p:sp>
        <p:nvSpPr>
          <p:cNvPr id="96" name="Text 90"/>
          <p:cNvSpPr txBox="1"/>
          <p:nvPr/>
        </p:nvSpPr>
        <p:spPr>
          <a:xfrm>
            <a:off x="10266970" y="8669811"/>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Mid-October.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30-day list closed, including meeting rhythm and agenda. Oktoberfest run.</a:t>
            </a:r>
            <a:endParaRPr lang="en-US" sz="730" dirty="0"/>
          </a:p>
        </p:txBody>
      </p:sp>
      <p:sp>
        <p:nvSpPr>
          <p:cNvPr id="97" name="Shape 91"/>
          <p:cNvSpPr/>
          <p:nvPr/>
        </p:nvSpPr>
        <p:spPr>
          <a:xfrm>
            <a:off x="10158970" y="9145470"/>
            <a:ext cx="50400" cy="50400"/>
          </a:xfrm>
          <a:prstGeom prst="rect">
            <a:avLst/>
          </a:prstGeom>
          <a:solidFill>
            <a:srgbClr val="0066FF"/>
          </a:solidFill>
          <a:ln w="12700">
            <a:solidFill>
              <a:srgbClr val="333333"/>
            </a:solidFill>
            <a:prstDash val="solid"/>
          </a:ln>
        </p:spPr>
      </p:sp>
      <p:sp>
        <p:nvSpPr>
          <p:cNvPr id="98" name="Text 92"/>
          <p:cNvSpPr txBox="1"/>
          <p:nvPr/>
        </p:nvSpPr>
        <p:spPr>
          <a:xfrm>
            <a:off x="10266970" y="9109431"/>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Mid-December.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Three-month list closed. Tech live, lease-to-buy launched.</a:t>
            </a:r>
            <a:endParaRPr lang="en-US" sz="730" dirty="0"/>
          </a:p>
        </p:txBody>
      </p:sp>
      <p:sp>
        <p:nvSpPr>
          <p:cNvPr id="99" name="Shape 93"/>
          <p:cNvSpPr/>
          <p:nvPr/>
        </p:nvSpPr>
        <p:spPr>
          <a:xfrm>
            <a:off x="10158970" y="9585090"/>
            <a:ext cx="50400" cy="50400"/>
          </a:xfrm>
          <a:prstGeom prst="rect">
            <a:avLst/>
          </a:prstGeom>
          <a:solidFill>
            <a:srgbClr val="0066FF"/>
          </a:solidFill>
          <a:ln w="12700">
            <a:solidFill>
              <a:srgbClr val="333333"/>
            </a:solidFill>
            <a:prstDash val="solid"/>
          </a:ln>
        </p:spPr>
      </p:sp>
      <p:sp>
        <p:nvSpPr>
          <p:cNvPr id="100" name="Text 94"/>
          <p:cNvSpPr txBox="1"/>
          <p:nvPr/>
        </p:nvSpPr>
        <p:spPr>
          <a:xfrm>
            <a:off x="10266970" y="9549051"/>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March 2027.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250 active refillers.</a:t>
            </a:r>
            <a:endParaRPr lang="en-US" sz="730" dirty="0"/>
          </a:p>
        </p:txBody>
      </p:sp>
      <p:sp>
        <p:nvSpPr>
          <p:cNvPr id="101" name="Shape 95"/>
          <p:cNvSpPr/>
          <p:nvPr/>
        </p:nvSpPr>
        <p:spPr>
          <a:xfrm>
            <a:off x="10158970" y="10024710"/>
            <a:ext cx="50400" cy="50400"/>
          </a:xfrm>
          <a:prstGeom prst="rect">
            <a:avLst/>
          </a:prstGeom>
          <a:solidFill>
            <a:srgbClr val="0066FF"/>
          </a:solidFill>
          <a:ln w="12700">
            <a:solidFill>
              <a:srgbClr val="333333"/>
            </a:solidFill>
            <a:prstDash val="solid"/>
          </a:ln>
        </p:spPr>
      </p:sp>
      <p:sp>
        <p:nvSpPr>
          <p:cNvPr id="102" name="Text 96"/>
          <p:cNvSpPr txBox="1"/>
          <p:nvPr/>
        </p:nvSpPr>
        <p:spPr>
          <a:xfrm>
            <a:off x="10266970" y="9988670"/>
            <a:ext cx="4413737" cy="129794"/>
          </a:xfrm>
          <a:prstGeom prst="rect">
            <a:avLst/>
          </a:prstGeom>
          <a:noFill/>
          <a:ln/>
        </p:spPr>
        <p:txBody>
          <a:bodyPr wrap="square" lIns="0" tIns="0" rIns="0" bIns="0" rtlCol="0" anchor="t"/>
          <a:lstStyle/>
          <a:p>
            <a:pPr indent="0" marL="0">
              <a:lnSpc>
                <a:spcPts val="1022"/>
              </a:lnSpc>
              <a:buNone/>
            </a:pPr>
            <a:r>
              <a:rPr lang="en-US" sz="730" b="1" dirty="0">
                <a:solidFill>
                  <a:srgbClr val="0E171F"/>
                </a:solidFill>
                <a:latin typeface="Poppins" pitchFamily="34" charset="0"/>
                <a:ea typeface="Poppins" pitchFamily="34" charset="-122"/>
                <a:cs typeface="Poppins" pitchFamily="34" charset="-120"/>
              </a:rPr>
              <a:t>September 2027. </a:t>
            </a:r>
            <a:pPr indent="0" marL="0">
              <a:lnSpc>
                <a:spcPts val="1022"/>
              </a:lnSpc>
              <a:buNone/>
            </a:pPr>
            <a:r>
              <a:rPr lang="en-US" sz="730" dirty="0">
                <a:solidFill>
                  <a:srgbClr val="4A5565"/>
                </a:solidFill>
                <a:latin typeface="Poppins" pitchFamily="34" charset="0"/>
                <a:ea typeface="Poppins" pitchFamily="34" charset="-122"/>
                <a:cs typeface="Poppins" pitchFamily="34" charset="-120"/>
              </a:rPr>
              <a:t>Cashflow positive, JM on a wage.</a:t>
            </a:r>
            <a:endParaRPr lang="en-US" sz="730" dirty="0"/>
          </a:p>
        </p:txBody>
      </p:sp>
      <p:sp>
        <p:nvSpPr>
          <p:cNvPr id="103" name="Shape 97"/>
          <p:cNvSpPr/>
          <p:nvPr/>
        </p:nvSpPr>
        <p:spPr>
          <a:xfrm>
            <a:off x="10158970" y="10183264"/>
            <a:ext cx="4521737" cy="0"/>
          </a:xfrm>
          <a:prstGeom prst="line">
            <a:avLst/>
          </a:prstGeom>
          <a:noFill/>
          <a:ln w="7620">
            <a:solidFill>
              <a:srgbClr val="E3E7EC"/>
            </a:solidFill>
            <a:prstDash val="solid"/>
          </a:ln>
        </p:spPr>
      </p:sp>
      <p:sp>
        <p:nvSpPr>
          <p:cNvPr id="104" name="Text 98"/>
          <p:cNvSpPr txBox="1"/>
          <p:nvPr/>
        </p:nvSpPr>
        <p:spPr>
          <a:xfrm>
            <a:off x="10158970" y="10240864"/>
            <a:ext cx="4521737" cy="120015"/>
          </a:xfrm>
          <a:prstGeom prst="rect">
            <a:avLst/>
          </a:prstGeom>
          <a:noFill/>
          <a:ln/>
        </p:spPr>
        <p:txBody>
          <a:bodyPr wrap="square" lIns="0" tIns="0" rIns="0" bIns="0" rtlCol="0" anchor="t"/>
          <a:lstStyle/>
          <a:p>
            <a:pPr indent="0" marL="0">
              <a:lnSpc>
                <a:spcPts val="945"/>
              </a:lnSpc>
              <a:buNone/>
            </a:pPr>
            <a:r>
              <a:rPr lang="en-US" sz="700" i="1" dirty="0">
                <a:solidFill>
                  <a:srgbClr val="4A5565"/>
                </a:solidFill>
                <a:latin typeface="Poppins" pitchFamily="34" charset="0"/>
                <a:ea typeface="Poppins" pitchFamily="34" charset="-122"/>
                <a:cs typeface="Poppins" pitchFamily="34" charset="-120"/>
              </a:rPr>
              <a:t>Every review asks first whether active refillers moved.</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Jewell Projects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 That Brewery - the plan on a page</dc:title>
  <dc:subject>PptxGenJS Presentation</dc:subject>
  <dc:creator>Jewell Projects</dc:creator>
  <cp:lastModifiedBy>Jewell Projects</cp:lastModifiedBy>
  <cp:revision>1</cp:revision>
  <dcterms:created xsi:type="dcterms:W3CDTF">2026-09-16T01:20:28Z</dcterms:created>
  <dcterms:modified xsi:type="dcterms:W3CDTF">2026-09-16T01:20:28Z</dcterms:modified>
</cp:coreProperties>
</file>