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19604" cy="10692079"/>
  <p:notesSz cx="10692079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Editable. Text boxes and tables, not pictures. Words match the A3 sheet of the same name; if you change them here, tell us so the printed sheet is rebuilt to match.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Editable. Text boxes and tables, not pictures. Words match the A3 sheet of the same name; if you change them here, tell us so the printed sheet is rebuilt to match.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Editable. Text boxes and tables, not pictures. Words match the A3 sheet of the same name; if you change them here, tell us so the printed sheet is rebuilt to match.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Editable. Text boxes and tables, not pictures. Words match the A3 sheet of the same name; if you change them here, tell us so the printed sheet is rebuilt to match.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Editable. Text boxes and tables, not pictures. Words match the A3 sheet of the same name; if you change them here, tell us so the printed sheet is rebuilt to match.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./site/brand/taptha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3698" y="301752"/>
            <a:ext cx="360000" cy="360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7698" y="310896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plan – on a page</a:t>
            </a:r>
            <a:endParaRPr lang="en-US" sz="2100" dirty="0"/>
          </a:p>
        </p:txBody>
      </p:sp>
      <p:sp>
        <p:nvSpPr>
          <p:cNvPr id="4" name="Shape 1"/>
          <p:cNvSpPr/>
          <p:nvPr/>
        </p:nvSpPr>
        <p:spPr>
          <a:xfrm>
            <a:off x="13650938" y="365760"/>
            <a:ext cx="1144969" cy="251460"/>
          </a:xfrm>
          <a:prstGeom prst="roundRect">
            <a:avLst>
              <a:gd name="adj" fmla="val 50000"/>
            </a:avLst>
          </a:prstGeom>
          <a:solidFill>
            <a:srgbClr val="0E171F"/>
          </a:solidFill>
          <a:ln w="9525">
            <a:solidFill>
              <a:srgbClr val="0E171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3650938" y="365760"/>
            <a:ext cx="1144969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78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JEWELL PROJECTS</a:t>
            </a:r>
            <a:endParaRPr lang="en-US" sz="650" dirty="0"/>
          </a:p>
        </p:txBody>
      </p:sp>
      <p:sp>
        <p:nvSpPr>
          <p:cNvPr id="6" name="Shape 3"/>
          <p:cNvSpPr/>
          <p:nvPr/>
        </p:nvSpPr>
        <p:spPr>
          <a:xfrm>
            <a:off x="12410462" y="365760"/>
            <a:ext cx="1150475" cy="2514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2410462" y="365760"/>
            <a:ext cx="1150475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78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V01 · 15 SEPT 2026</a:t>
            </a:r>
            <a:endParaRPr lang="en-US" sz="650" dirty="0"/>
          </a:p>
        </p:txBody>
      </p:sp>
      <p:sp>
        <p:nvSpPr>
          <p:cNvPr id="8" name="Shape 5"/>
          <p:cNvSpPr/>
          <p:nvPr/>
        </p:nvSpPr>
        <p:spPr>
          <a:xfrm>
            <a:off x="11102419" y="365760"/>
            <a:ext cx="1218043" cy="2514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102419" y="365760"/>
            <a:ext cx="1218043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78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 THAT BREWERY</a:t>
            </a:r>
            <a:endParaRPr lang="en-US" sz="650" dirty="0"/>
          </a:p>
        </p:txBody>
      </p:sp>
      <p:sp>
        <p:nvSpPr>
          <p:cNvPr id="10" name="Shape 7"/>
          <p:cNvSpPr/>
          <p:nvPr/>
        </p:nvSpPr>
        <p:spPr>
          <a:xfrm>
            <a:off x="10260952" y="365760"/>
            <a:ext cx="751467" cy="2514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260952" y="365760"/>
            <a:ext cx="751467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78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650" dirty="0"/>
          </a:p>
        </p:txBody>
      </p:sp>
      <p:sp>
        <p:nvSpPr>
          <p:cNvPr id="12" name="Shape 9"/>
          <p:cNvSpPr/>
          <p:nvPr/>
        </p:nvSpPr>
        <p:spPr>
          <a:xfrm>
            <a:off x="323698" y="969264"/>
            <a:ext cx="14472209" cy="0"/>
          </a:xfrm>
          <a:prstGeom prst="line">
            <a:avLst/>
          </a:prstGeom>
          <a:noFill/>
          <a:ln w="25400">
            <a:solidFill>
              <a:srgbClr val="0E171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3698" y="1115568"/>
            <a:ext cx="8397164" cy="2686259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3698" y="1115568"/>
            <a:ext cx="8397164" cy="360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38898" y="1230768"/>
            <a:ext cx="8166764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NORTH STAR</a:t>
            </a:r>
            <a:endParaRPr lang="en-US" sz="680" dirty="0"/>
          </a:p>
        </p:txBody>
      </p:sp>
      <p:sp>
        <p:nvSpPr>
          <p:cNvPr id="16" name="Text 13"/>
          <p:cNvSpPr txBox="1"/>
          <p:nvPr/>
        </p:nvSpPr>
        <p:spPr>
          <a:xfrm>
            <a:off x="438898" y="1400636"/>
            <a:ext cx="816676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1,000 keg systems in the market. Every decision gets tested against whether it moves that number.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38898" y="2007180"/>
            <a:ext cx="8166764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shape decision underneath it: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refills lead, and the Tap Room stops being run as a walk-in venue. It becomes a destination that sells events, tours and functions. The two halves have been cancelling each other out, because a good refill business takes traffic out of the room.</a:t>
            </a:r>
            <a:endParaRPr lang="en-US" sz="810" dirty="0"/>
          </a:p>
        </p:txBody>
      </p:sp>
      <p:sp>
        <p:nvSpPr>
          <p:cNvPr id="18" name="Text 15"/>
          <p:cNvSpPr txBox="1"/>
          <p:nvPr/>
        </p:nvSpPr>
        <p:spPr>
          <a:xfrm>
            <a:off x="438898" y="2481390"/>
            <a:ext cx="8166764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nothing is decided, the default continues.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Marketing time keeps going to the half that loses money, the best insights stay buried in a long document, and 1,000 systems stays a number on a slide.</a:t>
            </a:r>
            <a:endParaRPr lang="en-US" sz="810" dirty="0"/>
          </a:p>
        </p:txBody>
      </p:sp>
      <p:sp>
        <p:nvSpPr>
          <p:cNvPr id="19" name="Shape 16"/>
          <p:cNvSpPr/>
          <p:nvPr/>
        </p:nvSpPr>
        <p:spPr>
          <a:xfrm>
            <a:off x="438898" y="3509012"/>
            <a:ext cx="8166764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8898" y="3566612"/>
            <a:ext cx="8166764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North star proposed by Christy in the 15 September catch-up. Numbers on this sheet come from the Discovery pack unless marked.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8828761" y="1115568"/>
            <a:ext cx="5967146" cy="2686259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943961" y="1230768"/>
            <a:ext cx="5736746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WE START FROM</a:t>
            </a:r>
            <a:endParaRPr lang="en-US" sz="680" dirty="0"/>
          </a:p>
        </p:txBody>
      </p:sp>
      <p:sp>
        <p:nvSpPr>
          <p:cNvPr id="23" name="Shape 20"/>
          <p:cNvSpPr/>
          <p:nvPr/>
        </p:nvSpPr>
        <p:spPr>
          <a:xfrm>
            <a:off x="8943961" y="1400636"/>
            <a:ext cx="1864249" cy="1106996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051961" y="1768057"/>
            <a:ext cx="16482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96–113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9051961" y="2049177"/>
            <a:ext cx="1648249" cy="91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17"/>
              </a:lnSpc>
              <a:buNone/>
            </a:pPr>
            <a:r>
              <a:rPr lang="en-US" sz="560" b="1" spc="56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REFILL CUSTOMERS, NO PUSH</a:t>
            </a:r>
            <a:endParaRPr lang="en-US" sz="560" dirty="0"/>
          </a:p>
        </p:txBody>
      </p:sp>
      <p:sp>
        <p:nvSpPr>
          <p:cNvPr id="26" name="Shape 23"/>
          <p:cNvSpPr/>
          <p:nvPr/>
        </p:nvSpPr>
        <p:spPr>
          <a:xfrm>
            <a:off x="10880209" y="1400636"/>
            <a:ext cx="1864249" cy="1106996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88209" y="1768057"/>
            <a:ext cx="16482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206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988209" y="2049177"/>
            <a:ext cx="1648249" cy="91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17"/>
              </a:lnSpc>
              <a:buNone/>
            </a:pPr>
            <a:r>
              <a:rPr lang="en-US" sz="560" b="1" spc="56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SYSTEMS IN THE DATABASE</a:t>
            </a:r>
            <a:endParaRPr lang="en-US" sz="560" dirty="0"/>
          </a:p>
        </p:txBody>
      </p:sp>
      <p:sp>
        <p:nvSpPr>
          <p:cNvPr id="29" name="Shape 26"/>
          <p:cNvSpPr/>
          <p:nvPr/>
        </p:nvSpPr>
        <p:spPr>
          <a:xfrm>
            <a:off x="12816458" y="1400636"/>
            <a:ext cx="1864249" cy="1106996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2924458" y="1768057"/>
            <a:ext cx="16482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56%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2924458" y="2049177"/>
            <a:ext cx="1648249" cy="91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17"/>
              </a:lnSpc>
              <a:buNone/>
            </a:pPr>
            <a:r>
              <a:rPr lang="en-US" sz="560" b="1" spc="56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BOUGHT THEIR SYSTEM ELSEWHERE</a:t>
            </a:r>
            <a:endParaRPr lang="en-US" sz="560" dirty="0"/>
          </a:p>
        </p:txBody>
      </p:sp>
      <p:sp>
        <p:nvSpPr>
          <p:cNvPr id="32" name="Shape 29"/>
          <p:cNvSpPr/>
          <p:nvPr/>
        </p:nvSpPr>
        <p:spPr>
          <a:xfrm>
            <a:off x="8943961" y="2579632"/>
            <a:ext cx="1864249" cy="1106996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051961" y="2947053"/>
            <a:ext cx="16482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~9×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9051961" y="3228173"/>
            <a:ext cx="1648249" cy="91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17"/>
              </a:lnSpc>
              <a:buNone/>
            </a:pPr>
            <a:r>
              <a:rPr lang="en-US" sz="560" b="1" spc="56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CLIMB TO 1,000 FROM HERE</a:t>
            </a:r>
            <a:endParaRPr lang="en-US" sz="560" dirty="0"/>
          </a:p>
        </p:txBody>
      </p:sp>
      <p:sp>
        <p:nvSpPr>
          <p:cNvPr id="35" name="Shape 32"/>
          <p:cNvSpPr/>
          <p:nvPr/>
        </p:nvSpPr>
        <p:spPr>
          <a:xfrm>
            <a:off x="10880209" y="2579632"/>
            <a:ext cx="1864249" cy="1106996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0988209" y="2947053"/>
            <a:ext cx="16482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10988209" y="3228173"/>
            <a:ext cx="1648249" cy="91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17"/>
              </a:lnSpc>
              <a:buNone/>
            </a:pPr>
            <a:r>
              <a:rPr lang="en-US" sz="560" b="1" spc="56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LAPSED CITE CUTTING BACK</a:t>
            </a:r>
            <a:endParaRPr lang="en-US" sz="560" dirty="0"/>
          </a:p>
        </p:txBody>
      </p:sp>
      <p:sp>
        <p:nvSpPr>
          <p:cNvPr id="38" name="Shape 35"/>
          <p:cNvSpPr/>
          <p:nvPr/>
        </p:nvSpPr>
        <p:spPr>
          <a:xfrm>
            <a:off x="12816458" y="2579632"/>
            <a:ext cx="1864249" cy="1106996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2924458" y="2947053"/>
            <a:ext cx="16482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1:10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12924458" y="3228173"/>
            <a:ext cx="1648249" cy="91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17"/>
              </a:lnSpc>
              <a:buNone/>
            </a:pPr>
            <a:r>
              <a:rPr lang="en-US" sz="560" b="1" spc="56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WHOLESALE ACCOUNT VS HOUSEHOLD</a:t>
            </a:r>
            <a:endParaRPr lang="en-US" sz="560" dirty="0"/>
          </a:p>
        </p:txBody>
      </p:sp>
      <p:sp>
        <p:nvSpPr>
          <p:cNvPr id="41" name="Shape 38"/>
          <p:cNvSpPr/>
          <p:nvPr/>
        </p:nvSpPr>
        <p:spPr>
          <a:xfrm>
            <a:off x="323698" y="3909727"/>
            <a:ext cx="14472209" cy="3314958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38898" y="4024927"/>
            <a:ext cx="14241809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FOUR PLANS, ONE MOVE EACH</a:t>
            </a:r>
            <a:pPr indent="0" marL="0">
              <a:lnSpc>
                <a:spcPts val="884"/>
              </a:lnSpc>
              <a:buNone/>
            </a:pPr>
            <a:r>
              <a:rPr lang="en-US" sz="680" spc="27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: the rest of this pack is a page per plan</a:t>
            </a:r>
            <a:endParaRPr lang="en-US" sz="680" dirty="0"/>
          </a:p>
        </p:txBody>
      </p:sp>
      <p:sp>
        <p:nvSpPr>
          <p:cNvPr id="43" name="Shape 40"/>
          <p:cNvSpPr/>
          <p:nvPr/>
        </p:nvSpPr>
        <p:spPr>
          <a:xfrm>
            <a:off x="438898" y="4194795"/>
            <a:ext cx="3479528" cy="2914690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38898" y="4194795"/>
            <a:ext cx="3479528" cy="288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32498" y="4288395"/>
            <a:ext cx="3292328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BUSINESS</a:t>
            </a:r>
            <a:endParaRPr lang="en-US" sz="680" dirty="0"/>
          </a:p>
        </p:txBody>
      </p:sp>
      <p:sp>
        <p:nvSpPr>
          <p:cNvPr id="46" name="Text 43"/>
          <p:cNvSpPr txBox="1"/>
          <p:nvPr/>
        </p:nvSpPr>
        <p:spPr>
          <a:xfrm>
            <a:off x="532498" y="4458263"/>
            <a:ext cx="3292328" cy="1560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29"/>
              </a:lnSpc>
              <a:buNone/>
            </a:pPr>
            <a:r>
              <a:rPr lang="en-US" sz="96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Stop funding the losing half.</a:t>
            </a:r>
            <a:endParaRPr lang="en-US" sz="960" dirty="0"/>
          </a:p>
        </p:txBody>
      </p:sp>
      <p:sp>
        <p:nvSpPr>
          <p:cNvPr id="47" name="Text 44"/>
          <p:cNvSpPr txBox="1"/>
          <p:nvPr/>
        </p:nvSpPr>
        <p:spPr>
          <a:xfrm>
            <a:off x="532498" y="4679120"/>
            <a:ext cx="3292328" cy="593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9"/>
              </a:lnSpc>
              <a:buNone/>
            </a:pPr>
            <a:r>
              <a:rPr lang="en-US" sz="79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Pause walk-in trading and redirect that spend into refills and wholesale. Resource wholesale properly, because one account is worth about ten households and it is currently falling through the cracks.</a:t>
            </a:r>
            <a:endParaRPr lang="en-US" sz="790" dirty="0"/>
          </a:p>
        </p:txBody>
      </p:sp>
      <p:sp>
        <p:nvSpPr>
          <p:cNvPr id="48" name="Text 45"/>
          <p:cNvSpPr txBox="1"/>
          <p:nvPr/>
        </p:nvSpPr>
        <p:spPr>
          <a:xfrm>
            <a:off x="532498" y="5337874"/>
            <a:ext cx="3292328" cy="296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9"/>
              </a:lnSpc>
              <a:buNone/>
            </a:pPr>
            <a:r>
              <a:rPr lang="en-US" sz="79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step: </a:t>
            </a:r>
            <a:pPr indent="0" marL="0">
              <a:lnSpc>
                <a:spcPts val="1169"/>
              </a:lnSpc>
              <a:buNone/>
            </a:pPr>
            <a:r>
              <a:rPr lang="en-US" sz="79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Justin confirms the walk-in call, and wholesale gets a person with a target.</a:t>
            </a:r>
            <a:endParaRPr lang="en-US" sz="790" dirty="0"/>
          </a:p>
        </p:txBody>
      </p:sp>
      <p:sp>
        <p:nvSpPr>
          <p:cNvPr id="49" name="Shape 46"/>
          <p:cNvSpPr/>
          <p:nvPr/>
        </p:nvSpPr>
        <p:spPr>
          <a:xfrm>
            <a:off x="4026325" y="4194795"/>
            <a:ext cx="3479528" cy="2914690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4026325" y="4194795"/>
            <a:ext cx="3479528" cy="288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4119925" y="4288395"/>
            <a:ext cx="3292328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BRAND</a:t>
            </a:r>
            <a:endParaRPr lang="en-US" sz="680" dirty="0"/>
          </a:p>
        </p:txBody>
      </p:sp>
      <p:sp>
        <p:nvSpPr>
          <p:cNvPr id="52" name="Text 49"/>
          <p:cNvSpPr txBox="1"/>
          <p:nvPr/>
        </p:nvSpPr>
        <p:spPr>
          <a:xfrm>
            <a:off x="4119925" y="4458263"/>
            <a:ext cx="3292328" cy="1560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29"/>
              </a:lnSpc>
              <a:buNone/>
            </a:pPr>
            <a:r>
              <a:rPr lang="en-US" sz="96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 the category, not the price.</a:t>
            </a:r>
            <a:endParaRPr lang="en-US" sz="960" dirty="0"/>
          </a:p>
        </p:txBody>
      </p:sp>
      <p:sp>
        <p:nvSpPr>
          <p:cNvPr id="53" name="Text 50"/>
          <p:cNvSpPr txBox="1"/>
          <p:nvPr/>
        </p:nvSpPr>
        <p:spPr>
          <a:xfrm>
            <a:off x="4119925" y="4679120"/>
            <a:ext cx="3292328" cy="445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9"/>
              </a:lnSpc>
              <a:buNone/>
            </a:pPr>
            <a:r>
              <a:rPr lang="en-US" sz="79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enemy is the overpriced pub, not the operator across the road. Cut the tail of about 19 brews to a set of heroes, put the Crafted award everywhere, and start designing for her.</a:t>
            </a:r>
            <a:endParaRPr lang="en-US" sz="790" dirty="0"/>
          </a:p>
        </p:txBody>
      </p:sp>
      <p:sp>
        <p:nvSpPr>
          <p:cNvPr id="54" name="Text 51"/>
          <p:cNvSpPr txBox="1"/>
          <p:nvPr/>
        </p:nvSpPr>
        <p:spPr>
          <a:xfrm>
            <a:off x="4119925" y="5189385"/>
            <a:ext cx="3292328" cy="296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9"/>
              </a:lnSpc>
              <a:buNone/>
            </a:pPr>
            <a:r>
              <a:rPr lang="en-US" sz="79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step: </a:t>
            </a:r>
            <a:pPr indent="0" marL="0">
              <a:lnSpc>
                <a:spcPts val="1169"/>
              </a:lnSpc>
              <a:buNone/>
            </a:pPr>
            <a:r>
              <a:rPr lang="en-US" sz="79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award goes on the site, the room and the decals this month.</a:t>
            </a:r>
            <a:endParaRPr lang="en-US" sz="790" dirty="0"/>
          </a:p>
        </p:txBody>
      </p:sp>
      <p:sp>
        <p:nvSpPr>
          <p:cNvPr id="55" name="Shape 52"/>
          <p:cNvSpPr/>
          <p:nvPr/>
        </p:nvSpPr>
        <p:spPr>
          <a:xfrm>
            <a:off x="7613752" y="4194795"/>
            <a:ext cx="3479528" cy="2914690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613752" y="4194795"/>
            <a:ext cx="3479528" cy="288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7707352" y="4288395"/>
            <a:ext cx="3292328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AND MARKETING</a:t>
            </a:r>
            <a:endParaRPr lang="en-US" sz="680" dirty="0"/>
          </a:p>
        </p:txBody>
      </p:sp>
      <p:sp>
        <p:nvSpPr>
          <p:cNvPr id="58" name="Text 55"/>
          <p:cNvSpPr txBox="1"/>
          <p:nvPr/>
        </p:nvSpPr>
        <p:spPr>
          <a:xfrm>
            <a:off x="7707352" y="4458263"/>
            <a:ext cx="3292328" cy="1560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29"/>
              </a:lnSpc>
              <a:buNone/>
            </a:pPr>
            <a:r>
              <a:rPr lang="en-US" sz="96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Connect the system before spending more.</a:t>
            </a:r>
            <a:endParaRPr lang="en-US" sz="960" dirty="0"/>
          </a:p>
        </p:txBody>
      </p:sp>
      <p:sp>
        <p:nvSpPr>
          <p:cNvPr id="59" name="Text 56"/>
          <p:cNvSpPr txBox="1"/>
          <p:nvPr/>
        </p:nvSpPr>
        <p:spPr>
          <a:xfrm>
            <a:off x="7707352" y="4679120"/>
            <a:ext cx="3292328" cy="593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9"/>
              </a:lnSpc>
              <a:buNone/>
            </a:pPr>
            <a:r>
              <a:rPr lang="en-US" sz="79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Website, POS and CRM do not talk to each other, so every campaign underperforms. Then convert the owners who already bought elsewhere and take the friction out of reordering.</a:t>
            </a:r>
            <a:endParaRPr lang="en-US" sz="790" dirty="0"/>
          </a:p>
        </p:txBody>
      </p:sp>
      <p:sp>
        <p:nvSpPr>
          <p:cNvPr id="60" name="Text 57"/>
          <p:cNvSpPr txBox="1"/>
          <p:nvPr/>
        </p:nvSpPr>
        <p:spPr>
          <a:xfrm>
            <a:off x="7707352" y="5337874"/>
            <a:ext cx="3292328" cy="296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9"/>
              </a:lnSpc>
              <a:buNone/>
            </a:pPr>
            <a:r>
              <a:rPr lang="en-US" sz="79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step: </a:t>
            </a:r>
            <a:pPr indent="0" marL="0">
              <a:lnSpc>
                <a:spcPts val="1169"/>
              </a:lnSpc>
              <a:buNone/>
            </a:pPr>
            <a:r>
              <a:rPr lang="en-US" sz="79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connect the three systems, then replace the 90-day SMS.</a:t>
            </a:r>
            <a:endParaRPr lang="en-US" sz="790" dirty="0"/>
          </a:p>
        </p:txBody>
      </p:sp>
      <p:sp>
        <p:nvSpPr>
          <p:cNvPr id="61" name="Shape 58"/>
          <p:cNvSpPr/>
          <p:nvPr/>
        </p:nvSpPr>
        <p:spPr>
          <a:xfrm>
            <a:off x="11201179" y="4194795"/>
            <a:ext cx="3479528" cy="2914690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1201179" y="4194795"/>
            <a:ext cx="3479528" cy="288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1294779" y="4288395"/>
            <a:ext cx="3292328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ACTIVATION</a:t>
            </a:r>
            <a:endParaRPr lang="en-US" sz="680" dirty="0"/>
          </a:p>
        </p:txBody>
      </p:sp>
      <p:sp>
        <p:nvSpPr>
          <p:cNvPr id="64" name="Text 61"/>
          <p:cNvSpPr txBox="1"/>
          <p:nvPr/>
        </p:nvSpPr>
        <p:spPr>
          <a:xfrm>
            <a:off x="11294779" y="4458263"/>
            <a:ext cx="3292328" cy="1560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29"/>
              </a:lnSpc>
              <a:buNone/>
            </a:pPr>
            <a:r>
              <a:rPr lang="en-US" sz="96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Sell the room as a destination.</a:t>
            </a:r>
            <a:endParaRPr lang="en-US" sz="960" dirty="0"/>
          </a:p>
        </p:txBody>
      </p:sp>
      <p:sp>
        <p:nvSpPr>
          <p:cNvPr id="65" name="Text 62"/>
          <p:cNvSpPr txBox="1"/>
          <p:nvPr/>
        </p:nvSpPr>
        <p:spPr>
          <a:xfrm>
            <a:off x="11294779" y="4679120"/>
            <a:ext cx="3292328" cy="445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9"/>
              </a:lnSpc>
              <a:buNone/>
            </a:pPr>
            <a:r>
              <a:rPr lang="en-US" sz="79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Tours, weddings, functions and ticketed events, with the artwork and the booking path already built. Partnerships where the systems are already being sold.</a:t>
            </a:r>
            <a:endParaRPr lang="en-US" sz="790" dirty="0"/>
          </a:p>
        </p:txBody>
      </p:sp>
      <p:sp>
        <p:nvSpPr>
          <p:cNvPr id="66" name="Text 63"/>
          <p:cNvSpPr txBox="1"/>
          <p:nvPr/>
        </p:nvSpPr>
        <p:spPr>
          <a:xfrm>
            <a:off x="11294779" y="5189385"/>
            <a:ext cx="3292328" cy="296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9"/>
              </a:lnSpc>
              <a:buNone/>
            </a:pPr>
            <a:r>
              <a:rPr lang="en-US" sz="79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step: </a:t>
            </a:r>
            <a:pPr indent="0" marL="0">
              <a:lnSpc>
                <a:spcPts val="1169"/>
              </a:lnSpc>
              <a:buNone/>
            </a:pPr>
            <a:r>
              <a:rPr lang="en-US" sz="79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on the tour circuit and open the Harvey Norman conversation.</a:t>
            </a:r>
            <a:endParaRPr lang="en-US" sz="790" dirty="0"/>
          </a:p>
        </p:txBody>
      </p:sp>
      <p:sp>
        <p:nvSpPr>
          <p:cNvPr id="67" name="Shape 64"/>
          <p:cNvSpPr/>
          <p:nvPr/>
        </p:nvSpPr>
        <p:spPr>
          <a:xfrm>
            <a:off x="323698" y="7332584"/>
            <a:ext cx="4752137" cy="3143495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438898" y="7447784"/>
            <a:ext cx="4521737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SEQUENCE</a:t>
            </a:r>
            <a:endParaRPr lang="en-US" sz="680" dirty="0"/>
          </a:p>
        </p:txBody>
      </p:sp>
      <p:sp>
        <p:nvSpPr>
          <p:cNvPr id="69" name="Shape 66"/>
          <p:cNvSpPr/>
          <p:nvPr/>
        </p:nvSpPr>
        <p:spPr>
          <a:xfrm>
            <a:off x="438898" y="7617652"/>
            <a:ext cx="548640" cy="205740"/>
          </a:xfrm>
          <a:prstGeom prst="roundRect">
            <a:avLst>
              <a:gd name="adj" fmla="val 50000"/>
            </a:avLst>
          </a:prstGeom>
          <a:solidFill>
            <a:srgbClr val="0E171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438898" y="7617652"/>
            <a:ext cx="548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" b="1" spc="6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</a:t>
            </a:r>
            <a:endParaRPr lang="en-US" sz="640" dirty="0"/>
          </a:p>
        </p:txBody>
      </p:sp>
      <p:sp>
        <p:nvSpPr>
          <p:cNvPr id="71" name="Text 68"/>
          <p:cNvSpPr txBox="1"/>
          <p:nvPr/>
        </p:nvSpPr>
        <p:spPr>
          <a:xfrm>
            <a:off x="1170418" y="7604851"/>
            <a:ext cx="379021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Justin picks the moves he is committing to. Connect the data. Pause walk-in spend.</a:t>
            </a:r>
            <a:endParaRPr lang="en-US" sz="810" dirty="0"/>
          </a:p>
        </p:txBody>
      </p:sp>
      <p:sp>
        <p:nvSpPr>
          <p:cNvPr id="72" name="Shape 69"/>
          <p:cNvSpPr/>
          <p:nvPr/>
        </p:nvSpPr>
        <p:spPr>
          <a:xfrm>
            <a:off x="438898" y="8713753"/>
            <a:ext cx="548640" cy="205740"/>
          </a:xfrm>
          <a:prstGeom prst="roundRect">
            <a:avLst>
              <a:gd name="adj" fmla="val 50000"/>
            </a:avLst>
          </a:prstGeom>
          <a:solidFill>
            <a:srgbClr val="0E171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38898" y="8713753"/>
            <a:ext cx="548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" b="1" spc="6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</a:t>
            </a:r>
            <a:endParaRPr lang="en-US" sz="640" dirty="0"/>
          </a:p>
        </p:txBody>
      </p:sp>
      <p:sp>
        <p:nvSpPr>
          <p:cNvPr id="74" name="Text 71"/>
          <p:cNvSpPr txBox="1"/>
          <p:nvPr/>
        </p:nvSpPr>
        <p:spPr>
          <a:xfrm>
            <a:off x="1170418" y="8700952"/>
            <a:ext cx="379021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Convert existing owners. Fix reorder friction. Stand wholesale up as a role with targets.</a:t>
            </a:r>
            <a:endParaRPr lang="en-US" sz="810" dirty="0"/>
          </a:p>
        </p:txBody>
      </p:sp>
      <p:sp>
        <p:nvSpPr>
          <p:cNvPr id="75" name="Shape 72"/>
          <p:cNvSpPr/>
          <p:nvPr/>
        </p:nvSpPr>
        <p:spPr>
          <a:xfrm>
            <a:off x="438898" y="9809854"/>
            <a:ext cx="548640" cy="205740"/>
          </a:xfrm>
          <a:prstGeom prst="roundRect">
            <a:avLst>
              <a:gd name="adj" fmla="val 50000"/>
            </a:avLst>
          </a:prstGeom>
          <a:solidFill>
            <a:srgbClr val="0E171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438898" y="9809854"/>
            <a:ext cx="548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" b="1" spc="6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LATER</a:t>
            </a:r>
            <a:endParaRPr lang="en-US" sz="640" dirty="0"/>
          </a:p>
        </p:txBody>
      </p:sp>
      <p:sp>
        <p:nvSpPr>
          <p:cNvPr id="77" name="Text 74"/>
          <p:cNvSpPr txBox="1"/>
          <p:nvPr/>
        </p:nvSpPr>
        <p:spPr>
          <a:xfrm>
            <a:off x="1170418" y="9797053"/>
            <a:ext cx="379021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Range rationalisation, the wellness line, designing for her, and the duopoly workaround.</a:t>
            </a:r>
            <a:endParaRPr lang="en-US" sz="810" dirty="0"/>
          </a:p>
        </p:txBody>
      </p:sp>
      <p:sp>
        <p:nvSpPr>
          <p:cNvPr id="78" name="Shape 75"/>
          <p:cNvSpPr/>
          <p:nvPr/>
        </p:nvSpPr>
        <p:spPr>
          <a:xfrm>
            <a:off x="438898" y="10183264"/>
            <a:ext cx="4521737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38898" y="10240864"/>
            <a:ext cx="4521737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in Later starts until the Now column is done. That is the discipline the plan is buying.</a:t>
            </a:r>
            <a:endParaRPr lang="en-US" sz="700" dirty="0"/>
          </a:p>
        </p:txBody>
      </p:sp>
      <p:sp>
        <p:nvSpPr>
          <p:cNvPr id="80" name="Shape 77"/>
          <p:cNvSpPr/>
          <p:nvPr/>
        </p:nvSpPr>
        <p:spPr>
          <a:xfrm>
            <a:off x="5183734" y="7332584"/>
            <a:ext cx="4752137" cy="3143495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5298934" y="7447784"/>
            <a:ext cx="4521737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OWNS WHAT</a:t>
            </a:r>
            <a:endParaRPr lang="en-US" sz="68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98934" y="7617652"/>
          <a:ext cx="11339703" cy="914400"/>
        </p:xfrm>
        <a:graphic>
          <a:graphicData uri="http://schemas.openxmlformats.org/drawingml/2006/table">
            <a:tbl>
              <a:tblPr/>
              <a:tblGrid>
                <a:gridCol w="1966441"/>
                <a:gridCol w="1382760"/>
                <a:gridCol w="1172536"/>
              </a:tblGrid>
              <a:tr h="34391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775"/>
                        </a:lnSpc>
                        <a:buNone/>
                      </a:pPr>
                      <a:r>
                        <a:rPr lang="en-US" sz="620" b="1" spc="62" kern="0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Workstream</a:t>
                      </a:r>
                      <a:endParaRPr lang="en-US" sz="62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775"/>
                        </a:lnSpc>
                        <a:buNone/>
                      </a:pPr>
                      <a:r>
                        <a:rPr lang="en-US" sz="620" b="1" spc="62" kern="0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Owns it</a:t>
                      </a:r>
                      <a:endParaRPr lang="en-US" sz="62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775"/>
                        </a:lnSpc>
                        <a:buNone/>
                      </a:pPr>
                      <a:r>
                        <a:rPr lang="en-US" sz="620" b="1" spc="62" kern="0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Supports</a:t>
                      </a:r>
                      <a:endParaRPr lang="en-US" sz="62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1F"/>
                    </a:solidFill>
                  </a:tcPr>
                </a:tc>
              </a:tr>
              <a:tr h="35948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The shape decision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Justin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Clent, Christy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5948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Connected data and CRM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Jewell Projects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Tap That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48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Wholesale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New hire or agent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Justin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5948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Destination programme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Tap That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Jewell Projects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48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Partnerships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Clent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Justin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5948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Brand and range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Justin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Christy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3" name="Shape 79"/>
          <p:cNvSpPr/>
          <p:nvPr/>
        </p:nvSpPr>
        <p:spPr>
          <a:xfrm>
            <a:off x="5298934" y="10183264"/>
            <a:ext cx="4521737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84" name="Text 80"/>
          <p:cNvSpPr txBox="1"/>
          <p:nvPr/>
        </p:nvSpPr>
        <p:spPr>
          <a:xfrm>
            <a:off x="5298934" y="10240864"/>
            <a:ext cx="4521737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full responsibility matrix sits on the Activation sheet. This is the summary of it.</a:t>
            </a:r>
            <a:endParaRPr lang="en-US" sz="700" dirty="0"/>
          </a:p>
        </p:txBody>
      </p:sp>
      <p:sp>
        <p:nvSpPr>
          <p:cNvPr id="85" name="Shape 81"/>
          <p:cNvSpPr/>
          <p:nvPr/>
        </p:nvSpPr>
        <p:spPr>
          <a:xfrm>
            <a:off x="10043770" y="7332584"/>
            <a:ext cx="4752137" cy="3143495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10043770" y="7332584"/>
            <a:ext cx="4752137" cy="360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10158970" y="7447784"/>
            <a:ext cx="4521737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JUSTIN DECIDES FIRST</a:t>
            </a:r>
            <a:endParaRPr lang="en-US" sz="680" dirty="0"/>
          </a:p>
        </p:txBody>
      </p:sp>
      <p:sp>
        <p:nvSpPr>
          <p:cNvPr id="88" name="Shape 84"/>
          <p:cNvSpPr/>
          <p:nvPr/>
        </p:nvSpPr>
        <p:spPr>
          <a:xfrm>
            <a:off x="10158970" y="7653692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10266970" y="7617652"/>
            <a:ext cx="4413737" cy="129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22"/>
              </a:lnSpc>
              <a:buNone/>
            </a:pPr>
            <a:r>
              <a:rPr lang="en-US" sz="73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we pause walk-in trading? </a:t>
            </a:r>
            <a:pPr indent="0" marL="0">
              <a:lnSpc>
                <a:spcPts val="1022"/>
              </a:lnSpc>
              <a:buNone/>
            </a:pPr>
            <a:r>
              <a:rPr lang="en-US" sz="73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 on the Business sheet follows from this one.</a:t>
            </a:r>
            <a:endParaRPr lang="en-US" sz="730" dirty="0"/>
          </a:p>
        </p:txBody>
      </p:sp>
      <p:sp>
        <p:nvSpPr>
          <p:cNvPr id="90" name="Shape 86"/>
          <p:cNvSpPr/>
          <p:nvPr/>
        </p:nvSpPr>
        <p:spPr>
          <a:xfrm>
            <a:off x="10158970" y="8183994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Text 87"/>
          <p:cNvSpPr txBox="1"/>
          <p:nvPr/>
        </p:nvSpPr>
        <p:spPr>
          <a:xfrm>
            <a:off x="10266970" y="8147954"/>
            <a:ext cx="4413737" cy="129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22"/>
              </a:lnSpc>
              <a:buNone/>
            </a:pPr>
            <a:r>
              <a:rPr lang="en-US" sz="73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we resource wholesale? </a:t>
            </a:r>
            <a:pPr indent="0" marL="0">
              <a:lnSpc>
                <a:spcPts val="1022"/>
              </a:lnSpc>
              <a:buNone/>
            </a:pPr>
            <a:r>
              <a:rPr lang="en-US" sz="73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person with targets, not a founder in spare hours.</a:t>
            </a:r>
            <a:endParaRPr lang="en-US" sz="730" dirty="0"/>
          </a:p>
        </p:txBody>
      </p:sp>
      <p:sp>
        <p:nvSpPr>
          <p:cNvPr id="92" name="Shape 88"/>
          <p:cNvSpPr/>
          <p:nvPr/>
        </p:nvSpPr>
        <p:spPr>
          <a:xfrm>
            <a:off x="10158970" y="8714296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Text 89"/>
          <p:cNvSpPr txBox="1"/>
          <p:nvPr/>
        </p:nvSpPr>
        <p:spPr>
          <a:xfrm>
            <a:off x="10266970" y="8678257"/>
            <a:ext cx="4413737" cy="129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22"/>
              </a:lnSpc>
              <a:buNone/>
            </a:pPr>
            <a:r>
              <a:rPr lang="en-US" sz="73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Canning: in or out? </a:t>
            </a:r>
            <a:pPr indent="0" marL="0">
              <a:lnSpc>
                <a:spcPts val="1022"/>
              </a:lnSpc>
              <a:buNone/>
            </a:pPr>
            <a:r>
              <a:rPr lang="en-US" sz="73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buys awareness and it competes with the refill model.</a:t>
            </a:r>
            <a:endParaRPr lang="en-US" sz="730" dirty="0"/>
          </a:p>
        </p:txBody>
      </p:sp>
      <p:sp>
        <p:nvSpPr>
          <p:cNvPr id="94" name="Shape 90"/>
          <p:cNvSpPr/>
          <p:nvPr/>
        </p:nvSpPr>
        <p:spPr>
          <a:xfrm>
            <a:off x="10158970" y="9244598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1"/>
          <p:cNvSpPr txBox="1"/>
          <p:nvPr/>
        </p:nvSpPr>
        <p:spPr>
          <a:xfrm>
            <a:off x="10266970" y="9208559"/>
            <a:ext cx="4413737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22"/>
              </a:lnSpc>
              <a:buNone/>
            </a:pPr>
            <a:r>
              <a:rPr lang="en-US" sz="73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Does membership attach to every system sale? </a:t>
            </a:r>
            <a:pPr indent="0" marL="0">
              <a:lnSpc>
                <a:spcPts val="1022"/>
              </a:lnSpc>
              <a:buNone/>
            </a:pPr>
            <a:r>
              <a:rPr lang="en-US" sz="73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Non-members leak at 44%, members at 18%.</a:t>
            </a:r>
            <a:endParaRPr lang="en-US" sz="730" dirty="0"/>
          </a:p>
        </p:txBody>
      </p:sp>
      <p:sp>
        <p:nvSpPr>
          <p:cNvPr id="96" name="Shape 92"/>
          <p:cNvSpPr/>
          <p:nvPr/>
        </p:nvSpPr>
        <p:spPr>
          <a:xfrm>
            <a:off x="10158970" y="9904695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7" name="Text 93"/>
          <p:cNvSpPr txBox="1"/>
          <p:nvPr/>
        </p:nvSpPr>
        <p:spPr>
          <a:xfrm>
            <a:off x="10266970" y="9868655"/>
            <a:ext cx="4413737" cy="129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22"/>
              </a:lnSpc>
              <a:buNone/>
            </a:pPr>
            <a:r>
              <a:rPr lang="en-US" sz="73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far do we cut the range? </a:t>
            </a:r>
            <a:pPr indent="0" marL="0">
              <a:lnSpc>
                <a:spcPts val="1022"/>
              </a:lnSpc>
              <a:buNone/>
            </a:pPr>
            <a:r>
              <a:rPr lang="en-US" sz="73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Heroes need the marketing that the tail is absorbing.</a:t>
            </a:r>
            <a:endParaRPr lang="en-US" sz="730" dirty="0"/>
          </a:p>
        </p:txBody>
      </p:sp>
      <p:sp>
        <p:nvSpPr>
          <p:cNvPr id="98" name="Shape 94"/>
          <p:cNvSpPr/>
          <p:nvPr/>
        </p:nvSpPr>
        <p:spPr>
          <a:xfrm>
            <a:off x="10158970" y="10063249"/>
            <a:ext cx="4521737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99" name="Text 95"/>
          <p:cNvSpPr txBox="1"/>
          <p:nvPr/>
        </p:nvSpPr>
        <p:spPr>
          <a:xfrm>
            <a:off x="10158970" y="10120849"/>
            <a:ext cx="4521737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Agreed in the catch-up: the team reviews the deck and comes back with the commitments before the next conversation.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./site/brand/taptha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3698" y="301752"/>
            <a:ext cx="360000" cy="360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7698" y="310896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Business plan – on a page</a:t>
            </a:r>
            <a:endParaRPr lang="en-US" sz="2100" dirty="0"/>
          </a:p>
        </p:txBody>
      </p:sp>
      <p:sp>
        <p:nvSpPr>
          <p:cNvPr id="4" name="Shape 1"/>
          <p:cNvSpPr/>
          <p:nvPr/>
        </p:nvSpPr>
        <p:spPr>
          <a:xfrm>
            <a:off x="13650938" y="365760"/>
            <a:ext cx="1144969" cy="251460"/>
          </a:xfrm>
          <a:prstGeom prst="roundRect">
            <a:avLst>
              <a:gd name="adj" fmla="val 50000"/>
            </a:avLst>
          </a:prstGeom>
          <a:solidFill>
            <a:srgbClr val="0E171F"/>
          </a:solidFill>
          <a:ln w="9525">
            <a:solidFill>
              <a:srgbClr val="0E171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3650938" y="365760"/>
            <a:ext cx="1144969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78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JEWELL PROJECTS</a:t>
            </a:r>
            <a:endParaRPr lang="en-US" sz="650" dirty="0"/>
          </a:p>
        </p:txBody>
      </p:sp>
      <p:sp>
        <p:nvSpPr>
          <p:cNvPr id="6" name="Shape 3"/>
          <p:cNvSpPr/>
          <p:nvPr/>
        </p:nvSpPr>
        <p:spPr>
          <a:xfrm>
            <a:off x="12410462" y="365760"/>
            <a:ext cx="1150475" cy="2514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2410462" y="365760"/>
            <a:ext cx="1150475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78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V01 · 15 SEPT 2026</a:t>
            </a:r>
            <a:endParaRPr lang="en-US" sz="650" dirty="0"/>
          </a:p>
        </p:txBody>
      </p:sp>
      <p:sp>
        <p:nvSpPr>
          <p:cNvPr id="8" name="Shape 5"/>
          <p:cNvSpPr/>
          <p:nvPr/>
        </p:nvSpPr>
        <p:spPr>
          <a:xfrm>
            <a:off x="11102419" y="365760"/>
            <a:ext cx="1218043" cy="2514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102419" y="365760"/>
            <a:ext cx="1218043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78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 THAT BREWERY</a:t>
            </a:r>
            <a:endParaRPr lang="en-US" sz="650" dirty="0"/>
          </a:p>
        </p:txBody>
      </p:sp>
      <p:sp>
        <p:nvSpPr>
          <p:cNvPr id="10" name="Shape 7"/>
          <p:cNvSpPr/>
          <p:nvPr/>
        </p:nvSpPr>
        <p:spPr>
          <a:xfrm>
            <a:off x="10061373" y="365760"/>
            <a:ext cx="951046" cy="2514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061373" y="365760"/>
            <a:ext cx="951046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78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 01 OF 04</a:t>
            </a:r>
            <a:endParaRPr lang="en-US" sz="650" dirty="0"/>
          </a:p>
        </p:txBody>
      </p:sp>
      <p:sp>
        <p:nvSpPr>
          <p:cNvPr id="12" name="Shape 9"/>
          <p:cNvSpPr/>
          <p:nvPr/>
        </p:nvSpPr>
        <p:spPr>
          <a:xfrm>
            <a:off x="323698" y="969264"/>
            <a:ext cx="14472209" cy="0"/>
          </a:xfrm>
          <a:prstGeom prst="line">
            <a:avLst/>
          </a:prstGeom>
          <a:noFill/>
          <a:ln w="25400">
            <a:solidFill>
              <a:srgbClr val="0E171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3698" y="1115568"/>
            <a:ext cx="7182155" cy="3048238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3698" y="1115568"/>
            <a:ext cx="7182155" cy="360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38898" y="1230768"/>
            <a:ext cx="6951755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MONEY ACTUALLY IS</a:t>
            </a:r>
            <a:endParaRPr lang="en-US" sz="680" dirty="0"/>
          </a:p>
        </p:txBody>
      </p:sp>
      <p:sp>
        <p:nvSpPr>
          <p:cNvPr id="16" name="Text 13"/>
          <p:cNvSpPr txBox="1"/>
          <p:nvPr/>
        </p:nvSpPr>
        <p:spPr>
          <a:xfrm>
            <a:off x="438898" y="1400636"/>
            <a:ext cx="6951755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2"/>
              </a:lnSpc>
              <a:buNone/>
            </a:pPr>
            <a:r>
              <a:rPr lang="en-US" sz="130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system is the barrier. The refill is the business. Attention has been going to neither.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38898" y="1975684"/>
            <a:ext cx="6951755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Systems go out close to cost, and the margin arrives later at roughly </a:t>
            </a:r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$70 gross a keg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That makes this a subscription business wearing a brewery's clothes. A subscription business needs people to stay home and reorder. The Tap Room needs them to come in. Eighteen months of attention went to the half that loses money.</a:t>
            </a:r>
            <a:endParaRPr lang="en-US" sz="810" dirty="0"/>
          </a:p>
        </p:txBody>
      </p:sp>
      <p:sp>
        <p:nvSpPr>
          <p:cNvPr id="18" name="Text 15"/>
          <p:cNvSpPr txBox="1"/>
          <p:nvPr/>
        </p:nvSpPr>
        <p:spPr>
          <a:xfrm>
            <a:off x="438898" y="2604199"/>
            <a:ext cx="6951755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fix is not optimisation, it is reshaping.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Running a brewery and a hospitality venue on a skeleton staff is not a resourcing problem to be solved with more hours.</a:t>
            </a:r>
            <a:endParaRPr lang="en-US" sz="810" dirty="0"/>
          </a:p>
        </p:txBody>
      </p:sp>
      <p:sp>
        <p:nvSpPr>
          <p:cNvPr id="19" name="Text 16"/>
          <p:cNvSpPr txBox="1"/>
          <p:nvPr/>
        </p:nvSpPr>
        <p:spPr>
          <a:xfrm>
            <a:off x="438898" y="3078409"/>
            <a:ext cx="6951755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Reshaping means three concrete things: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room stops being staffed for walk-in trade it does not get, the spend that was chasing footfall moves to refills and wholesale, and somebody owns wholesale as a job rather than as an evening.</a:t>
            </a:r>
            <a:endParaRPr lang="en-US" sz="810" dirty="0"/>
          </a:p>
        </p:txBody>
      </p:sp>
      <p:sp>
        <p:nvSpPr>
          <p:cNvPr id="20" name="Shape 17"/>
          <p:cNvSpPr/>
          <p:nvPr/>
        </p:nvSpPr>
        <p:spPr>
          <a:xfrm>
            <a:off x="438898" y="3870991"/>
            <a:ext cx="6951755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38898" y="3928591"/>
            <a:ext cx="6951755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Per-keg margin and system economics from the Discovery pack. Test them against the current P&amp;L before the plan is signed.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7613752" y="1115568"/>
            <a:ext cx="7182155" cy="3048238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28952" y="1230768"/>
            <a:ext cx="6951755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FOUR UNITS, AND THE CALL ON EACH</a:t>
            </a:r>
            <a:endParaRPr lang="en-US" sz="68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8952" y="1400636"/>
          <a:ext cx="11339703" cy="914400"/>
        </p:xfrm>
        <a:graphic>
          <a:graphicData uri="http://schemas.openxmlformats.org/drawingml/2006/table">
            <a:tbl>
              <a:tblPr/>
              <a:tblGrid>
                <a:gridCol w="986122"/>
                <a:gridCol w="3587739"/>
                <a:gridCol w="2377893"/>
              </a:tblGrid>
              <a:tr h="46450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775"/>
                        </a:lnSpc>
                        <a:buNone/>
                      </a:pPr>
                      <a:r>
                        <a:rPr lang="en-US" sz="620" b="1" spc="62" kern="0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Unit</a:t>
                      </a:r>
                      <a:endParaRPr lang="en-US" sz="62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000" marR="54000" marT="54000" marB="54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775"/>
                        </a:lnSpc>
                        <a:buNone/>
                      </a:pPr>
                      <a:r>
                        <a:rPr lang="en-US" sz="620" b="1" spc="62" kern="0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Today</a:t>
                      </a:r>
                      <a:endParaRPr lang="en-US" sz="62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000" marR="54000" marT="54000" marB="54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775"/>
                        </a:lnSpc>
                        <a:buNone/>
                      </a:pPr>
                      <a:r>
                        <a:rPr lang="en-US" sz="620" b="1" spc="62" kern="0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The call</a:t>
                      </a:r>
                      <a:endParaRPr lang="en-US" sz="62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000" marR="54000" marT="54000" marB="54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1F"/>
                    </a:solidFill>
                  </a:tcPr>
                </a:tc>
              </a:tr>
              <a:tr h="48526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38"/>
                        </a:lnSpc>
                        <a:buNone/>
                      </a:pPr>
                      <a:r>
                        <a:rPr lang="en-US" sz="69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Refills</a:t>
                      </a:r>
                      <a:endParaRPr lang="en-US" sz="69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000" marR="54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38"/>
                        </a:lnSpc>
                        <a:buNone/>
                      </a:pPr>
                      <a:r>
                        <a:rPr lang="en-US" sz="69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96–113 active, at MVP, reached with no push</a:t>
                      </a:r>
                      <a:endParaRPr lang="en-US" sz="69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000" marR="54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38"/>
                        </a:lnSpc>
                        <a:buNone/>
                      </a:pPr>
                      <a:r>
                        <a:rPr lang="en-US" sz="69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Scale. </a:t>
                      </a:r>
                      <a:pPr algn="l" indent="0" marL="0">
                        <a:lnSpc>
                          <a:spcPts val="938"/>
                        </a:lnSpc>
                        <a:buNone/>
                      </a:pPr>
                      <a:r>
                        <a:rPr lang="en-US" sz="69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This is the business</a:t>
                      </a:r>
                      <a:endParaRPr lang="en-US" sz="69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000" marR="54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8526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38"/>
                        </a:lnSpc>
                        <a:buNone/>
                      </a:pPr>
                      <a:r>
                        <a:rPr lang="en-US" sz="69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Tap Room</a:t>
                      </a:r>
                      <a:endParaRPr lang="en-US" sz="69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000" marR="54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38"/>
                        </a:lnSpc>
                        <a:buNone/>
                      </a:pPr>
                      <a:r>
                        <a:rPr lang="en-US" sz="69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Walk-in trade does not cover it. Events already do</a:t>
                      </a:r>
                      <a:endParaRPr lang="en-US" sz="69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000" marR="54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38"/>
                        </a:lnSpc>
                        <a:buNone/>
                      </a:pPr>
                      <a:r>
                        <a:rPr lang="en-US" sz="69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Pivot. </a:t>
                      </a:r>
                      <a:pPr algn="l" indent="0" marL="0">
                        <a:lnSpc>
                          <a:spcPts val="938"/>
                        </a:lnSpc>
                        <a:buNone/>
                      </a:pPr>
                      <a:r>
                        <a:rPr lang="en-US" sz="69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Destination, not walk-in</a:t>
                      </a:r>
                      <a:endParaRPr lang="en-US" sz="69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000" marR="54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526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38"/>
                        </a:lnSpc>
                        <a:buNone/>
                      </a:pPr>
                      <a:r>
                        <a:rPr lang="en-US" sz="69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Wholesale</a:t>
                      </a:r>
                      <a:endParaRPr lang="en-US" sz="69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000" marR="54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38"/>
                        </a:lnSpc>
                        <a:buNone/>
                      </a:pPr>
                      <a:r>
                        <a:rPr lang="en-US" sz="69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Approaches come in, nothing converts</a:t>
                      </a:r>
                      <a:endParaRPr lang="en-US" sz="69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000" marR="54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38"/>
                        </a:lnSpc>
                        <a:buNone/>
                      </a:pPr>
                      <a:r>
                        <a:rPr lang="en-US" sz="69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Resource. </a:t>
                      </a:r>
                      <a:pPr algn="l" indent="0" marL="0">
                        <a:lnSpc>
                          <a:spcPts val="938"/>
                        </a:lnSpc>
                        <a:buNone/>
                      </a:pPr>
                      <a:r>
                        <a:rPr lang="en-US" sz="69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 role with targets</a:t>
                      </a:r>
                      <a:endParaRPr lang="en-US" sz="69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000" marR="54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8526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38"/>
                        </a:lnSpc>
                        <a:buNone/>
                      </a:pPr>
                      <a:r>
                        <a:rPr lang="en-US" sz="69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Canning</a:t>
                      </a:r>
                      <a:endParaRPr lang="en-US" sz="69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000" marR="54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38"/>
                        </a:lnSpc>
                        <a:buNone/>
                      </a:pPr>
                      <a:r>
                        <a:rPr lang="en-US" sz="69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Not started. Opens bottle shops and bars</a:t>
                      </a:r>
                      <a:endParaRPr lang="en-US" sz="69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000" marR="54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38"/>
                        </a:lnSpc>
                        <a:buNone/>
                      </a:pPr>
                      <a:r>
                        <a:rPr lang="en-US" sz="69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Decide. </a:t>
                      </a:r>
                      <a:pPr algn="l" indent="0" marL="0">
                        <a:lnSpc>
                          <a:spcPts val="938"/>
                        </a:lnSpc>
                        <a:buNone/>
                      </a:pPr>
                      <a:r>
                        <a:rPr lang="en-US" sz="69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See the box below</a:t>
                      </a:r>
                      <a:endParaRPr lang="en-US" sz="69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000" marR="54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hape 21"/>
          <p:cNvSpPr/>
          <p:nvPr/>
        </p:nvSpPr>
        <p:spPr>
          <a:xfrm>
            <a:off x="7728952" y="3870991"/>
            <a:ext cx="6951755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728952" y="3928591"/>
            <a:ext cx="6951755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Tap Room is not being closed. It is being asked to earn its keep a different way.</a:t>
            </a:r>
            <a:endParaRPr lang="en-US" sz="700" dirty="0"/>
          </a:p>
        </p:txBody>
      </p:sp>
      <p:sp>
        <p:nvSpPr>
          <p:cNvPr id="27" name="Shape 23"/>
          <p:cNvSpPr/>
          <p:nvPr/>
        </p:nvSpPr>
        <p:spPr>
          <a:xfrm>
            <a:off x="323698" y="4271705"/>
            <a:ext cx="4752137" cy="3106858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38898" y="4386905"/>
            <a:ext cx="4521737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CLIMB TO 1,000</a:t>
            </a:r>
            <a:endParaRPr lang="en-US" sz="680" dirty="0"/>
          </a:p>
        </p:txBody>
      </p:sp>
      <p:sp>
        <p:nvSpPr>
          <p:cNvPr id="29" name="Shape 25"/>
          <p:cNvSpPr/>
          <p:nvPr/>
        </p:nvSpPr>
        <p:spPr>
          <a:xfrm>
            <a:off x="438898" y="4556773"/>
            <a:ext cx="1459246" cy="571522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6898" y="4643173"/>
            <a:ext cx="1243246" cy="210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206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546898" y="4911593"/>
            <a:ext cx="1243246" cy="176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93"/>
              </a:lnSpc>
              <a:buNone/>
            </a:pPr>
            <a:r>
              <a:rPr lang="en-US" sz="550" b="1" spc="55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SYSTEMS IN THE DATABASE NOW</a:t>
            </a:r>
            <a:endParaRPr lang="en-US" sz="550" dirty="0"/>
          </a:p>
        </p:txBody>
      </p:sp>
      <p:sp>
        <p:nvSpPr>
          <p:cNvPr id="32" name="Shape 28"/>
          <p:cNvSpPr/>
          <p:nvPr/>
        </p:nvSpPr>
        <p:spPr>
          <a:xfrm>
            <a:off x="1970143" y="4556773"/>
            <a:ext cx="1459246" cy="571522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2078143" y="4643173"/>
            <a:ext cx="1243246" cy="210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~9×</a:t>
            </a:r>
            <a:endParaRPr lang="en-US" sz="1300" dirty="0"/>
          </a:p>
        </p:txBody>
      </p:sp>
      <p:sp>
        <p:nvSpPr>
          <p:cNvPr id="34" name="Text 30"/>
          <p:cNvSpPr txBox="1"/>
          <p:nvPr/>
        </p:nvSpPr>
        <p:spPr>
          <a:xfrm>
            <a:off x="2078143" y="4911593"/>
            <a:ext cx="1243246" cy="176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93"/>
              </a:lnSpc>
              <a:buNone/>
            </a:pPr>
            <a:r>
              <a:rPr lang="en-US" sz="550" b="1" spc="55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MULTIPLE NEEDED TO HIT 1,000</a:t>
            </a:r>
            <a:endParaRPr lang="en-US" sz="550" dirty="0"/>
          </a:p>
        </p:txBody>
      </p:sp>
      <p:sp>
        <p:nvSpPr>
          <p:cNvPr id="35" name="Shape 31"/>
          <p:cNvSpPr/>
          <p:nvPr/>
        </p:nvSpPr>
        <p:spPr>
          <a:xfrm>
            <a:off x="3501389" y="4556773"/>
            <a:ext cx="1459246" cy="571522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09389" y="4643173"/>
            <a:ext cx="1243246" cy="210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116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3609389" y="4911593"/>
            <a:ext cx="1243246" cy="176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93"/>
              </a:lnSpc>
              <a:buNone/>
            </a:pPr>
            <a:r>
              <a:rPr lang="en-US" sz="550" b="1" spc="55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OWNERS WHO BOUGHT ELSEWHERE</a:t>
            </a:r>
            <a:endParaRPr lang="en-US" sz="550" dirty="0"/>
          </a:p>
        </p:txBody>
      </p:sp>
      <p:sp>
        <p:nvSpPr>
          <p:cNvPr id="38" name="Text 34"/>
          <p:cNvSpPr txBox="1"/>
          <p:nvPr/>
        </p:nvSpPr>
        <p:spPr>
          <a:xfrm>
            <a:off x="438898" y="5293895"/>
            <a:ext cx="452173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cheapest growth is the 116 who already own a system and already refill here. Their objections are overcome. Nobody has to be sold on the idea of beer at home.</a:t>
            </a:r>
            <a:endParaRPr lang="en-US" sz="810" dirty="0"/>
          </a:p>
        </p:txBody>
      </p:sp>
      <p:sp>
        <p:nvSpPr>
          <p:cNvPr id="39" name="Text 35"/>
          <p:cNvSpPr txBox="1"/>
          <p:nvPr/>
        </p:nvSpPr>
        <p:spPr>
          <a:xfrm>
            <a:off x="438898" y="5768105"/>
            <a:ext cx="452173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Partners move this number, campaigns do not.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Harvey Norman, Kegland and Benchy each put Tap That in front of people who have already bought the hardware.</a:t>
            </a:r>
            <a:endParaRPr lang="en-US" sz="810" dirty="0"/>
          </a:p>
        </p:txBody>
      </p:sp>
      <p:sp>
        <p:nvSpPr>
          <p:cNvPr id="40" name="Shape 36"/>
          <p:cNvSpPr/>
          <p:nvPr/>
        </p:nvSpPr>
        <p:spPr>
          <a:xfrm>
            <a:off x="438898" y="7085747"/>
            <a:ext cx="4521737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438898" y="7143347"/>
            <a:ext cx="4521737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nine-times climb is not a marketing target, it is a distribution target. It needs partners, not posts.</a:t>
            </a:r>
            <a:endParaRPr lang="en-US" sz="700" dirty="0"/>
          </a:p>
        </p:txBody>
      </p:sp>
      <p:sp>
        <p:nvSpPr>
          <p:cNvPr id="42" name="Shape 38"/>
          <p:cNvSpPr/>
          <p:nvPr/>
        </p:nvSpPr>
        <p:spPr>
          <a:xfrm>
            <a:off x="5183734" y="4271705"/>
            <a:ext cx="4752137" cy="3106858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298934" y="4386905"/>
            <a:ext cx="4521737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UNIT ECONOMICS, AND THE ARGUMENT</a:t>
            </a:r>
            <a:endParaRPr lang="en-US" sz="680" dirty="0"/>
          </a:p>
        </p:txBody>
      </p:sp>
      <p:sp>
        <p:nvSpPr>
          <p:cNvPr id="44" name="Text 40"/>
          <p:cNvSpPr txBox="1"/>
          <p:nvPr/>
        </p:nvSpPr>
        <p:spPr>
          <a:xfrm>
            <a:off x="5298934" y="4556773"/>
            <a:ext cx="452173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wholesale account is worth about ten households.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 ratio is the whole case for resourcing wholesale ahead of another consumer campaign.</a:t>
            </a:r>
            <a:endParaRPr lang="en-US" sz="810" dirty="0"/>
          </a:p>
        </p:txBody>
      </p:sp>
      <p:sp>
        <p:nvSpPr>
          <p:cNvPr id="45" name="Text 41"/>
          <p:cNvSpPr txBox="1"/>
          <p:nvPr/>
        </p:nvSpPr>
        <p:spPr>
          <a:xfrm>
            <a:off x="5298934" y="5030983"/>
            <a:ext cx="452173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Members leak at 18%, non-members at 44%.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Attaching membership to a system sale is the single highest-return retention move available.</a:t>
            </a:r>
            <a:endParaRPr lang="en-US" sz="810" dirty="0"/>
          </a:p>
        </p:txBody>
      </p:sp>
      <p:sp>
        <p:nvSpPr>
          <p:cNvPr id="46" name="Text 42"/>
          <p:cNvSpPr txBox="1"/>
          <p:nvPr/>
        </p:nvSpPr>
        <p:spPr>
          <a:xfrm>
            <a:off x="5298934" y="5505193"/>
            <a:ext cx="452173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story is cost per schooner at home against a pub schooner at $10 to $18.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sticker price on a keg.</a:t>
            </a:r>
            <a:endParaRPr lang="en-US" sz="810" dirty="0"/>
          </a:p>
        </p:txBody>
      </p:sp>
      <p:sp>
        <p:nvSpPr>
          <p:cNvPr id="47" name="Text 43"/>
          <p:cNvSpPr txBox="1"/>
          <p:nvPr/>
        </p:nvSpPr>
        <p:spPr>
          <a:xfrm>
            <a:off x="5298934" y="5979403"/>
            <a:ext cx="452173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63% of customers said they would host a demo at their own place.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 is a distribution channel sitting unused, and it costs nothing but coordination.</a:t>
            </a:r>
            <a:endParaRPr lang="en-US" sz="810" dirty="0"/>
          </a:p>
        </p:txBody>
      </p:sp>
      <p:sp>
        <p:nvSpPr>
          <p:cNvPr id="48" name="Shape 44"/>
          <p:cNvSpPr/>
          <p:nvPr/>
        </p:nvSpPr>
        <p:spPr>
          <a:xfrm>
            <a:off x="5298934" y="6965732"/>
            <a:ext cx="4521737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298934" y="7023332"/>
            <a:ext cx="4521737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at-home per-schooner figure is not settled. Three different sets of maths are in circulation and one is on a live ad. Settle it before it goes in any collateral.</a:t>
            </a:r>
            <a:endParaRPr lang="en-US" sz="700" dirty="0"/>
          </a:p>
        </p:txBody>
      </p:sp>
      <p:sp>
        <p:nvSpPr>
          <p:cNvPr id="50" name="Shape 46"/>
          <p:cNvSpPr/>
          <p:nvPr/>
        </p:nvSpPr>
        <p:spPr>
          <a:xfrm>
            <a:off x="10043770" y="4271705"/>
            <a:ext cx="4752137" cy="3106858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10158970" y="4386905"/>
            <a:ext cx="4521737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CANNING QUESTION</a:t>
            </a:r>
            <a:endParaRPr lang="en-US" sz="680" dirty="0"/>
          </a:p>
        </p:txBody>
      </p:sp>
      <p:sp>
        <p:nvSpPr>
          <p:cNvPr id="52" name="Text 48"/>
          <p:cNvSpPr txBox="1"/>
          <p:nvPr/>
        </p:nvSpPr>
        <p:spPr>
          <a:xfrm>
            <a:off x="10158970" y="4556773"/>
            <a:ext cx="4521737" cy="161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0"/>
              </a:lnSpc>
              <a:buNone/>
            </a:pPr>
            <a:r>
              <a:rPr lang="en-US" sz="92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Raised by Justin. Genuinely two-sided, and no decision was taken.</a:t>
            </a:r>
            <a:endParaRPr lang="en-US" sz="920" dirty="0"/>
          </a:p>
        </p:txBody>
      </p:sp>
      <p:sp>
        <p:nvSpPr>
          <p:cNvPr id="53" name="Text 49"/>
          <p:cNvSpPr txBox="1"/>
          <p:nvPr/>
        </p:nvSpPr>
        <p:spPr>
          <a:xfrm>
            <a:off x="10158970" y="4883612"/>
            <a:ext cx="452173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For: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reaches people who would never otherwise meet the brand, opens bottle shops, and opens bars and restaurants that will not give up a tap.</a:t>
            </a:r>
            <a:endParaRPr lang="en-US" sz="810" dirty="0"/>
          </a:p>
        </p:txBody>
      </p:sp>
      <p:sp>
        <p:nvSpPr>
          <p:cNvPr id="54" name="Text 50"/>
          <p:cNvSpPr txBox="1"/>
          <p:nvPr/>
        </p:nvSpPr>
        <p:spPr>
          <a:xfrm>
            <a:off x="10158970" y="5357822"/>
            <a:ext cx="452173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Against: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low margin, high effort, and it competes directly with the refill model this plan is built on.</a:t>
            </a:r>
            <a:endParaRPr lang="en-US" sz="810" dirty="0"/>
          </a:p>
        </p:txBody>
      </p:sp>
      <p:sp>
        <p:nvSpPr>
          <p:cNvPr id="55" name="Text 51"/>
          <p:cNvSpPr txBox="1"/>
          <p:nvPr/>
        </p:nvSpPr>
        <p:spPr>
          <a:xfrm>
            <a:off x="10158970" y="5832032"/>
            <a:ext cx="452173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would settle it: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costed run through the cannery contact next door, priced against Earth Brew at about $36 a four-pack. Premium small batch, not a price fight.</a:t>
            </a:r>
            <a:endParaRPr lang="en-US" sz="810" dirty="0"/>
          </a:p>
        </p:txBody>
      </p:sp>
      <p:sp>
        <p:nvSpPr>
          <p:cNvPr id="56" name="Shape 52"/>
          <p:cNvSpPr/>
          <p:nvPr/>
        </p:nvSpPr>
        <p:spPr>
          <a:xfrm>
            <a:off x="10158970" y="7085747"/>
            <a:ext cx="4521737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10158970" y="7143347"/>
            <a:ext cx="4521737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Worth revisiting if walk-in trade is wound back and a new awareness channel is needed.</a:t>
            </a:r>
            <a:endParaRPr lang="en-US" sz="700" dirty="0"/>
          </a:p>
        </p:txBody>
      </p:sp>
      <p:sp>
        <p:nvSpPr>
          <p:cNvPr id="58" name="Shape 54"/>
          <p:cNvSpPr/>
          <p:nvPr/>
        </p:nvSpPr>
        <p:spPr>
          <a:xfrm>
            <a:off x="323698" y="7486462"/>
            <a:ext cx="7182155" cy="2989618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438898" y="7601662"/>
            <a:ext cx="6951755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DECISIONS REQUIRED</a:t>
            </a:r>
            <a:endParaRPr lang="en-US" sz="680" dirty="0"/>
          </a:p>
        </p:txBody>
      </p:sp>
      <p:sp>
        <p:nvSpPr>
          <p:cNvPr id="60" name="Shape 56"/>
          <p:cNvSpPr/>
          <p:nvPr/>
        </p:nvSpPr>
        <p:spPr>
          <a:xfrm>
            <a:off x="438898" y="7816840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546898" y="7771530"/>
            <a:ext cx="6843755" cy="14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8"/>
              </a:lnSpc>
              <a:buNone/>
            </a:pPr>
            <a:r>
              <a:rPr lang="en-US" sz="80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Pause walk-in trading? </a:t>
            </a:r>
            <a:pPr indent="0" marL="0">
              <a:lnSpc>
                <a:spcPts val="1168"/>
              </a:lnSpc>
              <a:buNone/>
            </a:pPr>
            <a:r>
              <a:rPr lang="en-US" sz="80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Owner: Justin. The rest of the plan assumes yes.</a:t>
            </a:r>
            <a:endParaRPr lang="en-US" sz="800" dirty="0"/>
          </a:p>
        </p:txBody>
      </p:sp>
      <p:sp>
        <p:nvSpPr>
          <p:cNvPr id="62" name="Shape 58"/>
          <p:cNvSpPr/>
          <p:nvPr/>
        </p:nvSpPr>
        <p:spPr>
          <a:xfrm>
            <a:off x="438898" y="8427093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46898" y="8381783"/>
            <a:ext cx="6843755" cy="14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8"/>
              </a:lnSpc>
              <a:buNone/>
            </a:pPr>
            <a:r>
              <a:rPr lang="en-US" sz="80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Fund a wholesale role? </a:t>
            </a:r>
            <a:pPr indent="0" marL="0">
              <a:lnSpc>
                <a:spcPts val="1168"/>
              </a:lnSpc>
              <a:buNone/>
            </a:pPr>
            <a:r>
              <a:rPr lang="en-US" sz="80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Full-timer or commissioned agent, with KPIs either way.</a:t>
            </a:r>
            <a:endParaRPr lang="en-US" sz="800" dirty="0"/>
          </a:p>
        </p:txBody>
      </p:sp>
      <p:sp>
        <p:nvSpPr>
          <p:cNvPr id="64" name="Shape 60"/>
          <p:cNvSpPr/>
          <p:nvPr/>
        </p:nvSpPr>
        <p:spPr>
          <a:xfrm>
            <a:off x="438898" y="9037347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546898" y="8992036"/>
            <a:ext cx="6843755" cy="14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8"/>
              </a:lnSpc>
              <a:buNone/>
            </a:pPr>
            <a:r>
              <a:rPr lang="en-US" sz="80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Attach membership to every system sale? </a:t>
            </a:r>
            <a:pPr indent="0" marL="0">
              <a:lnSpc>
                <a:spcPts val="1168"/>
              </a:lnSpc>
              <a:buNone/>
            </a:pPr>
            <a:r>
              <a:rPr lang="en-US" sz="80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Retention maths says yes.</a:t>
            </a:r>
            <a:endParaRPr lang="en-US" sz="800" dirty="0"/>
          </a:p>
        </p:txBody>
      </p:sp>
      <p:sp>
        <p:nvSpPr>
          <p:cNvPr id="66" name="Shape 62"/>
          <p:cNvSpPr/>
          <p:nvPr/>
        </p:nvSpPr>
        <p:spPr>
          <a:xfrm>
            <a:off x="438898" y="9647600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546898" y="9602290"/>
            <a:ext cx="6843755" cy="14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8"/>
              </a:lnSpc>
              <a:buNone/>
            </a:pPr>
            <a:r>
              <a:rPr lang="en-US" sz="80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Commission the canning feasibility? </a:t>
            </a:r>
            <a:pPr indent="0" marL="0">
              <a:lnSpc>
                <a:spcPts val="1168"/>
              </a:lnSpc>
              <a:buNone/>
            </a:pPr>
            <a:r>
              <a:rPr lang="en-US" sz="80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number, not an opinion.</a:t>
            </a:r>
            <a:endParaRPr lang="en-US" sz="800" dirty="0"/>
          </a:p>
        </p:txBody>
      </p:sp>
      <p:sp>
        <p:nvSpPr>
          <p:cNvPr id="68" name="Shape 64"/>
          <p:cNvSpPr/>
          <p:nvPr/>
        </p:nvSpPr>
        <p:spPr>
          <a:xfrm>
            <a:off x="438898" y="10257854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546898" y="10212543"/>
            <a:ext cx="6843755" cy="14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8"/>
              </a:lnSpc>
              <a:buNone/>
            </a:pPr>
            <a:r>
              <a:rPr lang="en-US" sz="80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Settle the per-schooner figure. </a:t>
            </a:r>
            <a:pPr indent="0" marL="0">
              <a:lnSpc>
                <a:spcPts val="1168"/>
              </a:lnSpc>
              <a:buNone/>
            </a:pPr>
            <a:r>
              <a:rPr lang="en-US" sz="80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Then pull or correct the live ad.</a:t>
            </a:r>
            <a:endParaRPr lang="en-US" sz="800" dirty="0"/>
          </a:p>
        </p:txBody>
      </p:sp>
      <p:sp>
        <p:nvSpPr>
          <p:cNvPr id="70" name="Shape 66"/>
          <p:cNvSpPr/>
          <p:nvPr/>
        </p:nvSpPr>
        <p:spPr>
          <a:xfrm>
            <a:off x="7613752" y="7486462"/>
            <a:ext cx="7182155" cy="2989618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7728952" y="7601662"/>
            <a:ext cx="6951755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COULD GO WRONG</a:t>
            </a:r>
            <a:endParaRPr lang="en-US" sz="680" dirty="0"/>
          </a:p>
        </p:txBody>
      </p:sp>
      <p:sp>
        <p:nvSpPr>
          <p:cNvPr id="72" name="Shape 68"/>
          <p:cNvSpPr/>
          <p:nvPr/>
        </p:nvSpPr>
        <p:spPr>
          <a:xfrm>
            <a:off x="7728952" y="7816840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7836952" y="7771530"/>
            <a:ext cx="6843755" cy="14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8"/>
              </a:lnSpc>
              <a:buNone/>
            </a:pPr>
            <a:r>
              <a:rPr lang="en-US" sz="80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Pausing walk-ins costs community. </a:t>
            </a:r>
            <a:pPr indent="0" marL="0">
              <a:lnSpc>
                <a:spcPts val="1168"/>
              </a:lnSpc>
              <a:buNone/>
            </a:pPr>
            <a:r>
              <a:rPr lang="en-US" sz="80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room built the ambassadors. Replace it with systems before it goes, not after.</a:t>
            </a:r>
            <a:endParaRPr lang="en-US" sz="800" dirty="0"/>
          </a:p>
        </p:txBody>
      </p:sp>
      <p:sp>
        <p:nvSpPr>
          <p:cNvPr id="74" name="Shape 70"/>
          <p:cNvSpPr/>
          <p:nvPr/>
        </p:nvSpPr>
        <p:spPr>
          <a:xfrm>
            <a:off x="7728952" y="8549706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7836952" y="8504396"/>
            <a:ext cx="6843755" cy="14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8"/>
              </a:lnSpc>
              <a:buNone/>
            </a:pPr>
            <a:r>
              <a:rPr lang="en-US" sz="80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Wholesale hire without a process. </a:t>
            </a:r>
            <a:pPr indent="0" marL="0">
              <a:lnSpc>
                <a:spcPts val="1168"/>
              </a:lnSpc>
              <a:buNone/>
            </a:pPr>
            <a:r>
              <a:rPr lang="en-US" sz="80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salesperson with no CRM behind them will fail the same way the founders did.</a:t>
            </a:r>
            <a:endParaRPr lang="en-US" sz="800" dirty="0"/>
          </a:p>
        </p:txBody>
      </p:sp>
      <p:sp>
        <p:nvSpPr>
          <p:cNvPr id="76" name="Shape 72"/>
          <p:cNvSpPr/>
          <p:nvPr/>
        </p:nvSpPr>
        <p:spPr>
          <a:xfrm>
            <a:off x="7728952" y="9282572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7836952" y="9237262"/>
            <a:ext cx="6843755" cy="14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8"/>
              </a:lnSpc>
              <a:buNone/>
            </a:pPr>
            <a:r>
              <a:rPr lang="en-US" sz="80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Cutting the range too fast. </a:t>
            </a:r>
            <a:pPr indent="0" marL="0">
              <a:lnSpc>
                <a:spcPts val="1168"/>
              </a:lnSpc>
              <a:buNone/>
            </a:pPr>
            <a:r>
              <a:rPr lang="en-US" sz="80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tail costs money, but some of it is why people come.</a:t>
            </a:r>
            <a:endParaRPr lang="en-US" sz="800" dirty="0"/>
          </a:p>
        </p:txBody>
      </p:sp>
      <p:sp>
        <p:nvSpPr>
          <p:cNvPr id="78" name="Shape 74"/>
          <p:cNvSpPr/>
          <p:nvPr/>
        </p:nvSpPr>
        <p:spPr>
          <a:xfrm>
            <a:off x="7728952" y="10015439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5"/>
          <p:cNvSpPr txBox="1"/>
          <p:nvPr/>
        </p:nvSpPr>
        <p:spPr>
          <a:xfrm>
            <a:off x="7836952" y="9970128"/>
            <a:ext cx="6843755" cy="14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8"/>
              </a:lnSpc>
              <a:buNone/>
            </a:pPr>
            <a:r>
              <a:rPr lang="en-US" sz="80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 at once. </a:t>
            </a:r>
            <a:pPr indent="0" marL="0">
              <a:lnSpc>
                <a:spcPts val="1168"/>
              </a:lnSpc>
              <a:buNone/>
            </a:pPr>
            <a:r>
              <a:rPr lang="en-US" sz="80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recurring failure has been starting things and moving on. Three moves finished beats ten started.</a:t>
            </a:r>
            <a:endParaRPr lang="en-US" sz="800" dirty="0"/>
          </a:p>
        </p:txBody>
      </p:sp>
      <p:sp>
        <p:nvSpPr>
          <p:cNvPr id="80" name="Shape 76"/>
          <p:cNvSpPr/>
          <p:nvPr/>
        </p:nvSpPr>
        <p:spPr>
          <a:xfrm>
            <a:off x="7728952" y="10183264"/>
            <a:ext cx="6951755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81" name="Text 77"/>
          <p:cNvSpPr txBox="1"/>
          <p:nvPr/>
        </p:nvSpPr>
        <p:spPr>
          <a:xfrm>
            <a:off x="7728952" y="10240864"/>
            <a:ext cx="6951755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Justin's own point in the catch-up: as this scales, the personal connection cannot hold. It has to be replicated in systems.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./site/brand/taptha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3698" y="301752"/>
            <a:ext cx="360000" cy="360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7698" y="310896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Brand plan – on a page</a:t>
            </a:r>
            <a:endParaRPr lang="en-US" sz="2100" dirty="0"/>
          </a:p>
        </p:txBody>
      </p:sp>
      <p:sp>
        <p:nvSpPr>
          <p:cNvPr id="4" name="Shape 1"/>
          <p:cNvSpPr/>
          <p:nvPr/>
        </p:nvSpPr>
        <p:spPr>
          <a:xfrm>
            <a:off x="13650938" y="365760"/>
            <a:ext cx="1144969" cy="251460"/>
          </a:xfrm>
          <a:prstGeom prst="roundRect">
            <a:avLst>
              <a:gd name="adj" fmla="val 50000"/>
            </a:avLst>
          </a:prstGeom>
          <a:solidFill>
            <a:srgbClr val="0E171F"/>
          </a:solidFill>
          <a:ln w="9525">
            <a:solidFill>
              <a:srgbClr val="0E171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3650938" y="365760"/>
            <a:ext cx="1144969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78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JEWELL PROJECTS</a:t>
            </a:r>
            <a:endParaRPr lang="en-US" sz="650" dirty="0"/>
          </a:p>
        </p:txBody>
      </p:sp>
      <p:sp>
        <p:nvSpPr>
          <p:cNvPr id="6" name="Shape 3"/>
          <p:cNvSpPr/>
          <p:nvPr/>
        </p:nvSpPr>
        <p:spPr>
          <a:xfrm>
            <a:off x="12410462" y="365760"/>
            <a:ext cx="1150475" cy="2514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2410462" y="365760"/>
            <a:ext cx="1150475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78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V01 · 15 SEPT 2026</a:t>
            </a:r>
            <a:endParaRPr lang="en-US" sz="650" dirty="0"/>
          </a:p>
        </p:txBody>
      </p:sp>
      <p:sp>
        <p:nvSpPr>
          <p:cNvPr id="8" name="Shape 5"/>
          <p:cNvSpPr/>
          <p:nvPr/>
        </p:nvSpPr>
        <p:spPr>
          <a:xfrm>
            <a:off x="11102419" y="365760"/>
            <a:ext cx="1218043" cy="2514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102419" y="365760"/>
            <a:ext cx="1218043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78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 THAT BREWERY</a:t>
            </a:r>
            <a:endParaRPr lang="en-US" sz="650" dirty="0"/>
          </a:p>
        </p:txBody>
      </p:sp>
      <p:sp>
        <p:nvSpPr>
          <p:cNvPr id="10" name="Shape 7"/>
          <p:cNvSpPr/>
          <p:nvPr/>
        </p:nvSpPr>
        <p:spPr>
          <a:xfrm>
            <a:off x="10045300" y="365760"/>
            <a:ext cx="967119" cy="2514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045300" y="365760"/>
            <a:ext cx="967119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78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 02 OF 04</a:t>
            </a:r>
            <a:endParaRPr lang="en-US" sz="650" dirty="0"/>
          </a:p>
        </p:txBody>
      </p:sp>
      <p:sp>
        <p:nvSpPr>
          <p:cNvPr id="12" name="Shape 9"/>
          <p:cNvSpPr/>
          <p:nvPr/>
        </p:nvSpPr>
        <p:spPr>
          <a:xfrm>
            <a:off x="323698" y="969264"/>
            <a:ext cx="14472209" cy="0"/>
          </a:xfrm>
          <a:prstGeom prst="line">
            <a:avLst/>
          </a:prstGeom>
          <a:noFill/>
          <a:ln w="25400">
            <a:solidFill>
              <a:srgbClr val="0E171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3698" y="1115568"/>
            <a:ext cx="5967146" cy="2637898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3698" y="1115568"/>
            <a:ext cx="5967146" cy="360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38898" y="1230768"/>
            <a:ext cx="5736746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POSITION</a:t>
            </a:r>
            <a:endParaRPr lang="en-US" sz="680" dirty="0"/>
          </a:p>
        </p:txBody>
      </p:sp>
      <p:sp>
        <p:nvSpPr>
          <p:cNvPr id="16" name="Text 13"/>
          <p:cNvSpPr txBox="1"/>
          <p:nvPr/>
        </p:nvSpPr>
        <p:spPr>
          <a:xfrm>
            <a:off x="438898" y="1400636"/>
            <a:ext cx="5736746" cy="422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62"/>
              </a:lnSpc>
              <a:buNone/>
            </a:pPr>
            <a:r>
              <a:rPr lang="en-US" sz="134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pub at your place. Fresher, cheaper by the schooner, and yours.</a:t>
            </a:r>
            <a:endParaRPr lang="en-US" sz="1340" dirty="0"/>
          </a:p>
        </p:txBody>
      </p:sp>
      <p:sp>
        <p:nvSpPr>
          <p:cNvPr id="17" name="Text 14"/>
          <p:cNvSpPr txBox="1"/>
          <p:nvPr/>
        </p:nvSpPr>
        <p:spPr>
          <a:xfrm>
            <a:off x="438898" y="1988282"/>
            <a:ext cx="5736746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 That is not a brewery that also delivers. It is the way a household stops paying pub prices. That framing changes who the competitor is, what the range should be, and who the marketing is talking to.</a:t>
            </a:r>
            <a:endParaRPr lang="en-US" sz="810" dirty="0"/>
          </a:p>
        </p:txBody>
      </p:sp>
      <p:sp>
        <p:nvSpPr>
          <p:cNvPr id="18" name="Text 15"/>
          <p:cNvSpPr txBox="1"/>
          <p:nvPr/>
        </p:nvSpPr>
        <p:spPr>
          <a:xfrm>
            <a:off x="438898" y="2462492"/>
            <a:ext cx="5736746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also settles what Tap That is not. Not a craft brewery competing on taps, not a bottle shop competing on price, and not a venue competing for a Friday night.</a:t>
            </a:r>
            <a:endParaRPr lang="en-US" sz="810" dirty="0"/>
          </a:p>
        </p:txBody>
      </p:sp>
      <p:sp>
        <p:nvSpPr>
          <p:cNvPr id="19" name="Shape 16"/>
          <p:cNvSpPr/>
          <p:nvPr/>
        </p:nvSpPr>
        <p:spPr>
          <a:xfrm>
            <a:off x="438898" y="3460651"/>
            <a:ext cx="5736746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8898" y="3518251"/>
            <a:ext cx="5736746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Nobody on the Gold Coast owns this category, in market or in search. That is the opening.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6398743" y="1115568"/>
            <a:ext cx="8397164" cy="2637898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13943" y="1230768"/>
            <a:ext cx="8166764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THE ENEMY IS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6513943" y="1400636"/>
            <a:ext cx="8166764" cy="161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0"/>
              </a:lnSpc>
              <a:buNone/>
            </a:pPr>
            <a:r>
              <a:rPr lang="en-US" sz="92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Overpriced pubs. Not the duopoly, not A&amp;A, not the keg delivery operators.</a:t>
            </a:r>
            <a:endParaRPr lang="en-US" sz="920" dirty="0"/>
          </a:p>
        </p:txBody>
      </p:sp>
      <p:sp>
        <p:nvSpPr>
          <p:cNvPr id="24" name="Text 21"/>
          <p:cNvSpPr txBox="1"/>
          <p:nvPr/>
        </p:nvSpPr>
        <p:spPr>
          <a:xfrm>
            <a:off x="6513943" y="1727475"/>
            <a:ext cx="8166764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price conversation should be unit economics against a </a:t>
            </a:r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$10 to $18 pub schooner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Being dearer than another keg supplier is defensible. Losing a sticker fight is not, and A&amp;A cannot be beaten on sticker without giving away the margin this business runs on.</a:t>
            </a:r>
            <a:endParaRPr lang="en-US" sz="810" dirty="0"/>
          </a:p>
        </p:txBody>
      </p:sp>
      <p:sp>
        <p:nvSpPr>
          <p:cNvPr id="25" name="Text 22"/>
          <p:cNvSpPr txBox="1"/>
          <p:nvPr/>
        </p:nvSpPr>
        <p:spPr>
          <a:xfrm>
            <a:off x="6513943" y="2201685"/>
            <a:ext cx="8166764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not get pulled into a keg price war.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is the one fight where winning costs more than losing.</a:t>
            </a:r>
            <a:endParaRPr lang="en-US" sz="810" dirty="0"/>
          </a:p>
        </p:txBody>
      </p:sp>
      <p:sp>
        <p:nvSpPr>
          <p:cNvPr id="26" name="Text 23"/>
          <p:cNvSpPr txBox="1"/>
          <p:nvPr/>
        </p:nvSpPr>
        <p:spPr>
          <a:xfrm>
            <a:off x="6513943" y="2521590"/>
            <a:ext cx="8166764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A&amp;A's domain is suspended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they have merged with Burleigh Homebrew. The competitor that set the price anchor is not in good health, which makes following them down worse than pointless.</a:t>
            </a:r>
            <a:endParaRPr lang="en-US" sz="810" dirty="0"/>
          </a:p>
        </p:txBody>
      </p:sp>
      <p:sp>
        <p:nvSpPr>
          <p:cNvPr id="27" name="Shape 24"/>
          <p:cNvSpPr/>
          <p:nvPr/>
        </p:nvSpPr>
        <p:spPr>
          <a:xfrm>
            <a:off x="6513943" y="3460651"/>
            <a:ext cx="8166764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13943" y="3518251"/>
            <a:ext cx="8166764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at-home per-schooner figure still needs settling. Use the comparison, not a number, until it is.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323698" y="3861365"/>
            <a:ext cx="4752137" cy="3341337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8898" y="3976565"/>
            <a:ext cx="4521737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HEROES, NOT A TAIL</a:t>
            </a:r>
            <a:endParaRPr lang="en-US" sz="680" dirty="0"/>
          </a:p>
        </p:txBody>
      </p:sp>
      <p:sp>
        <p:nvSpPr>
          <p:cNvPr id="31" name="Text 28"/>
          <p:cNvSpPr txBox="1"/>
          <p:nvPr/>
        </p:nvSpPr>
        <p:spPr>
          <a:xfrm>
            <a:off x="438898" y="4146433"/>
            <a:ext cx="4521737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About 19 brew choices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costing twice: cost of goods on the tail, and choice paralysis at the point of sale. It also means no single beer gets enough marketing to become known.</a:t>
            </a:r>
            <a:endParaRPr lang="en-US" sz="810" dirty="0"/>
          </a:p>
        </p:txBody>
      </p:sp>
      <p:sp>
        <p:nvSpPr>
          <p:cNvPr id="32" name="Text 29"/>
          <p:cNvSpPr txBox="1"/>
          <p:nvPr/>
        </p:nvSpPr>
        <p:spPr>
          <a:xfrm>
            <a:off x="438898" y="4774948"/>
            <a:ext cx="452173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Cutting the tail is not the point.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point is putting the freed marketing energy behind the heroes that remain. Romance the beer, not the venue.</a:t>
            </a:r>
            <a:endParaRPr lang="en-US" sz="810" dirty="0"/>
          </a:p>
        </p:txBody>
      </p:sp>
      <p:sp>
        <p:nvSpPr>
          <p:cNvPr id="33" name="Text 30"/>
          <p:cNvSpPr txBox="1"/>
          <p:nvPr/>
        </p:nvSpPr>
        <p:spPr>
          <a:xfrm>
            <a:off x="438898" y="5249158"/>
            <a:ext cx="452173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 social proof at the point of sale: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 popular, award winning, what to eat with it. Missing in the room and missing on the site.</a:t>
            </a:r>
            <a:endParaRPr lang="en-US" sz="810" dirty="0"/>
          </a:p>
        </p:txBody>
      </p:sp>
      <p:sp>
        <p:nvSpPr>
          <p:cNvPr id="34" name="Shape 31"/>
          <p:cNvSpPr/>
          <p:nvPr/>
        </p:nvSpPr>
        <p:spPr>
          <a:xfrm>
            <a:off x="438898" y="6789872"/>
            <a:ext cx="4521737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898" y="6847472"/>
            <a:ext cx="4521737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 taps and roughly a third not beer is core identity, not clutter. Cut brews, not the breadth of drink types.</a:t>
            </a:r>
            <a:endParaRPr lang="en-US" sz="700" dirty="0"/>
          </a:p>
        </p:txBody>
      </p:sp>
      <p:sp>
        <p:nvSpPr>
          <p:cNvPr id="36" name="Shape 33"/>
          <p:cNvSpPr/>
          <p:nvPr/>
        </p:nvSpPr>
        <p:spPr>
          <a:xfrm>
            <a:off x="5183734" y="3861365"/>
            <a:ext cx="4752137" cy="3341337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298934" y="3976565"/>
            <a:ext cx="4521737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DESIGN FOR HER</a:t>
            </a:r>
            <a:endParaRPr lang="en-US" sz="680" dirty="0"/>
          </a:p>
        </p:txBody>
      </p:sp>
      <p:sp>
        <p:nvSpPr>
          <p:cNvPr id="38" name="Text 35"/>
          <p:cNvSpPr txBox="1"/>
          <p:nvPr/>
        </p:nvSpPr>
        <p:spPr>
          <a:xfrm>
            <a:off x="5298934" y="4146433"/>
            <a:ext cx="4521737" cy="161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0"/>
              </a:lnSpc>
              <a:buNone/>
            </a:pPr>
            <a:r>
              <a:rPr lang="en-US" sz="92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single largest unaddressed opportunity in the brand.</a:t>
            </a:r>
            <a:endParaRPr lang="en-US" sz="920" dirty="0"/>
          </a:p>
        </p:txBody>
      </p:sp>
      <p:sp>
        <p:nvSpPr>
          <p:cNvPr id="39" name="Text 36"/>
          <p:cNvSpPr txBox="1"/>
          <p:nvPr/>
        </p:nvSpPr>
        <p:spPr>
          <a:xfrm>
            <a:off x="5298934" y="4473272"/>
            <a:ext cx="4521737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range, the marketing and the hardware all read masculine. Covered is not the same as catered for. Christy's argument is the blunt one: </a:t>
            </a:r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women are not coming, men will not follow.</a:t>
            </a:r>
            <a:endParaRPr lang="en-US" sz="810" dirty="0"/>
          </a:p>
        </p:txBody>
      </p:sp>
      <p:sp>
        <p:nvSpPr>
          <p:cNvPr id="40" name="Text 37"/>
          <p:cNvSpPr txBox="1"/>
          <p:nvPr/>
        </p:nvSpPr>
        <p:spPr>
          <a:xfrm>
            <a:off x="5298934" y="5101787"/>
            <a:ext cx="4521737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means in practice: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romance the RTD properly, build the hydration and light range as a real story, make products she is proud to serve, and design a system she is willing to have in eyesight at home.</a:t>
            </a:r>
            <a:endParaRPr lang="en-US" sz="810" dirty="0"/>
          </a:p>
        </p:txBody>
      </p:sp>
      <p:sp>
        <p:nvSpPr>
          <p:cNvPr id="41" name="Text 38"/>
          <p:cNvSpPr txBox="1"/>
          <p:nvPr/>
        </p:nvSpPr>
        <p:spPr>
          <a:xfrm>
            <a:off x="5298934" y="5730302"/>
            <a:ext cx="4521737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to start: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wellness influencer collaborations, and co-developing something with a local fitness brand. Christy's example was a protein beer. The point is a product she would choose, not a product she tolerates.</a:t>
            </a:r>
            <a:endParaRPr lang="en-US" sz="810" dirty="0"/>
          </a:p>
        </p:txBody>
      </p:sp>
      <p:sp>
        <p:nvSpPr>
          <p:cNvPr id="42" name="Shape 39"/>
          <p:cNvSpPr/>
          <p:nvPr/>
        </p:nvSpPr>
        <p:spPr>
          <a:xfrm>
            <a:off x="5298934" y="6909887"/>
            <a:ext cx="4521737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298934" y="6967487"/>
            <a:ext cx="4521737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is a product and design brief, not a campaign. It will not be solved by a post.</a:t>
            </a:r>
            <a:endParaRPr lang="en-US" sz="700" dirty="0"/>
          </a:p>
        </p:txBody>
      </p:sp>
      <p:sp>
        <p:nvSpPr>
          <p:cNvPr id="44" name="Shape 41"/>
          <p:cNvSpPr/>
          <p:nvPr/>
        </p:nvSpPr>
        <p:spPr>
          <a:xfrm>
            <a:off x="10043770" y="3861365"/>
            <a:ext cx="4752137" cy="3341337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58970" y="3976565"/>
            <a:ext cx="4521737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PROOF ALREADY OWNED AND BARELY USED</a:t>
            </a:r>
            <a:endParaRPr lang="en-US" sz="680" dirty="0"/>
          </a:p>
        </p:txBody>
      </p:sp>
      <p:sp>
        <p:nvSpPr>
          <p:cNvPr id="46" name="Shape 43"/>
          <p:cNvSpPr/>
          <p:nvPr/>
        </p:nvSpPr>
        <p:spPr>
          <a:xfrm>
            <a:off x="10158970" y="4181584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0266970" y="4146433"/>
            <a:ext cx="44137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8"/>
              </a:lnSpc>
              <a:buNone/>
            </a:pPr>
            <a:r>
              <a:rPr lang="en-US" sz="72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Crafted Brewers' Choice award. </a:t>
            </a:r>
            <a:pPr indent="0" marL="0">
              <a:lnSpc>
                <a:spcPts val="1008"/>
              </a:lnSpc>
              <a:buNone/>
            </a:pPr>
            <a:r>
              <a:rPr lang="en-US" sz="72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Won, and almost invisible. It belongs on the site, in the room, on the tap decals and in social.</a:t>
            </a:r>
            <a:endParaRPr lang="en-US" sz="720" dirty="0"/>
          </a:p>
        </p:txBody>
      </p:sp>
      <p:sp>
        <p:nvSpPr>
          <p:cNvPr id="48" name="Shape 45"/>
          <p:cNvSpPr/>
          <p:nvPr/>
        </p:nvSpPr>
        <p:spPr>
          <a:xfrm>
            <a:off x="10158970" y="4948855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10266970" y="4913704"/>
            <a:ext cx="441373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8"/>
              </a:lnSpc>
              <a:buNone/>
            </a:pPr>
            <a:r>
              <a:rPr lang="en-US" sz="72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Fits any system. </a:t>
            </a:r>
            <a:pPr indent="0" marL="0">
              <a:lnSpc>
                <a:spcPts val="1008"/>
              </a:lnSpc>
              <a:buNone/>
            </a:pPr>
            <a:r>
              <a:rPr lang="en-US" sz="72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buying objection answered, currently below the fold.</a:t>
            </a:r>
            <a:endParaRPr lang="en-US" sz="720" dirty="0"/>
          </a:p>
        </p:txBody>
      </p:sp>
      <p:sp>
        <p:nvSpPr>
          <p:cNvPr id="50" name="Shape 47"/>
          <p:cNvSpPr/>
          <p:nvPr/>
        </p:nvSpPr>
        <p:spPr>
          <a:xfrm>
            <a:off x="10158970" y="5588110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10266970" y="5552960"/>
            <a:ext cx="44137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8"/>
              </a:lnSpc>
              <a:buNone/>
            </a:pPr>
            <a:r>
              <a:rPr lang="en-US" sz="72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CO2 with Talos kegs. </a:t>
            </a:r>
            <a:pPr indent="0" marL="0">
              <a:lnSpc>
                <a:spcPts val="1008"/>
              </a:lnSpc>
              <a:buNone/>
            </a:pPr>
            <a:r>
              <a:rPr lang="en-US" sz="72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Gas bottle management is a real barrier for new owners and this removes it.</a:t>
            </a:r>
            <a:endParaRPr lang="en-US" sz="720" dirty="0"/>
          </a:p>
        </p:txBody>
      </p:sp>
      <p:sp>
        <p:nvSpPr>
          <p:cNvPr id="52" name="Shape 49"/>
          <p:cNvSpPr/>
          <p:nvPr/>
        </p:nvSpPr>
        <p:spPr>
          <a:xfrm>
            <a:off x="10158970" y="6355382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10266970" y="6320231"/>
            <a:ext cx="441373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8"/>
              </a:lnSpc>
              <a:buNone/>
            </a:pPr>
            <a:r>
              <a:rPr lang="en-US" sz="72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1,000 giveaway entries. </a:t>
            </a:r>
            <a:pPr indent="0" marL="0">
              <a:lnSpc>
                <a:spcPts val="1008"/>
              </a:lnSpc>
              <a:buNone/>
            </a:pPr>
            <a:r>
              <a:rPr lang="en-US" sz="72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Demand for the hardware is demonstrated, not assumed.</a:t>
            </a:r>
            <a:endParaRPr lang="en-US" sz="720" dirty="0"/>
          </a:p>
        </p:txBody>
      </p:sp>
      <p:sp>
        <p:nvSpPr>
          <p:cNvPr id="54" name="Shape 51"/>
          <p:cNvSpPr/>
          <p:nvPr/>
        </p:nvSpPr>
        <p:spPr>
          <a:xfrm>
            <a:off x="10158970" y="6994637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10266970" y="6959486"/>
            <a:ext cx="441373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8"/>
              </a:lnSpc>
              <a:buNone/>
            </a:pPr>
            <a:r>
              <a:rPr lang="en-US" sz="72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Strong reviews. </a:t>
            </a:r>
            <a:pPr indent="0" marL="0">
              <a:lnSpc>
                <a:spcPts val="1008"/>
              </a:lnSpc>
              <a:buNone/>
            </a:pPr>
            <a:r>
              <a:rPr lang="en-US" sz="72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Present, unpromoted, and invisible to AI search.</a:t>
            </a:r>
            <a:endParaRPr lang="en-US" sz="720" dirty="0"/>
          </a:p>
        </p:txBody>
      </p:sp>
      <p:sp>
        <p:nvSpPr>
          <p:cNvPr id="56" name="Shape 53"/>
          <p:cNvSpPr/>
          <p:nvPr/>
        </p:nvSpPr>
        <p:spPr>
          <a:xfrm>
            <a:off x="323698" y="7310602"/>
            <a:ext cx="7182155" cy="3165478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38898" y="7425802"/>
            <a:ext cx="6951755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IDENTITY HOUSEKEEPING, AND WHAT IS STILL OPEN</a:t>
            </a:r>
            <a:endParaRPr lang="en-US" sz="680" dirty="0"/>
          </a:p>
        </p:txBody>
      </p:sp>
      <p:sp>
        <p:nvSpPr>
          <p:cNvPr id="58" name="Shape 55"/>
          <p:cNvSpPr/>
          <p:nvPr/>
        </p:nvSpPr>
        <p:spPr>
          <a:xfrm>
            <a:off x="438898" y="7632636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46898" y="7595670"/>
            <a:ext cx="6843755" cy="2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37"/>
              </a:lnSpc>
              <a:buNone/>
            </a:pPr>
            <a:r>
              <a:rPr lang="en-US" sz="73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name on the mark. </a:t>
            </a:r>
            <a:pPr indent="0" marL="0">
              <a:lnSpc>
                <a:spcPts val="1037"/>
              </a:lnSpc>
              <a:buNone/>
            </a:pPr>
            <a:r>
              <a:rPr lang="en-US" sz="73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Documents say Tap That Brewery, the badge says Brewery &amp; Keghouse. Founders' call. Until it is made, never crop the badge.</a:t>
            </a:r>
            <a:endParaRPr lang="en-US" sz="730" dirty="0"/>
          </a:p>
        </p:txBody>
      </p:sp>
      <p:sp>
        <p:nvSpPr>
          <p:cNvPr id="60" name="Shape 57"/>
          <p:cNvSpPr/>
          <p:nvPr/>
        </p:nvSpPr>
        <p:spPr>
          <a:xfrm>
            <a:off x="438898" y="8598255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546898" y="8561289"/>
            <a:ext cx="6843755" cy="13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37"/>
              </a:lnSpc>
              <a:buNone/>
            </a:pPr>
            <a:r>
              <a:rPr lang="en-US" sz="73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live membership posters </a:t>
            </a:r>
            <a:pPr indent="0" marL="0">
              <a:lnSpc>
                <a:spcPts val="1037"/>
              </a:lnSpc>
              <a:buNone/>
            </a:pPr>
            <a:r>
              <a:rPr lang="en-US" sz="73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quote different prices. One has to be withdrawn.</a:t>
            </a:r>
            <a:endParaRPr lang="en-US" sz="730" dirty="0"/>
          </a:p>
        </p:txBody>
      </p:sp>
      <p:sp>
        <p:nvSpPr>
          <p:cNvPr id="62" name="Shape 59"/>
          <p:cNvSpPr/>
          <p:nvPr/>
        </p:nvSpPr>
        <p:spPr>
          <a:xfrm>
            <a:off x="438898" y="9432226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546898" y="9395260"/>
            <a:ext cx="6843755" cy="13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37"/>
              </a:lnSpc>
              <a:buNone/>
            </a:pPr>
            <a:r>
              <a:rPr lang="en-US" sz="73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files. </a:t>
            </a:r>
            <a:pPr indent="0" marL="0">
              <a:lnSpc>
                <a:spcPts val="1037"/>
              </a:lnSpc>
              <a:buNone/>
            </a:pPr>
            <a:r>
              <a:rPr lang="en-US" sz="73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Vector logos and font names are still outstanding, so the colour and type calls in the guidelines stay provisional.</a:t>
            </a:r>
            <a:endParaRPr lang="en-US" sz="730" dirty="0"/>
          </a:p>
        </p:txBody>
      </p:sp>
      <p:sp>
        <p:nvSpPr>
          <p:cNvPr id="64" name="Shape 61"/>
          <p:cNvSpPr/>
          <p:nvPr/>
        </p:nvSpPr>
        <p:spPr>
          <a:xfrm>
            <a:off x="438898" y="10266198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46898" y="10229231"/>
            <a:ext cx="6843755" cy="13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37"/>
              </a:lnSpc>
              <a:buNone/>
            </a:pPr>
            <a:r>
              <a:rPr lang="en-US" sz="73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Category language. </a:t>
            </a:r>
            <a:pPr indent="0" marL="0">
              <a:lnSpc>
                <a:spcPts val="1037"/>
              </a:lnSpc>
              <a:buNone/>
            </a:pPr>
            <a:r>
              <a:rPr lang="en-US" sz="73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Commercial brewer invites mainstream price comparison. The category needs a name of its own.</a:t>
            </a:r>
            <a:endParaRPr lang="en-US" sz="730" dirty="0"/>
          </a:p>
        </p:txBody>
      </p:sp>
      <p:sp>
        <p:nvSpPr>
          <p:cNvPr id="66" name="Shape 63"/>
          <p:cNvSpPr/>
          <p:nvPr/>
        </p:nvSpPr>
        <p:spPr>
          <a:xfrm>
            <a:off x="7613752" y="7310602"/>
            <a:ext cx="7182155" cy="3165478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728952" y="7425802"/>
            <a:ext cx="6951755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VOICE, AND THE RULE THAT GOVERNS IT</a:t>
            </a:r>
            <a:endParaRPr lang="en-US" sz="680" dirty="0"/>
          </a:p>
        </p:txBody>
      </p:sp>
      <p:sp>
        <p:nvSpPr>
          <p:cNvPr id="68" name="Text 65"/>
          <p:cNvSpPr txBox="1"/>
          <p:nvPr/>
        </p:nvSpPr>
        <p:spPr>
          <a:xfrm>
            <a:off x="7728952" y="7595670"/>
            <a:ext cx="6951755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Green leads, gold accents, never the reverse.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Bold condensed caps for headlines, a plain workhorse sans for reading. No scripts, no serifs.</a:t>
            </a:r>
            <a:endParaRPr lang="en-US" sz="810" dirty="0"/>
          </a:p>
        </p:txBody>
      </p:sp>
      <p:sp>
        <p:nvSpPr>
          <p:cNvPr id="69" name="Text 66"/>
          <p:cNvSpPr txBox="1"/>
          <p:nvPr/>
        </p:nvSpPr>
        <p:spPr>
          <a:xfrm>
            <a:off x="7728952" y="8069880"/>
            <a:ext cx="6951755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registers.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Cheeky for names and moments, at exactly the level the trading name sets. Plain and generous for money, service and responsibility. Never crude beyond the name's own wink, never beer-snob, never discount-shouty.</a:t>
            </a:r>
            <a:endParaRPr lang="en-US" sz="810" dirty="0"/>
          </a:p>
        </p:txBody>
      </p:sp>
      <p:sp>
        <p:nvSpPr>
          <p:cNvPr id="70" name="Text 67"/>
          <p:cNvSpPr txBox="1"/>
          <p:nvPr/>
        </p:nvSpPr>
        <p:spPr>
          <a:xfrm>
            <a:off x="7728952" y="8544090"/>
            <a:ext cx="6951755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Photography: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real room, real customers, available light. Not stock, and not anything that could not have been taken at Burleigh Heads.</a:t>
            </a:r>
            <a:endParaRPr lang="en-US" sz="810" dirty="0"/>
          </a:p>
        </p:txBody>
      </p:sp>
      <p:sp>
        <p:nvSpPr>
          <p:cNvPr id="71" name="Shape 68"/>
          <p:cNvSpPr/>
          <p:nvPr/>
        </p:nvSpPr>
        <p:spPr>
          <a:xfrm>
            <a:off x="7728952" y="10183264"/>
            <a:ext cx="6951755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728952" y="10240864"/>
            <a:ext cx="6951755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event flyers already built follow this. They are the reference for anything new.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./site/brand/taptha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3698" y="301752"/>
            <a:ext cx="360000" cy="360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7698" y="310896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and marketing plan – on a page</a:t>
            </a:r>
            <a:endParaRPr lang="en-US" sz="2100" dirty="0"/>
          </a:p>
        </p:txBody>
      </p:sp>
      <p:sp>
        <p:nvSpPr>
          <p:cNvPr id="4" name="Shape 1"/>
          <p:cNvSpPr/>
          <p:nvPr/>
        </p:nvSpPr>
        <p:spPr>
          <a:xfrm>
            <a:off x="13650938" y="365760"/>
            <a:ext cx="1144969" cy="251460"/>
          </a:xfrm>
          <a:prstGeom prst="roundRect">
            <a:avLst>
              <a:gd name="adj" fmla="val 50000"/>
            </a:avLst>
          </a:prstGeom>
          <a:solidFill>
            <a:srgbClr val="0E171F"/>
          </a:solidFill>
          <a:ln w="9525">
            <a:solidFill>
              <a:srgbClr val="0E171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3650938" y="365760"/>
            <a:ext cx="1144969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78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JEWELL PROJECTS</a:t>
            </a:r>
            <a:endParaRPr lang="en-US" sz="650" dirty="0"/>
          </a:p>
        </p:txBody>
      </p:sp>
      <p:sp>
        <p:nvSpPr>
          <p:cNvPr id="6" name="Shape 3"/>
          <p:cNvSpPr/>
          <p:nvPr/>
        </p:nvSpPr>
        <p:spPr>
          <a:xfrm>
            <a:off x="12410462" y="365760"/>
            <a:ext cx="1150475" cy="2514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2410462" y="365760"/>
            <a:ext cx="1150475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78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V01 · 15 SEPT 2026</a:t>
            </a:r>
            <a:endParaRPr lang="en-US" sz="650" dirty="0"/>
          </a:p>
        </p:txBody>
      </p:sp>
      <p:sp>
        <p:nvSpPr>
          <p:cNvPr id="8" name="Shape 5"/>
          <p:cNvSpPr/>
          <p:nvPr/>
        </p:nvSpPr>
        <p:spPr>
          <a:xfrm>
            <a:off x="11102419" y="365760"/>
            <a:ext cx="1218043" cy="2514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102419" y="365760"/>
            <a:ext cx="1218043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78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 THAT BREWERY</a:t>
            </a:r>
            <a:endParaRPr lang="en-US" sz="650" dirty="0"/>
          </a:p>
        </p:txBody>
      </p:sp>
      <p:sp>
        <p:nvSpPr>
          <p:cNvPr id="10" name="Shape 7"/>
          <p:cNvSpPr/>
          <p:nvPr/>
        </p:nvSpPr>
        <p:spPr>
          <a:xfrm>
            <a:off x="10042472" y="365760"/>
            <a:ext cx="969947" cy="2514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042472" y="365760"/>
            <a:ext cx="969947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78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 03 OF 04</a:t>
            </a:r>
            <a:endParaRPr lang="en-US" sz="650" dirty="0"/>
          </a:p>
        </p:txBody>
      </p:sp>
      <p:sp>
        <p:nvSpPr>
          <p:cNvPr id="12" name="Shape 9"/>
          <p:cNvSpPr/>
          <p:nvPr/>
        </p:nvSpPr>
        <p:spPr>
          <a:xfrm>
            <a:off x="323698" y="969264"/>
            <a:ext cx="14472209" cy="0"/>
          </a:xfrm>
          <a:prstGeom prst="line">
            <a:avLst/>
          </a:prstGeom>
          <a:noFill/>
          <a:ln w="25400">
            <a:solidFill>
              <a:srgbClr val="0E171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3698" y="1115568"/>
            <a:ext cx="14472209" cy="2743414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3698" y="1115568"/>
            <a:ext cx="14472209" cy="360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38898" y="1230768"/>
            <a:ext cx="14241809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BEFORE ANYTHING ELSE: CONNECT THE SYSTEM</a:t>
            </a:r>
            <a:endParaRPr lang="en-US" sz="680" dirty="0"/>
          </a:p>
        </p:txBody>
      </p:sp>
      <p:sp>
        <p:nvSpPr>
          <p:cNvPr id="16" name="Text 13"/>
          <p:cNvSpPr txBox="1"/>
          <p:nvPr/>
        </p:nvSpPr>
        <p:spPr>
          <a:xfrm>
            <a:off x="438898" y="1400636"/>
            <a:ext cx="14241809" cy="1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38"/>
              </a:lnSpc>
              <a:buNone/>
            </a:pPr>
            <a:r>
              <a:rPr lang="en-US" sz="124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talks to anything. Every campaign is set up to underperform before it launches.</a:t>
            </a:r>
            <a:endParaRPr lang="en-US" sz="1240" dirty="0"/>
          </a:p>
        </p:txBody>
      </p:sp>
      <p:sp>
        <p:nvSpPr>
          <p:cNvPr id="17" name="Shape 14"/>
          <p:cNvSpPr/>
          <p:nvPr/>
        </p:nvSpPr>
        <p:spPr>
          <a:xfrm>
            <a:off x="438898" y="1761511"/>
            <a:ext cx="2762042" cy="1739856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8898" y="1761511"/>
            <a:ext cx="2762042" cy="288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32498" y="1855111"/>
            <a:ext cx="2574842" cy="108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58"/>
              </a:lnSpc>
              <a:buNone/>
            </a:pPr>
            <a:r>
              <a:rPr lang="en-US" sz="660" b="1" spc="66" kern="0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META ADS</a:t>
            </a:r>
            <a:endParaRPr lang="en-US" sz="660" dirty="0"/>
          </a:p>
        </p:txBody>
      </p:sp>
      <p:sp>
        <p:nvSpPr>
          <p:cNvPr id="20" name="Text 17"/>
          <p:cNvSpPr txBox="1"/>
          <p:nvPr/>
        </p:nvSpPr>
        <p:spPr>
          <a:xfrm>
            <a:off x="532498" y="2021677"/>
            <a:ext cx="2574842" cy="135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66"/>
              </a:lnSpc>
              <a:buNone/>
            </a:pPr>
            <a:r>
              <a:rPr lang="en-US" sz="74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Working. Driving traffic and foot traffic already.</a:t>
            </a:r>
            <a:endParaRPr lang="en-US" sz="740" dirty="0"/>
          </a:p>
        </p:txBody>
      </p:sp>
      <p:sp>
        <p:nvSpPr>
          <p:cNvPr id="21" name="Text 18"/>
          <p:cNvSpPr txBox="1"/>
          <p:nvPr/>
        </p:nvSpPr>
        <p:spPr>
          <a:xfrm>
            <a:off x="532498" y="2221808"/>
            <a:ext cx="2574842" cy="135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66"/>
              </a:lnSpc>
              <a:buNone/>
            </a:pPr>
            <a:r>
              <a:rPr lang="en-US" sz="74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Needs: somewhere to send the traffic.</a:t>
            </a:r>
            <a:endParaRPr lang="en-US" sz="740" dirty="0"/>
          </a:p>
        </p:txBody>
      </p:sp>
      <p:sp>
        <p:nvSpPr>
          <p:cNvPr id="22" name="Shape 19"/>
          <p:cNvSpPr/>
          <p:nvPr/>
        </p:nvSpPr>
        <p:spPr>
          <a:xfrm>
            <a:off x="3308839" y="1761511"/>
            <a:ext cx="2762042" cy="1739856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308839" y="1761511"/>
            <a:ext cx="2762042" cy="288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402439" y="1855111"/>
            <a:ext cx="2574842" cy="108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58"/>
              </a:lnSpc>
              <a:buNone/>
            </a:pPr>
            <a:r>
              <a:rPr lang="en-US" sz="660" b="1" spc="66" kern="0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WEBSITE</a:t>
            </a:r>
            <a:endParaRPr lang="en-US" sz="660" dirty="0"/>
          </a:p>
        </p:txBody>
      </p:sp>
      <p:sp>
        <p:nvSpPr>
          <p:cNvPr id="25" name="Text 22"/>
          <p:cNvSpPr txBox="1"/>
          <p:nvPr/>
        </p:nvSpPr>
        <p:spPr>
          <a:xfrm>
            <a:off x="3402439" y="2021677"/>
            <a:ext cx="2574842" cy="270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66"/>
              </a:lnSpc>
              <a:buNone/>
            </a:pPr>
            <a:r>
              <a:rPr lang="en-US" sz="74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brochure, not a conversion tool. No path to a system or a refill.</a:t>
            </a:r>
            <a:endParaRPr lang="en-US" sz="740" dirty="0"/>
          </a:p>
        </p:txBody>
      </p:sp>
      <p:sp>
        <p:nvSpPr>
          <p:cNvPr id="26" name="Text 23"/>
          <p:cNvSpPr txBox="1"/>
          <p:nvPr/>
        </p:nvSpPr>
        <p:spPr>
          <a:xfrm>
            <a:off x="3402439" y="2357140"/>
            <a:ext cx="2574842" cy="135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66"/>
              </a:lnSpc>
              <a:buNone/>
            </a:pPr>
            <a:r>
              <a:rPr lang="en-US" sz="74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Needs: a buy path, proof, and an FAQ.</a:t>
            </a:r>
            <a:endParaRPr lang="en-US" sz="740" dirty="0"/>
          </a:p>
        </p:txBody>
      </p:sp>
      <p:sp>
        <p:nvSpPr>
          <p:cNvPr id="27" name="Shape 24"/>
          <p:cNvSpPr/>
          <p:nvPr/>
        </p:nvSpPr>
        <p:spPr>
          <a:xfrm>
            <a:off x="6178781" y="1761511"/>
            <a:ext cx="2762042" cy="1739856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178781" y="1761511"/>
            <a:ext cx="2762042" cy="288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272381" y="1855111"/>
            <a:ext cx="2574842" cy="108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58"/>
              </a:lnSpc>
              <a:buNone/>
            </a:pPr>
            <a:r>
              <a:rPr lang="en-US" sz="660" b="1" spc="66" kern="0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</a:t>
            </a:r>
            <a:endParaRPr lang="en-US" sz="660" dirty="0"/>
          </a:p>
        </p:txBody>
      </p:sp>
      <p:sp>
        <p:nvSpPr>
          <p:cNvPr id="30" name="Text 27"/>
          <p:cNvSpPr txBox="1"/>
          <p:nvPr/>
        </p:nvSpPr>
        <p:spPr>
          <a:xfrm>
            <a:off x="6272381" y="2021677"/>
            <a:ext cx="2574842" cy="270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66"/>
              </a:lnSpc>
              <a:buNone/>
            </a:pPr>
            <a:r>
              <a:rPr lang="en-US" sz="74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happen here and never reach the customer record.</a:t>
            </a:r>
            <a:endParaRPr lang="en-US" sz="740" dirty="0"/>
          </a:p>
        </p:txBody>
      </p:sp>
      <p:sp>
        <p:nvSpPr>
          <p:cNvPr id="31" name="Text 28"/>
          <p:cNvSpPr txBox="1"/>
          <p:nvPr/>
        </p:nvSpPr>
        <p:spPr>
          <a:xfrm>
            <a:off x="6272381" y="2357140"/>
            <a:ext cx="2574842" cy="135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66"/>
              </a:lnSpc>
              <a:buNone/>
            </a:pPr>
            <a:r>
              <a:rPr lang="en-US" sz="74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Needs: to write back to the CRM.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48722" y="1761511"/>
            <a:ext cx="2762042" cy="1739856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48722" y="1761511"/>
            <a:ext cx="2762042" cy="288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142322" y="1855111"/>
            <a:ext cx="2574842" cy="108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58"/>
              </a:lnSpc>
              <a:buNone/>
            </a:pPr>
            <a:r>
              <a:rPr lang="en-US" sz="660" b="1" spc="66" kern="0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CRM</a:t>
            </a:r>
            <a:endParaRPr lang="en-US" sz="660" dirty="0"/>
          </a:p>
        </p:txBody>
      </p:sp>
      <p:sp>
        <p:nvSpPr>
          <p:cNvPr id="35" name="Text 32"/>
          <p:cNvSpPr txBox="1"/>
          <p:nvPr/>
        </p:nvSpPr>
        <p:spPr>
          <a:xfrm>
            <a:off x="9142322" y="2021677"/>
            <a:ext cx="2574842" cy="270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66"/>
              </a:lnSpc>
              <a:buNone/>
            </a:pPr>
            <a:r>
              <a:rPr lang="en-US" sz="74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Partly built, stalled. Blanket 90-day SMS is the only automation.</a:t>
            </a:r>
            <a:endParaRPr lang="en-US" sz="740" dirty="0"/>
          </a:p>
        </p:txBody>
      </p:sp>
      <p:sp>
        <p:nvSpPr>
          <p:cNvPr id="36" name="Text 33"/>
          <p:cNvSpPr txBox="1"/>
          <p:nvPr/>
        </p:nvSpPr>
        <p:spPr>
          <a:xfrm>
            <a:off x="9142322" y="2357140"/>
            <a:ext cx="2574842" cy="135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66"/>
              </a:lnSpc>
              <a:buNone/>
            </a:pPr>
            <a:r>
              <a:rPr lang="en-US" sz="74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Needs: consumption triggers and segments.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11918664" y="1761511"/>
            <a:ext cx="2762042" cy="1739856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1918664" y="1761511"/>
            <a:ext cx="2762042" cy="288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2012264" y="1855111"/>
            <a:ext cx="2574842" cy="108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58"/>
              </a:lnSpc>
              <a:buNone/>
            </a:pPr>
            <a:r>
              <a:rPr lang="en-US" sz="660" b="1" spc="66" kern="0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ONLINE STORE</a:t>
            </a:r>
            <a:endParaRPr lang="en-US" sz="660" dirty="0"/>
          </a:p>
        </p:txBody>
      </p:sp>
      <p:sp>
        <p:nvSpPr>
          <p:cNvPr id="40" name="Text 37"/>
          <p:cNvSpPr txBox="1"/>
          <p:nvPr/>
        </p:nvSpPr>
        <p:spPr>
          <a:xfrm>
            <a:off x="12012264" y="2021677"/>
            <a:ext cx="2574842" cy="270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66"/>
              </a:lnSpc>
              <a:buNone/>
            </a:pPr>
            <a:r>
              <a:rPr lang="en-US" sz="74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Partly built, stalled. Cannot support the offers this plan needs.</a:t>
            </a:r>
            <a:endParaRPr lang="en-US" sz="740" dirty="0"/>
          </a:p>
        </p:txBody>
      </p:sp>
      <p:sp>
        <p:nvSpPr>
          <p:cNvPr id="41" name="Text 38"/>
          <p:cNvSpPr txBox="1"/>
          <p:nvPr/>
        </p:nvSpPr>
        <p:spPr>
          <a:xfrm>
            <a:off x="12012264" y="2357140"/>
            <a:ext cx="2574842" cy="135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66"/>
              </a:lnSpc>
              <a:buNone/>
            </a:pPr>
            <a:r>
              <a:rPr lang="en-US" sz="74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Needs: memberships, vouchers, delivery.</a:t>
            </a:r>
            <a:endParaRPr lang="en-US" sz="740" dirty="0"/>
          </a:p>
        </p:txBody>
      </p:sp>
      <p:sp>
        <p:nvSpPr>
          <p:cNvPr id="42" name="Shape 39"/>
          <p:cNvSpPr/>
          <p:nvPr/>
        </p:nvSpPr>
        <p:spPr>
          <a:xfrm>
            <a:off x="438898" y="3566167"/>
            <a:ext cx="14241809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38898" y="3623767"/>
            <a:ext cx="14241809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is the first unlock. Spending more on ads before it is fixed buys traffic the business cannot catch.</a:t>
            </a:r>
            <a:endParaRPr lang="en-US" sz="700" dirty="0"/>
          </a:p>
        </p:txBody>
      </p:sp>
      <p:sp>
        <p:nvSpPr>
          <p:cNvPr id="44" name="Shape 41"/>
          <p:cNvSpPr/>
          <p:nvPr/>
        </p:nvSpPr>
        <p:spPr>
          <a:xfrm>
            <a:off x="323698" y="3966881"/>
            <a:ext cx="7182155" cy="3429267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38898" y="4082081"/>
            <a:ext cx="6951755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WE ARE TALKING TO, AND WHAT CHANGES</a:t>
            </a:r>
            <a:endParaRPr lang="en-US" sz="68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898" y="4251949"/>
          <a:ext cx="11339703" cy="914400"/>
        </p:xfrm>
        <a:graphic>
          <a:graphicData uri="http://schemas.openxmlformats.org/drawingml/2006/table">
            <a:tbl>
              <a:tblPr/>
              <a:tblGrid>
                <a:gridCol w="3011009"/>
                <a:gridCol w="3940746"/>
              </a:tblGrid>
              <a:tr h="3828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775"/>
                        </a:lnSpc>
                        <a:buNone/>
                      </a:pPr>
                      <a:r>
                        <a:rPr lang="en-US" sz="620" b="1" spc="62" kern="0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Segment</a:t>
                      </a:r>
                      <a:endParaRPr lang="en-US" sz="62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775"/>
                        </a:lnSpc>
                        <a:buNone/>
                      </a:pPr>
                      <a:r>
                        <a:rPr lang="en-US" sz="620" b="1" spc="62" kern="0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The message</a:t>
                      </a:r>
                      <a:endParaRPr lang="en-US" sz="62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1F"/>
                    </a:solidFill>
                  </a:tcPr>
                </a:tc>
              </a:tr>
              <a:tr h="51932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5"/>
                        </a:lnSpc>
                        <a:buNone/>
                      </a:pPr>
                      <a:r>
                        <a:rPr lang="en-US" sz="68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Owns a system, bought elsewhere</a:t>
                      </a:r>
                      <a:endParaRPr lang="en-US" sz="68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  <a:p>
                      <a:pPr algn="l" indent="0" marL="0">
                        <a:lnSpc>
                          <a:spcPts val="925"/>
                        </a:lnSpc>
                        <a:buNone/>
                      </a:pPr>
                      <a:r>
                        <a:rPr lang="en-US" sz="68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56% of refill customers</a:t>
                      </a:r>
                      <a:endParaRPr lang="en-US" sz="68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5"/>
                        </a:lnSpc>
                        <a:buNone/>
                      </a:pPr>
                      <a:r>
                        <a:rPr lang="en-US" sz="68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You already have the hardware. We are the beer. First keg on us</a:t>
                      </a:r>
                      <a:endParaRPr lang="en-US" sz="68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0187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5"/>
                        </a:lnSpc>
                        <a:buNone/>
                      </a:pPr>
                      <a:r>
                        <a:rPr lang="en-US" sz="68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Lapsed, forgot</a:t>
                      </a:r>
                      <a:endParaRPr lang="en-US" sz="68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5"/>
                        </a:lnSpc>
                        <a:buNone/>
                      </a:pPr>
                      <a:r>
                        <a:rPr lang="en-US" sz="68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Consumption-triggered reminder, free delivery, one tap to reorder</a:t>
                      </a:r>
                      <a:endParaRPr lang="en-US" sz="68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932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5"/>
                        </a:lnSpc>
                        <a:buNone/>
                      </a:pPr>
                      <a:r>
                        <a:rPr lang="en-US" sz="68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Lapsed, cutting back</a:t>
                      </a:r>
                      <a:endParaRPr lang="en-US" sz="68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  <a:p>
                      <a:pPr algn="l" indent="0" marL="0">
                        <a:lnSpc>
                          <a:spcPts val="925"/>
                        </a:lnSpc>
                        <a:buNone/>
                      </a:pPr>
                      <a:r>
                        <a:rPr lang="en-US" sz="68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40% of lapsed</a:t>
                      </a:r>
                      <a:endParaRPr lang="en-US" sz="68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5"/>
                        </a:lnSpc>
                        <a:buNone/>
                      </a:pPr>
                      <a:r>
                        <a:rPr lang="en-US" sz="68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Low, non-alcoholic, low-carb. A healthier option, not less beer</a:t>
                      </a:r>
                      <a:endParaRPr lang="en-US" sz="68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0187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5"/>
                        </a:lnSpc>
                        <a:buNone/>
                      </a:pPr>
                      <a:r>
                        <a:rPr lang="en-US" sz="68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Never owned a system</a:t>
                      </a:r>
                      <a:endParaRPr lang="en-US" sz="68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5"/>
                        </a:lnSpc>
                        <a:buNone/>
                      </a:pPr>
                      <a:r>
                        <a:rPr lang="en-US" sz="68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Cost per schooner against the pub. No CO2. Try it at a party first</a:t>
                      </a:r>
                      <a:endParaRPr lang="en-US" sz="68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87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5"/>
                        </a:lnSpc>
                        <a:buNone/>
                      </a:pPr>
                      <a:r>
                        <a:rPr lang="en-US" sz="68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Tour and event operators</a:t>
                      </a:r>
                      <a:endParaRPr lang="en-US" sz="68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5"/>
                        </a:lnSpc>
                        <a:buNone/>
                      </a:pPr>
                      <a:r>
                        <a:rPr lang="en-US" sz="68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Award-winning stop, parking for a bus, a tasting they can sell</a:t>
                      </a:r>
                      <a:endParaRPr lang="en-US" sz="68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0187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5"/>
                        </a:lnSpc>
                        <a:buNone/>
                      </a:pPr>
                      <a:r>
                        <a:rPr lang="en-US" sz="68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Venues and clubs</a:t>
                      </a:r>
                      <a:endParaRPr lang="en-US" sz="68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5"/>
                        </a:lnSpc>
                        <a:buNone/>
                      </a:pPr>
                      <a:r>
                        <a:rPr lang="en-US" sz="68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Margin, exclusivity, club-branded kegs, season guarantees</a:t>
                      </a:r>
                      <a:endParaRPr lang="en-US" sz="68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Shape 43"/>
          <p:cNvSpPr/>
          <p:nvPr/>
        </p:nvSpPr>
        <p:spPr>
          <a:xfrm>
            <a:off x="7613752" y="3966881"/>
            <a:ext cx="7182155" cy="3429267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7728952" y="4082081"/>
            <a:ext cx="6951755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TWO HIGHEST-RETURN MOVES</a:t>
            </a:r>
            <a:endParaRPr lang="en-US" sz="680" dirty="0"/>
          </a:p>
        </p:txBody>
      </p:sp>
      <p:sp>
        <p:nvSpPr>
          <p:cNvPr id="49" name="Text 45"/>
          <p:cNvSpPr txBox="1"/>
          <p:nvPr/>
        </p:nvSpPr>
        <p:spPr>
          <a:xfrm>
            <a:off x="7728952" y="4251949"/>
            <a:ext cx="6951755" cy="150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7"/>
              </a:lnSpc>
              <a:buNone/>
            </a:pPr>
            <a:r>
              <a:rPr lang="en-US" sz="86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 · Convert the owners who are already sold.</a:t>
            </a:r>
            <a:endParaRPr lang="en-US" sz="860" dirty="0"/>
          </a:p>
        </p:txBody>
      </p:sp>
      <p:sp>
        <p:nvSpPr>
          <p:cNvPr id="50" name="Text 46"/>
          <p:cNvSpPr txBox="1"/>
          <p:nvPr/>
        </p:nvSpPr>
        <p:spPr>
          <a:xfrm>
            <a:off x="7728952" y="4522549"/>
            <a:ext cx="6951755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Gift with purchase or a first-keg-free voucher tied to Harvey Norman system sales. Buy the Kegland and corny keg owner databases. Pursue the Benchy partnership. The model is the one kitchen installers use with Bunnings: they sell the hardware, we are the named first call for what goes in it.</a:t>
            </a:r>
            <a:endParaRPr lang="en-US" sz="810" dirty="0"/>
          </a:p>
        </p:txBody>
      </p:sp>
      <p:sp>
        <p:nvSpPr>
          <p:cNvPr id="51" name="Text 47"/>
          <p:cNvSpPr txBox="1"/>
          <p:nvPr/>
        </p:nvSpPr>
        <p:spPr>
          <a:xfrm>
            <a:off x="7728952" y="5105340"/>
            <a:ext cx="6951755" cy="150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7"/>
              </a:lnSpc>
              <a:buNone/>
            </a:pPr>
            <a:r>
              <a:rPr lang="en-US" sz="86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 · Take the friction out of reordering.</a:t>
            </a:r>
            <a:endParaRPr lang="en-US" sz="860" dirty="0"/>
          </a:p>
        </p:txBody>
      </p:sp>
      <p:sp>
        <p:nvSpPr>
          <p:cNvPr id="52" name="Text 48"/>
          <p:cNvSpPr txBox="1"/>
          <p:nvPr/>
        </p:nvSpPr>
        <p:spPr>
          <a:xfrm>
            <a:off x="7728952" y="5375940"/>
            <a:ext cx="6951755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Free delivery works and the margin comes back in dollars, not percent. Replace the blanket 90-day SMS with consumption-triggered reminders, because about 60% reorder within three months and 40% take longer, and one clock fails both. Lead on no CO2. Rethink party rental so a minimum keg guarantee covers the hire fee instead of a $75 barrier.</a:t>
            </a:r>
            <a:endParaRPr lang="en-US" sz="810" dirty="0"/>
          </a:p>
        </p:txBody>
      </p:sp>
      <p:sp>
        <p:nvSpPr>
          <p:cNvPr id="53" name="Text 49"/>
          <p:cNvSpPr txBox="1"/>
          <p:nvPr/>
        </p:nvSpPr>
        <p:spPr>
          <a:xfrm>
            <a:off x="7728952" y="5958731"/>
            <a:ext cx="6951755" cy="150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7"/>
              </a:lnSpc>
              <a:buNone/>
            </a:pPr>
            <a:r>
              <a:rPr lang="en-US" sz="86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 · Split the lapsed list in two.</a:t>
            </a:r>
            <a:endParaRPr lang="en-US" sz="860" dirty="0"/>
          </a:p>
        </p:txBody>
      </p:sp>
      <p:sp>
        <p:nvSpPr>
          <p:cNvPr id="54" name="Text 50"/>
          <p:cNvSpPr txBox="1"/>
          <p:nvPr/>
        </p:nvSpPr>
        <p:spPr>
          <a:xfrm>
            <a:off x="7728952" y="6229331"/>
            <a:ext cx="6951755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Forty per cent cite cutting back, and the rest mostly just did not get around to it. One message cannot serve both. The first group needs the low and non-alcoholic range, the second needs one tap to reorder.</a:t>
            </a:r>
            <a:endParaRPr lang="en-US" sz="810" dirty="0"/>
          </a:p>
        </p:txBody>
      </p:sp>
      <p:sp>
        <p:nvSpPr>
          <p:cNvPr id="55" name="Shape 51"/>
          <p:cNvSpPr/>
          <p:nvPr/>
        </p:nvSpPr>
        <p:spPr>
          <a:xfrm>
            <a:off x="7728952" y="6983318"/>
            <a:ext cx="6951755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7728952" y="7040918"/>
            <a:ext cx="695175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Jewell Projects holds Harvey Norman contacts at franchisee level, plus a contact who has done 20,000-plus installs for Harvey Norman, JB Hi-Fi and The Good Guys.</a:t>
            </a:r>
            <a:endParaRPr lang="en-US" sz="700" dirty="0"/>
          </a:p>
        </p:txBody>
      </p:sp>
      <p:sp>
        <p:nvSpPr>
          <p:cNvPr id="57" name="Shape 53"/>
          <p:cNvSpPr/>
          <p:nvPr/>
        </p:nvSpPr>
        <p:spPr>
          <a:xfrm>
            <a:off x="323698" y="7504048"/>
            <a:ext cx="4752137" cy="2972032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438898" y="7619248"/>
            <a:ext cx="4521737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WHOLESALE AS A FUNCTION</a:t>
            </a:r>
            <a:endParaRPr lang="en-US" sz="680" dirty="0"/>
          </a:p>
        </p:txBody>
      </p:sp>
      <p:sp>
        <p:nvSpPr>
          <p:cNvPr id="59" name="Text 55"/>
          <p:cNvSpPr txBox="1"/>
          <p:nvPr/>
        </p:nvSpPr>
        <p:spPr>
          <a:xfrm>
            <a:off x="438898" y="7789116"/>
            <a:ext cx="452173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Bars have approached Tap That and it still has not converted. That is not a demand problem, it is the absence of follow-up and sales experience.</a:t>
            </a:r>
            <a:endParaRPr lang="en-US" sz="810" dirty="0"/>
          </a:p>
        </p:txBody>
      </p:sp>
      <p:sp>
        <p:nvSpPr>
          <p:cNvPr id="60" name="Text 56"/>
          <p:cNvSpPr txBox="1"/>
          <p:nvPr/>
        </p:nvSpPr>
        <p:spPr>
          <a:xfrm>
            <a:off x="438898" y="8247350"/>
            <a:ext cx="452173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Stand it up properly: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full-timer or a commissioned agent, targets and KPIs, a pipeline that lives in the CRM rather than in someone's head.</a:t>
            </a:r>
            <a:endParaRPr lang="en-US" sz="810" dirty="0"/>
          </a:p>
        </p:txBody>
      </p:sp>
      <p:sp>
        <p:nvSpPr>
          <p:cNvPr id="61" name="Text 57"/>
          <p:cNvSpPr txBox="1"/>
          <p:nvPr/>
        </p:nvSpPr>
        <p:spPr>
          <a:xfrm>
            <a:off x="438898" y="8705585"/>
            <a:ext cx="4521737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Then go after the shape of it: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 systems for sporting clubs, club-branded kegs, minimum guarantees per season, and moving rigs from footy to cricket so they earn year-round.</a:t>
            </a:r>
            <a:endParaRPr lang="en-US" sz="810" dirty="0"/>
          </a:p>
        </p:txBody>
      </p:sp>
      <p:sp>
        <p:nvSpPr>
          <p:cNvPr id="62" name="Text 58"/>
          <p:cNvSpPr txBox="1"/>
          <p:nvPr/>
        </p:nvSpPr>
        <p:spPr>
          <a:xfrm>
            <a:off x="438898" y="9318125"/>
            <a:ext cx="4521737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work around the duopoly.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Contractual lock-in is not the same as satisfaction. Find the pain points in locked venues and build a packaged offer that fits alongside the contract, profit share included if that is what it takes.</a:t>
            </a:r>
            <a:endParaRPr lang="en-US" sz="810" dirty="0"/>
          </a:p>
        </p:txBody>
      </p:sp>
      <p:sp>
        <p:nvSpPr>
          <p:cNvPr id="63" name="Shape 59"/>
          <p:cNvSpPr/>
          <p:nvPr/>
        </p:nvSpPr>
        <p:spPr>
          <a:xfrm>
            <a:off x="438898" y="10183264"/>
            <a:ext cx="4521737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438898" y="10240864"/>
            <a:ext cx="4521737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account is worth about ten households. This is where the leverage is.</a:t>
            </a:r>
            <a:endParaRPr lang="en-US" sz="700" dirty="0"/>
          </a:p>
        </p:txBody>
      </p:sp>
      <p:sp>
        <p:nvSpPr>
          <p:cNvPr id="65" name="Shape 61"/>
          <p:cNvSpPr/>
          <p:nvPr/>
        </p:nvSpPr>
        <p:spPr>
          <a:xfrm>
            <a:off x="5183734" y="7504048"/>
            <a:ext cx="4752137" cy="2972032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5298934" y="7619248"/>
            <a:ext cx="4521737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FOUND BY PEOPLE, AND BY MACHINES</a:t>
            </a:r>
            <a:endParaRPr lang="en-US" sz="680" dirty="0"/>
          </a:p>
        </p:txBody>
      </p:sp>
      <p:sp>
        <p:nvSpPr>
          <p:cNvPr id="67" name="Text 63"/>
          <p:cNvSpPr txBox="1"/>
          <p:nvPr/>
        </p:nvSpPr>
        <p:spPr>
          <a:xfrm>
            <a:off x="5298934" y="7789116"/>
            <a:ext cx="452173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Within six to twelve months a large share of web traffic will expect an answer from AI search rather than a list of links. The site has to be readable by both.</a:t>
            </a:r>
            <a:endParaRPr lang="en-US" sz="810" dirty="0"/>
          </a:p>
        </p:txBody>
      </p:sp>
      <p:sp>
        <p:nvSpPr>
          <p:cNvPr id="68" name="Text 64"/>
          <p:cNvSpPr txBox="1"/>
          <p:nvPr/>
        </p:nvSpPr>
        <p:spPr>
          <a:xfrm>
            <a:off x="5298934" y="8263326"/>
            <a:ext cx="4521737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basics that are missing: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real About page, an FAQ that answers the buying objections, reviews on the site rather than off it, and the awards page the Crafted win deserves.</a:t>
            </a:r>
            <a:endParaRPr lang="en-US" sz="810" dirty="0"/>
          </a:p>
        </p:txBody>
      </p:sp>
      <p:sp>
        <p:nvSpPr>
          <p:cNvPr id="69" name="Text 65"/>
          <p:cNvSpPr txBox="1"/>
          <p:nvPr/>
        </p:nvSpPr>
        <p:spPr>
          <a:xfrm>
            <a:off x="5298934" y="8891841"/>
            <a:ext cx="452173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Reviews are the cheapest asset here.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They exist, they are strong, and they sit on platforms rather than on the site where a model can read them.</a:t>
            </a:r>
            <a:endParaRPr lang="en-US" sz="810" dirty="0"/>
          </a:p>
        </p:txBody>
      </p:sp>
      <p:sp>
        <p:nvSpPr>
          <p:cNvPr id="70" name="Text 66"/>
          <p:cNvSpPr txBox="1"/>
          <p:nvPr/>
        </p:nvSpPr>
        <p:spPr>
          <a:xfrm>
            <a:off x="5298934" y="9366051"/>
            <a:ext cx="452173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Then the category play: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nobody owns beer at home on the Gold Coast in search. Owning it is cheaper now than it will ever be again.</a:t>
            </a:r>
            <a:endParaRPr lang="en-US" sz="810" dirty="0"/>
          </a:p>
        </p:txBody>
      </p:sp>
      <p:sp>
        <p:nvSpPr>
          <p:cNvPr id="71" name="Shape 67"/>
          <p:cNvSpPr/>
          <p:nvPr/>
        </p:nvSpPr>
        <p:spPr>
          <a:xfrm>
            <a:off x="10043770" y="7504048"/>
            <a:ext cx="4752137" cy="2972032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10158970" y="7619248"/>
            <a:ext cx="4521737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WE MEASURE</a:t>
            </a:r>
            <a:endParaRPr lang="en-US" sz="680" dirty="0"/>
          </a:p>
        </p:txBody>
      </p:sp>
      <p:sp>
        <p:nvSpPr>
          <p:cNvPr id="73" name="Shape 69"/>
          <p:cNvSpPr/>
          <p:nvPr/>
        </p:nvSpPr>
        <p:spPr>
          <a:xfrm>
            <a:off x="10158970" y="7789116"/>
            <a:ext cx="2224868" cy="458111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10266970" y="7875516"/>
            <a:ext cx="2008868" cy="185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1100" b="1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Systems</a:t>
            </a:r>
            <a:endParaRPr lang="en-US" sz="1100" dirty="0"/>
          </a:p>
        </p:txBody>
      </p:sp>
      <p:sp>
        <p:nvSpPr>
          <p:cNvPr id="75" name="Text 71"/>
          <p:cNvSpPr txBox="1"/>
          <p:nvPr/>
        </p:nvSpPr>
        <p:spPr>
          <a:xfrm>
            <a:off x="10266970" y="8118536"/>
            <a:ext cx="2008868" cy="88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93"/>
              </a:lnSpc>
              <a:buNone/>
            </a:pPr>
            <a:r>
              <a:rPr lang="en-US" sz="550" b="1" spc="55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MARKET, AGAINST 1,000</a:t>
            </a:r>
            <a:endParaRPr lang="en-US" sz="550" dirty="0"/>
          </a:p>
        </p:txBody>
      </p:sp>
      <p:sp>
        <p:nvSpPr>
          <p:cNvPr id="76" name="Shape 72"/>
          <p:cNvSpPr/>
          <p:nvPr/>
        </p:nvSpPr>
        <p:spPr>
          <a:xfrm>
            <a:off x="12455838" y="7789116"/>
            <a:ext cx="2224868" cy="458111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12563838" y="7875516"/>
            <a:ext cx="2008868" cy="185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1100" b="1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</a:t>
            </a:r>
            <a:endParaRPr lang="en-US" sz="1100" dirty="0"/>
          </a:p>
        </p:txBody>
      </p:sp>
      <p:sp>
        <p:nvSpPr>
          <p:cNvPr id="78" name="Text 74"/>
          <p:cNvSpPr txBox="1"/>
          <p:nvPr/>
        </p:nvSpPr>
        <p:spPr>
          <a:xfrm>
            <a:off x="12563838" y="8118536"/>
            <a:ext cx="2008868" cy="88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93"/>
              </a:lnSpc>
              <a:buNone/>
            </a:pPr>
            <a:r>
              <a:rPr lang="en-US" sz="550" b="1" spc="55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REFILL CUSTOMERS, ONE DEFINITION</a:t>
            </a:r>
            <a:endParaRPr lang="en-US" sz="550" dirty="0"/>
          </a:p>
        </p:txBody>
      </p:sp>
      <p:sp>
        <p:nvSpPr>
          <p:cNvPr id="79" name="Shape 75"/>
          <p:cNvSpPr/>
          <p:nvPr/>
        </p:nvSpPr>
        <p:spPr>
          <a:xfrm>
            <a:off x="10158970" y="8319227"/>
            <a:ext cx="2224868" cy="458111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10266970" y="8405627"/>
            <a:ext cx="2008868" cy="185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1100" b="1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Leak</a:t>
            </a:r>
            <a:endParaRPr lang="en-US" sz="1100" dirty="0"/>
          </a:p>
        </p:txBody>
      </p:sp>
      <p:sp>
        <p:nvSpPr>
          <p:cNvPr id="81" name="Text 77"/>
          <p:cNvSpPr txBox="1"/>
          <p:nvPr/>
        </p:nvSpPr>
        <p:spPr>
          <a:xfrm>
            <a:off x="10266970" y="8648647"/>
            <a:ext cx="2008868" cy="88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93"/>
              </a:lnSpc>
              <a:buNone/>
            </a:pPr>
            <a:r>
              <a:rPr lang="en-US" sz="550" b="1" spc="55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LAPSE RATE, MEMBER VS NON-MEMBER</a:t>
            </a:r>
            <a:endParaRPr lang="en-US" sz="550" dirty="0"/>
          </a:p>
        </p:txBody>
      </p:sp>
      <p:sp>
        <p:nvSpPr>
          <p:cNvPr id="82" name="Shape 78"/>
          <p:cNvSpPr/>
          <p:nvPr/>
        </p:nvSpPr>
        <p:spPr>
          <a:xfrm>
            <a:off x="12455838" y="8319227"/>
            <a:ext cx="2224868" cy="458111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12563838" y="8405627"/>
            <a:ext cx="2008868" cy="185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1100" b="1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Accounts</a:t>
            </a:r>
            <a:endParaRPr lang="en-US" sz="1100" dirty="0"/>
          </a:p>
        </p:txBody>
      </p:sp>
      <p:sp>
        <p:nvSpPr>
          <p:cNvPr id="84" name="Text 80"/>
          <p:cNvSpPr txBox="1"/>
          <p:nvPr/>
        </p:nvSpPr>
        <p:spPr>
          <a:xfrm>
            <a:off x="12563838" y="8648647"/>
            <a:ext cx="2008868" cy="88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93"/>
              </a:lnSpc>
              <a:buNone/>
            </a:pPr>
            <a:r>
              <a:rPr lang="en-US" sz="550" b="1" spc="55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WHOLESALE, AND KEGS PER ACCOUNT</a:t>
            </a:r>
            <a:endParaRPr lang="en-US" sz="550" dirty="0"/>
          </a:p>
        </p:txBody>
      </p:sp>
      <p:sp>
        <p:nvSpPr>
          <p:cNvPr id="85" name="Text 81"/>
          <p:cNvSpPr txBox="1"/>
          <p:nvPr/>
        </p:nvSpPr>
        <p:spPr>
          <a:xfrm>
            <a:off x="10158970" y="8942938"/>
            <a:ext cx="4521737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report, monthly, four numbers.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a dashboard nobody opens.</a:t>
            </a:r>
            <a:endParaRPr lang="en-US" sz="810" dirty="0"/>
          </a:p>
        </p:txBody>
      </p:sp>
      <p:sp>
        <p:nvSpPr>
          <p:cNvPr id="86" name="Text 82"/>
          <p:cNvSpPr txBox="1"/>
          <p:nvPr/>
        </p:nvSpPr>
        <p:spPr>
          <a:xfrm>
            <a:off x="10158970" y="9262843"/>
            <a:ext cx="452173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customer is currently defined three ways.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 one before the first report, or the number will be argued about instead of acted on.</a:t>
            </a:r>
            <a:endParaRPr lang="en-US" sz="81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./site/brand/taptha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3698" y="301752"/>
            <a:ext cx="360000" cy="360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7698" y="310896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Activation plan – on a page</a:t>
            </a:r>
            <a:endParaRPr lang="en-US" sz="2100" dirty="0"/>
          </a:p>
        </p:txBody>
      </p:sp>
      <p:sp>
        <p:nvSpPr>
          <p:cNvPr id="4" name="Shape 1"/>
          <p:cNvSpPr/>
          <p:nvPr/>
        </p:nvSpPr>
        <p:spPr>
          <a:xfrm>
            <a:off x="13650938" y="365760"/>
            <a:ext cx="1144969" cy="251460"/>
          </a:xfrm>
          <a:prstGeom prst="roundRect">
            <a:avLst>
              <a:gd name="adj" fmla="val 50000"/>
            </a:avLst>
          </a:prstGeom>
          <a:solidFill>
            <a:srgbClr val="0E171F"/>
          </a:solidFill>
          <a:ln w="9525">
            <a:solidFill>
              <a:srgbClr val="0E171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3650938" y="365760"/>
            <a:ext cx="1144969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78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JEWELL PROJECTS</a:t>
            </a:r>
            <a:endParaRPr lang="en-US" sz="650" dirty="0"/>
          </a:p>
        </p:txBody>
      </p:sp>
      <p:sp>
        <p:nvSpPr>
          <p:cNvPr id="6" name="Shape 3"/>
          <p:cNvSpPr/>
          <p:nvPr/>
        </p:nvSpPr>
        <p:spPr>
          <a:xfrm>
            <a:off x="12410462" y="365760"/>
            <a:ext cx="1150475" cy="2514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2410462" y="365760"/>
            <a:ext cx="1150475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78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V01 · 15 SEPT 2026</a:t>
            </a:r>
            <a:endParaRPr lang="en-US" sz="650" dirty="0"/>
          </a:p>
        </p:txBody>
      </p:sp>
      <p:sp>
        <p:nvSpPr>
          <p:cNvPr id="8" name="Shape 5"/>
          <p:cNvSpPr/>
          <p:nvPr/>
        </p:nvSpPr>
        <p:spPr>
          <a:xfrm>
            <a:off x="11102419" y="365760"/>
            <a:ext cx="1218043" cy="2514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102419" y="365760"/>
            <a:ext cx="1218043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78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 THAT BREWERY</a:t>
            </a:r>
            <a:endParaRPr lang="en-US" sz="650" dirty="0"/>
          </a:p>
        </p:txBody>
      </p:sp>
      <p:sp>
        <p:nvSpPr>
          <p:cNvPr id="10" name="Shape 7"/>
          <p:cNvSpPr/>
          <p:nvPr/>
        </p:nvSpPr>
        <p:spPr>
          <a:xfrm>
            <a:off x="10036519" y="365760"/>
            <a:ext cx="975900" cy="2514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036519" y="365760"/>
            <a:ext cx="9759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78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 04 OF 04</a:t>
            </a:r>
            <a:endParaRPr lang="en-US" sz="650" dirty="0"/>
          </a:p>
        </p:txBody>
      </p:sp>
      <p:sp>
        <p:nvSpPr>
          <p:cNvPr id="12" name="Shape 9"/>
          <p:cNvSpPr/>
          <p:nvPr/>
        </p:nvSpPr>
        <p:spPr>
          <a:xfrm>
            <a:off x="323698" y="969264"/>
            <a:ext cx="14472209" cy="0"/>
          </a:xfrm>
          <a:prstGeom prst="line">
            <a:avLst/>
          </a:prstGeom>
          <a:noFill/>
          <a:ln w="25400">
            <a:solidFill>
              <a:srgbClr val="0E171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3698" y="1115568"/>
            <a:ext cx="14472209" cy="3087069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3698" y="1115568"/>
            <a:ext cx="14472209" cy="360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38898" y="1230768"/>
            <a:ext cx="14241809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NINETY DAYS</a:t>
            </a:r>
            <a:pPr indent="0" marL="0">
              <a:lnSpc>
                <a:spcPts val="884"/>
              </a:lnSpc>
              <a:buNone/>
            </a:pPr>
            <a:r>
              <a:rPr lang="en-US" sz="680" spc="27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: proposed, and dated off the 15 September catch-up</a:t>
            </a:r>
            <a:endParaRPr lang="en-US" sz="680" dirty="0"/>
          </a:p>
        </p:txBody>
      </p:sp>
      <p:sp>
        <p:nvSpPr>
          <p:cNvPr id="16" name="Shape 13"/>
          <p:cNvSpPr/>
          <p:nvPr/>
        </p:nvSpPr>
        <p:spPr>
          <a:xfrm>
            <a:off x="438898" y="1400636"/>
            <a:ext cx="3479528" cy="2444386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898" y="1400636"/>
            <a:ext cx="3479528" cy="288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32498" y="1494236"/>
            <a:ext cx="3292328" cy="107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45"/>
              </a:lnSpc>
              <a:buNone/>
            </a:pPr>
            <a:r>
              <a:rPr lang="en-US" sz="650" b="1" spc="6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· TO FRI 18 SEPT</a:t>
            </a:r>
            <a:endParaRPr lang="en-US" sz="650" dirty="0"/>
          </a:p>
        </p:txBody>
      </p:sp>
      <p:sp>
        <p:nvSpPr>
          <p:cNvPr id="19" name="Shape 16"/>
          <p:cNvSpPr/>
          <p:nvPr/>
        </p:nvSpPr>
        <p:spPr>
          <a:xfrm>
            <a:off x="532498" y="1697019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6098" y="1659151"/>
            <a:ext cx="3198728" cy="133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1"/>
              </a:lnSpc>
              <a:buNone/>
            </a:pPr>
            <a:r>
              <a:rPr lang="en-US" sz="74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Justin returns the committed moves</a:t>
            </a:r>
            <a:endParaRPr lang="en-US" sz="740" dirty="0"/>
          </a:p>
        </p:txBody>
      </p:sp>
      <p:sp>
        <p:nvSpPr>
          <p:cNvPr id="21" name="Shape 18"/>
          <p:cNvSpPr/>
          <p:nvPr/>
        </p:nvSpPr>
        <p:spPr>
          <a:xfrm>
            <a:off x="532498" y="1873671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6098" y="1835803"/>
            <a:ext cx="3198728" cy="133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1"/>
              </a:lnSpc>
              <a:buNone/>
            </a:pPr>
            <a:r>
              <a:rPr lang="en-US" sz="74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Clent and Christy regroup after Thu 17th</a:t>
            </a:r>
            <a:endParaRPr lang="en-US" sz="740" dirty="0"/>
          </a:p>
        </p:txBody>
      </p:sp>
      <p:sp>
        <p:nvSpPr>
          <p:cNvPr id="23" name="Shape 20"/>
          <p:cNvSpPr/>
          <p:nvPr/>
        </p:nvSpPr>
        <p:spPr>
          <a:xfrm>
            <a:off x="532498" y="2050322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26098" y="2012454"/>
            <a:ext cx="3198728" cy="133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1"/>
              </a:lnSpc>
              <a:buNone/>
            </a:pPr>
            <a:r>
              <a:rPr lang="en-US" sz="74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Settle the per-schooner figure, pull or fix the live ad</a:t>
            </a:r>
            <a:endParaRPr lang="en-US" sz="740" dirty="0"/>
          </a:p>
        </p:txBody>
      </p:sp>
      <p:sp>
        <p:nvSpPr>
          <p:cNvPr id="25" name="Shape 22"/>
          <p:cNvSpPr/>
          <p:nvPr/>
        </p:nvSpPr>
        <p:spPr>
          <a:xfrm>
            <a:off x="532498" y="2226974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6098" y="2189106"/>
            <a:ext cx="3198728" cy="133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1"/>
              </a:lnSpc>
              <a:buNone/>
            </a:pPr>
            <a:r>
              <a:rPr lang="en-US" sz="74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 one definition of an active customer</a:t>
            </a:r>
            <a:endParaRPr lang="en-US" sz="740" dirty="0"/>
          </a:p>
        </p:txBody>
      </p:sp>
      <p:sp>
        <p:nvSpPr>
          <p:cNvPr id="27" name="Shape 24"/>
          <p:cNvSpPr/>
          <p:nvPr/>
        </p:nvSpPr>
        <p:spPr>
          <a:xfrm>
            <a:off x="4026325" y="1400636"/>
            <a:ext cx="3479528" cy="2444386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026325" y="1400636"/>
            <a:ext cx="3479528" cy="288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119925" y="1494236"/>
            <a:ext cx="3292328" cy="107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45"/>
              </a:lnSpc>
              <a:buNone/>
            </a:pPr>
            <a:r>
              <a:rPr lang="en-US" sz="650" b="1" spc="6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SPRINT 1 · 22 SEPT TO 17 OCT</a:t>
            </a:r>
            <a:endParaRPr lang="en-US" sz="650" dirty="0"/>
          </a:p>
        </p:txBody>
      </p:sp>
      <p:sp>
        <p:nvSpPr>
          <p:cNvPr id="30" name="Shape 27"/>
          <p:cNvSpPr/>
          <p:nvPr/>
        </p:nvSpPr>
        <p:spPr>
          <a:xfrm>
            <a:off x="4119925" y="1697019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213525" y="1659151"/>
            <a:ext cx="3198728" cy="133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1"/>
              </a:lnSpc>
              <a:buNone/>
            </a:pPr>
            <a:r>
              <a:rPr lang="en-US" sz="74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Connect website, POS and CRM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4119925" y="1873671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213525" y="1835803"/>
            <a:ext cx="3198728" cy="133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1"/>
              </a:lnSpc>
              <a:buNone/>
            </a:pPr>
            <a:r>
              <a:rPr lang="en-US" sz="74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Consumption-triggered reminders replace the 90-day SMS</a:t>
            </a:r>
            <a:endParaRPr lang="en-US" sz="740" dirty="0"/>
          </a:p>
        </p:txBody>
      </p:sp>
      <p:sp>
        <p:nvSpPr>
          <p:cNvPr id="34" name="Shape 31"/>
          <p:cNvSpPr/>
          <p:nvPr/>
        </p:nvSpPr>
        <p:spPr>
          <a:xfrm>
            <a:off x="4119925" y="2050322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213525" y="2012454"/>
            <a:ext cx="3198728" cy="133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1"/>
              </a:lnSpc>
              <a:buNone/>
            </a:pPr>
            <a:r>
              <a:rPr lang="en-US" sz="74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Destination offer live: tours, weddings, functions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4119925" y="2226974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213525" y="2189106"/>
            <a:ext cx="3198728" cy="133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1"/>
              </a:lnSpc>
              <a:buNone/>
            </a:pPr>
            <a:r>
              <a:rPr lang="en-US" sz="74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Harvey Norman and Kegland conversations opened</a:t>
            </a:r>
            <a:endParaRPr lang="en-US" sz="740" dirty="0"/>
          </a:p>
        </p:txBody>
      </p:sp>
      <p:sp>
        <p:nvSpPr>
          <p:cNvPr id="38" name="Shape 35"/>
          <p:cNvSpPr/>
          <p:nvPr/>
        </p:nvSpPr>
        <p:spPr>
          <a:xfrm>
            <a:off x="7613752" y="1400636"/>
            <a:ext cx="3479528" cy="2444386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613752" y="1400636"/>
            <a:ext cx="3479528" cy="288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07352" y="1494236"/>
            <a:ext cx="3292328" cy="107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45"/>
              </a:lnSpc>
              <a:buNone/>
            </a:pPr>
            <a:r>
              <a:rPr lang="en-US" sz="650" b="1" spc="6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SPRINT 2 · 20 OCT TO 14 NOV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7707352" y="1697019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800952" y="1659151"/>
            <a:ext cx="3198728" cy="133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1"/>
              </a:lnSpc>
              <a:buNone/>
            </a:pPr>
            <a:r>
              <a:rPr lang="en-US" sz="74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Wholesale role starts, with targets</a:t>
            </a:r>
            <a:endParaRPr lang="en-US" sz="740" dirty="0"/>
          </a:p>
        </p:txBody>
      </p:sp>
      <p:sp>
        <p:nvSpPr>
          <p:cNvPr id="43" name="Shape 40"/>
          <p:cNvSpPr/>
          <p:nvPr/>
        </p:nvSpPr>
        <p:spPr>
          <a:xfrm>
            <a:off x="7707352" y="1873671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800952" y="1835803"/>
            <a:ext cx="3198728" cy="133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1"/>
              </a:lnSpc>
              <a:buNone/>
            </a:pPr>
            <a:r>
              <a:rPr lang="en-US" sz="74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Membership attached to every system sale</a:t>
            </a:r>
            <a:endParaRPr lang="en-US" sz="740" dirty="0"/>
          </a:p>
        </p:txBody>
      </p:sp>
      <p:sp>
        <p:nvSpPr>
          <p:cNvPr id="45" name="Shape 42"/>
          <p:cNvSpPr/>
          <p:nvPr/>
        </p:nvSpPr>
        <p:spPr>
          <a:xfrm>
            <a:off x="7707352" y="2050322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800952" y="2012454"/>
            <a:ext cx="3198728" cy="133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1"/>
              </a:lnSpc>
              <a:buNone/>
            </a:pPr>
            <a:r>
              <a:rPr lang="en-US" sz="74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Award and proof assets across site and venue</a:t>
            </a:r>
            <a:endParaRPr lang="en-US" sz="740" dirty="0"/>
          </a:p>
        </p:txBody>
      </p:sp>
      <p:sp>
        <p:nvSpPr>
          <p:cNvPr id="47" name="Shape 44"/>
          <p:cNvSpPr/>
          <p:nvPr/>
        </p:nvSpPr>
        <p:spPr>
          <a:xfrm>
            <a:off x="7707352" y="2226974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800952" y="2189106"/>
            <a:ext cx="3198728" cy="133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1"/>
              </a:lnSpc>
              <a:buNone/>
            </a:pPr>
            <a:r>
              <a:rPr lang="en-US" sz="74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Lapsed split into cutting back and forgot</a:t>
            </a:r>
            <a:endParaRPr lang="en-US" sz="740" dirty="0"/>
          </a:p>
        </p:txBody>
      </p:sp>
      <p:sp>
        <p:nvSpPr>
          <p:cNvPr id="49" name="Shape 46"/>
          <p:cNvSpPr/>
          <p:nvPr/>
        </p:nvSpPr>
        <p:spPr>
          <a:xfrm>
            <a:off x="11201179" y="1400636"/>
            <a:ext cx="3479528" cy="2444386"/>
          </a:xfrm>
          <a:prstGeom prst="rect">
            <a:avLst/>
          </a:prstGeom>
          <a:solidFill>
            <a:srgbClr val="F5F7FA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1201179" y="1400636"/>
            <a:ext cx="3479528" cy="288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11294779" y="1494236"/>
            <a:ext cx="3292328" cy="107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45"/>
              </a:lnSpc>
              <a:buNone/>
            </a:pPr>
            <a:r>
              <a:rPr lang="en-US" sz="650" b="1" spc="6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SPRINT 3 · 17 NOV TO 12 DEC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11294779" y="1697019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11388379" y="1659151"/>
            <a:ext cx="3198728" cy="133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1"/>
              </a:lnSpc>
              <a:buNone/>
            </a:pPr>
            <a:r>
              <a:rPr lang="en-US" sz="74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Range cut to heroes, with the marketing behind them</a:t>
            </a:r>
            <a:endParaRPr lang="en-US" sz="740" dirty="0"/>
          </a:p>
        </p:txBody>
      </p:sp>
      <p:sp>
        <p:nvSpPr>
          <p:cNvPr id="54" name="Shape 51"/>
          <p:cNvSpPr/>
          <p:nvPr/>
        </p:nvSpPr>
        <p:spPr>
          <a:xfrm>
            <a:off x="11294779" y="1873671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11388379" y="1835803"/>
            <a:ext cx="3198728" cy="133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1"/>
              </a:lnSpc>
              <a:buNone/>
            </a:pPr>
            <a:r>
              <a:rPr lang="en-US" sz="74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Wellness and light range briefed</a:t>
            </a:r>
            <a:endParaRPr lang="en-US" sz="740" dirty="0"/>
          </a:p>
        </p:txBody>
      </p:sp>
      <p:sp>
        <p:nvSpPr>
          <p:cNvPr id="56" name="Shape 53"/>
          <p:cNvSpPr/>
          <p:nvPr/>
        </p:nvSpPr>
        <p:spPr>
          <a:xfrm>
            <a:off x="11294779" y="2050322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1388379" y="2012454"/>
            <a:ext cx="3198728" cy="133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1"/>
              </a:lnSpc>
              <a:buNone/>
            </a:pPr>
            <a:r>
              <a:rPr lang="en-US" sz="74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Designing for her, as a product brief</a:t>
            </a:r>
            <a:endParaRPr lang="en-US" sz="740" dirty="0"/>
          </a:p>
        </p:txBody>
      </p:sp>
      <p:sp>
        <p:nvSpPr>
          <p:cNvPr id="58" name="Shape 55"/>
          <p:cNvSpPr/>
          <p:nvPr/>
        </p:nvSpPr>
        <p:spPr>
          <a:xfrm>
            <a:off x="11294779" y="2226974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11388379" y="2189106"/>
            <a:ext cx="3198728" cy="133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1"/>
              </a:lnSpc>
              <a:buNone/>
            </a:pPr>
            <a:r>
              <a:rPr lang="en-US" sz="74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Canning decision taken on costed numbers</a:t>
            </a:r>
            <a:endParaRPr lang="en-US" sz="740" dirty="0"/>
          </a:p>
        </p:txBody>
      </p:sp>
      <p:sp>
        <p:nvSpPr>
          <p:cNvPr id="60" name="Shape 57"/>
          <p:cNvSpPr/>
          <p:nvPr/>
        </p:nvSpPr>
        <p:spPr>
          <a:xfrm>
            <a:off x="438898" y="3909822"/>
            <a:ext cx="14241809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438898" y="3967422"/>
            <a:ext cx="14241809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Clent is overseas from the end of September. Sprint 1 ownership needs to survive that.</a:t>
            </a:r>
            <a:endParaRPr lang="en-US" sz="700" dirty="0"/>
          </a:p>
        </p:txBody>
      </p:sp>
      <p:sp>
        <p:nvSpPr>
          <p:cNvPr id="62" name="Shape 59"/>
          <p:cNvSpPr/>
          <p:nvPr/>
        </p:nvSpPr>
        <p:spPr>
          <a:xfrm>
            <a:off x="323698" y="4310536"/>
            <a:ext cx="4752137" cy="3087069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438898" y="4425736"/>
            <a:ext cx="4521737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DESTINATION PROGRAMME</a:t>
            </a:r>
            <a:endParaRPr lang="en-US" sz="680" dirty="0"/>
          </a:p>
        </p:txBody>
      </p:sp>
      <p:sp>
        <p:nvSpPr>
          <p:cNvPr id="64" name="Text 61"/>
          <p:cNvSpPr txBox="1"/>
          <p:nvPr/>
        </p:nvSpPr>
        <p:spPr>
          <a:xfrm>
            <a:off x="438898" y="4595604"/>
            <a:ext cx="4521737" cy="3224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0"/>
              </a:lnSpc>
              <a:buNone/>
            </a:pPr>
            <a:r>
              <a:rPr lang="en-US" sz="92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room already makes money on events. This is about selling them deliberately.</a:t>
            </a:r>
            <a:endParaRPr lang="en-US" sz="920" dirty="0"/>
          </a:p>
        </p:txBody>
      </p:sp>
      <p:sp>
        <p:nvSpPr>
          <p:cNvPr id="65" name="Text 62"/>
          <p:cNvSpPr txBox="1"/>
          <p:nvPr/>
        </p:nvSpPr>
        <p:spPr>
          <a:xfrm>
            <a:off x="438898" y="5036101"/>
            <a:ext cx="452173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Tours.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onto the circuit. The bus parking is an asset, not a liability. Build the Urban Legends booking widget so operators stop coordinating venue by venue.</a:t>
            </a:r>
            <a:endParaRPr lang="en-US" sz="810" dirty="0"/>
          </a:p>
        </p:txBody>
      </p:sp>
      <p:sp>
        <p:nvSpPr>
          <p:cNvPr id="66" name="Text 63"/>
          <p:cNvSpPr txBox="1"/>
          <p:nvPr/>
        </p:nvSpPr>
        <p:spPr>
          <a:xfrm>
            <a:off x="438898" y="5462729"/>
            <a:ext cx="4521737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Weddings and functions.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 to tourism operators, event and wedding planners. The signature wedding brew turns one booking into reception volume and a take-home sample for every guest.</a:t>
            </a:r>
            <a:endParaRPr lang="en-US" sz="810" dirty="0"/>
          </a:p>
        </p:txBody>
      </p:sp>
      <p:sp>
        <p:nvSpPr>
          <p:cNvPr id="67" name="Text 64"/>
          <p:cNvSpPr txBox="1"/>
          <p:nvPr/>
        </p:nvSpPr>
        <p:spPr>
          <a:xfrm>
            <a:off x="438898" y="6043662"/>
            <a:ext cx="4521737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Ticketed events and collabs.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 the calendar rather than waiting for walk-ins.</a:t>
            </a:r>
            <a:endParaRPr lang="en-US" sz="810" dirty="0"/>
          </a:p>
        </p:txBody>
      </p:sp>
      <p:sp>
        <p:nvSpPr>
          <p:cNvPr id="68" name="Text 65"/>
          <p:cNvSpPr txBox="1"/>
          <p:nvPr/>
        </p:nvSpPr>
        <p:spPr>
          <a:xfrm>
            <a:off x="438898" y="6315986"/>
            <a:ext cx="452173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Party rental is the quiet one.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system in a house for a weekend is a demo that the host runs for you, in front of exactly the people who might buy one.</a:t>
            </a:r>
            <a:endParaRPr lang="en-US" sz="810" dirty="0"/>
          </a:p>
        </p:txBody>
      </p:sp>
      <p:sp>
        <p:nvSpPr>
          <p:cNvPr id="69" name="Shape 66"/>
          <p:cNvSpPr/>
          <p:nvPr/>
        </p:nvSpPr>
        <p:spPr>
          <a:xfrm>
            <a:off x="438898" y="6984775"/>
            <a:ext cx="4521737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438898" y="7042375"/>
            <a:ext cx="4521737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Romance the Crafted Brewers' Choice award everywhere in this. It is the reason a tour operator picks this stop.</a:t>
            </a:r>
            <a:endParaRPr lang="en-US" sz="700" dirty="0"/>
          </a:p>
        </p:txBody>
      </p:sp>
      <p:sp>
        <p:nvSpPr>
          <p:cNvPr id="71" name="Shape 68"/>
          <p:cNvSpPr/>
          <p:nvPr/>
        </p:nvSpPr>
        <p:spPr>
          <a:xfrm>
            <a:off x="5183734" y="4310536"/>
            <a:ext cx="4752137" cy="3087069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5298934" y="4425736"/>
            <a:ext cx="4521737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PARTNERSHIPS TO OPEN</a:t>
            </a:r>
            <a:endParaRPr lang="en-US" sz="68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98934" y="4595604"/>
          <a:ext cx="11339703" cy="914400"/>
        </p:xfrm>
        <a:graphic>
          <a:graphicData uri="http://schemas.openxmlformats.org/drawingml/2006/table">
            <a:tbl>
              <a:tblPr/>
              <a:tblGrid>
                <a:gridCol w="1227824"/>
                <a:gridCol w="2702456"/>
                <a:gridCol w="591456"/>
              </a:tblGrid>
              <a:tr h="319567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775"/>
                        </a:lnSpc>
                        <a:buNone/>
                      </a:pPr>
                      <a:r>
                        <a:rPr lang="en-US" sz="620" b="1" spc="62" kern="0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Who</a:t>
                      </a:r>
                      <a:endParaRPr lang="en-US" sz="62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775"/>
                        </a:lnSpc>
                        <a:buNone/>
                      </a:pPr>
                      <a:r>
                        <a:rPr lang="en-US" sz="620" b="1" spc="62" kern="0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The play</a:t>
                      </a:r>
                      <a:endParaRPr lang="en-US" sz="62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775"/>
                        </a:lnSpc>
                        <a:buNone/>
                      </a:pPr>
                      <a:r>
                        <a:rPr lang="en-US" sz="620" b="1" spc="62" kern="0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Lead</a:t>
                      </a:r>
                      <a:endParaRPr lang="en-US" sz="62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1F"/>
                    </a:solidFill>
                  </a:tcPr>
                </a:tc>
              </a:tr>
              <a:tr h="44913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Harvey Norman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GWP or first keg free at point of sale, plus the buyer database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Clent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35137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Kegland / corny keg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Buy the owner databases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Tap That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137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Benchy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Official partnership and database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Tap That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35137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Mark's venues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About 300 weddings a year across two venues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Clent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137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Zip water contacts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About 1,000 distribution points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Clent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35137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Cannery next door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Costed feasibility, to settle the canning call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898"/>
                        </a:lnSpc>
                        <a:buNone/>
                      </a:pPr>
                      <a:r>
                        <a:rPr lang="en-US" sz="66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Clent</a:t>
                      </a:r>
                      <a:endParaRPr lang="en-US" sz="66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46800" marR="46800" marT="46800" marB="46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4" name="Shape 70"/>
          <p:cNvSpPr/>
          <p:nvPr/>
        </p:nvSpPr>
        <p:spPr>
          <a:xfrm>
            <a:off x="5298934" y="7104790"/>
            <a:ext cx="4521737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5298934" y="7162390"/>
            <a:ext cx="4521737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Named in the catch-up. None has been approached yet.</a:t>
            </a:r>
            <a:endParaRPr lang="en-US" sz="700" dirty="0"/>
          </a:p>
        </p:txBody>
      </p:sp>
      <p:sp>
        <p:nvSpPr>
          <p:cNvPr id="76" name="Shape 72"/>
          <p:cNvSpPr/>
          <p:nvPr/>
        </p:nvSpPr>
        <p:spPr>
          <a:xfrm>
            <a:off x="10043770" y="4310536"/>
            <a:ext cx="4752137" cy="3087069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10158970" y="4425736"/>
            <a:ext cx="4521737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ARTWORK, ALREADY BUILT</a:t>
            </a:r>
            <a:endParaRPr lang="en-US" sz="680" dirty="0"/>
          </a:p>
        </p:txBody>
      </p:sp>
      <p:sp>
        <p:nvSpPr>
          <p:cNvPr id="78" name="Text 74"/>
          <p:cNvSpPr txBox="1"/>
          <p:nvPr/>
        </p:nvSpPr>
        <p:spPr>
          <a:xfrm>
            <a:off x="10158970" y="4595604"/>
            <a:ext cx="452173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Four A4 event flyers are print-ready in Tap That's own format: weddings, bucks and hens, work functions, tours and tastings. Copy is a first pass and expects an edit.</a:t>
            </a:r>
            <a:endParaRPr lang="en-US" sz="810" dirty="0"/>
          </a:p>
        </p:txBody>
      </p:sp>
      <p:sp>
        <p:nvSpPr>
          <p:cNvPr id="79" name="Text 75"/>
          <p:cNvSpPr txBox="1"/>
          <p:nvPr/>
        </p:nvSpPr>
        <p:spPr>
          <a:xfrm>
            <a:off x="10158970" y="5069814"/>
            <a:ext cx="4521737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image sets exist.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on commissioned concept photography, one on August site-visit photography. The concept set looks better and is right for a pitch. Anything going out as real venue marketing runs the venue set, or the four frames get shot properly.</a:t>
            </a:r>
            <a:endParaRPr lang="en-US" sz="810" dirty="0"/>
          </a:p>
        </p:txBody>
      </p:sp>
      <p:sp>
        <p:nvSpPr>
          <p:cNvPr id="80" name="Text 76"/>
          <p:cNvSpPr txBox="1"/>
          <p:nvPr/>
        </p:nvSpPr>
        <p:spPr>
          <a:xfrm>
            <a:off x="10158970" y="5852634"/>
            <a:ext cx="4521737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81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still needed: </a:t>
            </a:r>
            <a:pPr indent="0" marL="0">
              <a:lnSpc>
                <a:spcPts val="1215"/>
              </a:lnSpc>
              <a:buNone/>
            </a:pPr>
            <a:r>
              <a:rPr lang="en-US" sz="81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wording pass from Christy, the per-schooner figure settled before any price goes on a flyer, and a decision on whether these print or stay digital.</a:t>
            </a:r>
            <a:endParaRPr lang="en-US" sz="810" dirty="0"/>
          </a:p>
        </p:txBody>
      </p:sp>
      <p:sp>
        <p:nvSpPr>
          <p:cNvPr id="81" name="Shape 77"/>
          <p:cNvSpPr/>
          <p:nvPr/>
        </p:nvSpPr>
        <p:spPr>
          <a:xfrm>
            <a:off x="10158970" y="6984775"/>
            <a:ext cx="4521737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10158970" y="7042375"/>
            <a:ext cx="4521737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 That's guidelines rule out anything that could not have been taken at Burleigh Heads. That is the test.</a:t>
            </a:r>
            <a:endParaRPr lang="en-US" sz="700" dirty="0"/>
          </a:p>
        </p:txBody>
      </p:sp>
      <p:sp>
        <p:nvSpPr>
          <p:cNvPr id="83" name="Shape 79"/>
          <p:cNvSpPr/>
          <p:nvPr/>
        </p:nvSpPr>
        <p:spPr>
          <a:xfrm>
            <a:off x="323698" y="7505504"/>
            <a:ext cx="9612173" cy="2970575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84" name="Text 80"/>
          <p:cNvSpPr txBox="1"/>
          <p:nvPr/>
        </p:nvSpPr>
        <p:spPr>
          <a:xfrm>
            <a:off x="438898" y="7620704"/>
            <a:ext cx="9381773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DOES WHAT</a:t>
            </a:r>
            <a:pPr indent="0" marL="0">
              <a:lnSpc>
                <a:spcPts val="884"/>
              </a:lnSpc>
              <a:buNone/>
            </a:pPr>
            <a:r>
              <a:rPr lang="en-US" sz="680" spc="27" kern="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: R responsible · A accountable · C consulted</a:t>
            </a:r>
            <a:endParaRPr lang="en-US" sz="68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898" y="7790572"/>
          <a:ext cx="11339703" cy="914400"/>
        </p:xfrm>
        <a:graphic>
          <a:graphicData uri="http://schemas.openxmlformats.org/drawingml/2006/table">
            <a:tbl>
              <a:tblPr/>
              <a:tblGrid>
                <a:gridCol w="2944562"/>
                <a:gridCol w="980632"/>
                <a:gridCol w="1888554"/>
                <a:gridCol w="900479"/>
                <a:gridCol w="1141657"/>
                <a:gridCol w="1525889"/>
              </a:tblGrid>
              <a:tr h="27585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775"/>
                        </a:lnSpc>
                        <a:buNone/>
                      </a:pPr>
                      <a:r>
                        <a:rPr lang="en-US" sz="620" b="1" spc="62" kern="0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Workstream</a:t>
                      </a:r>
                      <a:endParaRPr lang="en-US" sz="62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775"/>
                        </a:lnSpc>
                        <a:buNone/>
                      </a:pPr>
                      <a:r>
                        <a:rPr lang="en-US" sz="620" b="1" spc="62" kern="0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Justin</a:t>
                      </a:r>
                      <a:endParaRPr lang="en-US" sz="62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775"/>
                        </a:lnSpc>
                        <a:buNone/>
                      </a:pPr>
                      <a:r>
                        <a:rPr lang="en-US" sz="620" b="1" spc="62" kern="0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Tap That team</a:t>
                      </a:r>
                      <a:endParaRPr lang="en-US" sz="62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775"/>
                        </a:lnSpc>
                        <a:buNone/>
                      </a:pPr>
                      <a:r>
                        <a:rPr lang="en-US" sz="620" b="1" spc="62" kern="0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Clent</a:t>
                      </a:r>
                      <a:endParaRPr lang="en-US" sz="62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775"/>
                        </a:lnSpc>
                        <a:buNone/>
                      </a:pPr>
                      <a:r>
                        <a:rPr lang="en-US" sz="620" b="1" spc="62" kern="0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Christy</a:t>
                      </a:r>
                      <a:endParaRPr lang="en-US" sz="62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775"/>
                        </a:lnSpc>
                        <a:buNone/>
                      </a:pPr>
                      <a:r>
                        <a:rPr lang="en-US" sz="620" b="1" spc="62" kern="0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JP delivery</a:t>
                      </a:r>
                      <a:endParaRPr lang="en-US" sz="62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1F"/>
                    </a:solidFill>
                  </a:tcPr>
                </a:tc>
              </a:tr>
              <a:tr h="29314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The shape decision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314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Connected data, CRM, site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314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Wholesale build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314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Destination programme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314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Partnerships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314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Brand, range, proof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314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Campaign artwork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dirty="0">
                          <a:solidFill>
                            <a:srgbClr val="4A5565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11"/>
                        </a:lnSpc>
                        <a:buNone/>
                      </a:pPr>
                      <a:r>
                        <a:rPr lang="en-US" sz="670" b="1" dirty="0">
                          <a:solidFill>
                            <a:srgbClr val="0E171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</a:t>
                      </a:r>
                      <a:endParaRPr lang="en-US" sz="67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0400" marR="50400" marT="50400" marB="50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6" name="Shape 81"/>
          <p:cNvSpPr/>
          <p:nvPr/>
        </p:nvSpPr>
        <p:spPr>
          <a:xfrm>
            <a:off x="438898" y="10183264"/>
            <a:ext cx="9381773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87" name="Text 82"/>
          <p:cNvSpPr txBox="1"/>
          <p:nvPr/>
        </p:nvSpPr>
        <p:spPr>
          <a:xfrm>
            <a:off x="438898" y="10240864"/>
            <a:ext cx="9381773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 for the next conversation. Names against rows is the point, so nothing sits with everybody.</a:t>
            </a:r>
            <a:endParaRPr lang="en-US" sz="700" dirty="0"/>
          </a:p>
        </p:txBody>
      </p:sp>
      <p:sp>
        <p:nvSpPr>
          <p:cNvPr id="88" name="Shape 83"/>
          <p:cNvSpPr/>
          <p:nvPr/>
        </p:nvSpPr>
        <p:spPr>
          <a:xfrm>
            <a:off x="10043770" y="7505504"/>
            <a:ext cx="4752137" cy="2970575"/>
          </a:xfrm>
          <a:prstGeom prst="rect">
            <a:avLst/>
          </a:prstGeom>
          <a:solidFill>
            <a:srgbClr val="FFFFFF"/>
          </a:solidFill>
          <a:ln w="7620">
            <a:solidFill>
              <a:srgbClr val="E3E7EC"/>
            </a:solidFill>
            <a:prstDash val="solid"/>
          </a:ln>
        </p:spPr>
      </p:sp>
      <p:sp>
        <p:nvSpPr>
          <p:cNvPr id="89" name="Text 84"/>
          <p:cNvSpPr txBox="1"/>
          <p:nvPr/>
        </p:nvSpPr>
        <p:spPr>
          <a:xfrm>
            <a:off x="10158970" y="7620704"/>
            <a:ext cx="4521737" cy="11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4"/>
              </a:lnSpc>
              <a:buNone/>
            </a:pPr>
            <a:r>
              <a:rPr lang="en-US" sz="680" b="1" spc="95" kern="0" dirty="0">
                <a:solidFill>
                  <a:srgbClr val="006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CHECKPOINTS</a:t>
            </a:r>
            <a:endParaRPr lang="en-US" sz="680" dirty="0"/>
          </a:p>
        </p:txBody>
      </p:sp>
      <p:sp>
        <p:nvSpPr>
          <p:cNvPr id="90" name="Shape 85"/>
          <p:cNvSpPr/>
          <p:nvPr/>
        </p:nvSpPr>
        <p:spPr>
          <a:xfrm>
            <a:off x="10158970" y="7826611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Text 86"/>
          <p:cNvSpPr txBox="1"/>
          <p:nvPr/>
        </p:nvSpPr>
        <p:spPr>
          <a:xfrm>
            <a:off x="10266970" y="7790572"/>
            <a:ext cx="4413737" cy="129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22"/>
              </a:lnSpc>
              <a:buNone/>
            </a:pPr>
            <a:r>
              <a:rPr lang="en-US" sz="73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Thu 17 Sept. </a:t>
            </a:r>
            <a:pPr indent="0" marL="0">
              <a:lnSpc>
                <a:spcPts val="1022"/>
              </a:lnSpc>
              <a:buNone/>
            </a:pPr>
            <a:r>
              <a:rPr lang="en-US" sz="73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Justin's commitments back.</a:t>
            </a:r>
            <a:endParaRPr lang="en-US" sz="730" dirty="0"/>
          </a:p>
        </p:txBody>
      </p:sp>
      <p:sp>
        <p:nvSpPr>
          <p:cNvPr id="92" name="Shape 87"/>
          <p:cNvSpPr/>
          <p:nvPr/>
        </p:nvSpPr>
        <p:spPr>
          <a:xfrm>
            <a:off x="10158970" y="8376136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Text 88"/>
          <p:cNvSpPr txBox="1"/>
          <p:nvPr/>
        </p:nvSpPr>
        <p:spPr>
          <a:xfrm>
            <a:off x="10266970" y="8340096"/>
            <a:ext cx="4413737" cy="129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22"/>
              </a:lnSpc>
              <a:buNone/>
            </a:pPr>
            <a:r>
              <a:rPr lang="en-US" sz="73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w/c 21 Sept. </a:t>
            </a:r>
            <a:pPr indent="0" marL="0">
              <a:lnSpc>
                <a:spcPts val="1022"/>
              </a:lnSpc>
              <a:buNone/>
            </a:pPr>
            <a:r>
              <a:rPr lang="en-US" sz="73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Clent and Christy regroup, plan confirmed, owners named.</a:t>
            </a:r>
            <a:endParaRPr lang="en-US" sz="730" dirty="0"/>
          </a:p>
        </p:txBody>
      </p:sp>
      <p:sp>
        <p:nvSpPr>
          <p:cNvPr id="94" name="Shape 89"/>
          <p:cNvSpPr/>
          <p:nvPr/>
        </p:nvSpPr>
        <p:spPr>
          <a:xfrm>
            <a:off x="10158970" y="8925660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0"/>
          <p:cNvSpPr txBox="1"/>
          <p:nvPr/>
        </p:nvSpPr>
        <p:spPr>
          <a:xfrm>
            <a:off x="10266970" y="8889621"/>
            <a:ext cx="4413737" cy="129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22"/>
              </a:lnSpc>
              <a:buNone/>
            </a:pPr>
            <a:r>
              <a:rPr lang="en-US" sz="73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Fri 17 Oct. </a:t>
            </a:r>
            <a:pPr indent="0" marL="0">
              <a:lnSpc>
                <a:spcPts val="1022"/>
              </a:lnSpc>
              <a:buNone/>
            </a:pPr>
            <a:r>
              <a:rPr lang="en-US" sz="73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Sprint 1 review. Is the data connected and are reminders live?</a:t>
            </a:r>
            <a:endParaRPr lang="en-US" sz="730" dirty="0"/>
          </a:p>
        </p:txBody>
      </p:sp>
      <p:sp>
        <p:nvSpPr>
          <p:cNvPr id="96" name="Shape 91"/>
          <p:cNvSpPr/>
          <p:nvPr/>
        </p:nvSpPr>
        <p:spPr>
          <a:xfrm>
            <a:off x="10158970" y="9475185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7" name="Text 92"/>
          <p:cNvSpPr txBox="1"/>
          <p:nvPr/>
        </p:nvSpPr>
        <p:spPr>
          <a:xfrm>
            <a:off x="10266970" y="9439146"/>
            <a:ext cx="4413737" cy="129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22"/>
              </a:lnSpc>
              <a:buNone/>
            </a:pPr>
            <a:r>
              <a:rPr lang="en-US" sz="73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Fri 14 Nov. </a:t>
            </a:r>
            <a:pPr indent="0" marL="0">
              <a:lnSpc>
                <a:spcPts val="1022"/>
              </a:lnSpc>
              <a:buNone/>
            </a:pPr>
            <a:r>
              <a:rPr lang="en-US" sz="73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Sprint 2 review. Wholesale pipeline and membership attach rate.</a:t>
            </a:r>
            <a:endParaRPr lang="en-US" sz="730" dirty="0"/>
          </a:p>
        </p:txBody>
      </p:sp>
      <p:sp>
        <p:nvSpPr>
          <p:cNvPr id="98" name="Shape 93"/>
          <p:cNvSpPr/>
          <p:nvPr/>
        </p:nvSpPr>
        <p:spPr>
          <a:xfrm>
            <a:off x="10158970" y="10024710"/>
            <a:ext cx="50400" cy="50400"/>
          </a:xfrm>
          <a:prstGeom prst="rect">
            <a:avLst/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9" name="Text 94"/>
          <p:cNvSpPr txBox="1"/>
          <p:nvPr/>
        </p:nvSpPr>
        <p:spPr>
          <a:xfrm>
            <a:off x="10266970" y="9988670"/>
            <a:ext cx="4413737" cy="129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22"/>
              </a:lnSpc>
              <a:buNone/>
            </a:pPr>
            <a:r>
              <a:rPr lang="en-US" sz="730" b="1" dirty="0">
                <a:solidFill>
                  <a:srgbClr val="0E171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Fri 12 Dec. </a:t>
            </a:r>
            <a:pPr indent="0" marL="0">
              <a:lnSpc>
                <a:spcPts val="1022"/>
              </a:lnSpc>
              <a:buNone/>
            </a:pPr>
            <a:r>
              <a:rPr lang="en-US" sz="730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Ninety-day review against the 1,000 systems north star.</a:t>
            </a:r>
            <a:endParaRPr lang="en-US" sz="730" dirty="0"/>
          </a:p>
        </p:txBody>
      </p:sp>
      <p:sp>
        <p:nvSpPr>
          <p:cNvPr id="100" name="Shape 95"/>
          <p:cNvSpPr/>
          <p:nvPr/>
        </p:nvSpPr>
        <p:spPr>
          <a:xfrm>
            <a:off x="10158970" y="10183264"/>
            <a:ext cx="4521737" cy="0"/>
          </a:xfrm>
          <a:prstGeom prst="line">
            <a:avLst/>
          </a:prstGeom>
          <a:noFill/>
          <a:ln w="7620">
            <a:solidFill>
              <a:srgbClr val="E3E7EC"/>
            </a:solidFill>
            <a:prstDash val="solid"/>
          </a:ln>
        </p:spPr>
      </p:sp>
      <p:sp>
        <p:nvSpPr>
          <p:cNvPr id="101" name="Text 96"/>
          <p:cNvSpPr txBox="1"/>
          <p:nvPr/>
        </p:nvSpPr>
        <p:spPr>
          <a:xfrm>
            <a:off x="10158970" y="10240864"/>
            <a:ext cx="4521737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700" i="1" dirty="0">
                <a:solidFill>
                  <a:srgbClr val="4A55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review asks one question first: did the number of systems in market move?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Jewell Projects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Tap That Brewery - the plan on a page</dc:title>
  <dc:subject>PptxGenJS Presentation</dc:subject>
  <dc:creator>Jewell Projects</dc:creator>
  <cp:lastModifiedBy>Jewell Projects</cp:lastModifiedBy>
  <cp:revision>1</cp:revision>
  <dcterms:created xsi:type="dcterms:W3CDTF">2026-09-15T07:15:11Z</dcterms:created>
  <dcterms:modified xsi:type="dcterms:W3CDTF">2026-09-15T07:15:11Z</dcterms:modified>
</cp:coreProperties>
</file>