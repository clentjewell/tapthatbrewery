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486915" y="365760"/>
            <a:ext cx="744323"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486915" y="365760"/>
            <a:ext cx="744323"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661416"/>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active keg refillers by year three, across the Gold Coast, Brisbane and Northern Rivers, residential and commercial, with 250 at six months (March 2027). Every decision gets tested against whether it moves that number.</a:t>
            </a:r>
            <a:endParaRPr lang="en-US" sz="1400" dirty="0"/>
          </a:p>
        </p:txBody>
      </p:sp>
      <p:sp>
        <p:nvSpPr>
          <p:cNvPr id="16" name="Text 12"/>
          <p:cNvSpPr txBox="1"/>
          <p:nvPr/>
        </p:nvSpPr>
        <p:spPr>
          <a:xfrm>
            <a:off x="438898" y="2139036"/>
            <a:ext cx="8166764"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settled in principle on 18 September. The taproom is an events and local business venue, not a walk-in bar. Justin's own words: Oktoberfest is a sugar hit, and he would take week-on-week revenue over it. What is still open is whether the room reads as a showroom or an event space, and that is Justin's call inside 30 days.</a:t>
            </a:r>
            <a:endParaRPr lang="en-US" sz="810" dirty="0"/>
          </a:p>
        </p:txBody>
      </p:sp>
      <p:sp>
        <p:nvSpPr>
          <p:cNvPr id="17" name="Text 13"/>
          <p:cNvSpPr txBox="1"/>
          <p:nvPr/>
        </p:nvSpPr>
        <p:spPr>
          <a:xfrm>
            <a:off x="438898" y="2678935"/>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gets split across three shapes at once, the best insights stay buried in a long document, and 1,000 refillers stays a number on a page.</a:t>
            </a:r>
            <a:endParaRPr lang="en-US" sz="810" dirty="0"/>
          </a:p>
        </p:txBody>
      </p:sp>
      <p:sp>
        <p:nvSpPr>
          <p:cNvPr id="18" name="Text 14"/>
          <p:cNvSpPr txBox="1"/>
          <p:nvPr/>
        </p:nvSpPr>
        <p:spPr>
          <a:xfrm>
            <a:off x="438898" y="306452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everything in it is equal, so none of it has shape. Clent asked for three things off the back of it: belief, clarity, momentum, because a decision made beats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is Justin's, from his plan on a page. JP framed it in the catch-up as 1,000 systems; refillers is the better measure, since a system not refilling is worth nothing.</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250</a:t>
            </a:r>
            <a:endParaRPr lang="en-US" sz="1400" dirty="0"/>
          </a:p>
        </p:txBody>
      </p:sp>
      <p:sp>
        <p:nvSpPr>
          <p:cNvPr id="28" name="Text 24"/>
          <p:cNvSpPr txBox="1"/>
          <p:nvPr/>
        </p:nvSpPr>
        <p:spPr>
          <a:xfrm>
            <a:off x="10988209"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AT SIX MONTHS. MARCH 2027, OR CHRISTMAS IF JUSTIN TAKES CHRISTY'S DATE</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1,000</a:t>
            </a:r>
            <a:endParaRPr lang="en-US" sz="1400" dirty="0"/>
          </a:p>
        </p:txBody>
      </p:sp>
      <p:sp>
        <p:nvSpPr>
          <p:cNvPr id="31" name="Text 27"/>
          <p:cNvSpPr txBox="1"/>
          <p:nvPr/>
        </p:nvSpPr>
        <p:spPr>
          <a:xfrm>
            <a:off x="12924458"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BY YEAR THREE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4" name="Text 30"/>
          <p:cNvSpPr txBox="1"/>
          <p:nvPr/>
        </p:nvSpPr>
        <p:spPr>
          <a:xfrm>
            <a:off x="9051961"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$2.55 vs $12+</a:t>
            </a:r>
            <a:endParaRPr lang="en-US" sz="1400" dirty="0"/>
          </a:p>
        </p:txBody>
      </p:sp>
      <p:sp>
        <p:nvSpPr>
          <p:cNvPr id="37" name="Text 33"/>
          <p:cNvSpPr txBox="1"/>
          <p:nvPr/>
        </p:nvSpPr>
        <p:spPr>
          <a:xfrm>
            <a:off x="10988209"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HOME SCHOONER PRICE VS PUB</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Settle the shape, then the split.</a:t>
            </a:r>
            <a:endParaRPr lang="en-US" sz="960" dirty="0"/>
          </a:p>
        </p:txBody>
      </p:sp>
      <p:sp>
        <p:nvSpPr>
          <p:cNvPr id="47" name="Text 43"/>
          <p:cNvSpPr txBox="1"/>
          <p:nvPr/>
        </p:nvSpPr>
        <p:spPr>
          <a:xfrm>
            <a:off x="532498"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30-day call: showroom or event space. Walk-ins are not the strategy. Alongside it, clarity on who is buying, residential vs commercial, and where the energy goes.</a:t>
            </a:r>
            <a:endParaRPr lang="en-US" sz="790" dirty="0"/>
          </a:p>
        </p:txBody>
      </p:sp>
      <p:sp>
        <p:nvSpPr>
          <p:cNvPr id="48" name="Text 44"/>
          <p:cNvSpPr txBox="1"/>
          <p:nvPr/>
        </p:nvSpPr>
        <p:spPr>
          <a:xfrm>
            <a:off x="532498"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picks the shape and the residential-vs-commercial split, inside 30 days.</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Home entertainment, not beer.</a:t>
            </a:r>
            <a:endParaRPr lang="en-US" sz="960" dirty="0"/>
          </a:p>
        </p:txBody>
      </p:sp>
      <p:sp>
        <p:nvSpPr>
          <p:cNvPr id="53" name="Text 49"/>
          <p:cNvSpPr txBox="1"/>
          <p:nvPr/>
        </p:nvSpPr>
        <p:spPr>
          <a:xfrm>
            <a:off x="4119925"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line, every household deserves beer on tap, is the ambition, not the brand idea. The brand idea is that Tap That turns an ordinary catch-up into the best one on the street. The kegerator belongs beside the outdoor kitchen and the high-end barbecue, not beside the bar fridge.</a:t>
            </a:r>
            <a:endParaRPr lang="en-US" sz="790" dirty="0"/>
          </a:p>
        </p:txBody>
      </p:sp>
      <p:sp>
        <p:nvSpPr>
          <p:cNvPr id="54" name="Text 50"/>
          <p:cNvSpPr txBox="1"/>
          <p:nvPr/>
        </p:nvSpPr>
        <p:spPr>
          <a:xfrm>
            <a:off x="4119925"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rewrite key messaging for each target market on that basis, inside 30 days, Christy to lead.</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Switch the owners who already have a system.</a:t>
            </a:r>
            <a:endParaRPr lang="en-US" sz="960" dirty="0"/>
          </a:p>
        </p:txBody>
      </p:sp>
      <p:sp>
        <p:nvSpPr>
          <p:cNvPr id="59" name="Text 55"/>
          <p:cNvSpPr txBox="1"/>
          <p:nvPr/>
        </p:nvSpPr>
        <p:spPr>
          <a:xfrm>
            <a:off x="7707352"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number one priority: find every existing keg system owner and move them onto Tap That refills. Alongside it, the website upgrade plus SEM, and a referral programme with JVPs.</a:t>
            </a:r>
            <a:endParaRPr lang="en-US" sz="790" dirty="0"/>
          </a:p>
        </p:txBody>
      </p:sp>
      <p:sp>
        <p:nvSpPr>
          <p:cNvPr id="60" name="Text 56"/>
          <p:cNvSpPr txBox="1"/>
          <p:nvPr/>
        </p:nvSpPr>
        <p:spPr>
          <a:xfrm>
            <a:off x="7707352"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build the outreach list of existing system owners and start the switch.</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Oktoberfest, then the room as a destination.</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A successful Oktoberfest and keg system giveaway first. Then taproom traffic from local business, functions and ticketed music events, the agreed priority for the room, not walk-ins.</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deliver Oktoberfest and the giveaway, then book the first ticketed music night.</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671338"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30 DAYS</a:t>
            </a:r>
            <a:endParaRPr lang="en-US" sz="640" dirty="0"/>
          </a:p>
        </p:txBody>
      </p:sp>
      <p:sp>
        <p:nvSpPr>
          <p:cNvPr id="71" name="Text 67"/>
          <p:cNvSpPr txBox="1"/>
          <p:nvPr/>
        </p:nvSpPr>
        <p:spPr>
          <a:xfrm>
            <a:off x="1274827" y="7604851"/>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shape decision, KPIs and growth targets, meeting rhythm agreed.</a:t>
            </a:r>
            <a:endParaRPr lang="en-US" sz="810" dirty="0"/>
          </a:p>
        </p:txBody>
      </p:sp>
      <p:sp>
        <p:nvSpPr>
          <p:cNvPr id="72" name="Shape 68"/>
          <p:cNvSpPr/>
          <p:nvPr/>
        </p:nvSpPr>
        <p:spPr>
          <a:xfrm>
            <a:off x="438898" y="7983019"/>
            <a:ext cx="671338"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7983019"/>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MONTHS</a:t>
            </a:r>
            <a:endParaRPr lang="en-US" sz="640" dirty="0"/>
          </a:p>
        </p:txBody>
      </p:sp>
      <p:sp>
        <p:nvSpPr>
          <p:cNvPr id="74" name="Text 70"/>
          <p:cNvSpPr txBox="1"/>
          <p:nvPr/>
        </p:nvSpPr>
        <p:spPr>
          <a:xfrm>
            <a:off x="1274827" y="7970218"/>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Website, GoTab and SEM live; existing owners contacted; next hire decided.</a:t>
            </a:r>
            <a:endParaRPr lang="en-US" sz="810" dirty="0"/>
          </a:p>
        </p:txBody>
      </p:sp>
      <p:sp>
        <p:nvSpPr>
          <p:cNvPr id="75" name="Shape 71"/>
          <p:cNvSpPr/>
          <p:nvPr/>
        </p:nvSpPr>
        <p:spPr>
          <a:xfrm>
            <a:off x="438898" y="8348386"/>
            <a:ext cx="671338"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8348386"/>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6 MONTHS</a:t>
            </a:r>
            <a:endParaRPr lang="en-US" sz="640" dirty="0"/>
          </a:p>
        </p:txBody>
      </p:sp>
      <p:sp>
        <p:nvSpPr>
          <p:cNvPr id="77" name="Text 73"/>
          <p:cNvSpPr txBox="1"/>
          <p:nvPr/>
        </p:nvSpPr>
        <p:spPr>
          <a:xfrm>
            <a:off x="1274827" y="8335585"/>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250 active keg refillers; a clear career pathway for Chris and Harry.</a:t>
            </a:r>
            <a:endParaRPr lang="en-US" sz="810" dirty="0"/>
          </a:p>
        </p:txBody>
      </p:sp>
      <p:sp>
        <p:nvSpPr>
          <p:cNvPr id="78" name="Shape 74"/>
          <p:cNvSpPr/>
          <p:nvPr/>
        </p:nvSpPr>
        <p:spPr>
          <a:xfrm>
            <a:off x="438898" y="8713753"/>
            <a:ext cx="671338" cy="205740"/>
          </a:xfrm>
          <a:prstGeom prst="roundRect">
            <a:avLst>
              <a:gd name="adj" fmla="val 50000"/>
            </a:avLst>
          </a:prstGeom>
          <a:solidFill>
            <a:srgbClr val="0E171F"/>
          </a:solidFill>
          <a:ln w="12700">
            <a:solidFill>
              <a:srgbClr val="333333"/>
            </a:solidFill>
            <a:prstDash val="solid"/>
          </a:ln>
        </p:spPr>
      </p:sp>
      <p:sp>
        <p:nvSpPr>
          <p:cNvPr id="79" name="Text 75"/>
          <p:cNvSpPr txBox="1"/>
          <p:nvPr/>
        </p:nvSpPr>
        <p:spPr>
          <a:xfrm>
            <a:off x="438898" y="87137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 YEAR</a:t>
            </a:r>
            <a:endParaRPr lang="en-US" sz="640" dirty="0"/>
          </a:p>
        </p:txBody>
      </p:sp>
      <p:sp>
        <p:nvSpPr>
          <p:cNvPr id="80" name="Text 76"/>
          <p:cNvSpPr txBox="1"/>
          <p:nvPr/>
        </p:nvSpPr>
        <p:spPr>
          <a:xfrm>
            <a:off x="1274827" y="87009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and JVPs driving most sales; cashflow positive, Justin on a wage.</a:t>
            </a:r>
            <a:endParaRPr lang="en-US" sz="810" dirty="0"/>
          </a:p>
        </p:txBody>
      </p:sp>
      <p:sp>
        <p:nvSpPr>
          <p:cNvPr id="81" name="Shape 77"/>
          <p:cNvSpPr/>
          <p:nvPr/>
        </p:nvSpPr>
        <p:spPr>
          <a:xfrm>
            <a:off x="438898" y="9079120"/>
            <a:ext cx="671338" cy="205740"/>
          </a:xfrm>
          <a:prstGeom prst="roundRect">
            <a:avLst>
              <a:gd name="adj" fmla="val 50000"/>
            </a:avLst>
          </a:prstGeom>
          <a:solidFill>
            <a:srgbClr val="0E171F"/>
          </a:solidFill>
          <a:ln w="12700">
            <a:solidFill>
              <a:srgbClr val="333333"/>
            </a:solidFill>
            <a:prstDash val="solid"/>
          </a:ln>
        </p:spPr>
      </p:sp>
      <p:sp>
        <p:nvSpPr>
          <p:cNvPr id="82" name="Text 78"/>
          <p:cNvSpPr txBox="1"/>
          <p:nvPr/>
        </p:nvSpPr>
        <p:spPr>
          <a:xfrm>
            <a:off x="438898" y="90791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YEARS</a:t>
            </a:r>
            <a:endParaRPr lang="en-US" sz="640" dirty="0"/>
          </a:p>
        </p:txBody>
      </p:sp>
      <p:sp>
        <p:nvSpPr>
          <p:cNvPr id="83" name="Text 79"/>
          <p:cNvSpPr txBox="1"/>
          <p:nvPr/>
        </p:nvSpPr>
        <p:spPr>
          <a:xfrm>
            <a:off x="1274827" y="9066319"/>
            <a:ext cx="368580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1,000 active keg refillers: Gold Coast, Brisbane, Northern Rivers, residential and commercial.</a:t>
            </a:r>
            <a:endParaRPr lang="en-US" sz="810" dirty="0"/>
          </a:p>
        </p:txBody>
      </p:sp>
      <p:sp>
        <p:nvSpPr>
          <p:cNvPr id="84" name="Shape 80"/>
          <p:cNvSpPr/>
          <p:nvPr/>
        </p:nvSpPr>
        <p:spPr>
          <a:xfrm>
            <a:off x="438898" y="9515353"/>
            <a:ext cx="671338" cy="205740"/>
          </a:xfrm>
          <a:prstGeom prst="roundRect">
            <a:avLst>
              <a:gd name="adj" fmla="val 50000"/>
            </a:avLst>
          </a:prstGeom>
          <a:solidFill>
            <a:srgbClr val="0E171F"/>
          </a:solidFill>
          <a:ln w="12700">
            <a:solidFill>
              <a:srgbClr val="333333"/>
            </a:solidFill>
            <a:prstDash val="solid"/>
          </a:ln>
        </p:spPr>
      </p:sp>
      <p:sp>
        <p:nvSpPr>
          <p:cNvPr id="85" name="Text 81"/>
          <p:cNvSpPr txBox="1"/>
          <p:nvPr/>
        </p:nvSpPr>
        <p:spPr>
          <a:xfrm>
            <a:off x="438898" y="95153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5 YEARS</a:t>
            </a:r>
            <a:endParaRPr lang="en-US" sz="640" dirty="0"/>
          </a:p>
        </p:txBody>
      </p:sp>
      <p:sp>
        <p:nvSpPr>
          <p:cNvPr id="86" name="Text 82"/>
          <p:cNvSpPr txBox="1"/>
          <p:nvPr/>
        </p:nvSpPr>
        <p:spPr>
          <a:xfrm>
            <a:off x="1274827" y="95025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Rapid expansion: external investment, franchising, and a production facility.</a:t>
            </a:r>
            <a:endParaRPr lang="en-US" sz="810" dirty="0"/>
          </a:p>
        </p:txBody>
      </p:sp>
      <p:sp>
        <p:nvSpPr>
          <p:cNvPr id="87" name="Shape 83"/>
          <p:cNvSpPr/>
          <p:nvPr/>
        </p:nvSpPr>
        <p:spPr>
          <a:xfrm>
            <a:off x="438898" y="9880720"/>
            <a:ext cx="671338" cy="205740"/>
          </a:xfrm>
          <a:prstGeom prst="roundRect">
            <a:avLst>
              <a:gd name="adj" fmla="val 50000"/>
            </a:avLst>
          </a:prstGeom>
          <a:solidFill>
            <a:srgbClr val="0E171F"/>
          </a:solidFill>
          <a:ln w="12700">
            <a:solidFill>
              <a:srgbClr val="333333"/>
            </a:solidFill>
            <a:prstDash val="solid"/>
          </a:ln>
        </p:spPr>
      </p:sp>
      <p:sp>
        <p:nvSpPr>
          <p:cNvPr id="88" name="Text 84"/>
          <p:cNvSpPr txBox="1"/>
          <p:nvPr/>
        </p:nvSpPr>
        <p:spPr>
          <a:xfrm>
            <a:off x="438898" y="98807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10 YEARS</a:t>
            </a:r>
            <a:endParaRPr lang="en-US" sz="640" dirty="0"/>
          </a:p>
        </p:txBody>
      </p:sp>
      <p:sp>
        <p:nvSpPr>
          <p:cNvPr id="89" name="Text 85"/>
          <p:cNvSpPr txBox="1"/>
          <p:nvPr/>
        </p:nvSpPr>
        <p:spPr>
          <a:xfrm>
            <a:off x="1274827" y="9867919"/>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Exit. Justin's own words: "sell the sucker".</a:t>
            </a:r>
            <a:endParaRPr lang="en-US" sz="810" dirty="0"/>
          </a:p>
        </p:txBody>
      </p:sp>
      <p:sp>
        <p:nvSpPr>
          <p:cNvPr id="90" name="Shape 86"/>
          <p:cNvSpPr/>
          <p:nvPr/>
        </p:nvSpPr>
        <p:spPr>
          <a:xfrm>
            <a:off x="438898" y="10183264"/>
            <a:ext cx="4521737" cy="0"/>
          </a:xfrm>
          <a:prstGeom prst="line">
            <a:avLst/>
          </a:prstGeom>
          <a:noFill/>
          <a:ln w="7620">
            <a:solidFill>
              <a:srgbClr val="E3E7EC"/>
            </a:solidFill>
            <a:prstDash val="solid"/>
          </a:ln>
        </p:spPr>
      </p:sp>
      <p:sp>
        <p:nvSpPr>
          <p:cNvPr id="91" name="Text 87"/>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ladder is Justin's, from his plan on a page. JP's proposed sprints on the Activation sheet now sit inside it.</a:t>
            </a:r>
            <a:endParaRPr lang="en-US" sz="700" dirty="0"/>
          </a:p>
        </p:txBody>
      </p:sp>
      <p:sp>
        <p:nvSpPr>
          <p:cNvPr id="92" name="Shape 88"/>
          <p:cNvSpPr/>
          <p:nvPr/>
        </p:nvSpPr>
        <p:spPr>
          <a:xfrm>
            <a:off x="5183734" y="7332584"/>
            <a:ext cx="4752137" cy="3143495"/>
          </a:xfrm>
          <a:prstGeom prst="rect">
            <a:avLst/>
          </a:prstGeom>
          <a:solidFill>
            <a:srgbClr val="FFFFFF"/>
          </a:solidFill>
          <a:ln w="7620">
            <a:solidFill>
              <a:srgbClr val="E3E7EC"/>
            </a:solidFill>
            <a:prstDash val="solid"/>
          </a:ln>
        </p:spPr>
      </p:sp>
      <p:sp>
        <p:nvSpPr>
          <p:cNvPr id="93" name="Text 8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2271871"/>
                <a:gridCol w="695445"/>
                <a:gridCol w="1554421"/>
              </a:tblGrid>
              <a:tr h="28397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 Harry, 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Website, GoTab + Fishbowl, SEM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Existing owners and referral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Taproom, events, Oktoberfest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 and next hire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messaging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Engagement lead and weekly check-in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Ronnie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95" name="Shape 90"/>
          <p:cNvSpPr/>
          <p:nvPr/>
        </p:nvSpPr>
        <p:spPr>
          <a:xfrm>
            <a:off x="5298934" y="10063249"/>
            <a:ext cx="4521737" cy="0"/>
          </a:xfrm>
          <a:prstGeom prst="line">
            <a:avLst/>
          </a:prstGeom>
          <a:noFill/>
          <a:ln w="7620">
            <a:solidFill>
              <a:srgbClr val="E3E7EC"/>
            </a:solidFill>
            <a:prstDash val="solid"/>
          </a:ln>
        </p:spPr>
      </p:sp>
      <p:sp>
        <p:nvSpPr>
          <p:cNvPr id="96" name="Text 91"/>
          <p:cNvSpPr txBox="1"/>
          <p:nvPr/>
        </p:nvSpPr>
        <p:spPr>
          <a:xfrm>
            <a:off x="5298934"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Justin and Chris return their split of what Jewell owns and what Harry and Justin keep, and it is finalised at the first weekly check-in.</a:t>
            </a:r>
            <a:endParaRPr lang="en-US" sz="700" dirty="0"/>
          </a:p>
        </p:txBody>
      </p:sp>
      <p:sp>
        <p:nvSpPr>
          <p:cNvPr id="97" name="Shape 92"/>
          <p:cNvSpPr/>
          <p:nvPr/>
        </p:nvSpPr>
        <p:spPr>
          <a:xfrm>
            <a:off x="10043770" y="7332584"/>
            <a:ext cx="4752137" cy="3143495"/>
          </a:xfrm>
          <a:prstGeom prst="rect">
            <a:avLst/>
          </a:prstGeom>
          <a:solidFill>
            <a:srgbClr val="FFFFFF"/>
          </a:solidFill>
          <a:ln w="7620">
            <a:solidFill>
              <a:srgbClr val="E3E7EC"/>
            </a:solidFill>
            <a:prstDash val="solid"/>
          </a:ln>
        </p:spPr>
      </p:sp>
      <p:sp>
        <p:nvSpPr>
          <p:cNvPr id="98" name="Shape 93"/>
          <p:cNvSpPr/>
          <p:nvPr/>
        </p:nvSpPr>
        <p:spPr>
          <a:xfrm>
            <a:off x="10043770" y="7332584"/>
            <a:ext cx="4752137" cy="36000"/>
          </a:xfrm>
          <a:prstGeom prst="rect">
            <a:avLst/>
          </a:prstGeom>
          <a:solidFill>
            <a:srgbClr val="0066FF"/>
          </a:solidFill>
          <a:ln w="12700">
            <a:solidFill>
              <a:srgbClr val="333333"/>
            </a:solidFill>
            <a:prstDash val="solid"/>
          </a:ln>
        </p:spPr>
      </p:sp>
      <p:sp>
        <p:nvSpPr>
          <p:cNvPr id="99" name="Text 9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100" name="Shape 95"/>
          <p:cNvSpPr/>
          <p:nvPr/>
        </p:nvSpPr>
        <p:spPr>
          <a:xfrm>
            <a:off x="10158970" y="7653692"/>
            <a:ext cx="50400" cy="50400"/>
          </a:xfrm>
          <a:prstGeom prst="rect">
            <a:avLst/>
          </a:prstGeom>
          <a:solidFill>
            <a:srgbClr val="0066FF"/>
          </a:solidFill>
          <a:ln w="12700">
            <a:solidFill>
              <a:srgbClr val="333333"/>
            </a:solidFill>
            <a:prstDash val="solid"/>
          </a:ln>
        </p:spPr>
      </p:sp>
      <p:sp>
        <p:nvSpPr>
          <p:cNvPr id="101" name="Text 96"/>
          <p:cNvSpPr txBox="1"/>
          <p:nvPr/>
        </p:nvSpPr>
        <p:spPr>
          <a:xfrm>
            <a:off x="10266970" y="761765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Showroom or event space?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Walk-ins are not the strategy. Justin's call inside 30 days.</a:t>
            </a:r>
            <a:endParaRPr lang="en-US" sz="730" dirty="0"/>
          </a:p>
        </p:txBody>
      </p:sp>
      <p:sp>
        <p:nvSpPr>
          <p:cNvPr id="102" name="Shape 97"/>
          <p:cNvSpPr/>
          <p:nvPr/>
        </p:nvSpPr>
        <p:spPr>
          <a:xfrm>
            <a:off x="10158970" y="8101936"/>
            <a:ext cx="50400" cy="50400"/>
          </a:xfrm>
          <a:prstGeom prst="rect">
            <a:avLst/>
          </a:prstGeom>
          <a:solidFill>
            <a:srgbClr val="0066FF"/>
          </a:solidFill>
          <a:ln w="12700">
            <a:solidFill>
              <a:srgbClr val="333333"/>
            </a:solidFill>
            <a:prstDash val="solid"/>
          </a:ln>
        </p:spPr>
      </p:sp>
      <p:sp>
        <p:nvSpPr>
          <p:cNvPr id="103" name="Text 98"/>
          <p:cNvSpPr txBox="1"/>
          <p:nvPr/>
        </p:nvSpPr>
        <p:spPr>
          <a:xfrm>
            <a:off x="10266970" y="806589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Residential vs commercial: who is buying, and where does the energy go?</a:t>
            </a:r>
            <a:endParaRPr lang="en-US" sz="730" dirty="0"/>
          </a:p>
        </p:txBody>
      </p:sp>
      <p:sp>
        <p:nvSpPr>
          <p:cNvPr id="104" name="Shape 99"/>
          <p:cNvSpPr/>
          <p:nvPr/>
        </p:nvSpPr>
        <p:spPr>
          <a:xfrm>
            <a:off x="10158970" y="8550181"/>
            <a:ext cx="50400" cy="50400"/>
          </a:xfrm>
          <a:prstGeom prst="rect">
            <a:avLst/>
          </a:prstGeom>
          <a:solidFill>
            <a:srgbClr val="0066FF"/>
          </a:solidFill>
          <a:ln w="12700">
            <a:solidFill>
              <a:srgbClr val="333333"/>
            </a:solidFill>
            <a:prstDash val="solid"/>
          </a:ln>
        </p:spPr>
      </p:sp>
      <p:sp>
        <p:nvSpPr>
          <p:cNvPr id="105" name="Text 100"/>
          <p:cNvSpPr txBox="1"/>
          <p:nvPr/>
        </p:nvSpPr>
        <p:spPr>
          <a:xfrm>
            <a:off x="10266970" y="851414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What Jewell owns and what Harry and Justin keep,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against the scoped costs in the proposal.</a:t>
            </a:r>
            <a:endParaRPr lang="en-US" sz="730" dirty="0"/>
          </a:p>
        </p:txBody>
      </p:sp>
      <p:sp>
        <p:nvSpPr>
          <p:cNvPr id="106" name="Shape 101"/>
          <p:cNvSpPr/>
          <p:nvPr/>
        </p:nvSpPr>
        <p:spPr>
          <a:xfrm>
            <a:off x="10158970" y="8998426"/>
            <a:ext cx="50400" cy="50400"/>
          </a:xfrm>
          <a:prstGeom prst="rect">
            <a:avLst/>
          </a:prstGeom>
          <a:solidFill>
            <a:srgbClr val="0066FF"/>
          </a:solidFill>
          <a:ln w="12700">
            <a:solidFill>
              <a:srgbClr val="333333"/>
            </a:solidFill>
            <a:prstDash val="solid"/>
          </a:ln>
        </p:spPr>
      </p:sp>
      <p:sp>
        <p:nvSpPr>
          <p:cNvPr id="107" name="Text 102"/>
          <p:cNvSpPr txBox="1"/>
          <p:nvPr/>
        </p:nvSpPr>
        <p:spPr>
          <a:xfrm>
            <a:off x="10266970" y="896238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The next hire: brewer vs wholesale plus bar coverage, hybrid either way.</a:t>
            </a:r>
            <a:endParaRPr lang="en-US" sz="730" dirty="0"/>
          </a:p>
        </p:txBody>
      </p:sp>
      <p:sp>
        <p:nvSpPr>
          <p:cNvPr id="108" name="Shape 103"/>
          <p:cNvSpPr/>
          <p:nvPr/>
        </p:nvSpPr>
        <p:spPr>
          <a:xfrm>
            <a:off x="10158970" y="9446671"/>
            <a:ext cx="50400" cy="50400"/>
          </a:xfrm>
          <a:prstGeom prst="rect">
            <a:avLst/>
          </a:prstGeom>
          <a:solidFill>
            <a:srgbClr val="0066FF"/>
          </a:solidFill>
          <a:ln w="12700">
            <a:solidFill>
              <a:srgbClr val="333333"/>
            </a:solidFill>
            <a:prstDash val="solid"/>
          </a:ln>
        </p:spPr>
      </p:sp>
      <p:sp>
        <p:nvSpPr>
          <p:cNvPr id="109" name="Text 104"/>
          <p:cNvSpPr txBox="1"/>
          <p:nvPr/>
        </p:nvSpPr>
        <p:spPr>
          <a:xfrm>
            <a:off x="10266970" y="941063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KPIs and growth targets: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keg system sales, active keg refillers, wholesale accounts.</a:t>
            </a:r>
            <a:endParaRPr lang="en-US" sz="730" dirty="0"/>
          </a:p>
        </p:txBody>
      </p:sp>
      <p:sp>
        <p:nvSpPr>
          <p:cNvPr id="110" name="Shape 105"/>
          <p:cNvSpPr/>
          <p:nvPr/>
        </p:nvSpPr>
        <p:spPr>
          <a:xfrm>
            <a:off x="10158970" y="9894916"/>
            <a:ext cx="50400" cy="50400"/>
          </a:xfrm>
          <a:prstGeom prst="rect">
            <a:avLst/>
          </a:prstGeom>
          <a:solidFill>
            <a:srgbClr val="0066FF"/>
          </a:solidFill>
          <a:ln w="12700">
            <a:solidFill>
              <a:srgbClr val="333333"/>
            </a:solidFill>
            <a:prstDash val="solid"/>
          </a:ln>
        </p:spPr>
      </p:sp>
      <p:sp>
        <p:nvSpPr>
          <p:cNvPr id="111" name="Text 106"/>
          <p:cNvSpPr txBox="1"/>
          <p:nvPr/>
        </p:nvSpPr>
        <p:spPr>
          <a:xfrm>
            <a:off x="10266970" y="9858876"/>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Weekly check-in, 45 minutes, Christy leading.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Ronnie to lock the day; Justin can do Thursday or Friday, earlier in the week preferred.</a:t>
            </a:r>
            <a:endParaRPr lang="en-US" sz="730" dirty="0"/>
          </a:p>
        </p:txBody>
      </p:sp>
      <p:sp>
        <p:nvSpPr>
          <p:cNvPr id="112" name="Shape 107"/>
          <p:cNvSpPr/>
          <p:nvPr/>
        </p:nvSpPr>
        <p:spPr>
          <a:xfrm>
            <a:off x="10158970" y="10183264"/>
            <a:ext cx="4521737" cy="0"/>
          </a:xfrm>
          <a:prstGeom prst="line">
            <a:avLst/>
          </a:prstGeom>
          <a:noFill/>
          <a:ln w="7620">
            <a:solidFill>
              <a:srgbClr val="E3E7EC"/>
            </a:solidFill>
            <a:prstDash val="solid"/>
          </a:ln>
        </p:spPr>
      </p:sp>
      <p:sp>
        <p:nvSpPr>
          <p:cNvPr id="113" name="Text 108"/>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30-day list, returned 16 September, updated after the 18 September catch-up.</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204724"/>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74599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349543"/>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2798787"/>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direction question moved on 18 September.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taproom is a destination for events and local business, and walk-in trade is not where the energy goes. Justin has been funding the business himself to stay open and wants to be drawing a wage inside 12 months. That is the deadline behind everything on this page.</a:t>
            </a:r>
            <a:endParaRPr lang="en-US" sz="810" dirty="0"/>
          </a:p>
        </p:txBody>
      </p:sp>
      <p:sp>
        <p:nvSpPr>
          <p:cNvPr id="19" name="Shape 15"/>
          <p:cNvSpPr/>
          <p:nvPr/>
        </p:nvSpPr>
        <p:spPr>
          <a:xfrm>
            <a:off x="438898" y="3630961"/>
            <a:ext cx="6951755" cy="0"/>
          </a:xfrm>
          <a:prstGeom prst="line">
            <a:avLst/>
          </a:prstGeom>
          <a:noFill/>
          <a:ln w="7620">
            <a:solidFill>
              <a:srgbClr val="E3E7EC"/>
            </a:solidFill>
            <a:prstDash val="solid"/>
          </a:ln>
        </p:spPr>
      </p:sp>
      <p:sp>
        <p:nvSpPr>
          <p:cNvPr id="20" name="Text 16"/>
          <p:cNvSpPr txBox="1"/>
          <p:nvPr/>
        </p:nvSpPr>
        <p:spPr>
          <a:xfrm>
            <a:off x="438898" y="3688561"/>
            <a:ext cx="6951755" cy="36004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Break-even confirmed by Justin on 18 September. Franchise shape discussed 18 September: Tap That brews centrally, franchisees run a showroom and bar from pallet-delivered kegs. Satellite tasting rooms with a cool room are the low-capital step before that. Chris's caution stands: systemising brewing is harder than a recipe.</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FIVE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26127"/>
                <a:gridCol w="2995924"/>
                <a:gridCol w="3029704"/>
              </a:tblGrid>
              <a:tr h="36377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Keg systems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Sold near cost</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Lease-to-buy.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Plus a delivery service, Justin's three-month item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residential and commercial,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 250 by March 2027, 1,000 by year three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503698">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Local business, functions and events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Destination.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Events, functions, ticketed music and local business. Not walk-ins. Showroom or event space is Justin's 30-day call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Next hire is brewer vs wholesale plus bar, hybrid</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Merchandise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Line five in Justin's plan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Keep it small.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Canning is not in Justin's plan at all. Consistent with the room.</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659533"/>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250</a:t>
            </a:r>
            <a:endParaRPr lang="en-US" sz="1300" dirty="0"/>
          </a:p>
        </p:txBody>
      </p:sp>
      <p:sp>
        <p:nvSpPr>
          <p:cNvPr id="30" name="Text 25"/>
          <p:cNvSpPr txBox="1"/>
          <p:nvPr/>
        </p:nvSpPr>
        <p:spPr>
          <a:xfrm>
            <a:off x="546898"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REFILLERS AT SIX MONTHS</a:t>
            </a:r>
            <a:endParaRPr lang="en-US" sz="550" dirty="0"/>
          </a:p>
        </p:txBody>
      </p:sp>
      <p:sp>
        <p:nvSpPr>
          <p:cNvPr id="31" name="Shape 26"/>
          <p:cNvSpPr/>
          <p:nvPr/>
        </p:nvSpPr>
        <p:spPr>
          <a:xfrm>
            <a:off x="1970143" y="4556773"/>
            <a:ext cx="1459246" cy="659533"/>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1,000</a:t>
            </a:r>
            <a:endParaRPr lang="en-US" sz="1300" dirty="0"/>
          </a:p>
        </p:txBody>
      </p:sp>
      <p:sp>
        <p:nvSpPr>
          <p:cNvPr id="33" name="Text 28"/>
          <p:cNvSpPr txBox="1"/>
          <p:nvPr/>
        </p:nvSpPr>
        <p:spPr>
          <a:xfrm>
            <a:off x="2078143"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BY YEAR THREE, GC, BRISBANE, NORTHERN RIVERS</a:t>
            </a:r>
            <a:endParaRPr lang="en-US" sz="550" dirty="0"/>
          </a:p>
        </p:txBody>
      </p:sp>
      <p:sp>
        <p:nvSpPr>
          <p:cNvPr id="34" name="Shape 29"/>
          <p:cNvSpPr/>
          <p:nvPr/>
        </p:nvSpPr>
        <p:spPr>
          <a:xfrm>
            <a:off x="3501389" y="4556773"/>
            <a:ext cx="1459246" cy="659533"/>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~$50k</a:t>
            </a:r>
            <a:endParaRPr lang="en-US" sz="1300" dirty="0"/>
          </a:p>
        </p:txBody>
      </p:sp>
      <p:sp>
        <p:nvSpPr>
          <p:cNvPr id="36" name="Text 31"/>
          <p:cNvSpPr txBox="1"/>
          <p:nvPr/>
        </p:nvSpPr>
        <p:spPr>
          <a:xfrm>
            <a:off x="3609389"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BREAK-EVEN PER MONTH. CURRENT RUN RATE $35K TO $45K. BEST MONTH HIT IT</a:t>
            </a:r>
            <a:endParaRPr lang="en-US" sz="550" dirty="0"/>
          </a:p>
        </p:txBody>
      </p:sp>
      <p:sp>
        <p:nvSpPr>
          <p:cNvPr id="37" name="Text 32"/>
          <p:cNvSpPr txBox="1"/>
          <p:nvPr/>
        </p:nvSpPr>
        <p:spPr>
          <a:xfrm>
            <a:off x="438898" y="5356662"/>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still the 116 in the database who bought their system elsewhere. Their objections are overcome. Nobody has to be sold on the idea of beer at home.</a:t>
            </a:r>
            <a:endParaRPr lang="en-US" sz="810" dirty="0"/>
          </a:p>
        </p:txBody>
      </p:sp>
      <p:sp>
        <p:nvSpPr>
          <p:cNvPr id="38" name="Text 33"/>
          <p:cNvSpPr txBox="1"/>
          <p:nvPr/>
        </p:nvSpPr>
        <p:spPr>
          <a:xfrm>
            <a:off x="438898" y="580562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 Justin's one-year marker is cashflow positive, with JM taking a wage.</a:t>
            </a:r>
            <a:endParaRPr lang="en-US" sz="810" dirty="0"/>
          </a:p>
        </p:txBody>
      </p:sp>
      <p:sp>
        <p:nvSpPr>
          <p:cNvPr id="39" name="Text 34"/>
          <p:cNvSpPr txBox="1"/>
          <p:nvPr/>
        </p:nvSpPr>
        <p:spPr>
          <a:xfrm>
            <a:off x="438898" y="6408899"/>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confirmed on 18 September that 250 active refillers gets the business past break-even, so the six-month number and the money number are the same number.</a:t>
            </a:r>
            <a:endParaRPr lang="en-US" sz="810" dirty="0"/>
          </a:p>
        </p:txBody>
      </p:sp>
      <p:sp>
        <p:nvSpPr>
          <p:cNvPr id="40" name="Shape 35"/>
          <p:cNvSpPr/>
          <p:nvPr/>
        </p:nvSpPr>
        <p:spPr>
          <a:xfrm>
            <a:off x="438898" y="7085747"/>
            <a:ext cx="4521737" cy="0"/>
          </a:xfrm>
          <a:prstGeom prst="line">
            <a:avLst/>
          </a:prstGeom>
          <a:noFill/>
          <a:ln w="7620">
            <a:solidFill>
              <a:srgbClr val="E3E7EC"/>
            </a:solidFill>
            <a:prstDash val="solid"/>
          </a:ln>
        </p:spPr>
      </p:sp>
      <p:sp>
        <p:nvSpPr>
          <p:cNvPr id="41" name="Text 36"/>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climb to 1,000 is not a marketing target, it is a distribution target. It needs partners, not posts.</a:t>
            </a:r>
            <a:endParaRPr lang="en-US" sz="700" dirty="0"/>
          </a:p>
        </p:txBody>
      </p:sp>
      <p:sp>
        <p:nvSpPr>
          <p:cNvPr id="42" name="Shape 37"/>
          <p:cNvSpPr/>
          <p:nvPr/>
        </p:nvSpPr>
        <p:spPr>
          <a:xfrm>
            <a:off x="5183734" y="4271705"/>
            <a:ext cx="4752137" cy="3106858"/>
          </a:xfrm>
          <a:prstGeom prst="rect">
            <a:avLst/>
          </a:prstGeom>
          <a:solidFill>
            <a:srgbClr val="FFFFFF"/>
          </a:solidFill>
          <a:ln w="7620">
            <a:solidFill>
              <a:srgbClr val="E3E7EC"/>
            </a:solidFill>
            <a:prstDash val="solid"/>
          </a:ln>
        </p:spPr>
      </p:sp>
      <p:sp>
        <p:nvSpPr>
          <p:cNvPr id="43" name="Text 38"/>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4" name="Text 39"/>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5" name="Text 40"/>
          <p:cNvSpPr txBox="1"/>
          <p:nvPr/>
        </p:nvSpPr>
        <p:spPr>
          <a:xfrm>
            <a:off x="5298934" y="496597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6" name="Text 41"/>
          <p:cNvSpPr txBox="1"/>
          <p:nvPr/>
        </p:nvSpPr>
        <p:spPr>
          <a:xfrm>
            <a:off x="5298934" y="53751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2.5 cases for the price of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Against $12+ at the pub and $80+ for a case at the bottleshop.</a:t>
            </a:r>
            <a:endParaRPr lang="en-US" sz="810" dirty="0"/>
          </a:p>
        </p:txBody>
      </p:sp>
      <p:sp>
        <p:nvSpPr>
          <p:cNvPr id="47" name="Text 42"/>
          <p:cNvSpPr txBox="1"/>
          <p:nvPr/>
        </p:nvSpPr>
        <p:spPr>
          <a:xfrm>
            <a:off x="5298934" y="578436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8" name="Text 43"/>
          <p:cNvSpPr txBox="1"/>
          <p:nvPr/>
        </p:nvSpPr>
        <p:spPr>
          <a:xfrm>
            <a:off x="5298934" y="619356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 Justin lists a taproom membership as a three-month item, so the tension is live.</a:t>
            </a:r>
            <a:endParaRPr lang="en-US" sz="810" dirty="0"/>
          </a:p>
        </p:txBody>
      </p:sp>
      <p:sp>
        <p:nvSpPr>
          <p:cNvPr id="49" name="Shape 44"/>
          <p:cNvSpPr/>
          <p:nvPr/>
        </p:nvSpPr>
        <p:spPr>
          <a:xfrm>
            <a:off x="5298934" y="7085747"/>
            <a:ext cx="4521737" cy="0"/>
          </a:xfrm>
          <a:prstGeom prst="line">
            <a:avLst/>
          </a:prstGeom>
          <a:noFill/>
          <a:ln w="7620">
            <a:solidFill>
              <a:srgbClr val="E3E7EC"/>
            </a:solidFill>
            <a:prstDash val="solid"/>
          </a:ln>
        </p:spPr>
      </p:sp>
      <p:sp>
        <p:nvSpPr>
          <p:cNvPr id="50" name="Text 45"/>
          <p:cNvSpPr txBox="1"/>
          <p:nvPr/>
        </p:nvSpPr>
        <p:spPr>
          <a:xfrm>
            <a:off x="5298934"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open item is no longer which maths, it is making sure the live ad and every piece of collateral carry $2.55.</a:t>
            </a:r>
            <a:endParaRPr lang="en-US" sz="700" dirty="0"/>
          </a:p>
        </p:txBody>
      </p:sp>
      <p:sp>
        <p:nvSpPr>
          <p:cNvPr id="51" name="Shape 46"/>
          <p:cNvSpPr/>
          <p:nvPr/>
        </p:nvSpPr>
        <p:spPr>
          <a:xfrm>
            <a:off x="10043770" y="4271705"/>
            <a:ext cx="4752137" cy="3106858"/>
          </a:xfrm>
          <a:prstGeom prst="rect">
            <a:avLst/>
          </a:prstGeom>
          <a:solidFill>
            <a:srgbClr val="FFFFFF"/>
          </a:solidFill>
          <a:ln w="7620">
            <a:solidFill>
              <a:srgbClr val="E3E7EC"/>
            </a:solidFill>
            <a:prstDash val="solid"/>
          </a:ln>
        </p:spPr>
      </p:sp>
      <p:sp>
        <p:nvSpPr>
          <p:cNvPr id="52" name="Text 47"/>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3" name="Text 48"/>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It is not in Justin's plan.</a:t>
            </a:r>
            <a:endParaRPr lang="en-US" sz="920" dirty="0"/>
          </a:p>
        </p:txBody>
      </p:sp>
      <p:sp>
        <p:nvSpPr>
          <p:cNvPr id="54" name="Text 49"/>
          <p:cNvSpPr txBox="1"/>
          <p:nvPr/>
        </p:nvSpPr>
        <p:spPr>
          <a:xfrm>
            <a:off x="10158970" y="488361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find out the brand exists, which no keg marketing reaches. It also opens bars and restaurants that will not give up a tap.</a:t>
            </a:r>
            <a:endParaRPr lang="en-US" sz="810" dirty="0"/>
          </a:p>
        </p:txBody>
      </p:sp>
      <p:sp>
        <p:nvSpPr>
          <p:cNvPr id="55" name="Text 50"/>
          <p:cNvSpPr txBox="1"/>
          <p:nvPr/>
        </p:nvSpPr>
        <p:spPr>
          <a:xfrm>
            <a:off x="10158970" y="535782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and parked it.</a:t>
            </a:r>
            <a:endParaRPr lang="en-US" sz="810" dirty="0"/>
          </a:p>
        </p:txBody>
      </p:sp>
      <p:sp>
        <p:nvSpPr>
          <p:cNvPr id="56" name="Text 51"/>
          <p:cNvSpPr txBox="1"/>
          <p:nvPr/>
        </p:nvSpPr>
        <p:spPr>
          <a:xfrm>
            <a:off x="10158970" y="583203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a:t>
            </a:r>
            <a:endParaRPr lang="en-US" sz="810" dirty="0"/>
          </a:p>
        </p:txBody>
      </p:sp>
      <p:sp>
        <p:nvSpPr>
          <p:cNvPr id="57" name="Shape 52"/>
          <p:cNvSpPr/>
          <p:nvPr/>
        </p:nvSpPr>
        <p:spPr>
          <a:xfrm>
            <a:off x="10158970" y="7085747"/>
            <a:ext cx="4521737" cy="0"/>
          </a:xfrm>
          <a:prstGeom prst="line">
            <a:avLst/>
          </a:prstGeom>
          <a:noFill/>
          <a:ln w="7620">
            <a:solidFill>
              <a:srgbClr val="E3E7EC"/>
            </a:solidFill>
            <a:prstDash val="solid"/>
          </a:ln>
        </p:spPr>
      </p:sp>
      <p:sp>
        <p:nvSpPr>
          <p:cNvPr id="58" name="Text 53"/>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9" name="Shape 54"/>
          <p:cNvSpPr/>
          <p:nvPr/>
        </p:nvSpPr>
        <p:spPr>
          <a:xfrm>
            <a:off x="323698" y="7486462"/>
            <a:ext cx="7182155" cy="2989618"/>
          </a:xfrm>
          <a:prstGeom prst="rect">
            <a:avLst/>
          </a:prstGeom>
          <a:solidFill>
            <a:srgbClr val="FFFFFF"/>
          </a:solidFill>
          <a:ln w="7620">
            <a:solidFill>
              <a:srgbClr val="E3E7EC"/>
            </a:solidFill>
            <a:prstDash val="solid"/>
          </a:ln>
        </p:spPr>
      </p:sp>
      <p:sp>
        <p:nvSpPr>
          <p:cNvPr id="60" name="Text 55"/>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1" name="Shape 56"/>
          <p:cNvSpPr/>
          <p:nvPr/>
        </p:nvSpPr>
        <p:spPr>
          <a:xfrm>
            <a:off x="438898" y="7816840"/>
            <a:ext cx="50400" cy="50400"/>
          </a:xfrm>
          <a:prstGeom prst="rect">
            <a:avLst/>
          </a:prstGeom>
          <a:solidFill>
            <a:srgbClr val="0066FF"/>
          </a:solidFill>
          <a:ln w="12700">
            <a:solidFill>
              <a:srgbClr val="333333"/>
            </a:solidFill>
            <a:prstDash val="solid"/>
          </a:ln>
        </p:spPr>
      </p:sp>
      <p:sp>
        <p:nvSpPr>
          <p:cNvPr id="62" name="Text 57"/>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shape question.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Showroom or event space. Owner: Justin.</a:t>
            </a:r>
            <a:endParaRPr lang="en-US" sz="800" dirty="0"/>
          </a:p>
        </p:txBody>
      </p:sp>
      <p:sp>
        <p:nvSpPr>
          <p:cNvPr id="63" name="Shape 58"/>
          <p:cNvSpPr/>
          <p:nvPr/>
        </p:nvSpPr>
        <p:spPr>
          <a:xfrm>
            <a:off x="438898" y="8223676"/>
            <a:ext cx="50400" cy="50400"/>
          </a:xfrm>
          <a:prstGeom prst="rect">
            <a:avLst/>
          </a:prstGeom>
          <a:solidFill>
            <a:srgbClr val="0066FF"/>
          </a:solidFill>
          <a:ln w="12700">
            <a:solidFill>
              <a:srgbClr val="333333"/>
            </a:solidFill>
            <a:prstDash val="solid"/>
          </a:ln>
        </p:spPr>
      </p:sp>
      <p:sp>
        <p:nvSpPr>
          <p:cNvPr id="64" name="Text 59"/>
          <p:cNvSpPr txBox="1"/>
          <p:nvPr/>
        </p:nvSpPr>
        <p:spPr>
          <a:xfrm>
            <a:off x="546898" y="8178365"/>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Residential vs commercial.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Where the energy goes.</a:t>
            </a:r>
            <a:endParaRPr lang="en-US" sz="800" dirty="0"/>
          </a:p>
        </p:txBody>
      </p:sp>
      <p:sp>
        <p:nvSpPr>
          <p:cNvPr id="65" name="Shape 60"/>
          <p:cNvSpPr/>
          <p:nvPr/>
        </p:nvSpPr>
        <p:spPr>
          <a:xfrm>
            <a:off x="438898" y="8630511"/>
            <a:ext cx="50400" cy="50400"/>
          </a:xfrm>
          <a:prstGeom prst="rect">
            <a:avLst/>
          </a:prstGeom>
          <a:solidFill>
            <a:srgbClr val="0066FF"/>
          </a:solidFill>
          <a:ln w="12700">
            <a:solidFill>
              <a:srgbClr val="333333"/>
            </a:solidFill>
            <a:prstDash val="solid"/>
          </a:ln>
        </p:spPr>
      </p:sp>
      <p:sp>
        <p:nvSpPr>
          <p:cNvPr id="66" name="Text 61"/>
          <p:cNvSpPr txBox="1"/>
          <p:nvPr/>
        </p:nvSpPr>
        <p:spPr>
          <a:xfrm>
            <a:off x="546898" y="858520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Jewell split.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What Jewell owns, what Harry and Justin keep, against the proposal.</a:t>
            </a:r>
            <a:endParaRPr lang="en-US" sz="800" dirty="0"/>
          </a:p>
        </p:txBody>
      </p:sp>
      <p:sp>
        <p:nvSpPr>
          <p:cNvPr id="67" name="Shape 62"/>
          <p:cNvSpPr/>
          <p:nvPr/>
        </p:nvSpPr>
        <p:spPr>
          <a:xfrm>
            <a:off x="438898" y="9037347"/>
            <a:ext cx="50400" cy="50400"/>
          </a:xfrm>
          <a:prstGeom prst="rect">
            <a:avLst/>
          </a:prstGeom>
          <a:solidFill>
            <a:srgbClr val="0066FF"/>
          </a:solidFill>
          <a:ln w="12700">
            <a:solidFill>
              <a:srgbClr val="333333"/>
            </a:solidFill>
            <a:prstDash val="solid"/>
          </a:ln>
        </p:spPr>
      </p:sp>
      <p:sp>
        <p:nvSpPr>
          <p:cNvPr id="68" name="Text 63"/>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Next hire.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Brewer vs wholesale plus bar coverage, hybrid.</a:t>
            </a:r>
            <a:endParaRPr lang="en-US" sz="800" dirty="0"/>
          </a:p>
        </p:txBody>
      </p:sp>
      <p:sp>
        <p:nvSpPr>
          <p:cNvPr id="69" name="Shape 64"/>
          <p:cNvSpPr/>
          <p:nvPr/>
        </p:nvSpPr>
        <p:spPr>
          <a:xfrm>
            <a:off x="438898" y="9444182"/>
            <a:ext cx="50400" cy="50400"/>
          </a:xfrm>
          <a:prstGeom prst="rect">
            <a:avLst/>
          </a:prstGeom>
          <a:solidFill>
            <a:srgbClr val="0066FF"/>
          </a:solidFill>
          <a:ln w="12700">
            <a:solidFill>
              <a:srgbClr val="333333"/>
            </a:solidFill>
            <a:prstDash val="solid"/>
          </a:ln>
        </p:spPr>
      </p:sp>
      <p:sp>
        <p:nvSpPr>
          <p:cNvPr id="70" name="Text 65"/>
          <p:cNvSpPr txBox="1"/>
          <p:nvPr/>
        </p:nvSpPr>
        <p:spPr>
          <a:xfrm>
            <a:off x="546898" y="939887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KPIs and growth targets.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Keg system sales, active keg refillers, wholesale accounts.</a:t>
            </a:r>
            <a:endParaRPr lang="en-US" sz="800" dirty="0"/>
          </a:p>
        </p:txBody>
      </p:sp>
      <p:sp>
        <p:nvSpPr>
          <p:cNvPr id="71" name="Shape 66"/>
          <p:cNvSpPr/>
          <p:nvPr/>
        </p:nvSpPr>
        <p:spPr>
          <a:xfrm>
            <a:off x="438898" y="9851018"/>
            <a:ext cx="50400" cy="50400"/>
          </a:xfrm>
          <a:prstGeom prst="rect">
            <a:avLst/>
          </a:prstGeom>
          <a:solidFill>
            <a:srgbClr val="0066FF"/>
          </a:solidFill>
          <a:ln w="12700">
            <a:solidFill>
              <a:srgbClr val="333333"/>
            </a:solidFill>
            <a:prstDash val="solid"/>
          </a:ln>
        </p:spPr>
      </p:sp>
      <p:sp>
        <p:nvSpPr>
          <p:cNvPr id="72" name="Text 67"/>
          <p:cNvSpPr txBox="1"/>
          <p:nvPr/>
        </p:nvSpPr>
        <p:spPr>
          <a:xfrm>
            <a:off x="546898" y="980570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$2.55.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number on the live ad.</a:t>
            </a:r>
            <a:endParaRPr lang="en-US" sz="800" dirty="0"/>
          </a:p>
        </p:txBody>
      </p:sp>
      <p:sp>
        <p:nvSpPr>
          <p:cNvPr id="73" name="Shape 68"/>
          <p:cNvSpPr/>
          <p:nvPr/>
        </p:nvSpPr>
        <p:spPr>
          <a:xfrm>
            <a:off x="438898" y="10257854"/>
            <a:ext cx="50400" cy="50400"/>
          </a:xfrm>
          <a:prstGeom prst="rect">
            <a:avLst/>
          </a:prstGeom>
          <a:solidFill>
            <a:srgbClr val="0066FF"/>
          </a:solidFill>
          <a:ln w="12700">
            <a:solidFill>
              <a:srgbClr val="333333"/>
            </a:solidFill>
            <a:prstDash val="solid"/>
          </a:ln>
        </p:spPr>
      </p:sp>
      <p:sp>
        <p:nvSpPr>
          <p:cNvPr id="74" name="Text 69"/>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250 date.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March 2027 or Christmas 2026.</a:t>
            </a:r>
            <a:endParaRPr lang="en-US" sz="800" dirty="0"/>
          </a:p>
        </p:txBody>
      </p:sp>
      <p:sp>
        <p:nvSpPr>
          <p:cNvPr id="75" name="Shape 70"/>
          <p:cNvSpPr/>
          <p:nvPr/>
        </p:nvSpPr>
        <p:spPr>
          <a:xfrm>
            <a:off x="7613752" y="7486462"/>
            <a:ext cx="7182155" cy="2989618"/>
          </a:xfrm>
          <a:prstGeom prst="rect">
            <a:avLst/>
          </a:prstGeom>
          <a:solidFill>
            <a:srgbClr val="FFFFFF"/>
          </a:solidFill>
          <a:ln w="7620">
            <a:solidFill>
              <a:srgbClr val="E3E7EC"/>
            </a:solidFill>
            <a:prstDash val="solid"/>
          </a:ln>
        </p:spPr>
      </p:sp>
      <p:sp>
        <p:nvSpPr>
          <p:cNvPr id="76" name="Text 71"/>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7" name="Shape 72"/>
          <p:cNvSpPr/>
          <p:nvPr/>
        </p:nvSpPr>
        <p:spPr>
          <a:xfrm>
            <a:off x="7728952" y="7816840"/>
            <a:ext cx="50400" cy="50400"/>
          </a:xfrm>
          <a:prstGeom prst="rect">
            <a:avLst/>
          </a:prstGeom>
          <a:solidFill>
            <a:srgbClr val="0066FF"/>
          </a:solidFill>
          <a:ln w="12700">
            <a:solidFill>
              <a:srgbClr val="333333"/>
            </a:solidFill>
            <a:prstDash val="solid"/>
          </a:ln>
        </p:spPr>
      </p:sp>
      <p:sp>
        <p:nvSpPr>
          <p:cNvPr id="78" name="Text 73"/>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9" name="Shape 74"/>
          <p:cNvSpPr/>
          <p:nvPr/>
        </p:nvSpPr>
        <p:spPr>
          <a:xfrm>
            <a:off x="7728952" y="8509701"/>
            <a:ext cx="50400" cy="50400"/>
          </a:xfrm>
          <a:prstGeom prst="rect">
            <a:avLst/>
          </a:prstGeom>
          <a:solidFill>
            <a:srgbClr val="0066FF"/>
          </a:solidFill>
          <a:ln w="12700">
            <a:solidFill>
              <a:srgbClr val="333333"/>
            </a:solidFill>
            <a:prstDash val="solid"/>
          </a:ln>
        </p:spPr>
      </p:sp>
      <p:sp>
        <p:nvSpPr>
          <p:cNvPr id="80" name="Text 75"/>
          <p:cNvSpPr txBox="1"/>
          <p:nvPr/>
        </p:nvSpPr>
        <p:spPr>
          <a:xfrm>
            <a:off x="7836952" y="846439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81" name="Shape 76"/>
          <p:cNvSpPr/>
          <p:nvPr/>
        </p:nvSpPr>
        <p:spPr>
          <a:xfrm>
            <a:off x="7728952" y="9202562"/>
            <a:ext cx="50400" cy="50400"/>
          </a:xfrm>
          <a:prstGeom prst="rect">
            <a:avLst/>
          </a:prstGeom>
          <a:solidFill>
            <a:srgbClr val="0066FF"/>
          </a:solidFill>
          <a:ln w="12700">
            <a:solidFill>
              <a:srgbClr val="333333"/>
            </a:solidFill>
            <a:prstDash val="solid"/>
          </a:ln>
        </p:spPr>
      </p:sp>
      <p:sp>
        <p:nvSpPr>
          <p:cNvPr id="82" name="Text 77"/>
          <p:cNvSpPr txBox="1"/>
          <p:nvPr/>
        </p:nvSpPr>
        <p:spPr>
          <a:xfrm>
            <a:off x="7836952" y="915725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Chris is trapped in production.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Justin's words: highly valued and intelligent, but the business needs his time and knowledge freed up.</a:t>
            </a:r>
            <a:endParaRPr lang="en-US" sz="800" dirty="0"/>
          </a:p>
        </p:txBody>
      </p:sp>
      <p:sp>
        <p:nvSpPr>
          <p:cNvPr id="83" name="Shape 78"/>
          <p:cNvSpPr/>
          <p:nvPr/>
        </p:nvSpPr>
        <p:spPr>
          <a:xfrm>
            <a:off x="7728952" y="9895424"/>
            <a:ext cx="50400" cy="50400"/>
          </a:xfrm>
          <a:prstGeom prst="rect">
            <a:avLst/>
          </a:prstGeom>
          <a:solidFill>
            <a:srgbClr val="0066FF"/>
          </a:solidFill>
          <a:ln w="12700">
            <a:solidFill>
              <a:srgbClr val="333333"/>
            </a:solidFill>
            <a:prstDash val="solid"/>
          </a:ln>
        </p:spPr>
      </p:sp>
      <p:sp>
        <p:nvSpPr>
          <p:cNvPr id="84" name="Text 79"/>
          <p:cNvSpPr txBox="1"/>
          <p:nvPr/>
        </p:nvSpPr>
        <p:spPr>
          <a:xfrm>
            <a:off x="7836952" y="985011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5" name="Shape 80"/>
          <p:cNvSpPr/>
          <p:nvPr/>
        </p:nvSpPr>
        <p:spPr>
          <a:xfrm>
            <a:off x="7728952" y="10063249"/>
            <a:ext cx="6951755" cy="0"/>
          </a:xfrm>
          <a:prstGeom prst="line">
            <a:avLst/>
          </a:prstGeom>
          <a:noFill/>
          <a:ln w="7620">
            <a:solidFill>
              <a:srgbClr val="E3E7EC"/>
            </a:solidFill>
            <a:prstDash val="solid"/>
          </a:ln>
        </p:spPr>
      </p:sp>
      <p:sp>
        <p:nvSpPr>
          <p:cNvPr id="86" name="Text 81"/>
          <p:cNvSpPr txBox="1"/>
          <p:nvPr/>
        </p:nvSpPr>
        <p:spPr>
          <a:xfrm>
            <a:off x="7728952" y="10120849"/>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both catch-ups: as this scales, the personal connection cannot hold. It has to be replicated in systems. The franchise model on the summary sheet only works if it does.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281375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6951755" cy="211023"/>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Your place, the best catch-up on the street. Home entertainment, not beer.</a:t>
            </a:r>
            <a:endParaRPr lang="en-US" sz="1340" dirty="0"/>
          </a:p>
        </p:txBody>
      </p:sp>
      <p:sp>
        <p:nvSpPr>
          <p:cNvPr id="16" name="Text 12"/>
          <p:cNvSpPr txBox="1"/>
          <p:nvPr/>
        </p:nvSpPr>
        <p:spPr>
          <a:xfrm>
            <a:off x="438898" y="1752181"/>
            <a:ext cx="6951755"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Every household deserves beer on tap is Justin's line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it stays as the ambition. It is not the brand idea. The brand idea is what the product does to an ordinary Saturday: it turns a catch-up into the one people talk about. That puts Tap That in the home entertainment business, beside the outdoor kitchen, the high-end barbecue and the coffee machine, not beside the bar fridge. Same move BMW made from cars to mobility, and it opens the same doors: partners, product and price.</a:t>
            </a:r>
            <a:endParaRPr lang="en-US" sz="810" dirty="0"/>
          </a:p>
        </p:txBody>
      </p:sp>
      <p:sp>
        <p:nvSpPr>
          <p:cNvPr id="17" name="Text 13"/>
          <p:cNvSpPr txBox="1"/>
          <p:nvPr/>
        </p:nvSpPr>
        <p:spPr>
          <a:xfrm>
            <a:off x="438898" y="2509923"/>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959054"/>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Norman's outdoor living page leads with kitchens and appliances, and the kegerator is not in the grouping. That is the gap.</a:t>
            </a:r>
            <a:endParaRPr lang="en-US" sz="810" dirty="0"/>
          </a:p>
        </p:txBody>
      </p:sp>
      <p:sp>
        <p:nvSpPr>
          <p:cNvPr id="19" name="Shape 15"/>
          <p:cNvSpPr/>
          <p:nvPr/>
        </p:nvSpPr>
        <p:spPr>
          <a:xfrm>
            <a:off x="438898" y="3636511"/>
            <a:ext cx="6951755" cy="0"/>
          </a:xfrm>
          <a:prstGeom prst="line">
            <a:avLst/>
          </a:prstGeom>
          <a:noFill/>
          <a:ln w="7620">
            <a:solidFill>
              <a:srgbClr val="E3E7EC"/>
            </a:solidFill>
            <a:prstDash val="solid"/>
          </a:ln>
        </p:spPr>
      </p:sp>
      <p:sp>
        <p:nvSpPr>
          <p:cNvPr id="20" name="Text 16"/>
          <p:cNvSpPr txBox="1"/>
          <p:nvPr/>
        </p:nvSpPr>
        <p:spPr>
          <a:xfrm>
            <a:off x="438898"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Christy owns the wording; this is her draft to sign off.</a:t>
            </a:r>
            <a:endParaRPr lang="en-US" sz="700" dirty="0"/>
          </a:p>
        </p:txBody>
      </p:sp>
      <p:sp>
        <p:nvSpPr>
          <p:cNvPr id="21" name="Shape 17"/>
          <p:cNvSpPr/>
          <p:nvPr/>
        </p:nvSpPr>
        <p:spPr>
          <a:xfrm>
            <a:off x="7613752" y="1115568"/>
            <a:ext cx="7182155" cy="281375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3" name="Text 19"/>
          <p:cNvSpPr txBox="1"/>
          <p:nvPr/>
        </p:nvSpPr>
        <p:spPr>
          <a:xfrm>
            <a:off x="7728952" y="1400636"/>
            <a:ext cx="6951755"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Pubs at $12+ a schooner, bottleshops at $80+ a case, and home brew supply stores. Not the duopoly, not A&amp;A, not the keg delivery operators.</a:t>
            </a:r>
            <a:endParaRPr lang="en-US" sz="920" dirty="0"/>
          </a:p>
        </p:txBody>
      </p:sp>
      <p:sp>
        <p:nvSpPr>
          <p:cNvPr id="24" name="Text 20"/>
          <p:cNvSpPr txBox="1"/>
          <p:nvPr/>
        </p:nvSpPr>
        <p:spPr>
          <a:xfrm>
            <a:off x="7728952" y="1888714"/>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words: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more people drinking craft beer and not XXXX, the better.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Other breweries are not the enemy. Every price conversation should be unit economics: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against $12+ at the pub</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2.5 cases for the price of one.</a:t>
            </a:r>
            <a:endParaRPr lang="en-US" sz="810" dirty="0"/>
          </a:p>
        </p:txBody>
      </p:sp>
      <p:sp>
        <p:nvSpPr>
          <p:cNvPr id="25" name="Text 21"/>
          <p:cNvSpPr txBox="1"/>
          <p:nvPr/>
        </p:nvSpPr>
        <p:spPr>
          <a:xfrm>
            <a:off x="7728952" y="2362924"/>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6" name="Text 22"/>
          <p:cNvSpPr txBox="1"/>
          <p:nvPr/>
        </p:nvSpPr>
        <p:spPr>
          <a:xfrm>
            <a:off x="7728952" y="268282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Following a competitor in that state down on price is worse than pointless.</a:t>
            </a:r>
            <a:endParaRPr lang="en-US" sz="810" dirty="0"/>
          </a:p>
        </p:txBody>
      </p:sp>
      <p:sp>
        <p:nvSpPr>
          <p:cNvPr id="27" name="Shape 23"/>
          <p:cNvSpPr/>
          <p:nvPr/>
        </p:nvSpPr>
        <p:spPr>
          <a:xfrm>
            <a:off x="7728952" y="3636511"/>
            <a:ext cx="6951755" cy="0"/>
          </a:xfrm>
          <a:prstGeom prst="line">
            <a:avLst/>
          </a:prstGeom>
          <a:noFill/>
          <a:ln w="7620">
            <a:solidFill>
              <a:srgbClr val="E3E7EC"/>
            </a:solidFill>
            <a:prstDash val="solid"/>
          </a:ln>
        </p:spPr>
      </p:sp>
      <p:sp>
        <p:nvSpPr>
          <p:cNvPr id="28" name="Text 24"/>
          <p:cNvSpPr txBox="1"/>
          <p:nvPr/>
        </p:nvSpPr>
        <p:spPr>
          <a:xfrm>
            <a:off x="7728952"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figure is settled: $2.55 a schooner. Every piece of collateral and the live ad should carry it.</a:t>
            </a:r>
            <a:endParaRPr lang="en-US" sz="700" dirty="0"/>
          </a:p>
        </p:txBody>
      </p:sp>
      <p:sp>
        <p:nvSpPr>
          <p:cNvPr id="29" name="Shape 25"/>
          <p:cNvSpPr/>
          <p:nvPr/>
        </p:nvSpPr>
        <p:spPr>
          <a:xfrm>
            <a:off x="323698" y="4037225"/>
            <a:ext cx="4752137" cy="3370647"/>
          </a:xfrm>
          <a:prstGeom prst="rect">
            <a:avLst/>
          </a:prstGeom>
          <a:solidFill>
            <a:srgbClr val="FFFFFF"/>
          </a:solidFill>
          <a:ln w="7620">
            <a:solidFill>
              <a:srgbClr val="E3E7EC"/>
            </a:solidFill>
            <a:prstDash val="solid"/>
          </a:ln>
        </p:spPr>
      </p:sp>
      <p:sp>
        <p:nvSpPr>
          <p:cNvPr id="30" name="Text 26"/>
          <p:cNvSpPr txBox="1"/>
          <p:nvPr/>
        </p:nvSpPr>
        <p:spPr>
          <a:xfrm>
            <a:off x="438898"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1" name="Text 27"/>
          <p:cNvSpPr txBox="1"/>
          <p:nvPr/>
        </p:nvSpPr>
        <p:spPr>
          <a:xfrm>
            <a:off x="438898" y="432229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2" name="Text 28"/>
          <p:cNvSpPr txBox="1"/>
          <p:nvPr/>
        </p:nvSpPr>
        <p:spPr>
          <a:xfrm>
            <a:off x="438898" y="479650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3" name="Text 29"/>
          <p:cNvSpPr txBox="1"/>
          <p:nvPr/>
        </p:nvSpPr>
        <p:spPr>
          <a:xfrm>
            <a:off x="438898" y="52707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4" name="Shape 30"/>
          <p:cNvSpPr/>
          <p:nvPr/>
        </p:nvSpPr>
        <p:spPr>
          <a:xfrm>
            <a:off x="438898" y="7115057"/>
            <a:ext cx="4521737" cy="0"/>
          </a:xfrm>
          <a:prstGeom prst="line">
            <a:avLst/>
          </a:prstGeom>
          <a:noFill/>
          <a:ln w="7620">
            <a:solidFill>
              <a:srgbClr val="E3E7EC"/>
            </a:solidFill>
            <a:prstDash val="solid"/>
          </a:ln>
        </p:spPr>
      </p:sp>
      <p:sp>
        <p:nvSpPr>
          <p:cNvPr id="35" name="Text 31"/>
          <p:cNvSpPr txBox="1"/>
          <p:nvPr/>
        </p:nvSpPr>
        <p:spPr>
          <a:xfrm>
            <a:off x="438898"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6" name="Shape 32"/>
          <p:cNvSpPr/>
          <p:nvPr/>
        </p:nvSpPr>
        <p:spPr>
          <a:xfrm>
            <a:off x="5183734" y="4037225"/>
            <a:ext cx="4752137" cy="3370647"/>
          </a:xfrm>
          <a:prstGeom prst="rect">
            <a:avLst/>
          </a:prstGeom>
          <a:solidFill>
            <a:srgbClr val="FFFFFF"/>
          </a:solidFill>
          <a:ln w="7620">
            <a:solidFill>
              <a:srgbClr val="E3E7EC"/>
            </a:solidFill>
            <a:prstDash val="solid"/>
          </a:ln>
        </p:spPr>
      </p:sp>
      <p:sp>
        <p:nvSpPr>
          <p:cNvPr id="37" name="Text 33"/>
          <p:cNvSpPr txBox="1"/>
          <p:nvPr/>
        </p:nvSpPr>
        <p:spPr>
          <a:xfrm>
            <a:off x="5298934"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8" name="Text 34"/>
          <p:cNvSpPr txBox="1"/>
          <p:nvPr/>
        </p:nvSpPr>
        <p:spPr>
          <a:xfrm>
            <a:off x="5298934" y="432229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39" name="Text 35"/>
          <p:cNvSpPr txBox="1"/>
          <p:nvPr/>
        </p:nvSpPr>
        <p:spPr>
          <a:xfrm>
            <a:off x="5298934" y="4578298"/>
            <a:ext cx="4521737" cy="77152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target segments, sharehouses, DINKs, young families, baby boomers, high-volume drinkers, cashed-up tradies, are households, and designing for her is how those households say yes.</a:t>
            </a:r>
            <a:endParaRPr lang="en-US" sz="810" dirty="0"/>
          </a:p>
        </p:txBody>
      </p:sp>
      <p:sp>
        <p:nvSpPr>
          <p:cNvPr id="40" name="Text 36"/>
          <p:cNvSpPr txBox="1"/>
          <p:nvPr/>
        </p:nvSpPr>
        <p:spPr>
          <a:xfrm>
            <a:off x="5298934" y="544458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1" name="Text 37"/>
          <p:cNvSpPr txBox="1"/>
          <p:nvPr/>
        </p:nvSpPr>
        <p:spPr>
          <a:xfrm>
            <a:off x="5298934" y="60022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the hardware itself.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Zip HydroTap sells at around $10,000 largely because it looks right on a bench. That is the standard.</a:t>
            </a:r>
            <a:endParaRPr lang="en-US" sz="810" dirty="0"/>
          </a:p>
        </p:txBody>
      </p:sp>
      <p:sp>
        <p:nvSpPr>
          <p:cNvPr id="42" name="Text 38"/>
          <p:cNvSpPr txBox="1"/>
          <p:nvPr/>
        </p:nvSpPr>
        <p:spPr>
          <a:xfrm>
            <a:off x="5298934" y="6405644"/>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3" name="Shape 39"/>
          <p:cNvSpPr/>
          <p:nvPr/>
        </p:nvSpPr>
        <p:spPr>
          <a:xfrm>
            <a:off x="5298934" y="7115057"/>
            <a:ext cx="4521737" cy="0"/>
          </a:xfrm>
          <a:prstGeom prst="line">
            <a:avLst/>
          </a:prstGeom>
          <a:noFill/>
          <a:ln w="7620">
            <a:solidFill>
              <a:srgbClr val="E3E7EC"/>
            </a:solidFill>
            <a:prstDash val="solid"/>
          </a:ln>
        </p:spPr>
      </p:sp>
      <p:sp>
        <p:nvSpPr>
          <p:cNvPr id="44" name="Text 40"/>
          <p:cNvSpPr txBox="1"/>
          <p:nvPr/>
        </p:nvSpPr>
        <p:spPr>
          <a:xfrm>
            <a:off x="5298934"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5" name="Shape 41"/>
          <p:cNvSpPr/>
          <p:nvPr/>
        </p:nvSpPr>
        <p:spPr>
          <a:xfrm>
            <a:off x="10043770" y="4037225"/>
            <a:ext cx="4752137" cy="3370647"/>
          </a:xfrm>
          <a:prstGeom prst="rect">
            <a:avLst/>
          </a:prstGeom>
          <a:solidFill>
            <a:srgbClr val="FFFFFF"/>
          </a:solidFill>
          <a:ln w="7620">
            <a:solidFill>
              <a:srgbClr val="E3E7EC"/>
            </a:solidFill>
            <a:prstDash val="solid"/>
          </a:ln>
        </p:spPr>
      </p:sp>
      <p:sp>
        <p:nvSpPr>
          <p:cNvPr id="46" name="Text 42"/>
          <p:cNvSpPr txBox="1"/>
          <p:nvPr/>
        </p:nvSpPr>
        <p:spPr>
          <a:xfrm>
            <a:off x="10158970"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7" name="Shape 43"/>
          <p:cNvSpPr/>
          <p:nvPr/>
        </p:nvSpPr>
        <p:spPr>
          <a:xfrm>
            <a:off x="10158970" y="4357443"/>
            <a:ext cx="50400" cy="50400"/>
          </a:xfrm>
          <a:prstGeom prst="rect">
            <a:avLst/>
          </a:prstGeom>
          <a:solidFill>
            <a:srgbClr val="0066FF"/>
          </a:solidFill>
          <a:ln w="12700">
            <a:solidFill>
              <a:srgbClr val="333333"/>
            </a:solidFill>
            <a:prstDash val="solid"/>
          </a:ln>
        </p:spPr>
      </p:sp>
      <p:sp>
        <p:nvSpPr>
          <p:cNvPr id="48" name="Text 44"/>
          <p:cNvSpPr txBox="1"/>
          <p:nvPr/>
        </p:nvSpPr>
        <p:spPr>
          <a:xfrm>
            <a:off x="10266970" y="4322293"/>
            <a:ext cx="4413737" cy="384048"/>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Integrated units, already selling.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Three to four plumbed-in systems with only the font showing, installed in the last couple of months. Not on the website. This is the product that belongs in the outdoor living grouping.</a:t>
            </a:r>
            <a:endParaRPr lang="en-US" sz="720" dirty="0"/>
          </a:p>
        </p:txBody>
      </p:sp>
      <p:sp>
        <p:nvSpPr>
          <p:cNvPr id="49" name="Shape 45"/>
          <p:cNvSpPr/>
          <p:nvPr/>
        </p:nvSpPr>
        <p:spPr>
          <a:xfrm>
            <a:off x="10158970" y="4937851"/>
            <a:ext cx="50400" cy="50400"/>
          </a:xfrm>
          <a:prstGeom prst="rect">
            <a:avLst/>
          </a:prstGeom>
          <a:solidFill>
            <a:srgbClr val="0066FF"/>
          </a:solidFill>
          <a:ln w="12700">
            <a:solidFill>
              <a:srgbClr val="333333"/>
            </a:solidFill>
            <a:prstDash val="solid"/>
          </a:ln>
        </p:spPr>
      </p:sp>
      <p:sp>
        <p:nvSpPr>
          <p:cNvPr id="50" name="Text 46"/>
          <p:cNvSpPr txBox="1"/>
          <p:nvPr/>
        </p:nvSpPr>
        <p:spPr>
          <a:xfrm>
            <a:off x="10266970" y="490270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Referrals at 18% of sales without a programme worth the name.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The proof that the social mechanic works is already in the numbers.</a:t>
            </a:r>
            <a:endParaRPr lang="en-US" sz="720" dirty="0"/>
          </a:p>
        </p:txBody>
      </p:sp>
      <p:sp>
        <p:nvSpPr>
          <p:cNvPr id="51" name="Shape 47"/>
          <p:cNvSpPr/>
          <p:nvPr/>
        </p:nvSpPr>
        <p:spPr>
          <a:xfrm>
            <a:off x="10158970" y="5390242"/>
            <a:ext cx="50400" cy="50400"/>
          </a:xfrm>
          <a:prstGeom prst="rect">
            <a:avLst/>
          </a:prstGeom>
          <a:solidFill>
            <a:srgbClr val="0066FF"/>
          </a:solidFill>
          <a:ln w="12700">
            <a:solidFill>
              <a:srgbClr val="333333"/>
            </a:solidFill>
            <a:prstDash val="solid"/>
          </a:ln>
        </p:spPr>
      </p:sp>
      <p:sp>
        <p:nvSpPr>
          <p:cNvPr id="52" name="Text 48"/>
          <p:cNvSpPr txBox="1"/>
          <p:nvPr/>
        </p:nvSpPr>
        <p:spPr>
          <a:xfrm>
            <a:off x="10266970" y="5355091"/>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53" name="Shape 49"/>
          <p:cNvSpPr/>
          <p:nvPr/>
        </p:nvSpPr>
        <p:spPr>
          <a:xfrm>
            <a:off x="10158970" y="5842633"/>
            <a:ext cx="50400" cy="50400"/>
          </a:xfrm>
          <a:prstGeom prst="rect">
            <a:avLst/>
          </a:prstGeom>
          <a:solidFill>
            <a:srgbClr val="0066FF"/>
          </a:solidFill>
          <a:ln w="12700">
            <a:solidFill>
              <a:srgbClr val="333333"/>
            </a:solidFill>
            <a:prstDash val="solid"/>
          </a:ln>
        </p:spPr>
      </p:sp>
      <p:sp>
        <p:nvSpPr>
          <p:cNvPr id="54" name="Text 50"/>
          <p:cNvSpPr txBox="1"/>
          <p:nvPr/>
        </p:nvSpPr>
        <p:spPr>
          <a:xfrm>
            <a:off x="10266970" y="580748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Two buying objections answered, both currently below the fold.</a:t>
            </a:r>
            <a:endParaRPr lang="en-US" sz="720" dirty="0"/>
          </a:p>
        </p:txBody>
      </p:sp>
      <p:sp>
        <p:nvSpPr>
          <p:cNvPr id="55" name="Shape 51"/>
          <p:cNvSpPr/>
          <p:nvPr/>
        </p:nvSpPr>
        <p:spPr>
          <a:xfrm>
            <a:off x="10158970" y="6295024"/>
            <a:ext cx="50400" cy="50400"/>
          </a:xfrm>
          <a:prstGeom prst="rect">
            <a:avLst/>
          </a:prstGeom>
          <a:solidFill>
            <a:srgbClr val="0066FF"/>
          </a:solidFill>
          <a:ln w="12700">
            <a:solidFill>
              <a:srgbClr val="333333"/>
            </a:solidFill>
            <a:prstDash val="solid"/>
          </a:ln>
        </p:spPr>
      </p:sp>
      <p:sp>
        <p:nvSpPr>
          <p:cNvPr id="56" name="Text 52"/>
          <p:cNvSpPr txBox="1"/>
          <p:nvPr/>
        </p:nvSpPr>
        <p:spPr>
          <a:xfrm>
            <a:off x="10266970" y="6259874"/>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and 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and the reviews are present but unpromoted and invisible to AI search.</a:t>
            </a:r>
            <a:endParaRPr lang="en-US" sz="720" dirty="0"/>
          </a:p>
        </p:txBody>
      </p:sp>
      <p:sp>
        <p:nvSpPr>
          <p:cNvPr id="57" name="Shape 53"/>
          <p:cNvSpPr/>
          <p:nvPr/>
        </p:nvSpPr>
        <p:spPr>
          <a:xfrm>
            <a:off x="10158970" y="6747416"/>
            <a:ext cx="50400" cy="50400"/>
          </a:xfrm>
          <a:prstGeom prst="rect">
            <a:avLst/>
          </a:prstGeom>
          <a:solidFill>
            <a:srgbClr val="0066FF"/>
          </a:solidFill>
          <a:ln w="12700">
            <a:solidFill>
              <a:srgbClr val="333333"/>
            </a:solidFill>
            <a:prstDash val="solid"/>
          </a:ln>
        </p:spPr>
      </p:sp>
      <p:sp>
        <p:nvSpPr>
          <p:cNvPr id="58" name="Text 54"/>
          <p:cNvSpPr txBox="1"/>
          <p:nvPr/>
        </p:nvSpPr>
        <p:spPr>
          <a:xfrm>
            <a:off x="10266970" y="6712265"/>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Named brand ambassadors and UGC providers.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Kurt, Troy, Mitch, Aden and Ash, Justin's own list, ready to deploy within three months.</a:t>
            </a:r>
            <a:endParaRPr lang="en-US" sz="720" dirty="0"/>
          </a:p>
        </p:txBody>
      </p:sp>
      <p:sp>
        <p:nvSpPr>
          <p:cNvPr id="59" name="Shape 55"/>
          <p:cNvSpPr/>
          <p:nvPr/>
        </p:nvSpPr>
        <p:spPr>
          <a:xfrm>
            <a:off x="10158970" y="7199807"/>
            <a:ext cx="50400" cy="50400"/>
          </a:xfrm>
          <a:prstGeom prst="rect">
            <a:avLst/>
          </a:prstGeom>
          <a:solidFill>
            <a:srgbClr val="0066FF"/>
          </a:solidFill>
          <a:ln w="12700">
            <a:solidFill>
              <a:srgbClr val="333333"/>
            </a:solidFill>
            <a:prstDash val="solid"/>
          </a:ln>
        </p:spPr>
      </p:sp>
      <p:sp>
        <p:nvSpPr>
          <p:cNvPr id="60" name="Text 56"/>
          <p:cNvSpPr txBox="1"/>
          <p:nvPr/>
        </p:nvSpPr>
        <p:spPr>
          <a:xfrm>
            <a:off x="10266970" y="716465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Oktoberfest, with the keg system giveaway.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proof moment in the next 30 days.</a:t>
            </a:r>
            <a:endParaRPr lang="en-US" sz="720" dirty="0"/>
          </a:p>
        </p:txBody>
      </p:sp>
      <p:sp>
        <p:nvSpPr>
          <p:cNvPr id="61" name="Shape 57"/>
          <p:cNvSpPr/>
          <p:nvPr/>
        </p:nvSpPr>
        <p:spPr>
          <a:xfrm>
            <a:off x="323698" y="7515772"/>
            <a:ext cx="7182155" cy="2960308"/>
          </a:xfrm>
          <a:prstGeom prst="rect">
            <a:avLst/>
          </a:prstGeom>
          <a:solidFill>
            <a:srgbClr val="FFFFFF"/>
          </a:solidFill>
          <a:ln w="7620">
            <a:solidFill>
              <a:srgbClr val="E3E7EC"/>
            </a:solidFill>
            <a:prstDash val="solid"/>
          </a:ln>
        </p:spPr>
      </p:sp>
      <p:sp>
        <p:nvSpPr>
          <p:cNvPr id="62" name="Text 58"/>
          <p:cNvSpPr txBox="1"/>
          <p:nvPr/>
        </p:nvSpPr>
        <p:spPr>
          <a:xfrm>
            <a:off x="438898"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63" name="Shape 59"/>
          <p:cNvSpPr/>
          <p:nvPr/>
        </p:nvSpPr>
        <p:spPr>
          <a:xfrm>
            <a:off x="438898" y="7837806"/>
            <a:ext cx="50400" cy="50400"/>
          </a:xfrm>
          <a:prstGeom prst="rect">
            <a:avLst/>
          </a:prstGeom>
          <a:solidFill>
            <a:srgbClr val="0066FF"/>
          </a:solidFill>
          <a:ln w="12700">
            <a:solidFill>
              <a:srgbClr val="333333"/>
            </a:solidFill>
            <a:prstDash val="solid"/>
          </a:ln>
        </p:spPr>
      </p:sp>
      <p:sp>
        <p:nvSpPr>
          <p:cNvPr id="64" name="Text 60"/>
          <p:cNvSpPr txBox="1"/>
          <p:nvPr/>
        </p:nvSpPr>
        <p:spPr>
          <a:xfrm>
            <a:off x="546898" y="780084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5" name="Shape 61"/>
          <p:cNvSpPr/>
          <p:nvPr/>
        </p:nvSpPr>
        <p:spPr>
          <a:xfrm>
            <a:off x="438898" y="8647270"/>
            <a:ext cx="50400" cy="50400"/>
          </a:xfrm>
          <a:prstGeom prst="rect">
            <a:avLst/>
          </a:prstGeom>
          <a:solidFill>
            <a:srgbClr val="0066FF"/>
          </a:solidFill>
          <a:ln w="12700">
            <a:solidFill>
              <a:srgbClr val="333333"/>
            </a:solidFill>
            <a:prstDash val="solid"/>
          </a:ln>
        </p:spPr>
      </p:sp>
      <p:sp>
        <p:nvSpPr>
          <p:cNvPr id="66" name="Text 62"/>
          <p:cNvSpPr txBox="1"/>
          <p:nvPr/>
        </p:nvSpPr>
        <p:spPr>
          <a:xfrm>
            <a:off x="546898" y="8610303"/>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7" name="Shape 63"/>
          <p:cNvSpPr/>
          <p:nvPr/>
        </p:nvSpPr>
        <p:spPr>
          <a:xfrm>
            <a:off x="438898" y="9456734"/>
            <a:ext cx="50400" cy="50400"/>
          </a:xfrm>
          <a:prstGeom prst="rect">
            <a:avLst/>
          </a:prstGeom>
          <a:solidFill>
            <a:srgbClr val="0066FF"/>
          </a:solidFill>
          <a:ln w="12700">
            <a:solidFill>
              <a:srgbClr val="333333"/>
            </a:solidFill>
            <a:prstDash val="solid"/>
          </a:ln>
        </p:spPr>
      </p:sp>
      <p:sp>
        <p:nvSpPr>
          <p:cNvPr id="68" name="Text 64"/>
          <p:cNvSpPr txBox="1"/>
          <p:nvPr/>
        </p:nvSpPr>
        <p:spPr>
          <a:xfrm>
            <a:off x="546898" y="9419767"/>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9" name="Shape 65"/>
          <p:cNvSpPr/>
          <p:nvPr/>
        </p:nvSpPr>
        <p:spPr>
          <a:xfrm>
            <a:off x="438898" y="10266197"/>
            <a:ext cx="50400" cy="50400"/>
          </a:xfrm>
          <a:prstGeom prst="rect">
            <a:avLst/>
          </a:prstGeom>
          <a:solidFill>
            <a:srgbClr val="0066FF"/>
          </a:solidFill>
          <a:ln w="12700">
            <a:solidFill>
              <a:srgbClr val="333333"/>
            </a:solidFill>
            <a:prstDash val="solid"/>
          </a:ln>
        </p:spPr>
      </p:sp>
      <p:sp>
        <p:nvSpPr>
          <p:cNvPr id="70" name="Text 66"/>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30 days, per Justin, now Christy's.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Rewrite key messaging for each target market on the home entertainment position, and get the customer journey mapped.</a:t>
            </a:r>
            <a:endParaRPr lang="en-US" sz="730" dirty="0"/>
          </a:p>
        </p:txBody>
      </p:sp>
      <p:sp>
        <p:nvSpPr>
          <p:cNvPr id="71" name="Shape 67"/>
          <p:cNvSpPr/>
          <p:nvPr/>
        </p:nvSpPr>
        <p:spPr>
          <a:xfrm>
            <a:off x="7613752" y="7515772"/>
            <a:ext cx="7182155" cy="2960308"/>
          </a:xfrm>
          <a:prstGeom prst="rect">
            <a:avLst/>
          </a:prstGeom>
          <a:solidFill>
            <a:srgbClr val="FFFFFF"/>
          </a:solidFill>
          <a:ln w="7620">
            <a:solidFill>
              <a:srgbClr val="E3E7EC"/>
            </a:solidFill>
            <a:prstDash val="solid"/>
          </a:ln>
        </p:spPr>
      </p:sp>
      <p:sp>
        <p:nvSpPr>
          <p:cNvPr id="72" name="Text 68"/>
          <p:cNvSpPr txBox="1"/>
          <p:nvPr/>
        </p:nvSpPr>
        <p:spPr>
          <a:xfrm>
            <a:off x="7728952"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73" name="Text 69"/>
          <p:cNvSpPr txBox="1"/>
          <p:nvPr/>
        </p:nvSpPr>
        <p:spPr>
          <a:xfrm>
            <a:off x="7728952" y="780084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4" name="Text 70"/>
          <p:cNvSpPr txBox="1"/>
          <p:nvPr/>
        </p:nvSpPr>
        <p:spPr>
          <a:xfrm>
            <a:off x="7728952" y="8120745"/>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 Justin's own register, be the envy of your friends, cashed-up tradies, sets the ceiling for how far the cheek goes.</a:t>
            </a:r>
            <a:endParaRPr lang="en-US" sz="810" dirty="0"/>
          </a:p>
        </p:txBody>
      </p:sp>
      <p:sp>
        <p:nvSpPr>
          <p:cNvPr id="75" name="Text 71"/>
          <p:cNvSpPr txBox="1"/>
          <p:nvPr/>
        </p:nvSpPr>
        <p:spPr>
          <a:xfrm>
            <a:off x="7728952" y="874926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6" name="Shape 72"/>
          <p:cNvSpPr/>
          <p:nvPr/>
        </p:nvSpPr>
        <p:spPr>
          <a:xfrm>
            <a:off x="7728952" y="10183264"/>
            <a:ext cx="6951755" cy="0"/>
          </a:xfrm>
          <a:prstGeom prst="line">
            <a:avLst/>
          </a:prstGeom>
          <a:noFill/>
          <a:ln w="7620">
            <a:solidFill>
              <a:srgbClr val="E3E7EC"/>
            </a:solidFill>
            <a:prstDash val="solid"/>
          </a:ln>
        </p:spPr>
      </p:sp>
      <p:sp>
        <p:nvSpPr>
          <p:cNvPr id="77" name="Text 73"/>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629105"/>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28900"/>
            <a:ext cx="2762042" cy="1658158"/>
          </a:xfrm>
          <a:prstGeom prst="rect">
            <a:avLst/>
          </a:prstGeom>
          <a:solidFill>
            <a:srgbClr val="F5F7FA"/>
          </a:solidFill>
          <a:ln w="7620">
            <a:solidFill>
              <a:srgbClr val="E3E7EC"/>
            </a:solidFill>
            <a:prstDash val="solid"/>
          </a:ln>
        </p:spPr>
      </p:sp>
      <p:sp>
        <p:nvSpPr>
          <p:cNvPr id="17" name="Shape 13"/>
          <p:cNvSpPr/>
          <p:nvPr/>
        </p:nvSpPr>
        <p:spPr>
          <a:xfrm>
            <a:off x="438898" y="1728900"/>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confirmed budget breakdown.</a:t>
            </a:r>
            <a:endParaRPr lang="en-US" sz="740" dirty="0"/>
          </a:p>
        </p:txBody>
      </p:sp>
      <p:sp>
        <p:nvSpPr>
          <p:cNvPr id="21" name="Shape 17"/>
          <p:cNvSpPr/>
          <p:nvPr/>
        </p:nvSpPr>
        <p:spPr>
          <a:xfrm>
            <a:off x="3308839" y="1728900"/>
            <a:ext cx="2762042" cy="1658158"/>
          </a:xfrm>
          <a:prstGeom prst="rect">
            <a:avLst/>
          </a:prstGeom>
          <a:solidFill>
            <a:srgbClr val="F5F7FA"/>
          </a:solidFill>
          <a:ln w="7620">
            <a:solidFill>
              <a:srgbClr val="E3E7EC"/>
            </a:solidFill>
            <a:prstDash val="solid"/>
          </a:ln>
        </p:spPr>
      </p:sp>
      <p:sp>
        <p:nvSpPr>
          <p:cNvPr id="22" name="Shape 18"/>
          <p:cNvSpPr/>
          <p:nvPr/>
        </p:nvSpPr>
        <p:spPr>
          <a:xfrm>
            <a:off x="3308839" y="1728900"/>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 + SEM</a:t>
            </a:r>
            <a:endParaRPr lang="en-US" sz="660" dirty="0"/>
          </a:p>
        </p:txBody>
      </p:sp>
      <p:sp>
        <p:nvSpPr>
          <p:cNvPr id="24" name="Text 20"/>
          <p:cNvSpPr txBox="1"/>
          <p:nvPr/>
        </p:nvSpPr>
        <p:spPr>
          <a:xfrm>
            <a:off x="3402439" y="1989066"/>
            <a:ext cx="2574842" cy="405994"/>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Justin cannot update the shop page; Chris has pushed for a fix for six months and the last rebuild missed its Easter launch on broken integrations.</a:t>
            </a:r>
            <a:endParaRPr lang="en-US" sz="740" dirty="0"/>
          </a:p>
        </p:txBody>
      </p:sp>
      <p:sp>
        <p:nvSpPr>
          <p:cNvPr id="25" name="Text 21"/>
          <p:cNvSpPr txBox="1"/>
          <p:nvPr/>
        </p:nvSpPr>
        <p:spPr>
          <a:xfrm>
            <a:off x="3402439" y="2459860"/>
            <a:ext cx="2574842" cy="676656"/>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Jewell's scope: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a CMS Justin runs himself, wired to GoTab, Fishbowl, Meta Pixel and the CRM, built to be read by people and by AI search. Platform-agnostic; Shopify if it fits, custom if it integrates better. Acceptance test: integrations proven before launch, not promised.</a:t>
            </a:r>
            <a:endParaRPr lang="en-US" sz="740" dirty="0"/>
          </a:p>
        </p:txBody>
      </p:sp>
      <p:sp>
        <p:nvSpPr>
          <p:cNvPr id="26" name="Shape 22"/>
          <p:cNvSpPr/>
          <p:nvPr/>
        </p:nvSpPr>
        <p:spPr>
          <a:xfrm>
            <a:off x="6178781" y="1728900"/>
            <a:ext cx="2762042" cy="1658158"/>
          </a:xfrm>
          <a:prstGeom prst="rect">
            <a:avLst/>
          </a:prstGeom>
          <a:solidFill>
            <a:srgbClr val="F5F7FA"/>
          </a:solidFill>
          <a:ln w="7620">
            <a:solidFill>
              <a:srgbClr val="E3E7EC"/>
            </a:solidFill>
            <a:prstDash val="solid"/>
          </a:ln>
        </p:spPr>
      </p:sp>
      <p:sp>
        <p:nvSpPr>
          <p:cNvPr id="27" name="Shape 23"/>
          <p:cNvSpPr/>
          <p:nvPr/>
        </p:nvSpPr>
        <p:spPr>
          <a:xfrm>
            <a:off x="6178781" y="1728900"/>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 AND INVENTORY</a:t>
            </a:r>
            <a:endParaRPr lang="en-US" sz="660" dirty="0"/>
          </a:p>
        </p:txBody>
      </p:sp>
      <p:sp>
        <p:nvSpPr>
          <p:cNvPr id="29" name="Text 25"/>
          <p:cNvSpPr txBox="1"/>
          <p:nvPr/>
        </p:nvSpPr>
        <p:spPr>
          <a:xfrm>
            <a:off x="6272381"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transition to GoTab plus Fishbowl, writing back to the CRM.</a:t>
            </a:r>
            <a:endParaRPr lang="en-US" sz="740" dirty="0"/>
          </a:p>
        </p:txBody>
      </p:sp>
      <p:sp>
        <p:nvSpPr>
          <p:cNvPr id="31" name="Shape 27"/>
          <p:cNvSpPr/>
          <p:nvPr/>
        </p:nvSpPr>
        <p:spPr>
          <a:xfrm>
            <a:off x="9048722" y="1728900"/>
            <a:ext cx="2762042" cy="1658158"/>
          </a:xfrm>
          <a:prstGeom prst="rect">
            <a:avLst/>
          </a:prstGeom>
          <a:solidFill>
            <a:srgbClr val="F5F7FA"/>
          </a:solidFill>
          <a:ln w="7620">
            <a:solidFill>
              <a:srgbClr val="E3E7EC"/>
            </a:solidFill>
            <a:prstDash val="solid"/>
          </a:ln>
        </p:spPr>
      </p:sp>
      <p:sp>
        <p:nvSpPr>
          <p:cNvPr id="32" name="Shape 28"/>
          <p:cNvSpPr/>
          <p:nvPr/>
        </p:nvSpPr>
        <p:spPr>
          <a:xfrm>
            <a:off x="9048722" y="1728900"/>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24529"/>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system for re-engaging lapsed keg customers.</a:t>
            </a:r>
            <a:endParaRPr lang="en-US" sz="740" dirty="0"/>
          </a:p>
        </p:txBody>
      </p:sp>
      <p:sp>
        <p:nvSpPr>
          <p:cNvPr id="36" name="Shape 32"/>
          <p:cNvSpPr/>
          <p:nvPr/>
        </p:nvSpPr>
        <p:spPr>
          <a:xfrm>
            <a:off x="11918664" y="1728900"/>
            <a:ext cx="2762042" cy="1658158"/>
          </a:xfrm>
          <a:prstGeom prst="rect">
            <a:avLst/>
          </a:prstGeom>
          <a:solidFill>
            <a:srgbClr val="F5F7FA"/>
          </a:solidFill>
          <a:ln w="7620">
            <a:solidFill>
              <a:srgbClr val="E3E7EC"/>
            </a:solidFill>
            <a:prstDash val="solid"/>
          </a:ln>
        </p:spPr>
      </p:sp>
      <p:sp>
        <p:nvSpPr>
          <p:cNvPr id="37" name="Shape 33"/>
          <p:cNvSpPr/>
          <p:nvPr/>
        </p:nvSpPr>
        <p:spPr>
          <a:xfrm>
            <a:off x="11918664" y="1728900"/>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24529"/>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Must support at launch: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memberships, vouchers, delivery, lease-to-buy systems and the keg delivery service.</a:t>
            </a:r>
            <a:endParaRPr lang="en-US" sz="740" dirty="0"/>
          </a:p>
        </p:txBody>
      </p:sp>
      <p:sp>
        <p:nvSpPr>
          <p:cNvPr id="41" name="Shape 37"/>
          <p:cNvSpPr/>
          <p:nvPr/>
        </p:nvSpPr>
        <p:spPr>
          <a:xfrm>
            <a:off x="438898" y="3451858"/>
            <a:ext cx="14241809" cy="0"/>
          </a:xfrm>
          <a:prstGeom prst="line">
            <a:avLst/>
          </a:prstGeom>
          <a:noFill/>
          <a:ln w="7620">
            <a:solidFill>
              <a:srgbClr val="E3E7EC"/>
            </a:solidFill>
            <a:prstDash val="solid"/>
          </a:ln>
        </p:spPr>
      </p:sp>
      <p:sp>
        <p:nvSpPr>
          <p:cNvPr id="42" name="Text 38"/>
          <p:cNvSpPr txBox="1"/>
          <p:nvPr/>
        </p:nvSpPr>
        <p:spPr>
          <a:xfrm>
            <a:off x="438898" y="3509458"/>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fix. Spending more on ads before it is fixed buys traffic the business cannot catch.</a:t>
            </a:r>
            <a:endParaRPr lang="en-US" sz="700" dirty="0"/>
          </a:p>
        </p:txBody>
      </p:sp>
      <p:sp>
        <p:nvSpPr>
          <p:cNvPr id="43" name="Shape 39"/>
          <p:cNvSpPr/>
          <p:nvPr/>
        </p:nvSpPr>
        <p:spPr>
          <a:xfrm>
            <a:off x="323698" y="3852572"/>
            <a:ext cx="5967146" cy="3572153"/>
          </a:xfrm>
          <a:prstGeom prst="rect">
            <a:avLst/>
          </a:prstGeom>
          <a:solidFill>
            <a:srgbClr val="FFFFFF"/>
          </a:solidFill>
          <a:ln w="7620">
            <a:solidFill>
              <a:srgbClr val="E3E7EC"/>
            </a:solidFill>
            <a:prstDash val="solid"/>
          </a:ln>
        </p:spPr>
      </p:sp>
      <p:sp>
        <p:nvSpPr>
          <p:cNvPr id="44" name="Text 40"/>
          <p:cNvSpPr txBox="1"/>
          <p:nvPr/>
        </p:nvSpPr>
        <p:spPr>
          <a:xfrm>
            <a:off x="438898" y="3967772"/>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137640"/>
          <a:ext cx="11339703" cy="914400"/>
        </p:xfrm>
        <a:graphic>
          <a:graphicData uri="http://schemas.openxmlformats.org/drawingml/2006/table">
            <a:tbl>
              <a:tblPr/>
              <a:tblGrid>
                <a:gridCol w="2868373"/>
                <a:gridCol w="2868373"/>
              </a:tblGrid>
              <a:tr h="33579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Residential vs commercial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Justin's 30-day call: where the energy goes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589719">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Household segments</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Sharehouses, DINKs, young families, boomers, high-volume drinkers, tradies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Catching up with friends made easy. $2.55 a schooner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7227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46" name="Shape 41"/>
          <p:cNvSpPr/>
          <p:nvPr/>
        </p:nvSpPr>
        <p:spPr>
          <a:xfrm>
            <a:off x="6398743" y="3852572"/>
            <a:ext cx="8397164" cy="3572153"/>
          </a:xfrm>
          <a:prstGeom prst="rect">
            <a:avLst/>
          </a:prstGeom>
          <a:solidFill>
            <a:srgbClr val="FFFFFF"/>
          </a:solidFill>
          <a:ln w="7620">
            <a:solidFill>
              <a:srgbClr val="E3E7EC"/>
            </a:solidFill>
            <a:prstDash val="solid"/>
          </a:ln>
        </p:spPr>
      </p:sp>
      <p:sp>
        <p:nvSpPr>
          <p:cNvPr id="47" name="Text 42"/>
          <p:cNvSpPr txBox="1"/>
          <p:nvPr/>
        </p:nvSpPr>
        <p:spPr>
          <a:xfrm>
            <a:off x="6513943" y="3967772"/>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6513943" y="4137640"/>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6513943" y="4380333"/>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one, with a 3-month item: a strategy to transition every existing keg system owner onto Tap That refills. Voucher tied to Harvey Norman sales, the Kegland and corny keg databases, and Benchy. Bunnings-installer model: they sell hardware, we are named first call.</a:t>
            </a:r>
            <a:endParaRPr lang="en-US" sz="810" dirty="0"/>
          </a:p>
        </p:txBody>
      </p:sp>
      <p:sp>
        <p:nvSpPr>
          <p:cNvPr id="50" name="Text 45"/>
          <p:cNvSpPr txBox="1"/>
          <p:nvPr/>
        </p:nvSpPr>
        <p:spPr>
          <a:xfrm>
            <a:off x="6513943" y="4780912"/>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6513943" y="5023605"/>
            <a:ext cx="8166764" cy="15430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and consumption-triggered reminders replace the 90-day SMS. Justin's launch items: lease-to-buy systems and a keg delivery service.</a:t>
            </a:r>
            <a:endParaRPr lang="en-US" sz="810" dirty="0"/>
          </a:p>
        </p:txBody>
      </p:sp>
      <p:sp>
        <p:nvSpPr>
          <p:cNvPr id="52" name="Text 47"/>
          <p:cNvSpPr txBox="1"/>
          <p:nvPr/>
        </p:nvSpPr>
        <p:spPr>
          <a:xfrm>
            <a:off x="6513943" y="5269879"/>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6513943" y="5512572"/>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Some are cutting back, needing the low and non-alcoholic range; some just forgot, needing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3-month item: a re-engagement system for lapsed customers.</a:t>
            </a:r>
            <a:endParaRPr lang="en-US" sz="810" dirty="0"/>
          </a:p>
        </p:txBody>
      </p:sp>
      <p:sp>
        <p:nvSpPr>
          <p:cNvPr id="54" name="Text 49"/>
          <p:cNvSpPr txBox="1"/>
          <p:nvPr/>
        </p:nvSpPr>
        <p:spPr>
          <a:xfrm>
            <a:off x="6513943" y="5913151"/>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04 · Referrals, JVPs and online drive system sales.</a:t>
            </a:r>
            <a:endParaRPr lang="en-US" sz="860" dirty="0"/>
          </a:p>
        </p:txBody>
      </p:sp>
      <p:sp>
        <p:nvSpPr>
          <p:cNvPr id="55" name="Text 50"/>
          <p:cNvSpPr txBox="1"/>
          <p:nvPr/>
        </p:nvSpPr>
        <p:spPr>
          <a:xfrm>
            <a:off x="6513943" y="6155843"/>
            <a:ext cx="8166764" cy="61722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are already 18% of sales on a programme nobody can hold in their hand. Today: 1,000 tap tokens (about $50, half a keg) for referring a system or wholesale buyer, 500 for a refill customer.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Christy's call: tokens do not travel; a free keg does.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Rebuild it as a free keg, a card with a QR code the owner can hand to a mate, and a home tasting where an owner hosts and earns on what sells. Tradies who install kitchens and plumb systems get the same card. Justin's three-month items stay: referral programme and Bring a Mate live, JVP list built, ambassador content ready.</a:t>
            </a:r>
            <a:endParaRPr lang="en-US" sz="810" dirty="0"/>
          </a:p>
        </p:txBody>
      </p:sp>
      <p:sp>
        <p:nvSpPr>
          <p:cNvPr id="56" name="Shape 51"/>
          <p:cNvSpPr/>
          <p:nvPr/>
        </p:nvSpPr>
        <p:spPr>
          <a:xfrm>
            <a:off x="6513943" y="7131911"/>
            <a:ext cx="8166764" cy="0"/>
          </a:xfrm>
          <a:prstGeom prst="line">
            <a:avLst/>
          </a:prstGeom>
          <a:noFill/>
          <a:ln w="7620">
            <a:solidFill>
              <a:srgbClr val="E3E7EC"/>
            </a:solidFill>
            <a:prstDash val="solid"/>
          </a:ln>
        </p:spPr>
      </p:sp>
      <p:sp>
        <p:nvSpPr>
          <p:cNvPr id="57" name="Text 52"/>
          <p:cNvSpPr txBox="1"/>
          <p:nvPr/>
        </p:nvSpPr>
        <p:spPr>
          <a:xfrm>
            <a:off x="6513943" y="718951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JP holds Harvey Norman franchisee contacts, plus a contact with 20,000-plus installs across Harvey Norman, JB Hi-Fi and Good Guys.</a:t>
            </a:r>
            <a:endParaRPr lang="en-US" sz="700" dirty="0"/>
          </a:p>
        </p:txBody>
      </p:sp>
      <p:sp>
        <p:nvSpPr>
          <p:cNvPr id="58" name="Shape 53"/>
          <p:cNvSpPr/>
          <p:nvPr/>
        </p:nvSpPr>
        <p:spPr>
          <a:xfrm>
            <a:off x="323698" y="7532625"/>
            <a:ext cx="4752137" cy="2943454"/>
          </a:xfrm>
          <a:prstGeom prst="rect">
            <a:avLst/>
          </a:prstGeom>
          <a:solidFill>
            <a:srgbClr val="FFFFFF"/>
          </a:solidFill>
          <a:ln w="7620">
            <a:solidFill>
              <a:srgbClr val="E3E7EC"/>
            </a:solidFill>
            <a:prstDash val="solid"/>
          </a:ln>
        </p:spPr>
      </p:sp>
      <p:sp>
        <p:nvSpPr>
          <p:cNvPr id="59" name="Text 54"/>
          <p:cNvSpPr txBox="1"/>
          <p:nvPr/>
        </p:nvSpPr>
        <p:spPr>
          <a:xfrm>
            <a:off x="438898"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60" name="Text 55"/>
          <p:cNvSpPr txBox="1"/>
          <p:nvPr/>
        </p:nvSpPr>
        <p:spPr>
          <a:xfrm>
            <a:off x="438898" y="7817693"/>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 Justin's priority five, with a 3-month item: outreach to event venues and niched venues.</a:t>
            </a:r>
            <a:endParaRPr lang="en-US" sz="810" dirty="0"/>
          </a:p>
        </p:txBody>
      </p:sp>
      <p:sp>
        <p:nvSpPr>
          <p:cNvPr id="61" name="Text 56"/>
          <p:cNvSpPr txBox="1"/>
          <p:nvPr/>
        </p:nvSpPr>
        <p:spPr>
          <a:xfrm>
            <a:off x="438898" y="8402800"/>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 The next hire is undecided between a brewer and wholesale plus bar coverage, hybrid either way.</a:t>
            </a:r>
            <a:endParaRPr lang="en-US" sz="810" dirty="0"/>
          </a:p>
        </p:txBody>
      </p:sp>
      <p:sp>
        <p:nvSpPr>
          <p:cNvPr id="62" name="Text 57"/>
          <p:cNvSpPr txBox="1"/>
          <p:nvPr/>
        </p:nvSpPr>
        <p:spPr>
          <a:xfrm>
            <a:off x="438898" y="91422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3" name="Text 58"/>
          <p:cNvSpPr txBox="1"/>
          <p:nvPr/>
        </p:nvSpPr>
        <p:spPr>
          <a:xfrm>
            <a:off x="438898" y="957301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and venues are already forming buying groups to get around it.</a:t>
            </a:r>
            <a:endParaRPr lang="en-US" sz="810" dirty="0"/>
          </a:p>
        </p:txBody>
      </p:sp>
      <p:sp>
        <p:nvSpPr>
          <p:cNvPr id="64" name="Shape 59"/>
          <p:cNvSpPr/>
          <p:nvPr/>
        </p:nvSpPr>
        <p:spPr>
          <a:xfrm>
            <a:off x="438898" y="10183264"/>
            <a:ext cx="4521737" cy="0"/>
          </a:xfrm>
          <a:prstGeom prst="line">
            <a:avLst/>
          </a:prstGeom>
          <a:noFill/>
          <a:ln w="7620">
            <a:solidFill>
              <a:srgbClr val="E3E7EC"/>
            </a:solidFill>
            <a:prstDash val="solid"/>
          </a:ln>
        </p:spPr>
      </p:sp>
      <p:sp>
        <p:nvSpPr>
          <p:cNvPr id="65"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return is.</a:t>
            </a:r>
            <a:endParaRPr lang="en-US" sz="700" dirty="0"/>
          </a:p>
        </p:txBody>
      </p:sp>
      <p:sp>
        <p:nvSpPr>
          <p:cNvPr id="66" name="Shape 61"/>
          <p:cNvSpPr/>
          <p:nvPr/>
        </p:nvSpPr>
        <p:spPr>
          <a:xfrm>
            <a:off x="5183734" y="7532625"/>
            <a:ext cx="4752137" cy="2943454"/>
          </a:xfrm>
          <a:prstGeom prst="rect">
            <a:avLst/>
          </a:prstGeom>
          <a:solidFill>
            <a:srgbClr val="FFFFFF"/>
          </a:solidFill>
          <a:ln w="7620">
            <a:solidFill>
              <a:srgbClr val="E3E7EC"/>
            </a:solidFill>
            <a:prstDash val="solid"/>
          </a:ln>
        </p:spPr>
      </p:sp>
      <p:sp>
        <p:nvSpPr>
          <p:cNvPr id="67" name="Text 62"/>
          <p:cNvSpPr txBox="1"/>
          <p:nvPr/>
        </p:nvSpPr>
        <p:spPr>
          <a:xfrm>
            <a:off x="5298934"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8" name="Text 63"/>
          <p:cNvSpPr txBox="1"/>
          <p:nvPr/>
        </p:nvSpPr>
        <p:spPr>
          <a:xfrm>
            <a:off x="5298934" y="7817693"/>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9" name="Text 64"/>
          <p:cNvSpPr txBox="1"/>
          <p:nvPr/>
        </p:nvSpPr>
        <p:spPr>
          <a:xfrm>
            <a:off x="5298934" y="829190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and the awards page the Crafted win deserves. Justin's tech item, SEM, runs alongside these GEO basics, not instead of them.</a:t>
            </a:r>
            <a:endParaRPr lang="en-US" sz="810" dirty="0"/>
          </a:p>
        </p:txBody>
      </p:sp>
      <p:sp>
        <p:nvSpPr>
          <p:cNvPr id="70" name="Text 65"/>
          <p:cNvSpPr txBox="1"/>
          <p:nvPr/>
        </p:nvSpPr>
        <p:spPr>
          <a:xfrm>
            <a:off x="5298934" y="892041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1" name="Text 66"/>
          <p:cNvSpPr txBox="1"/>
          <p:nvPr/>
        </p:nvSpPr>
        <p:spPr>
          <a:xfrm>
            <a:off x="5298934" y="93946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2" name="Shape 67"/>
          <p:cNvSpPr/>
          <p:nvPr/>
        </p:nvSpPr>
        <p:spPr>
          <a:xfrm>
            <a:off x="10043770" y="7532625"/>
            <a:ext cx="4752137" cy="2943454"/>
          </a:xfrm>
          <a:prstGeom prst="rect">
            <a:avLst/>
          </a:prstGeom>
          <a:solidFill>
            <a:srgbClr val="FFFFFF"/>
          </a:solidFill>
          <a:ln w="7620">
            <a:solidFill>
              <a:srgbClr val="E3E7EC"/>
            </a:solidFill>
            <a:prstDash val="solid"/>
          </a:ln>
        </p:spPr>
      </p:sp>
      <p:sp>
        <p:nvSpPr>
          <p:cNvPr id="73" name="Text 68"/>
          <p:cNvSpPr txBox="1"/>
          <p:nvPr/>
        </p:nvSpPr>
        <p:spPr>
          <a:xfrm>
            <a:off x="10158970"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4" name="Shape 69"/>
          <p:cNvSpPr/>
          <p:nvPr/>
        </p:nvSpPr>
        <p:spPr>
          <a:xfrm>
            <a:off x="10158970" y="7817693"/>
            <a:ext cx="2224868" cy="546122"/>
          </a:xfrm>
          <a:prstGeom prst="rect">
            <a:avLst/>
          </a:prstGeom>
          <a:solidFill>
            <a:srgbClr val="F5F7FA"/>
          </a:solidFill>
          <a:ln w="7620">
            <a:solidFill>
              <a:srgbClr val="E3E7EC"/>
            </a:solidFill>
            <a:prstDash val="solid"/>
          </a:ln>
        </p:spPr>
      </p:sp>
      <p:sp>
        <p:nvSpPr>
          <p:cNvPr id="75" name="Text 70"/>
          <p:cNvSpPr txBox="1"/>
          <p:nvPr/>
        </p:nvSpPr>
        <p:spPr>
          <a:xfrm>
            <a:off x="10266970"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6" name="Text 71"/>
          <p:cNvSpPr txBox="1"/>
          <p:nvPr/>
        </p:nvSpPr>
        <p:spPr>
          <a:xfrm>
            <a:off x="10266970"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KEG SYSTEM SALES</a:t>
            </a:r>
            <a:endParaRPr lang="en-US" sz="550" dirty="0"/>
          </a:p>
        </p:txBody>
      </p:sp>
      <p:sp>
        <p:nvSpPr>
          <p:cNvPr id="77" name="Shape 72"/>
          <p:cNvSpPr/>
          <p:nvPr/>
        </p:nvSpPr>
        <p:spPr>
          <a:xfrm>
            <a:off x="12455838" y="7817693"/>
            <a:ext cx="2224868" cy="546122"/>
          </a:xfrm>
          <a:prstGeom prst="rect">
            <a:avLst/>
          </a:prstGeom>
          <a:solidFill>
            <a:srgbClr val="F5F7FA"/>
          </a:solidFill>
          <a:ln w="7620">
            <a:solidFill>
              <a:srgbClr val="E3E7EC"/>
            </a:solidFill>
            <a:prstDash val="solid"/>
          </a:ln>
        </p:spPr>
      </p:sp>
      <p:sp>
        <p:nvSpPr>
          <p:cNvPr id="78" name="Text 73"/>
          <p:cNvSpPr txBox="1"/>
          <p:nvPr/>
        </p:nvSpPr>
        <p:spPr>
          <a:xfrm>
            <a:off x="12563838"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Refillers</a:t>
            </a:r>
            <a:endParaRPr lang="en-US" sz="1100" dirty="0"/>
          </a:p>
        </p:txBody>
      </p:sp>
      <p:sp>
        <p:nvSpPr>
          <p:cNvPr id="79" name="Text 74"/>
          <p:cNvSpPr txBox="1"/>
          <p:nvPr/>
        </p:nvSpPr>
        <p:spPr>
          <a:xfrm>
            <a:off x="12563838"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KEG REFILLERS, AGAINST 250 THEN 1,000</a:t>
            </a:r>
            <a:endParaRPr lang="en-US" sz="550" dirty="0"/>
          </a:p>
        </p:txBody>
      </p:sp>
      <p:sp>
        <p:nvSpPr>
          <p:cNvPr id="80" name="Shape 75"/>
          <p:cNvSpPr/>
          <p:nvPr/>
        </p:nvSpPr>
        <p:spPr>
          <a:xfrm>
            <a:off x="10158970" y="8435815"/>
            <a:ext cx="2224868" cy="546122"/>
          </a:xfrm>
          <a:prstGeom prst="rect">
            <a:avLst/>
          </a:prstGeom>
          <a:solidFill>
            <a:srgbClr val="F5F7FA"/>
          </a:solidFill>
          <a:ln w="7620">
            <a:solidFill>
              <a:srgbClr val="E3E7EC"/>
            </a:solidFill>
            <a:prstDash val="solid"/>
          </a:ln>
        </p:spPr>
      </p:sp>
      <p:sp>
        <p:nvSpPr>
          <p:cNvPr id="81" name="Text 76"/>
          <p:cNvSpPr txBox="1"/>
          <p:nvPr/>
        </p:nvSpPr>
        <p:spPr>
          <a:xfrm>
            <a:off x="10266970"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2" name="Text 77"/>
          <p:cNvSpPr txBox="1"/>
          <p:nvPr/>
        </p:nvSpPr>
        <p:spPr>
          <a:xfrm>
            <a:off x="10266970"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ACCOUNTS</a:t>
            </a:r>
            <a:endParaRPr lang="en-US" sz="550" dirty="0"/>
          </a:p>
        </p:txBody>
      </p:sp>
      <p:sp>
        <p:nvSpPr>
          <p:cNvPr id="83" name="Shape 78"/>
          <p:cNvSpPr/>
          <p:nvPr/>
        </p:nvSpPr>
        <p:spPr>
          <a:xfrm>
            <a:off x="12455838" y="8435815"/>
            <a:ext cx="2224868" cy="546122"/>
          </a:xfrm>
          <a:prstGeom prst="rect">
            <a:avLst/>
          </a:prstGeom>
          <a:solidFill>
            <a:srgbClr val="F5F7FA"/>
          </a:solidFill>
          <a:ln w="7620">
            <a:solidFill>
              <a:srgbClr val="E3E7EC"/>
            </a:solidFill>
            <a:prstDash val="solid"/>
          </a:ln>
        </p:spPr>
      </p:sp>
      <p:sp>
        <p:nvSpPr>
          <p:cNvPr id="84" name="Text 79"/>
          <p:cNvSpPr txBox="1"/>
          <p:nvPr/>
        </p:nvSpPr>
        <p:spPr>
          <a:xfrm>
            <a:off x="12563838"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5" name="Text 80"/>
          <p:cNvSpPr txBox="1"/>
          <p:nvPr/>
        </p:nvSpPr>
        <p:spPr>
          <a:xfrm>
            <a:off x="12563838"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6" name="Text 81"/>
          <p:cNvSpPr txBox="1"/>
          <p:nvPr/>
        </p:nvSpPr>
        <p:spPr>
          <a:xfrm>
            <a:off x="10158970" y="914753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three, plus the lapse rate, which is JP's addition. Not a dashboard nobody opens.</a:t>
            </a:r>
            <a:endParaRPr lang="en-US" sz="810" dirty="0"/>
          </a:p>
        </p:txBody>
      </p:sp>
      <p:sp>
        <p:nvSpPr>
          <p:cNvPr id="87" name="Text 82"/>
          <p:cNvSpPr txBox="1"/>
          <p:nvPr/>
        </p:nvSpPr>
        <p:spPr>
          <a:xfrm>
            <a:off x="10158970" y="96217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keg refillers needs one agreed definition.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 it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562849"/>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JUSTIN'S LADDER</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his own horizons, dated from 16 September</a:t>
            </a:r>
            <a:endParaRPr lang="en-US" sz="680" dirty="0"/>
          </a:p>
        </p:txBody>
      </p:sp>
      <p:sp>
        <p:nvSpPr>
          <p:cNvPr id="15" name="Shape 11"/>
          <p:cNvSpPr/>
          <p:nvPr/>
        </p:nvSpPr>
        <p:spPr>
          <a:xfrm>
            <a:off x="438898" y="1400636"/>
            <a:ext cx="3479528" cy="1920166"/>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30 DAYS · TO MID-OCTOBER</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Shape decision: showroom or event space. Walk-ins are not the strategy</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Customer journey mapped, key messaging confirmed</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KPIs, growth targets and meeting rhythm set</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Residential vs commercial, external support vs in-house</a:t>
            </a:r>
            <a:endParaRPr lang="en-US" sz="740" dirty="0"/>
          </a:p>
        </p:txBody>
      </p:sp>
      <p:sp>
        <p:nvSpPr>
          <p:cNvPr id="26" name="Shape 22"/>
          <p:cNvSpPr/>
          <p:nvPr/>
        </p:nvSpPr>
        <p:spPr>
          <a:xfrm>
            <a:off x="532498" y="2403626"/>
            <a:ext cx="50400" cy="50400"/>
          </a:xfrm>
          <a:prstGeom prst="rect">
            <a:avLst/>
          </a:prstGeom>
          <a:solidFill>
            <a:srgbClr val="0066FF"/>
          </a:solidFill>
          <a:ln w="12700">
            <a:solidFill>
              <a:srgbClr val="333333"/>
            </a:solidFill>
            <a:prstDash val="solid"/>
          </a:ln>
        </p:spPr>
      </p:sp>
      <p:sp>
        <p:nvSpPr>
          <p:cNvPr id="27" name="Text 23"/>
          <p:cNvSpPr txBox="1"/>
          <p:nvPr/>
        </p:nvSpPr>
        <p:spPr>
          <a:xfrm>
            <a:off x="626098"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Brand ambassadors named: Kurt, Troy, Mitch, Aden, Ash</a:t>
            </a:r>
            <a:endParaRPr lang="en-US" sz="740" dirty="0"/>
          </a:p>
        </p:txBody>
      </p:sp>
      <p:sp>
        <p:nvSpPr>
          <p:cNvPr id="28" name="Shape 24"/>
          <p:cNvSpPr/>
          <p:nvPr/>
        </p:nvSpPr>
        <p:spPr>
          <a:xfrm>
            <a:off x="532498" y="2580277"/>
            <a:ext cx="50400" cy="50400"/>
          </a:xfrm>
          <a:prstGeom prst="rect">
            <a:avLst/>
          </a:prstGeom>
          <a:solidFill>
            <a:srgbClr val="0066FF"/>
          </a:solidFill>
          <a:ln w="12700">
            <a:solidFill>
              <a:srgbClr val="333333"/>
            </a:solidFill>
            <a:prstDash val="solid"/>
          </a:ln>
        </p:spPr>
      </p:sp>
      <p:sp>
        <p:nvSpPr>
          <p:cNvPr id="29" name="Text 25"/>
          <p:cNvSpPr txBox="1"/>
          <p:nvPr/>
        </p:nvSpPr>
        <p:spPr>
          <a:xfrm>
            <a:off x="626098"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Oktoberfest and the keg system giveaway</a:t>
            </a:r>
            <a:endParaRPr lang="en-US" sz="740" dirty="0"/>
          </a:p>
        </p:txBody>
      </p:sp>
      <p:sp>
        <p:nvSpPr>
          <p:cNvPr id="30" name="Shape 26"/>
          <p:cNvSpPr/>
          <p:nvPr/>
        </p:nvSpPr>
        <p:spPr>
          <a:xfrm>
            <a:off x="532498" y="2756929"/>
            <a:ext cx="50400" cy="50400"/>
          </a:xfrm>
          <a:prstGeom prst="rect">
            <a:avLst/>
          </a:prstGeom>
          <a:solidFill>
            <a:srgbClr val="0066FF"/>
          </a:solidFill>
          <a:ln w="12700">
            <a:solidFill>
              <a:srgbClr val="333333"/>
            </a:solidFill>
            <a:prstDash val="solid"/>
          </a:ln>
        </p:spPr>
      </p:sp>
      <p:sp>
        <p:nvSpPr>
          <p:cNvPr id="31" name="Text 27"/>
          <p:cNvSpPr txBox="1"/>
          <p:nvPr/>
        </p:nvSpPr>
        <p:spPr>
          <a:xfrm>
            <a:off x="626098"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Jewell proposal and scoped costs reviewed; Jewell split decided</a:t>
            </a:r>
            <a:endParaRPr lang="en-US" sz="740" dirty="0"/>
          </a:p>
        </p:txBody>
      </p:sp>
      <p:sp>
        <p:nvSpPr>
          <p:cNvPr id="32" name="Shape 28"/>
          <p:cNvSpPr/>
          <p:nvPr/>
        </p:nvSpPr>
        <p:spPr>
          <a:xfrm>
            <a:off x="4026325" y="1400636"/>
            <a:ext cx="3479528" cy="1920166"/>
          </a:xfrm>
          <a:prstGeom prst="rect">
            <a:avLst/>
          </a:prstGeom>
          <a:solidFill>
            <a:srgbClr val="F5F7FA"/>
          </a:solidFill>
          <a:ln w="7620">
            <a:solidFill>
              <a:srgbClr val="E3E7EC"/>
            </a:solidFill>
            <a:prstDash val="solid"/>
          </a:ln>
        </p:spPr>
      </p:sp>
      <p:sp>
        <p:nvSpPr>
          <p:cNvPr id="33" name="Shape 29"/>
          <p:cNvSpPr/>
          <p:nvPr/>
        </p:nvSpPr>
        <p:spPr>
          <a:xfrm>
            <a:off x="4026325" y="1400636"/>
            <a:ext cx="3479528" cy="28800"/>
          </a:xfrm>
          <a:prstGeom prst="rect">
            <a:avLst/>
          </a:prstGeom>
          <a:solidFill>
            <a:srgbClr val="0066FF"/>
          </a:solidFill>
          <a:ln w="12700">
            <a:solidFill>
              <a:srgbClr val="333333"/>
            </a:solidFill>
            <a:prstDash val="solid"/>
          </a:ln>
        </p:spPr>
      </p:sp>
      <p:sp>
        <p:nvSpPr>
          <p:cNvPr id="34" name="Text 30"/>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 MONTHS · TO MID-DECEMBER</a:t>
            </a:r>
            <a:endParaRPr lang="en-US" sz="650" dirty="0"/>
          </a:p>
        </p:txBody>
      </p:sp>
      <p:sp>
        <p:nvSpPr>
          <p:cNvPr id="35" name="Shape 31"/>
          <p:cNvSpPr/>
          <p:nvPr/>
        </p:nvSpPr>
        <p:spPr>
          <a:xfrm>
            <a:off x="4119925" y="1697019"/>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Website upgrade, SEM, GoTab and Fishbowl transition</a:t>
            </a:r>
            <a:endParaRPr lang="en-US" sz="740" dirty="0"/>
          </a:p>
        </p:txBody>
      </p:sp>
      <p:sp>
        <p:nvSpPr>
          <p:cNvPr id="37" name="Shape 33"/>
          <p:cNvSpPr/>
          <p:nvPr/>
        </p:nvSpPr>
        <p:spPr>
          <a:xfrm>
            <a:off x="4119925" y="1873671"/>
            <a:ext cx="50400" cy="50400"/>
          </a:xfrm>
          <a:prstGeom prst="rect">
            <a:avLst/>
          </a:prstGeom>
          <a:solidFill>
            <a:srgbClr val="0066FF"/>
          </a:solidFill>
          <a:ln w="12700">
            <a:solidFill>
              <a:srgbClr val="333333"/>
            </a:solidFill>
            <a:prstDash val="solid"/>
          </a:ln>
        </p:spPr>
      </p:sp>
      <p:sp>
        <p:nvSpPr>
          <p:cNvPr id="38" name="Text 34"/>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Lease-to-buy keg systems and delivery service</a:t>
            </a:r>
            <a:endParaRPr lang="en-US" sz="740" dirty="0"/>
          </a:p>
        </p:txBody>
      </p:sp>
      <p:sp>
        <p:nvSpPr>
          <p:cNvPr id="39" name="Shape 35"/>
          <p:cNvSpPr/>
          <p:nvPr/>
        </p:nvSpPr>
        <p:spPr>
          <a:xfrm>
            <a:off x="4119925" y="2050322"/>
            <a:ext cx="50400" cy="50400"/>
          </a:xfrm>
          <a:prstGeom prst="rect">
            <a:avLst/>
          </a:prstGeom>
          <a:solidFill>
            <a:srgbClr val="0066FF"/>
          </a:solidFill>
          <a:ln w="12700">
            <a:solidFill>
              <a:srgbClr val="333333"/>
            </a:solidFill>
            <a:prstDash val="solid"/>
          </a:ln>
        </p:spPr>
      </p:sp>
      <p:sp>
        <p:nvSpPr>
          <p:cNvPr id="40" name="Text 36"/>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JVPs, referral partners; referral programme, Bring a Mate</a:t>
            </a:r>
            <a:endParaRPr lang="en-US" sz="740" dirty="0"/>
          </a:p>
        </p:txBody>
      </p:sp>
      <p:sp>
        <p:nvSpPr>
          <p:cNvPr id="41" name="Shape 37"/>
          <p:cNvSpPr/>
          <p:nvPr/>
        </p:nvSpPr>
        <p:spPr>
          <a:xfrm>
            <a:off x="4119925" y="2226974"/>
            <a:ext cx="50400" cy="50400"/>
          </a:xfrm>
          <a:prstGeom prst="rect">
            <a:avLst/>
          </a:prstGeom>
          <a:solidFill>
            <a:srgbClr val="0066FF"/>
          </a:solidFill>
          <a:ln w="12700">
            <a:solidFill>
              <a:srgbClr val="333333"/>
            </a:solidFill>
            <a:prstDash val="solid"/>
          </a:ln>
        </p:spPr>
      </p:sp>
      <p:sp>
        <p:nvSpPr>
          <p:cNvPr id="42" name="Text 38"/>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Existing-owner switch strategy, lapsed re-engagement system</a:t>
            </a:r>
            <a:endParaRPr lang="en-US" sz="740" dirty="0"/>
          </a:p>
        </p:txBody>
      </p:sp>
      <p:sp>
        <p:nvSpPr>
          <p:cNvPr id="43" name="Shape 39"/>
          <p:cNvSpPr/>
          <p:nvPr/>
        </p:nvSpPr>
        <p:spPr>
          <a:xfrm>
            <a:off x="4119925" y="2403626"/>
            <a:ext cx="50400" cy="50400"/>
          </a:xfrm>
          <a:prstGeom prst="rect">
            <a:avLst/>
          </a:prstGeom>
          <a:solidFill>
            <a:srgbClr val="0066FF"/>
          </a:solidFill>
          <a:ln w="12700">
            <a:solidFill>
              <a:srgbClr val="333333"/>
            </a:solidFill>
            <a:prstDash val="solid"/>
          </a:ln>
        </p:spPr>
      </p:sp>
      <p:sp>
        <p:nvSpPr>
          <p:cNvPr id="44" name="Text 40"/>
          <p:cNvSpPr txBox="1"/>
          <p:nvPr/>
        </p:nvSpPr>
        <p:spPr>
          <a:xfrm>
            <a:off x="4213525"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Taproom: local business, events, membership</a:t>
            </a:r>
            <a:endParaRPr lang="en-US" sz="740" dirty="0"/>
          </a:p>
        </p:txBody>
      </p:sp>
      <p:sp>
        <p:nvSpPr>
          <p:cNvPr id="45" name="Shape 41"/>
          <p:cNvSpPr/>
          <p:nvPr/>
        </p:nvSpPr>
        <p:spPr>
          <a:xfrm>
            <a:off x="4119925" y="2580277"/>
            <a:ext cx="50400" cy="50400"/>
          </a:xfrm>
          <a:prstGeom prst="rect">
            <a:avLst/>
          </a:prstGeom>
          <a:solidFill>
            <a:srgbClr val="0066FF"/>
          </a:solidFill>
          <a:ln w="12700">
            <a:solidFill>
              <a:srgbClr val="333333"/>
            </a:solidFill>
            <a:prstDash val="solid"/>
          </a:ln>
        </p:spPr>
      </p:sp>
      <p:sp>
        <p:nvSpPr>
          <p:cNvPr id="46" name="Text 42"/>
          <p:cNvSpPr txBox="1"/>
          <p:nvPr/>
        </p:nvSpPr>
        <p:spPr>
          <a:xfrm>
            <a:off x="4213525"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outreach; next hire decided</a:t>
            </a:r>
            <a:endParaRPr lang="en-US" sz="740" dirty="0"/>
          </a:p>
        </p:txBody>
      </p:sp>
      <p:sp>
        <p:nvSpPr>
          <p:cNvPr id="47" name="Shape 43"/>
          <p:cNvSpPr/>
          <p:nvPr/>
        </p:nvSpPr>
        <p:spPr>
          <a:xfrm>
            <a:off x="4119925" y="2756929"/>
            <a:ext cx="50400" cy="50400"/>
          </a:xfrm>
          <a:prstGeom prst="rect">
            <a:avLst/>
          </a:prstGeom>
          <a:solidFill>
            <a:srgbClr val="0066FF"/>
          </a:solidFill>
          <a:ln w="12700">
            <a:solidFill>
              <a:srgbClr val="333333"/>
            </a:solidFill>
            <a:prstDash val="solid"/>
          </a:ln>
        </p:spPr>
      </p:sp>
      <p:sp>
        <p:nvSpPr>
          <p:cNvPr id="48" name="Text 44"/>
          <p:cNvSpPr txBox="1"/>
          <p:nvPr/>
        </p:nvSpPr>
        <p:spPr>
          <a:xfrm>
            <a:off x="4213525"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 programme rebuilt: free keg, QR card, home tastings</a:t>
            </a:r>
            <a:endParaRPr lang="en-US" sz="740" dirty="0"/>
          </a:p>
        </p:txBody>
      </p:sp>
      <p:sp>
        <p:nvSpPr>
          <p:cNvPr id="49" name="Shape 45"/>
          <p:cNvSpPr/>
          <p:nvPr/>
        </p:nvSpPr>
        <p:spPr>
          <a:xfrm>
            <a:off x="7613752" y="1400636"/>
            <a:ext cx="3479528" cy="1920166"/>
          </a:xfrm>
          <a:prstGeom prst="rect">
            <a:avLst/>
          </a:prstGeom>
          <a:solidFill>
            <a:srgbClr val="F5F7FA"/>
          </a:solidFill>
          <a:ln w="7620">
            <a:solidFill>
              <a:srgbClr val="E3E7EC"/>
            </a:solidFill>
            <a:prstDash val="solid"/>
          </a:ln>
        </p:spPr>
      </p:sp>
      <p:sp>
        <p:nvSpPr>
          <p:cNvPr id="50" name="Shape 46"/>
          <p:cNvSpPr/>
          <p:nvPr/>
        </p:nvSpPr>
        <p:spPr>
          <a:xfrm>
            <a:off x="7613752" y="1400636"/>
            <a:ext cx="3479528" cy="28800"/>
          </a:xfrm>
          <a:prstGeom prst="rect">
            <a:avLst/>
          </a:prstGeom>
          <a:solidFill>
            <a:srgbClr val="0066FF"/>
          </a:solidFill>
          <a:ln w="12700">
            <a:solidFill>
              <a:srgbClr val="333333"/>
            </a:solidFill>
            <a:prstDash val="solid"/>
          </a:ln>
        </p:spPr>
      </p:sp>
      <p:sp>
        <p:nvSpPr>
          <p:cNvPr id="51" name="Text 47"/>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6 MONTHS · TO MARCH 2027</a:t>
            </a:r>
            <a:endParaRPr lang="en-US" sz="650" dirty="0"/>
          </a:p>
        </p:txBody>
      </p:sp>
      <p:sp>
        <p:nvSpPr>
          <p:cNvPr id="52" name="Shape 48"/>
          <p:cNvSpPr/>
          <p:nvPr/>
        </p:nvSpPr>
        <p:spPr>
          <a:xfrm>
            <a:off x="7707352" y="1697019"/>
            <a:ext cx="50400" cy="50400"/>
          </a:xfrm>
          <a:prstGeom prst="rect">
            <a:avLst/>
          </a:prstGeom>
          <a:solidFill>
            <a:srgbClr val="0066FF"/>
          </a:solidFill>
          <a:ln w="12700">
            <a:solidFill>
              <a:srgbClr val="333333"/>
            </a:solidFill>
            <a:prstDash val="solid"/>
          </a:ln>
        </p:spPr>
      </p:sp>
      <p:sp>
        <p:nvSpPr>
          <p:cNvPr id="53" name="Text 49"/>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250 active keg refillers reached</a:t>
            </a:r>
            <a:endParaRPr lang="en-US" sz="740" dirty="0"/>
          </a:p>
        </p:txBody>
      </p:sp>
      <p:sp>
        <p:nvSpPr>
          <p:cNvPr id="54" name="Shape 50"/>
          <p:cNvSpPr/>
          <p:nvPr/>
        </p:nvSpPr>
        <p:spPr>
          <a:xfrm>
            <a:off x="7707352" y="1873671"/>
            <a:ext cx="50400" cy="50400"/>
          </a:xfrm>
          <a:prstGeom prst="rect">
            <a:avLst/>
          </a:prstGeom>
          <a:solidFill>
            <a:srgbClr val="0066FF"/>
          </a:solidFill>
          <a:ln w="12700">
            <a:solidFill>
              <a:srgbClr val="333333"/>
            </a:solidFill>
            <a:prstDash val="solid"/>
          </a:ln>
        </p:spPr>
      </p:sp>
      <p:sp>
        <p:nvSpPr>
          <p:cNvPr id="55" name="Text 51"/>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Career pathways defined for Chris and Harry</a:t>
            </a:r>
            <a:endParaRPr lang="en-US" sz="740" dirty="0"/>
          </a:p>
        </p:txBody>
      </p:sp>
      <p:sp>
        <p:nvSpPr>
          <p:cNvPr id="56" name="Shape 52"/>
          <p:cNvSpPr/>
          <p:nvPr/>
        </p:nvSpPr>
        <p:spPr>
          <a:xfrm>
            <a:off x="7707352" y="2050322"/>
            <a:ext cx="50400" cy="50400"/>
          </a:xfrm>
          <a:prstGeom prst="rect">
            <a:avLst/>
          </a:prstGeom>
          <a:solidFill>
            <a:srgbClr val="0066FF"/>
          </a:solidFill>
          <a:ln w="12700">
            <a:solidFill>
              <a:srgbClr val="333333"/>
            </a:solidFill>
            <a:prstDash val="solid"/>
          </a:ln>
        </p:spPr>
      </p:sp>
      <p:sp>
        <p:nvSpPr>
          <p:cNvPr id="57" name="Text 53"/>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Or 250 by Christmas, if that date is chosen</a:t>
            </a:r>
            <a:endParaRPr lang="en-US" sz="740" dirty="0"/>
          </a:p>
        </p:txBody>
      </p:sp>
      <p:sp>
        <p:nvSpPr>
          <p:cNvPr id="58" name="Shape 54"/>
          <p:cNvSpPr/>
          <p:nvPr/>
        </p:nvSpPr>
        <p:spPr>
          <a:xfrm>
            <a:off x="11201179" y="1400636"/>
            <a:ext cx="3479528" cy="1920166"/>
          </a:xfrm>
          <a:prstGeom prst="rect">
            <a:avLst/>
          </a:prstGeom>
          <a:solidFill>
            <a:srgbClr val="F5F7FA"/>
          </a:solidFill>
          <a:ln w="7620">
            <a:solidFill>
              <a:srgbClr val="E3E7EC"/>
            </a:solidFill>
            <a:prstDash val="solid"/>
          </a:ln>
        </p:spPr>
      </p:sp>
      <p:sp>
        <p:nvSpPr>
          <p:cNvPr id="59" name="Shape 55"/>
          <p:cNvSpPr/>
          <p:nvPr/>
        </p:nvSpPr>
        <p:spPr>
          <a:xfrm>
            <a:off x="11201179" y="1400636"/>
            <a:ext cx="3479528" cy="28800"/>
          </a:xfrm>
          <a:prstGeom prst="rect">
            <a:avLst/>
          </a:prstGeom>
          <a:solidFill>
            <a:srgbClr val="0066FF"/>
          </a:solidFill>
          <a:ln w="12700">
            <a:solidFill>
              <a:srgbClr val="333333"/>
            </a:solidFill>
            <a:prstDash val="solid"/>
          </a:ln>
        </p:spPr>
      </p:sp>
      <p:sp>
        <p:nvSpPr>
          <p:cNvPr id="60" name="Text 56"/>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1 YEAR · TO SEPTEMBER 2027</a:t>
            </a:r>
            <a:endParaRPr lang="en-US" sz="650" dirty="0"/>
          </a:p>
        </p:txBody>
      </p:sp>
      <p:sp>
        <p:nvSpPr>
          <p:cNvPr id="61" name="Shape 57"/>
          <p:cNvSpPr/>
          <p:nvPr/>
        </p:nvSpPr>
        <p:spPr>
          <a:xfrm>
            <a:off x="11294779" y="1697019"/>
            <a:ext cx="50400" cy="50400"/>
          </a:xfrm>
          <a:prstGeom prst="rect">
            <a:avLst/>
          </a:prstGeom>
          <a:solidFill>
            <a:srgbClr val="0066FF"/>
          </a:solidFill>
          <a:ln w="12700">
            <a:solidFill>
              <a:srgbClr val="333333"/>
            </a:solidFill>
            <a:prstDash val="solid"/>
          </a:ln>
        </p:spPr>
      </p:sp>
      <p:sp>
        <p:nvSpPr>
          <p:cNvPr id="62" name="Text 58"/>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Referrals, JVPs and online driving most system sales</a:t>
            </a:r>
            <a:endParaRPr lang="en-US" sz="740" dirty="0"/>
          </a:p>
        </p:txBody>
      </p:sp>
      <p:sp>
        <p:nvSpPr>
          <p:cNvPr id="63" name="Shape 59"/>
          <p:cNvSpPr/>
          <p:nvPr/>
        </p:nvSpPr>
        <p:spPr>
          <a:xfrm>
            <a:off x="11294779" y="1873671"/>
            <a:ext cx="50400" cy="50400"/>
          </a:xfrm>
          <a:prstGeom prst="rect">
            <a:avLst/>
          </a:prstGeom>
          <a:solidFill>
            <a:srgbClr val="0066FF"/>
          </a:solidFill>
          <a:ln w="12700">
            <a:solidFill>
              <a:srgbClr val="333333"/>
            </a:solidFill>
            <a:prstDash val="solid"/>
          </a:ln>
        </p:spPr>
      </p:sp>
      <p:sp>
        <p:nvSpPr>
          <p:cNvPr id="64" name="Text 60"/>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Replicable events and promotions calendar in place</a:t>
            </a:r>
            <a:endParaRPr lang="en-US" sz="740" dirty="0"/>
          </a:p>
        </p:txBody>
      </p:sp>
      <p:sp>
        <p:nvSpPr>
          <p:cNvPr id="65" name="Shape 61"/>
          <p:cNvSpPr/>
          <p:nvPr/>
        </p:nvSpPr>
        <p:spPr>
          <a:xfrm>
            <a:off x="11294779" y="2050322"/>
            <a:ext cx="50400" cy="50400"/>
          </a:xfrm>
          <a:prstGeom prst="rect">
            <a:avLst/>
          </a:prstGeom>
          <a:solidFill>
            <a:srgbClr val="0066FF"/>
          </a:solidFill>
          <a:ln w="12700">
            <a:solidFill>
              <a:srgbClr val="333333"/>
            </a:solidFill>
            <a:prstDash val="solid"/>
          </a:ln>
        </p:spPr>
      </p:sp>
      <p:sp>
        <p:nvSpPr>
          <p:cNvPr id="66" name="Text 62"/>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Cashflow positive, JM on a wage</a:t>
            </a:r>
            <a:endParaRPr lang="en-US" sz="740" dirty="0"/>
          </a:p>
        </p:txBody>
      </p:sp>
      <p:sp>
        <p:nvSpPr>
          <p:cNvPr id="67" name="Shape 63"/>
          <p:cNvSpPr/>
          <p:nvPr/>
        </p:nvSpPr>
        <p:spPr>
          <a:xfrm>
            <a:off x="438898" y="3385602"/>
            <a:ext cx="14241809" cy="0"/>
          </a:xfrm>
          <a:prstGeom prst="line">
            <a:avLst/>
          </a:prstGeom>
          <a:noFill/>
          <a:ln w="7620">
            <a:solidFill>
              <a:srgbClr val="E3E7EC"/>
            </a:solidFill>
            <a:prstDash val="solid"/>
          </a:ln>
        </p:spPr>
      </p:sp>
      <p:sp>
        <p:nvSpPr>
          <p:cNvPr id="68" name="Text 64"/>
          <p:cNvSpPr txBox="1"/>
          <p:nvPr/>
        </p:nvSpPr>
        <p:spPr>
          <a:xfrm>
            <a:off x="438898" y="344320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Longer horizons, 1,000 refillers and proprietary system supply at three years, expansion, franchising and a production facility at five years, exit at ten to twelve, sit on the summary sheet. Clent is overseas from 30 September; Christy carries the weekly check-in.</a:t>
            </a:r>
            <a:endParaRPr lang="en-US" sz="700" dirty="0"/>
          </a:p>
        </p:txBody>
      </p:sp>
      <p:sp>
        <p:nvSpPr>
          <p:cNvPr id="69" name="Shape 65"/>
          <p:cNvSpPr/>
          <p:nvPr/>
        </p:nvSpPr>
        <p:spPr>
          <a:xfrm>
            <a:off x="323698" y="3786317"/>
            <a:ext cx="4752137" cy="3844274"/>
          </a:xfrm>
          <a:prstGeom prst="rect">
            <a:avLst/>
          </a:prstGeom>
          <a:solidFill>
            <a:srgbClr val="FFFFFF"/>
          </a:solidFill>
          <a:ln w="7620">
            <a:solidFill>
              <a:srgbClr val="E3E7EC"/>
            </a:solidFill>
            <a:prstDash val="solid"/>
          </a:ln>
        </p:spPr>
      </p:sp>
      <p:sp>
        <p:nvSpPr>
          <p:cNvPr id="70" name="Text 66"/>
          <p:cNvSpPr txBox="1"/>
          <p:nvPr/>
        </p:nvSpPr>
        <p:spPr>
          <a:xfrm>
            <a:off x="438898" y="3901517"/>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71" name="Text 67"/>
          <p:cNvSpPr txBox="1"/>
          <p:nvPr/>
        </p:nvSpPr>
        <p:spPr>
          <a:xfrm>
            <a:off x="438898" y="4071385"/>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72" name="Text 68"/>
          <p:cNvSpPr txBox="1"/>
          <p:nvPr/>
        </p:nvSpPr>
        <p:spPr>
          <a:xfrm>
            <a:off x="438898" y="437437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73" name="Text 69"/>
          <p:cNvSpPr txBox="1"/>
          <p:nvPr/>
        </p:nvSpPr>
        <p:spPr>
          <a:xfrm>
            <a:off x="438898" y="482473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a:t>
            </a:r>
            <a:endParaRPr lang="en-US" sz="810" dirty="0"/>
          </a:p>
        </p:txBody>
      </p:sp>
      <p:sp>
        <p:nvSpPr>
          <p:cNvPr id="74" name="Text 70"/>
          <p:cNvSpPr txBox="1"/>
          <p:nvPr/>
        </p:nvSpPr>
        <p:spPr>
          <a:xfrm>
            <a:off x="438898" y="527508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Local business and ticketed music.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taproom priorities: lunch and after-work trade from local business, and ticketed music events.</a:t>
            </a:r>
            <a:endParaRPr lang="en-US" sz="810" dirty="0"/>
          </a:p>
        </p:txBody>
      </p:sp>
      <p:sp>
        <p:nvSpPr>
          <p:cNvPr id="75" name="Text 71"/>
          <p:cNvSpPr txBox="1"/>
          <p:nvPr/>
        </p:nvSpPr>
        <p:spPr>
          <a:xfrm>
            <a:off x="438898" y="572544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Competitions, two a year.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Each keg system giveaway moves about 30 systems. Justin's call is two a year, not three. The insider offer now lands the moment someone enters, and the Crafted Festival funnel (free taste and paddle, entry, automation) is the template to repeat.</a:t>
            </a:r>
            <a:endParaRPr lang="en-US" sz="810" dirty="0"/>
          </a:p>
        </p:txBody>
      </p:sp>
      <p:sp>
        <p:nvSpPr>
          <p:cNvPr id="76" name="Text 72"/>
          <p:cNvSpPr txBox="1"/>
          <p:nvPr/>
        </p:nvSpPr>
        <p:spPr>
          <a:xfrm>
            <a:off x="438898" y="633011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the host runs for you, in front of the people who might buy one.</a:t>
            </a:r>
            <a:endParaRPr lang="en-US" sz="810" dirty="0"/>
          </a:p>
        </p:txBody>
      </p:sp>
      <p:sp>
        <p:nvSpPr>
          <p:cNvPr id="77" name="Shape 73"/>
          <p:cNvSpPr/>
          <p:nvPr/>
        </p:nvSpPr>
        <p:spPr>
          <a:xfrm>
            <a:off x="438898" y="7217761"/>
            <a:ext cx="4521737" cy="0"/>
          </a:xfrm>
          <a:prstGeom prst="line">
            <a:avLst/>
          </a:prstGeom>
          <a:noFill/>
          <a:ln w="7620">
            <a:solidFill>
              <a:srgbClr val="E3E7EC"/>
            </a:solidFill>
            <a:prstDash val="solid"/>
          </a:ln>
        </p:spPr>
      </p:sp>
      <p:sp>
        <p:nvSpPr>
          <p:cNvPr id="78" name="Text 74"/>
          <p:cNvSpPr txBox="1"/>
          <p:nvPr/>
        </p:nvSpPr>
        <p:spPr>
          <a:xfrm>
            <a:off x="438898" y="7275361"/>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First dated event: Oktoberfest plus the keg system giveaway. Taproom membership sits on Justin's three-month list; the business sheet flags two membership programmes as a cost to resolve.</a:t>
            </a:r>
            <a:endParaRPr lang="en-US" sz="700" dirty="0"/>
          </a:p>
        </p:txBody>
      </p:sp>
      <p:sp>
        <p:nvSpPr>
          <p:cNvPr id="79" name="Shape 75"/>
          <p:cNvSpPr/>
          <p:nvPr/>
        </p:nvSpPr>
        <p:spPr>
          <a:xfrm>
            <a:off x="5183734" y="3786317"/>
            <a:ext cx="5967146" cy="3844274"/>
          </a:xfrm>
          <a:prstGeom prst="rect">
            <a:avLst/>
          </a:prstGeom>
          <a:solidFill>
            <a:srgbClr val="FFFFFF"/>
          </a:solidFill>
          <a:ln w="7620">
            <a:solidFill>
              <a:srgbClr val="E3E7EC"/>
            </a:solidFill>
            <a:prstDash val="solid"/>
          </a:ln>
        </p:spPr>
      </p:sp>
      <p:sp>
        <p:nvSpPr>
          <p:cNvPr id="80" name="Text 76"/>
          <p:cNvSpPr txBox="1"/>
          <p:nvPr/>
        </p:nvSpPr>
        <p:spPr>
          <a:xfrm>
            <a:off x="5298934" y="3901517"/>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071385"/>
          <a:ext cx="11339703" cy="914400"/>
        </p:xfrm>
        <a:graphic>
          <a:graphicData uri="http://schemas.openxmlformats.org/drawingml/2006/table">
            <a:tbl>
              <a:tblPr/>
              <a:tblGrid>
                <a:gridCol w="1769137"/>
                <a:gridCol w="3336271"/>
                <a:gridCol w="631337"/>
              </a:tblGrid>
              <a:tr h="20759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Harvey Norman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GWP or first keg free at point of sale, the buyer database, and the kegerator into the outdoor living grouping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Kegland / corny keg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Buy the owner databases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Benchy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Official partnership and database</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Mark's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300 weddings a year across two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Zip water contacts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 distribution points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Value H2O</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10,000 SME water-cooler sites on the east coast, 10 techs already in the field. Techs introduce the system on a service visit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Outdoor kitchen makers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 keg-in-fridge tap unit as a standard inclusion. Visuals first, test demand on social, then talk manufacturing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Christy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Jim's Mowing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Backyard presence. Referral card in the van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Trades and installers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Plumbers and kitchen fitters as a referral force: card or QR, plus a kickback</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Cannery contact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Parked. Canning is not in Justin's plan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JVPs and referral partners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List built, outreach started within three months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Brand ambassadors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Kurt, Troy, Mitch, Aden, Ash. UGC content ready to deploy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2" name="Shape 77"/>
          <p:cNvSpPr/>
          <p:nvPr/>
        </p:nvSpPr>
        <p:spPr>
          <a:xfrm>
            <a:off x="5298934" y="7337776"/>
            <a:ext cx="5736746" cy="0"/>
          </a:xfrm>
          <a:prstGeom prst="line">
            <a:avLst/>
          </a:prstGeom>
          <a:noFill/>
          <a:ln w="7620">
            <a:solidFill>
              <a:srgbClr val="E3E7EC"/>
            </a:solidFill>
            <a:prstDash val="solid"/>
          </a:ln>
        </p:spPr>
      </p:sp>
      <p:sp>
        <p:nvSpPr>
          <p:cNvPr id="83" name="Text 78"/>
          <p:cNvSpPr txBox="1"/>
          <p:nvPr/>
        </p:nvSpPr>
        <p:spPr>
          <a:xfrm>
            <a:off x="5298934" y="7395376"/>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catch-ups, the 17 September prep and Justin's plan. The ambassadors are Justin's list.</a:t>
            </a:r>
            <a:endParaRPr lang="en-US" sz="700" dirty="0"/>
          </a:p>
        </p:txBody>
      </p:sp>
      <p:sp>
        <p:nvSpPr>
          <p:cNvPr id="84" name="Shape 79"/>
          <p:cNvSpPr/>
          <p:nvPr/>
        </p:nvSpPr>
        <p:spPr>
          <a:xfrm>
            <a:off x="11258779" y="3786317"/>
            <a:ext cx="3537128" cy="3844274"/>
          </a:xfrm>
          <a:prstGeom prst="rect">
            <a:avLst/>
          </a:prstGeom>
          <a:solidFill>
            <a:srgbClr val="FFFFFF"/>
          </a:solidFill>
          <a:ln w="7620">
            <a:solidFill>
              <a:srgbClr val="E3E7EC"/>
            </a:solidFill>
            <a:prstDash val="solid"/>
          </a:ln>
        </p:spPr>
      </p:sp>
      <p:sp>
        <p:nvSpPr>
          <p:cNvPr id="85" name="Text 80"/>
          <p:cNvSpPr txBox="1"/>
          <p:nvPr/>
        </p:nvSpPr>
        <p:spPr>
          <a:xfrm>
            <a:off x="11373979" y="3901517"/>
            <a:ext cx="33067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86" name="Text 81"/>
          <p:cNvSpPr txBox="1"/>
          <p:nvPr/>
        </p:nvSpPr>
        <p:spPr>
          <a:xfrm>
            <a:off x="11373979" y="4071385"/>
            <a:ext cx="3306728"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87" name="Text 82"/>
          <p:cNvSpPr txBox="1"/>
          <p:nvPr/>
        </p:nvSpPr>
        <p:spPr>
          <a:xfrm>
            <a:off x="11373979" y="469990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8" name="Text 83"/>
          <p:cNvSpPr txBox="1"/>
          <p:nvPr/>
        </p:nvSpPr>
        <p:spPr>
          <a:xfrm>
            <a:off x="11373979" y="548272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 Next pieces: UGC and brand ambassador content, and Oktoberfest artwork.</a:t>
            </a:r>
            <a:endParaRPr lang="en-US" sz="810" dirty="0"/>
          </a:p>
        </p:txBody>
      </p:sp>
      <p:sp>
        <p:nvSpPr>
          <p:cNvPr id="89" name="Shape 84"/>
          <p:cNvSpPr/>
          <p:nvPr/>
        </p:nvSpPr>
        <p:spPr>
          <a:xfrm>
            <a:off x="11373979" y="7217761"/>
            <a:ext cx="3306728" cy="0"/>
          </a:xfrm>
          <a:prstGeom prst="line">
            <a:avLst/>
          </a:prstGeom>
          <a:noFill/>
          <a:ln w="7620">
            <a:solidFill>
              <a:srgbClr val="E3E7EC"/>
            </a:solidFill>
            <a:prstDash val="solid"/>
          </a:ln>
        </p:spPr>
      </p:sp>
      <p:sp>
        <p:nvSpPr>
          <p:cNvPr id="90" name="Text 85"/>
          <p:cNvSpPr txBox="1"/>
          <p:nvPr/>
        </p:nvSpPr>
        <p:spPr>
          <a:xfrm>
            <a:off x="11373979" y="7275361"/>
            <a:ext cx="3306728"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91" name="Shape 86"/>
          <p:cNvSpPr/>
          <p:nvPr/>
        </p:nvSpPr>
        <p:spPr>
          <a:xfrm>
            <a:off x="323698" y="7738490"/>
            <a:ext cx="9612173" cy="2737589"/>
          </a:xfrm>
          <a:prstGeom prst="rect">
            <a:avLst/>
          </a:prstGeom>
          <a:solidFill>
            <a:srgbClr val="FFFFFF"/>
          </a:solidFill>
          <a:ln w="7620">
            <a:solidFill>
              <a:srgbClr val="E3E7EC"/>
            </a:solidFill>
            <a:prstDash val="solid"/>
          </a:ln>
        </p:spPr>
      </p:sp>
      <p:sp>
        <p:nvSpPr>
          <p:cNvPr id="92" name="Text 87"/>
          <p:cNvSpPr txBox="1"/>
          <p:nvPr/>
        </p:nvSpPr>
        <p:spPr>
          <a:xfrm>
            <a:off x="438898" y="7853690"/>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8023558"/>
          <a:ext cx="11339703" cy="914400"/>
        </p:xfrm>
        <a:graphic>
          <a:graphicData uri="http://schemas.openxmlformats.org/drawingml/2006/table">
            <a:tbl>
              <a:tblPr/>
              <a:tblGrid>
                <a:gridCol w="3425197"/>
                <a:gridCol w="1025001"/>
                <a:gridCol w="931992"/>
                <a:gridCol w="1002650"/>
                <a:gridCol w="963716"/>
                <a:gridCol w="1213181"/>
                <a:gridCol w="820036"/>
              </a:tblGrid>
              <a:tr h="204057">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Website, GoTab + Fishbowl, SEM</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Existing owners, referrals, JVPs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Taproom, events, Oktoberfest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and next hire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messaging,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Engagement lead, weekly check-in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94" name="Shape 88"/>
          <p:cNvSpPr/>
          <p:nvPr/>
        </p:nvSpPr>
        <p:spPr>
          <a:xfrm>
            <a:off x="438898" y="10063249"/>
            <a:ext cx="9381773" cy="0"/>
          </a:xfrm>
          <a:prstGeom prst="line">
            <a:avLst/>
          </a:prstGeom>
          <a:noFill/>
          <a:ln w="7620">
            <a:solidFill>
              <a:srgbClr val="E3E7EC"/>
            </a:solidFill>
            <a:prstDash val="solid"/>
          </a:ln>
        </p:spPr>
      </p:sp>
      <p:sp>
        <p:nvSpPr>
          <p:cNvPr id="95" name="Text 89"/>
          <p:cNvSpPr txBox="1"/>
          <p:nvPr/>
        </p:nvSpPr>
        <p:spPr>
          <a:xfrm>
            <a:off x="438898" y="10120849"/>
            <a:ext cx="9381773"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until the first weekly check-in. Justin and Chris return their split of what Jewell owns and what Harry and Justin keep. Wholesale has no R on purpose, that is the hire. Chris is trapped in production, and this matrix has to free him, not load him.</a:t>
            </a:r>
            <a:endParaRPr lang="en-US" sz="700" dirty="0"/>
          </a:p>
        </p:txBody>
      </p:sp>
      <p:sp>
        <p:nvSpPr>
          <p:cNvPr id="96" name="Shape 90"/>
          <p:cNvSpPr/>
          <p:nvPr/>
        </p:nvSpPr>
        <p:spPr>
          <a:xfrm>
            <a:off x="10043770" y="7738490"/>
            <a:ext cx="4752137" cy="2737589"/>
          </a:xfrm>
          <a:prstGeom prst="rect">
            <a:avLst/>
          </a:prstGeom>
          <a:solidFill>
            <a:srgbClr val="FFFFFF"/>
          </a:solidFill>
          <a:ln w="7620">
            <a:solidFill>
              <a:srgbClr val="E3E7EC"/>
            </a:solidFill>
            <a:prstDash val="solid"/>
          </a:ln>
        </p:spPr>
      </p:sp>
      <p:sp>
        <p:nvSpPr>
          <p:cNvPr id="97" name="Text 91"/>
          <p:cNvSpPr txBox="1"/>
          <p:nvPr/>
        </p:nvSpPr>
        <p:spPr>
          <a:xfrm>
            <a:off x="10158970" y="7853690"/>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8" name="Shape 92"/>
          <p:cNvSpPr/>
          <p:nvPr/>
        </p:nvSpPr>
        <p:spPr>
          <a:xfrm>
            <a:off x="10158970" y="8059597"/>
            <a:ext cx="50400" cy="50400"/>
          </a:xfrm>
          <a:prstGeom prst="rect">
            <a:avLst/>
          </a:prstGeom>
          <a:solidFill>
            <a:srgbClr val="0066FF"/>
          </a:solidFill>
          <a:ln w="12700">
            <a:solidFill>
              <a:srgbClr val="333333"/>
            </a:solidFill>
            <a:prstDash val="solid"/>
          </a:ln>
        </p:spPr>
      </p:sp>
      <p:sp>
        <p:nvSpPr>
          <p:cNvPr id="99" name="Text 93"/>
          <p:cNvSpPr txBox="1"/>
          <p:nvPr/>
        </p:nvSpPr>
        <p:spPr>
          <a:xfrm>
            <a:off x="10266970" y="802355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 Done.</a:t>
            </a:r>
            <a:endParaRPr lang="en-US" sz="730" dirty="0"/>
          </a:p>
        </p:txBody>
      </p:sp>
      <p:sp>
        <p:nvSpPr>
          <p:cNvPr id="100" name="Shape 94"/>
          <p:cNvSpPr/>
          <p:nvPr/>
        </p:nvSpPr>
        <p:spPr>
          <a:xfrm>
            <a:off x="10158970" y="8321786"/>
            <a:ext cx="50400" cy="50400"/>
          </a:xfrm>
          <a:prstGeom prst="rect">
            <a:avLst/>
          </a:prstGeom>
          <a:solidFill>
            <a:srgbClr val="0066FF"/>
          </a:solidFill>
          <a:ln w="12700">
            <a:solidFill>
              <a:srgbClr val="333333"/>
            </a:solidFill>
            <a:prstDash val="solid"/>
          </a:ln>
        </p:spPr>
      </p:sp>
      <p:sp>
        <p:nvSpPr>
          <p:cNvPr id="101" name="Text 95"/>
          <p:cNvSpPr txBox="1"/>
          <p:nvPr/>
        </p:nvSpPr>
        <p:spPr>
          <a:xfrm>
            <a:off x="10266970" y="82857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Catch-up held. Priorities agreed, Christy leads, weekly rhythm agreed. Done.</a:t>
            </a:r>
            <a:endParaRPr lang="en-US" sz="730" dirty="0"/>
          </a:p>
        </p:txBody>
      </p:sp>
      <p:sp>
        <p:nvSpPr>
          <p:cNvPr id="102" name="Shape 96"/>
          <p:cNvSpPr/>
          <p:nvPr/>
        </p:nvSpPr>
        <p:spPr>
          <a:xfrm>
            <a:off x="10158970" y="8583974"/>
            <a:ext cx="50400" cy="50400"/>
          </a:xfrm>
          <a:prstGeom prst="rect">
            <a:avLst/>
          </a:prstGeom>
          <a:solidFill>
            <a:srgbClr val="0066FF"/>
          </a:solidFill>
          <a:ln w="12700">
            <a:solidFill>
              <a:srgbClr val="333333"/>
            </a:solidFill>
            <a:prstDash val="solid"/>
          </a:ln>
        </p:spPr>
      </p:sp>
      <p:sp>
        <p:nvSpPr>
          <p:cNvPr id="103" name="Text 97"/>
          <p:cNvSpPr txBox="1"/>
          <p:nvPr/>
        </p:nvSpPr>
        <p:spPr>
          <a:xfrm>
            <a:off x="10266970" y="8547935"/>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returns the full package: this pack at v03 plus proposal with scoped costs. Confirm with Justin whether it lands before or after Oktoberfest on Thu 1 Oct.</a:t>
            </a:r>
            <a:endParaRPr lang="en-US" sz="730" dirty="0"/>
          </a:p>
        </p:txBody>
      </p:sp>
      <p:sp>
        <p:nvSpPr>
          <p:cNvPr id="104" name="Shape 98"/>
          <p:cNvSpPr/>
          <p:nvPr/>
        </p:nvSpPr>
        <p:spPr>
          <a:xfrm>
            <a:off x="10158970" y="8975956"/>
            <a:ext cx="50400" cy="50400"/>
          </a:xfrm>
          <a:prstGeom prst="rect">
            <a:avLst/>
          </a:prstGeom>
          <a:solidFill>
            <a:srgbClr val="0066FF"/>
          </a:solidFill>
          <a:ln w="12700">
            <a:solidFill>
              <a:srgbClr val="333333"/>
            </a:solidFill>
            <a:prstDash val="solid"/>
          </a:ln>
        </p:spPr>
      </p:sp>
      <p:sp>
        <p:nvSpPr>
          <p:cNvPr id="105" name="Text 99"/>
          <p:cNvSpPr txBox="1"/>
          <p:nvPr/>
        </p:nvSpPr>
        <p:spPr>
          <a:xfrm>
            <a:off x="10266970" y="893991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First weekly check-in.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split confirmed, RACI finalised, 250 date chosen.</a:t>
            </a:r>
            <a:endParaRPr lang="en-US" sz="730" dirty="0"/>
          </a:p>
        </p:txBody>
      </p:sp>
      <p:sp>
        <p:nvSpPr>
          <p:cNvPr id="106" name="Shape 100"/>
          <p:cNvSpPr/>
          <p:nvPr/>
        </p:nvSpPr>
        <p:spPr>
          <a:xfrm>
            <a:off x="10158970" y="9238145"/>
            <a:ext cx="50400" cy="50400"/>
          </a:xfrm>
          <a:prstGeom prst="rect">
            <a:avLst/>
          </a:prstGeom>
          <a:solidFill>
            <a:srgbClr val="0066FF"/>
          </a:solidFill>
          <a:ln w="12700">
            <a:solidFill>
              <a:srgbClr val="333333"/>
            </a:solidFill>
            <a:prstDash val="solid"/>
          </a:ln>
        </p:spPr>
      </p:sp>
      <p:sp>
        <p:nvSpPr>
          <p:cNvPr id="107" name="Text 101"/>
          <p:cNvSpPr txBox="1"/>
          <p:nvPr/>
        </p:nvSpPr>
        <p:spPr>
          <a:xfrm>
            <a:off x="10266970" y="920210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Mid-October.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30-day list closed, including meeting rhythm and agenda. Oktoberfest run.</a:t>
            </a:r>
            <a:endParaRPr lang="en-US" sz="730" dirty="0"/>
          </a:p>
        </p:txBody>
      </p:sp>
      <p:sp>
        <p:nvSpPr>
          <p:cNvPr id="108" name="Shape 102"/>
          <p:cNvSpPr/>
          <p:nvPr/>
        </p:nvSpPr>
        <p:spPr>
          <a:xfrm>
            <a:off x="10158970" y="9500333"/>
            <a:ext cx="50400" cy="50400"/>
          </a:xfrm>
          <a:prstGeom prst="rect">
            <a:avLst/>
          </a:prstGeom>
          <a:solidFill>
            <a:srgbClr val="0066FF"/>
          </a:solidFill>
          <a:ln w="12700">
            <a:solidFill>
              <a:srgbClr val="333333"/>
            </a:solidFill>
            <a:prstDash val="solid"/>
          </a:ln>
        </p:spPr>
      </p:sp>
      <p:sp>
        <p:nvSpPr>
          <p:cNvPr id="109" name="Text 103"/>
          <p:cNvSpPr txBox="1"/>
          <p:nvPr/>
        </p:nvSpPr>
        <p:spPr>
          <a:xfrm>
            <a:off x="10266970" y="946429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Mid-December.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Three-month list closed. Tech live, lease-to-buy launched.</a:t>
            </a:r>
            <a:endParaRPr lang="en-US" sz="730" dirty="0"/>
          </a:p>
        </p:txBody>
      </p:sp>
      <p:sp>
        <p:nvSpPr>
          <p:cNvPr id="110" name="Shape 104"/>
          <p:cNvSpPr/>
          <p:nvPr/>
        </p:nvSpPr>
        <p:spPr>
          <a:xfrm>
            <a:off x="10158970" y="9762521"/>
            <a:ext cx="50400" cy="50400"/>
          </a:xfrm>
          <a:prstGeom prst="rect">
            <a:avLst/>
          </a:prstGeom>
          <a:solidFill>
            <a:srgbClr val="0066FF"/>
          </a:solidFill>
          <a:ln w="12700">
            <a:solidFill>
              <a:srgbClr val="333333"/>
            </a:solidFill>
            <a:prstDash val="solid"/>
          </a:ln>
        </p:spPr>
      </p:sp>
      <p:sp>
        <p:nvSpPr>
          <p:cNvPr id="111" name="Text 105"/>
          <p:cNvSpPr txBox="1"/>
          <p:nvPr/>
        </p:nvSpPr>
        <p:spPr>
          <a:xfrm>
            <a:off x="10266970" y="972648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March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250 active refillers.</a:t>
            </a:r>
            <a:endParaRPr lang="en-US" sz="730" dirty="0"/>
          </a:p>
        </p:txBody>
      </p:sp>
      <p:sp>
        <p:nvSpPr>
          <p:cNvPr id="112" name="Shape 106"/>
          <p:cNvSpPr/>
          <p:nvPr/>
        </p:nvSpPr>
        <p:spPr>
          <a:xfrm>
            <a:off x="10158970" y="10024710"/>
            <a:ext cx="50400" cy="50400"/>
          </a:xfrm>
          <a:prstGeom prst="rect">
            <a:avLst/>
          </a:prstGeom>
          <a:solidFill>
            <a:srgbClr val="0066FF"/>
          </a:solidFill>
          <a:ln w="12700">
            <a:solidFill>
              <a:srgbClr val="333333"/>
            </a:solidFill>
            <a:prstDash val="solid"/>
          </a:ln>
        </p:spPr>
      </p:sp>
      <p:sp>
        <p:nvSpPr>
          <p:cNvPr id="113" name="Text 107"/>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September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Cashflow positive, JM on a wage.</a:t>
            </a:r>
            <a:endParaRPr lang="en-US" sz="730" dirty="0"/>
          </a:p>
        </p:txBody>
      </p:sp>
      <p:sp>
        <p:nvSpPr>
          <p:cNvPr id="114" name="Shape 108"/>
          <p:cNvSpPr/>
          <p:nvPr/>
        </p:nvSpPr>
        <p:spPr>
          <a:xfrm>
            <a:off x="10158970" y="10183264"/>
            <a:ext cx="4521737" cy="0"/>
          </a:xfrm>
          <a:prstGeom prst="line">
            <a:avLst/>
          </a:prstGeom>
          <a:noFill/>
          <a:ln w="7620">
            <a:solidFill>
              <a:srgbClr val="E3E7EC"/>
            </a:solidFill>
            <a:prstDash val="solid"/>
          </a:ln>
        </p:spPr>
      </p:sp>
      <p:sp>
        <p:nvSpPr>
          <p:cNvPr id="115" name="Text 109"/>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first whether active refillers moved.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2026-09-23T01:35:49Z</dcterms:created>
  <dcterms:modified xsi:type="dcterms:W3CDTF">2026-09-23T01:35:49Z</dcterms:modified>
</cp:coreProperties>
</file>