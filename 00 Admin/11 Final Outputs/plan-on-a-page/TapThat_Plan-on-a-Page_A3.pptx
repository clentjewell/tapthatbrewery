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93129" y="365760"/>
            <a:ext cx="1150475"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93129"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7" name="Shape 3"/>
          <p:cNvSpPr/>
          <p:nvPr/>
        </p:nvSpPr>
        <p:spPr>
          <a:xfrm>
            <a:off x="11385086"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85086"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543619" y="365760"/>
            <a:ext cx="75146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543619" y="365760"/>
            <a:ext cx="75146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440944"/>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keg systems in the market. Every decision gets tested against whether it moves that number.</a:t>
            </a:r>
            <a:endParaRPr lang="en-US" sz="1400" dirty="0"/>
          </a:p>
        </p:txBody>
      </p:sp>
      <p:sp>
        <p:nvSpPr>
          <p:cNvPr id="16" name="Text 12"/>
          <p:cNvSpPr txBox="1"/>
          <p:nvPr/>
        </p:nvSpPr>
        <p:spPr>
          <a:xfrm>
            <a:off x="438898" y="1928489"/>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refills lead, and the Tap Room stops being run as a walk-in venue. It becomes a destination that sells events, tours and functions. The two halves have been cancelling each other out, because a good refill business takes traffic out of the room.</a:t>
            </a:r>
            <a:endParaRPr lang="en-US" sz="810" dirty="0"/>
          </a:p>
        </p:txBody>
      </p:sp>
      <p:sp>
        <p:nvSpPr>
          <p:cNvPr id="17" name="Text 13"/>
          <p:cNvSpPr txBox="1"/>
          <p:nvPr/>
        </p:nvSpPr>
        <p:spPr>
          <a:xfrm>
            <a:off x="438898" y="232400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keeps going to the half that loses money, the best insights stay buried in a long document, and 1,000 systems stays a number on a slide.</a:t>
            </a:r>
            <a:endParaRPr lang="en-US" sz="810" dirty="0"/>
          </a:p>
        </p:txBody>
      </p:sp>
      <p:sp>
        <p:nvSpPr>
          <p:cNvPr id="18" name="Text 14"/>
          <p:cNvSpPr txBox="1"/>
          <p:nvPr/>
        </p:nvSpPr>
        <p:spPr>
          <a:xfrm>
            <a:off x="438898" y="2719527"/>
            <a:ext cx="8166764"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was that everything in it is equal, so none of it has shape: everything is important, the best insights are buried inside other insights, and nothing has been stress-tested. Clent asked for three things off the back of it, and they are the test for this page. Belief, because the work is already good. Clarity, on which few things get picked up. Momentum, because a decision made is worth more than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proposed by Christy in the 15 September catch-up. Numbers on this sheet come from the Discovery pack unless marked.</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206</a:t>
            </a:r>
            <a:endParaRPr lang="en-US" sz="1400" dirty="0"/>
          </a:p>
        </p:txBody>
      </p:sp>
      <p:sp>
        <p:nvSpPr>
          <p:cNvPr id="28" name="Text 24"/>
          <p:cNvSpPr txBox="1"/>
          <p:nvPr/>
        </p:nvSpPr>
        <p:spPr>
          <a:xfrm>
            <a:off x="10988209"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SYSTEMS IN THE DATABASE</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1" name="Text 27"/>
          <p:cNvSpPr txBox="1"/>
          <p:nvPr/>
        </p:nvSpPr>
        <p:spPr>
          <a:xfrm>
            <a:off x="12924458"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a:t>
            </a:r>
            <a:endParaRPr lang="en-US" sz="1400" dirty="0"/>
          </a:p>
        </p:txBody>
      </p:sp>
      <p:sp>
        <p:nvSpPr>
          <p:cNvPr id="34" name="Text 30"/>
          <p:cNvSpPr txBox="1"/>
          <p:nvPr/>
        </p:nvSpPr>
        <p:spPr>
          <a:xfrm>
            <a:off x="9051961"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THE CLIMB TO 1,000 FROM 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40%</a:t>
            </a:r>
            <a:endParaRPr lang="en-US" sz="1400" dirty="0"/>
          </a:p>
        </p:txBody>
      </p:sp>
      <p:sp>
        <p:nvSpPr>
          <p:cNvPr id="37" name="Text 33"/>
          <p:cNvSpPr txBox="1"/>
          <p:nvPr/>
        </p:nvSpPr>
        <p:spPr>
          <a:xfrm>
            <a:off x="10988209"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LAPSED, REASON SPLIT UNSETTLED</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Stop funding the losing half.</a:t>
            </a:r>
            <a:endParaRPr lang="en-US" sz="960" dirty="0"/>
          </a:p>
        </p:txBody>
      </p:sp>
      <p:sp>
        <p:nvSpPr>
          <p:cNvPr id="47" name="Text 43"/>
          <p:cNvSpPr txBox="1"/>
          <p:nvPr/>
        </p:nvSpPr>
        <p:spPr>
          <a:xfrm>
            <a:off x="532498"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Pause walk-in trading and redirect that spend into refills and wholesale. Resource wholesale properly, because one account is worth about ten households and it is currently falling through the cracks.</a:t>
            </a:r>
            <a:endParaRPr lang="en-US" sz="790" dirty="0"/>
          </a:p>
        </p:txBody>
      </p:sp>
      <p:sp>
        <p:nvSpPr>
          <p:cNvPr id="48" name="Text 44"/>
          <p:cNvSpPr txBox="1"/>
          <p:nvPr/>
        </p:nvSpPr>
        <p:spPr>
          <a:xfrm>
            <a:off x="532498"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confirms the walk-in call, and wholesale gets a person with a target.</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Own the category, not the price.</a:t>
            </a:r>
            <a:endParaRPr lang="en-US" sz="960" dirty="0"/>
          </a:p>
        </p:txBody>
      </p:sp>
      <p:sp>
        <p:nvSpPr>
          <p:cNvPr id="53" name="Text 49"/>
          <p:cNvSpPr txBox="1"/>
          <p:nvPr/>
        </p:nvSpPr>
        <p:spPr>
          <a:xfrm>
            <a:off x="4119925"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enemy is the overpriced pub, not the operator across the road. Cut the tail of about 19 brews to a set of heroes, put the Crafted award everywhere, and start designing for her.</a:t>
            </a:r>
            <a:endParaRPr lang="en-US" sz="790" dirty="0"/>
          </a:p>
        </p:txBody>
      </p:sp>
      <p:sp>
        <p:nvSpPr>
          <p:cNvPr id="54" name="Text 50"/>
          <p:cNvSpPr txBox="1"/>
          <p:nvPr/>
        </p:nvSpPr>
        <p:spPr>
          <a:xfrm>
            <a:off x="4119925"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award goes on the site, the room and the decals this month.</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Connect the system before spending more.</a:t>
            </a:r>
            <a:endParaRPr lang="en-US" sz="960" dirty="0"/>
          </a:p>
        </p:txBody>
      </p:sp>
      <p:sp>
        <p:nvSpPr>
          <p:cNvPr id="59" name="Text 55"/>
          <p:cNvSpPr txBox="1"/>
          <p:nvPr/>
        </p:nvSpPr>
        <p:spPr>
          <a:xfrm>
            <a:off x="7707352"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Website, POS and CRM do not talk to each other, so every campaign underperforms. Then convert the owners who already bought elsewhere and take the friction out of reordering.</a:t>
            </a:r>
            <a:endParaRPr lang="en-US" sz="790" dirty="0"/>
          </a:p>
        </p:txBody>
      </p:sp>
      <p:sp>
        <p:nvSpPr>
          <p:cNvPr id="60" name="Text 56"/>
          <p:cNvSpPr txBox="1"/>
          <p:nvPr/>
        </p:nvSpPr>
        <p:spPr>
          <a:xfrm>
            <a:off x="7707352"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connect the three systems, then replace the 90-day SMS.</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Sell the room as a destination.</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Tours, weddings, functions and ticketed events, with the artwork and the booking path already built. Partnerships where the systems are already being sold.</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get on the tour circuit and open the Harvey Norman conversation.</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548640"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NOW</a:t>
            </a:r>
            <a:endParaRPr lang="en-US" sz="640" dirty="0"/>
          </a:p>
        </p:txBody>
      </p:sp>
      <p:sp>
        <p:nvSpPr>
          <p:cNvPr id="71" name="Text 67"/>
          <p:cNvSpPr txBox="1"/>
          <p:nvPr/>
        </p:nvSpPr>
        <p:spPr>
          <a:xfrm>
            <a:off x="1170418" y="7604851"/>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picks the moves he is committing to. Connect the data. Pause walk-in spend.</a:t>
            </a:r>
            <a:endParaRPr lang="en-US" sz="810" dirty="0"/>
          </a:p>
        </p:txBody>
      </p:sp>
      <p:sp>
        <p:nvSpPr>
          <p:cNvPr id="72" name="Shape 68"/>
          <p:cNvSpPr/>
          <p:nvPr/>
        </p:nvSpPr>
        <p:spPr>
          <a:xfrm>
            <a:off x="438898" y="8713753"/>
            <a:ext cx="548640"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8713753"/>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NEXT</a:t>
            </a:r>
            <a:endParaRPr lang="en-US" sz="640" dirty="0"/>
          </a:p>
        </p:txBody>
      </p:sp>
      <p:sp>
        <p:nvSpPr>
          <p:cNvPr id="74" name="Text 70"/>
          <p:cNvSpPr txBox="1"/>
          <p:nvPr/>
        </p:nvSpPr>
        <p:spPr>
          <a:xfrm>
            <a:off x="1170418" y="8700952"/>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Convert existing owners. Fix reorder friction. Stand wholesale up as a role with targets.</a:t>
            </a:r>
            <a:endParaRPr lang="en-US" sz="810" dirty="0"/>
          </a:p>
        </p:txBody>
      </p:sp>
      <p:sp>
        <p:nvSpPr>
          <p:cNvPr id="75" name="Shape 71"/>
          <p:cNvSpPr/>
          <p:nvPr/>
        </p:nvSpPr>
        <p:spPr>
          <a:xfrm>
            <a:off x="438898" y="9809854"/>
            <a:ext cx="548640"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9809854"/>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LATER</a:t>
            </a:r>
            <a:endParaRPr lang="en-US" sz="640" dirty="0"/>
          </a:p>
        </p:txBody>
      </p:sp>
      <p:sp>
        <p:nvSpPr>
          <p:cNvPr id="77" name="Text 73"/>
          <p:cNvSpPr txBox="1"/>
          <p:nvPr/>
        </p:nvSpPr>
        <p:spPr>
          <a:xfrm>
            <a:off x="1170418" y="9797053"/>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Range rationalisation, the wellness line, designing for her, and the duopoly workaround.</a:t>
            </a:r>
            <a:endParaRPr lang="en-US" sz="810" dirty="0"/>
          </a:p>
        </p:txBody>
      </p:sp>
      <p:sp>
        <p:nvSpPr>
          <p:cNvPr id="78" name="Shape 74"/>
          <p:cNvSpPr/>
          <p:nvPr/>
        </p:nvSpPr>
        <p:spPr>
          <a:xfrm>
            <a:off x="438898" y="10183264"/>
            <a:ext cx="4521737" cy="0"/>
          </a:xfrm>
          <a:prstGeom prst="line">
            <a:avLst/>
          </a:prstGeom>
          <a:noFill/>
          <a:ln w="7620">
            <a:solidFill>
              <a:srgbClr val="E3E7EC"/>
            </a:solidFill>
            <a:prstDash val="solid"/>
          </a:ln>
        </p:spPr>
      </p:sp>
      <p:sp>
        <p:nvSpPr>
          <p:cNvPr id="79" name="Text 75"/>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Nothing in Later starts until the Now column is done. That is the discipline the plan is buying.</a:t>
            </a:r>
            <a:endParaRPr lang="en-US" sz="700" dirty="0"/>
          </a:p>
        </p:txBody>
      </p:sp>
      <p:sp>
        <p:nvSpPr>
          <p:cNvPr id="80" name="Shape 76"/>
          <p:cNvSpPr/>
          <p:nvPr/>
        </p:nvSpPr>
        <p:spPr>
          <a:xfrm>
            <a:off x="5183734" y="7332584"/>
            <a:ext cx="4752137" cy="3143495"/>
          </a:xfrm>
          <a:prstGeom prst="rect">
            <a:avLst/>
          </a:prstGeom>
          <a:solidFill>
            <a:srgbClr val="FFFFFF"/>
          </a:solidFill>
          <a:ln w="7620">
            <a:solidFill>
              <a:srgbClr val="E3E7EC"/>
            </a:solidFill>
            <a:prstDash val="solid"/>
          </a:ln>
        </p:spPr>
      </p:sp>
      <p:sp>
        <p:nvSpPr>
          <p:cNvPr id="81" name="Text 77"/>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1966441"/>
                <a:gridCol w="1382760"/>
                <a:gridCol w="1172536"/>
              </a:tblGrid>
              <a:tr h="343913">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Connected data and CRM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New hire or agent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Destination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Partnerships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range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3" name="Shape 78"/>
          <p:cNvSpPr/>
          <p:nvPr/>
        </p:nvSpPr>
        <p:spPr>
          <a:xfrm>
            <a:off x="5298934" y="10183264"/>
            <a:ext cx="4521737" cy="0"/>
          </a:xfrm>
          <a:prstGeom prst="line">
            <a:avLst/>
          </a:prstGeom>
          <a:noFill/>
          <a:ln w="7620">
            <a:solidFill>
              <a:srgbClr val="E3E7EC"/>
            </a:solidFill>
            <a:prstDash val="solid"/>
          </a:ln>
        </p:spPr>
      </p:sp>
      <p:sp>
        <p:nvSpPr>
          <p:cNvPr id="84" name="Text 79"/>
          <p:cNvSpPr txBox="1"/>
          <p:nvPr/>
        </p:nvSpPr>
        <p:spPr>
          <a:xfrm>
            <a:off x="5298934"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This is the summary of it.</a:t>
            </a:r>
            <a:endParaRPr lang="en-US" sz="700" dirty="0"/>
          </a:p>
        </p:txBody>
      </p:sp>
      <p:sp>
        <p:nvSpPr>
          <p:cNvPr id="85" name="Shape 80"/>
          <p:cNvSpPr/>
          <p:nvPr/>
        </p:nvSpPr>
        <p:spPr>
          <a:xfrm>
            <a:off x="10043770" y="7332584"/>
            <a:ext cx="4752137" cy="3143495"/>
          </a:xfrm>
          <a:prstGeom prst="rect">
            <a:avLst/>
          </a:prstGeom>
          <a:solidFill>
            <a:srgbClr val="FFFFFF"/>
          </a:solidFill>
          <a:ln w="7620">
            <a:solidFill>
              <a:srgbClr val="E3E7EC"/>
            </a:solidFill>
            <a:prstDash val="solid"/>
          </a:ln>
        </p:spPr>
      </p:sp>
      <p:sp>
        <p:nvSpPr>
          <p:cNvPr id="86" name="Shape 81"/>
          <p:cNvSpPr/>
          <p:nvPr/>
        </p:nvSpPr>
        <p:spPr>
          <a:xfrm>
            <a:off x="10043770" y="7332584"/>
            <a:ext cx="4752137" cy="36000"/>
          </a:xfrm>
          <a:prstGeom prst="rect">
            <a:avLst/>
          </a:prstGeom>
          <a:solidFill>
            <a:srgbClr val="0066FF"/>
          </a:solidFill>
          <a:ln w="12700">
            <a:solidFill>
              <a:srgbClr val="333333"/>
            </a:solidFill>
            <a:prstDash val="solid"/>
          </a:ln>
        </p:spPr>
      </p:sp>
      <p:sp>
        <p:nvSpPr>
          <p:cNvPr id="87" name="Text 82"/>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88" name="Shape 83"/>
          <p:cNvSpPr/>
          <p:nvPr/>
        </p:nvSpPr>
        <p:spPr>
          <a:xfrm>
            <a:off x="10158970" y="7653692"/>
            <a:ext cx="50400" cy="50400"/>
          </a:xfrm>
          <a:prstGeom prst="rect">
            <a:avLst/>
          </a:prstGeom>
          <a:solidFill>
            <a:srgbClr val="0066FF"/>
          </a:solidFill>
          <a:ln w="12700">
            <a:solidFill>
              <a:srgbClr val="333333"/>
            </a:solidFill>
            <a:prstDash val="solid"/>
          </a:ln>
        </p:spPr>
      </p:sp>
      <p:sp>
        <p:nvSpPr>
          <p:cNvPr id="89" name="Text 84"/>
          <p:cNvSpPr txBox="1"/>
          <p:nvPr/>
        </p:nvSpPr>
        <p:spPr>
          <a:xfrm>
            <a:off x="10266970" y="761765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pause walk-in trading?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Everything on the Business sheet follows from this one.</a:t>
            </a:r>
            <a:endParaRPr lang="en-US" sz="730" dirty="0"/>
          </a:p>
        </p:txBody>
      </p:sp>
      <p:sp>
        <p:nvSpPr>
          <p:cNvPr id="90" name="Shape 85"/>
          <p:cNvSpPr/>
          <p:nvPr/>
        </p:nvSpPr>
        <p:spPr>
          <a:xfrm>
            <a:off x="10158970" y="8183994"/>
            <a:ext cx="50400" cy="50400"/>
          </a:xfrm>
          <a:prstGeom prst="rect">
            <a:avLst/>
          </a:prstGeom>
          <a:solidFill>
            <a:srgbClr val="0066FF"/>
          </a:solidFill>
          <a:ln w="12700">
            <a:solidFill>
              <a:srgbClr val="333333"/>
            </a:solidFill>
            <a:prstDash val="solid"/>
          </a:ln>
        </p:spPr>
      </p:sp>
      <p:sp>
        <p:nvSpPr>
          <p:cNvPr id="91" name="Text 86"/>
          <p:cNvSpPr txBox="1"/>
          <p:nvPr/>
        </p:nvSpPr>
        <p:spPr>
          <a:xfrm>
            <a:off x="10266970" y="814795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resource wholesale?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 person with targets, not a founder in spare hours.</a:t>
            </a:r>
            <a:endParaRPr lang="en-US" sz="730" dirty="0"/>
          </a:p>
        </p:txBody>
      </p:sp>
      <p:sp>
        <p:nvSpPr>
          <p:cNvPr id="92" name="Shape 87"/>
          <p:cNvSpPr/>
          <p:nvPr/>
        </p:nvSpPr>
        <p:spPr>
          <a:xfrm>
            <a:off x="10158970" y="8714296"/>
            <a:ext cx="50400" cy="50400"/>
          </a:xfrm>
          <a:prstGeom prst="rect">
            <a:avLst/>
          </a:prstGeom>
          <a:solidFill>
            <a:srgbClr val="0066FF"/>
          </a:solidFill>
          <a:ln w="12700">
            <a:solidFill>
              <a:srgbClr val="333333"/>
            </a:solidFill>
            <a:prstDash val="solid"/>
          </a:ln>
        </p:spPr>
      </p:sp>
      <p:sp>
        <p:nvSpPr>
          <p:cNvPr id="93" name="Text 88"/>
          <p:cNvSpPr txBox="1"/>
          <p:nvPr/>
        </p:nvSpPr>
        <p:spPr>
          <a:xfrm>
            <a:off x="10266970" y="867825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Canning: in or out?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It buys awareness and it competes with the refill model.</a:t>
            </a:r>
            <a:endParaRPr lang="en-US" sz="730" dirty="0"/>
          </a:p>
        </p:txBody>
      </p:sp>
      <p:sp>
        <p:nvSpPr>
          <p:cNvPr id="94" name="Shape 89"/>
          <p:cNvSpPr/>
          <p:nvPr/>
        </p:nvSpPr>
        <p:spPr>
          <a:xfrm>
            <a:off x="10158970" y="9244598"/>
            <a:ext cx="50400" cy="50400"/>
          </a:xfrm>
          <a:prstGeom prst="rect">
            <a:avLst/>
          </a:prstGeom>
          <a:solidFill>
            <a:srgbClr val="0066FF"/>
          </a:solidFill>
          <a:ln w="12700">
            <a:solidFill>
              <a:srgbClr val="333333"/>
            </a:solidFill>
            <a:prstDash val="solid"/>
          </a:ln>
        </p:spPr>
      </p:sp>
      <p:sp>
        <p:nvSpPr>
          <p:cNvPr id="95" name="Text 90"/>
          <p:cNvSpPr txBox="1"/>
          <p:nvPr/>
        </p:nvSpPr>
        <p:spPr>
          <a:xfrm>
            <a:off x="10266970" y="9208559"/>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Does membership attach to every system 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Non-members leak at 44%, members at 18%.</a:t>
            </a:r>
            <a:endParaRPr lang="en-US" sz="730" dirty="0"/>
          </a:p>
        </p:txBody>
      </p:sp>
      <p:sp>
        <p:nvSpPr>
          <p:cNvPr id="96" name="Shape 91"/>
          <p:cNvSpPr/>
          <p:nvPr/>
        </p:nvSpPr>
        <p:spPr>
          <a:xfrm>
            <a:off x="10158970" y="9904695"/>
            <a:ext cx="50400" cy="50400"/>
          </a:xfrm>
          <a:prstGeom prst="rect">
            <a:avLst/>
          </a:prstGeom>
          <a:solidFill>
            <a:srgbClr val="0066FF"/>
          </a:solidFill>
          <a:ln w="12700">
            <a:solidFill>
              <a:srgbClr val="333333"/>
            </a:solidFill>
            <a:prstDash val="solid"/>
          </a:ln>
        </p:spPr>
      </p:sp>
      <p:sp>
        <p:nvSpPr>
          <p:cNvPr id="97" name="Text 92"/>
          <p:cNvSpPr txBox="1"/>
          <p:nvPr/>
        </p:nvSpPr>
        <p:spPr>
          <a:xfrm>
            <a:off x="10266970" y="986865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How far do we cut the range?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Heroes need the marketing that the tail is absorbing.</a:t>
            </a:r>
            <a:endParaRPr lang="en-US" sz="730" dirty="0"/>
          </a:p>
        </p:txBody>
      </p:sp>
      <p:sp>
        <p:nvSpPr>
          <p:cNvPr id="98" name="Shape 93"/>
          <p:cNvSpPr/>
          <p:nvPr/>
        </p:nvSpPr>
        <p:spPr>
          <a:xfrm>
            <a:off x="10158970" y="10063249"/>
            <a:ext cx="4521737" cy="0"/>
          </a:xfrm>
          <a:prstGeom prst="line">
            <a:avLst/>
          </a:prstGeom>
          <a:noFill/>
          <a:ln w="7620">
            <a:solidFill>
              <a:srgbClr val="E3E7EC"/>
            </a:solidFill>
            <a:prstDash val="solid"/>
          </a:ln>
        </p:spPr>
      </p:sp>
      <p:sp>
        <p:nvSpPr>
          <p:cNvPr id="99" name="Text 94"/>
          <p:cNvSpPr txBox="1"/>
          <p:nvPr/>
        </p:nvSpPr>
        <p:spPr>
          <a:xfrm>
            <a:off x="10158970"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Agreed in the catch-up: the team reviews the deck and comes back with the commitments before the next conversation.</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93129" y="365760"/>
            <a:ext cx="1150475"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93129"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7" name="Shape 3"/>
          <p:cNvSpPr/>
          <p:nvPr/>
        </p:nvSpPr>
        <p:spPr>
          <a:xfrm>
            <a:off x="11385086"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85086"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44040" y="365760"/>
            <a:ext cx="951046"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44040" y="365760"/>
            <a:ext cx="951046"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409448"/>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97568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60419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307840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Reshaping means three concrete things: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room stops being staffed for walk-in trade it does not get, the spend that was chasing footfall moves to refills and wholesale, and somebody owns wholesale as a job rather than as an evening.</a:t>
            </a:r>
            <a:endParaRPr lang="en-US" sz="810" dirty="0"/>
          </a:p>
        </p:txBody>
      </p:sp>
      <p:sp>
        <p:nvSpPr>
          <p:cNvPr id="19" name="Shape 15"/>
          <p:cNvSpPr/>
          <p:nvPr/>
        </p:nvSpPr>
        <p:spPr>
          <a:xfrm>
            <a:off x="438898" y="3870991"/>
            <a:ext cx="6951755" cy="0"/>
          </a:xfrm>
          <a:prstGeom prst="line">
            <a:avLst/>
          </a:prstGeom>
          <a:noFill/>
          <a:ln w="7620">
            <a:solidFill>
              <a:srgbClr val="E3E7EC"/>
            </a:solidFill>
            <a:prstDash val="solid"/>
          </a:ln>
        </p:spPr>
      </p:sp>
      <p:sp>
        <p:nvSpPr>
          <p:cNvPr id="20" name="Text 16"/>
          <p:cNvSpPr txBox="1"/>
          <p:nvPr/>
        </p:nvSpPr>
        <p:spPr>
          <a:xfrm>
            <a:off x="438898"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Test them against the current P&amp;L before the plan is signed.</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FOUR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86122"/>
                <a:gridCol w="3587739"/>
                <a:gridCol w="2377893"/>
              </a:tblGrid>
              <a:tr h="46450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at MVP, reached with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 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 trade does not cover it. Events already do</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Pivot.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Destination, not walk-in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 role with targets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Canning</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Not started. Opens bottle shops and bars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Decide.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See the box below</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Tap Room is not being closed. It is being asked to earn its keep a different way.</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571522"/>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206</a:t>
            </a:r>
            <a:endParaRPr lang="en-US" sz="1300" dirty="0"/>
          </a:p>
        </p:txBody>
      </p:sp>
      <p:sp>
        <p:nvSpPr>
          <p:cNvPr id="30" name="Text 25"/>
          <p:cNvSpPr txBox="1"/>
          <p:nvPr/>
        </p:nvSpPr>
        <p:spPr>
          <a:xfrm>
            <a:off x="546898"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SYSTEMS IN THE DATABASE NOW</a:t>
            </a:r>
            <a:endParaRPr lang="en-US" sz="550" dirty="0"/>
          </a:p>
        </p:txBody>
      </p:sp>
      <p:sp>
        <p:nvSpPr>
          <p:cNvPr id="31" name="Shape 26"/>
          <p:cNvSpPr/>
          <p:nvPr/>
        </p:nvSpPr>
        <p:spPr>
          <a:xfrm>
            <a:off x="1970143" y="4556773"/>
            <a:ext cx="1459246" cy="571522"/>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~9×</a:t>
            </a:r>
            <a:endParaRPr lang="en-US" sz="1300" dirty="0"/>
          </a:p>
        </p:txBody>
      </p:sp>
      <p:sp>
        <p:nvSpPr>
          <p:cNvPr id="33" name="Text 28"/>
          <p:cNvSpPr txBox="1"/>
          <p:nvPr/>
        </p:nvSpPr>
        <p:spPr>
          <a:xfrm>
            <a:off x="2078143"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MULTIPLE NEEDED TO HIT 1,000</a:t>
            </a:r>
            <a:endParaRPr lang="en-US" sz="550" dirty="0"/>
          </a:p>
        </p:txBody>
      </p:sp>
      <p:sp>
        <p:nvSpPr>
          <p:cNvPr id="34" name="Shape 29"/>
          <p:cNvSpPr/>
          <p:nvPr/>
        </p:nvSpPr>
        <p:spPr>
          <a:xfrm>
            <a:off x="3501389" y="4556773"/>
            <a:ext cx="1459246" cy="571522"/>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116</a:t>
            </a:r>
            <a:endParaRPr lang="en-US" sz="1300" dirty="0"/>
          </a:p>
        </p:txBody>
      </p:sp>
      <p:sp>
        <p:nvSpPr>
          <p:cNvPr id="36" name="Text 31"/>
          <p:cNvSpPr txBox="1"/>
          <p:nvPr/>
        </p:nvSpPr>
        <p:spPr>
          <a:xfrm>
            <a:off x="3609389"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OWNERS WHO BOUGHT ELSEWHERE</a:t>
            </a:r>
            <a:endParaRPr lang="en-US" sz="550" dirty="0"/>
          </a:p>
        </p:txBody>
      </p:sp>
      <p:sp>
        <p:nvSpPr>
          <p:cNvPr id="37" name="Text 32"/>
          <p:cNvSpPr txBox="1"/>
          <p:nvPr/>
        </p:nvSpPr>
        <p:spPr>
          <a:xfrm>
            <a:off x="438898" y="5293895"/>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the 116 who already own a system and already refill here. Their objections are overcome. Nobody has to be sold on the idea of beer at home.</a:t>
            </a:r>
            <a:endParaRPr lang="en-US" sz="810" dirty="0"/>
          </a:p>
        </p:txBody>
      </p:sp>
      <p:sp>
        <p:nvSpPr>
          <p:cNvPr id="38" name="Text 33"/>
          <p:cNvSpPr txBox="1"/>
          <p:nvPr/>
        </p:nvSpPr>
        <p:spPr>
          <a:xfrm>
            <a:off x="438898" y="576810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a:t>
            </a:r>
            <a:endParaRPr lang="en-US" sz="810" dirty="0"/>
          </a:p>
        </p:txBody>
      </p:sp>
      <p:sp>
        <p:nvSpPr>
          <p:cNvPr id="39" name="Shape 34"/>
          <p:cNvSpPr/>
          <p:nvPr/>
        </p:nvSpPr>
        <p:spPr>
          <a:xfrm>
            <a:off x="438898" y="7085747"/>
            <a:ext cx="4521737" cy="0"/>
          </a:xfrm>
          <a:prstGeom prst="line">
            <a:avLst/>
          </a:prstGeom>
          <a:noFill/>
          <a:ln w="7620">
            <a:solidFill>
              <a:srgbClr val="E3E7EC"/>
            </a:solidFill>
            <a:prstDash val="solid"/>
          </a:ln>
        </p:spPr>
      </p:sp>
      <p:sp>
        <p:nvSpPr>
          <p:cNvPr id="40" name="Text 35"/>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nine-times climb is not a marketing target, it is a distribution target. It needs partners, not posts.</a:t>
            </a:r>
            <a:endParaRPr lang="en-US" sz="700" dirty="0"/>
          </a:p>
        </p:txBody>
      </p:sp>
      <p:sp>
        <p:nvSpPr>
          <p:cNvPr id="41" name="Shape 36"/>
          <p:cNvSpPr/>
          <p:nvPr/>
        </p:nvSpPr>
        <p:spPr>
          <a:xfrm>
            <a:off x="5183734" y="4271705"/>
            <a:ext cx="4752137" cy="3106858"/>
          </a:xfrm>
          <a:prstGeom prst="rect">
            <a:avLst/>
          </a:prstGeom>
          <a:solidFill>
            <a:srgbClr val="FFFFFF"/>
          </a:solidFill>
          <a:ln w="7620">
            <a:solidFill>
              <a:srgbClr val="E3E7EC"/>
            </a:solidFill>
            <a:prstDash val="solid"/>
          </a:ln>
        </p:spPr>
      </p:sp>
      <p:sp>
        <p:nvSpPr>
          <p:cNvPr id="42" name="Text 37"/>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3" name="Text 38"/>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4" name="Text 39"/>
          <p:cNvSpPr txBox="1"/>
          <p:nvPr/>
        </p:nvSpPr>
        <p:spPr>
          <a:xfrm>
            <a:off x="5298934" y="49698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5" name="Text 40"/>
          <p:cNvSpPr txBox="1"/>
          <p:nvPr/>
        </p:nvSpPr>
        <p:spPr>
          <a:xfrm>
            <a:off x="5298934" y="538288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story is cost per schooner at home against a pub schooner at $12 to $18.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sticker price on a keg.</a:t>
            </a:r>
            <a:endParaRPr lang="en-US" sz="810" dirty="0"/>
          </a:p>
        </p:txBody>
      </p:sp>
      <p:sp>
        <p:nvSpPr>
          <p:cNvPr id="46" name="Text 41"/>
          <p:cNvSpPr txBox="1"/>
          <p:nvPr/>
        </p:nvSpPr>
        <p:spPr>
          <a:xfrm>
            <a:off x="5298934" y="579593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7" name="Text 42"/>
          <p:cNvSpPr txBox="1"/>
          <p:nvPr/>
        </p:nvSpPr>
        <p:spPr>
          <a:xfrm>
            <a:off x="5298934" y="620899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a:t>
            </a:r>
            <a:endParaRPr lang="en-US" sz="810" dirty="0"/>
          </a:p>
        </p:txBody>
      </p:sp>
      <p:sp>
        <p:nvSpPr>
          <p:cNvPr id="48" name="Shape 43"/>
          <p:cNvSpPr/>
          <p:nvPr/>
        </p:nvSpPr>
        <p:spPr>
          <a:xfrm>
            <a:off x="5298934" y="6965732"/>
            <a:ext cx="4521737" cy="0"/>
          </a:xfrm>
          <a:prstGeom prst="line">
            <a:avLst/>
          </a:prstGeom>
          <a:noFill/>
          <a:ln w="7620">
            <a:solidFill>
              <a:srgbClr val="E3E7EC"/>
            </a:solidFill>
            <a:prstDash val="solid"/>
          </a:ln>
        </p:spPr>
      </p:sp>
      <p:sp>
        <p:nvSpPr>
          <p:cNvPr id="49" name="Text 44"/>
          <p:cNvSpPr txBox="1"/>
          <p:nvPr/>
        </p:nvSpPr>
        <p:spPr>
          <a:xfrm>
            <a:off x="5298934" y="702333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is not settled. Three different sets of maths are in circulation and one is on a live ad. Settle it before it goes in any collateral.</a:t>
            </a:r>
            <a:endParaRPr lang="en-US" sz="700" dirty="0"/>
          </a:p>
        </p:txBody>
      </p:sp>
      <p:sp>
        <p:nvSpPr>
          <p:cNvPr id="50" name="Shape 45"/>
          <p:cNvSpPr/>
          <p:nvPr/>
        </p:nvSpPr>
        <p:spPr>
          <a:xfrm>
            <a:off x="10043770" y="4271705"/>
            <a:ext cx="4752137" cy="3106858"/>
          </a:xfrm>
          <a:prstGeom prst="rect">
            <a:avLst/>
          </a:prstGeom>
          <a:solidFill>
            <a:srgbClr val="FFFFFF"/>
          </a:solidFill>
          <a:ln w="7620">
            <a:solidFill>
              <a:srgbClr val="E3E7EC"/>
            </a:solidFill>
            <a:prstDash val="solid"/>
          </a:ln>
        </p:spPr>
      </p:sp>
      <p:sp>
        <p:nvSpPr>
          <p:cNvPr id="51" name="Text 46"/>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2" name="Text 47"/>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No decision was taken.</a:t>
            </a:r>
            <a:endParaRPr lang="en-US" sz="920" dirty="0"/>
          </a:p>
        </p:txBody>
      </p:sp>
      <p:sp>
        <p:nvSpPr>
          <p:cNvPr id="53" name="Text 48"/>
          <p:cNvSpPr txBox="1"/>
          <p:nvPr/>
        </p:nvSpPr>
        <p:spPr>
          <a:xfrm>
            <a:off x="10158970" y="4883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who drink beer find out the brand exists at all, which no amount of keg marketing reaches. It also opens bars and restaurants that will not give up a tap, and shipping cans goes further than shipping kegs.</a:t>
            </a:r>
            <a:endParaRPr lang="en-US" sz="810" dirty="0"/>
          </a:p>
        </p:txBody>
      </p:sp>
      <p:sp>
        <p:nvSpPr>
          <p:cNvPr id="54" name="Text 49"/>
          <p:cNvSpPr txBox="1"/>
          <p:nvPr/>
        </p:nvSpPr>
        <p:spPr>
          <a:xfrm>
            <a:off x="10158970" y="5512127"/>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at eight cans a minute and parked it, on the grounds that it adds a thing to a business that is not yet nailing the things it has.</a:t>
            </a:r>
            <a:endParaRPr lang="en-US" sz="810" dirty="0"/>
          </a:p>
        </p:txBody>
      </p:sp>
      <p:sp>
        <p:nvSpPr>
          <p:cNvPr id="55" name="Text 50"/>
          <p:cNvSpPr txBox="1"/>
          <p:nvPr/>
        </p:nvSpPr>
        <p:spPr>
          <a:xfrm>
            <a:off x="10158970" y="62949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 Premium small batch, not a price fight.</a:t>
            </a:r>
            <a:endParaRPr lang="en-US" sz="810" dirty="0"/>
          </a:p>
        </p:txBody>
      </p:sp>
      <p:sp>
        <p:nvSpPr>
          <p:cNvPr id="56" name="Shape 51"/>
          <p:cNvSpPr/>
          <p:nvPr/>
        </p:nvSpPr>
        <p:spPr>
          <a:xfrm>
            <a:off x="10158970" y="7085747"/>
            <a:ext cx="4521737" cy="0"/>
          </a:xfrm>
          <a:prstGeom prst="line">
            <a:avLst/>
          </a:prstGeom>
          <a:noFill/>
          <a:ln w="7620">
            <a:solidFill>
              <a:srgbClr val="E3E7EC"/>
            </a:solidFill>
            <a:prstDash val="solid"/>
          </a:ln>
        </p:spPr>
      </p:sp>
      <p:sp>
        <p:nvSpPr>
          <p:cNvPr id="57" name="Text 52"/>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8" name="Shape 53"/>
          <p:cNvSpPr/>
          <p:nvPr/>
        </p:nvSpPr>
        <p:spPr>
          <a:xfrm>
            <a:off x="323698" y="7486462"/>
            <a:ext cx="7182155" cy="2989618"/>
          </a:xfrm>
          <a:prstGeom prst="rect">
            <a:avLst/>
          </a:prstGeom>
          <a:solidFill>
            <a:srgbClr val="FFFFFF"/>
          </a:solidFill>
          <a:ln w="7620">
            <a:solidFill>
              <a:srgbClr val="E3E7EC"/>
            </a:solidFill>
            <a:prstDash val="solid"/>
          </a:ln>
        </p:spPr>
      </p:sp>
      <p:sp>
        <p:nvSpPr>
          <p:cNvPr id="59" name="Text 54"/>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0" name="Shape 55"/>
          <p:cNvSpPr/>
          <p:nvPr/>
        </p:nvSpPr>
        <p:spPr>
          <a:xfrm>
            <a:off x="438898" y="7816840"/>
            <a:ext cx="50400" cy="50400"/>
          </a:xfrm>
          <a:prstGeom prst="rect">
            <a:avLst/>
          </a:prstGeom>
          <a:solidFill>
            <a:srgbClr val="0066FF"/>
          </a:solidFill>
          <a:ln w="12700">
            <a:solidFill>
              <a:srgbClr val="333333"/>
            </a:solidFill>
            <a:prstDash val="solid"/>
          </a:ln>
        </p:spPr>
      </p:sp>
      <p:sp>
        <p:nvSpPr>
          <p:cNvPr id="61" name="Text 56"/>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Pause walk-in trading?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Owner: Justin. The rest of the plan assumes yes.</a:t>
            </a:r>
            <a:endParaRPr lang="en-US" sz="800" dirty="0"/>
          </a:p>
        </p:txBody>
      </p:sp>
      <p:sp>
        <p:nvSpPr>
          <p:cNvPr id="62" name="Shape 57"/>
          <p:cNvSpPr/>
          <p:nvPr/>
        </p:nvSpPr>
        <p:spPr>
          <a:xfrm>
            <a:off x="438898" y="8427093"/>
            <a:ext cx="50400" cy="50400"/>
          </a:xfrm>
          <a:prstGeom prst="rect">
            <a:avLst/>
          </a:prstGeom>
          <a:solidFill>
            <a:srgbClr val="0066FF"/>
          </a:solidFill>
          <a:ln w="12700">
            <a:solidFill>
              <a:srgbClr val="333333"/>
            </a:solidFill>
            <a:prstDash val="solid"/>
          </a:ln>
        </p:spPr>
      </p:sp>
      <p:sp>
        <p:nvSpPr>
          <p:cNvPr id="63" name="Text 58"/>
          <p:cNvSpPr txBox="1"/>
          <p:nvPr/>
        </p:nvSpPr>
        <p:spPr>
          <a:xfrm>
            <a:off x="546898" y="838178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Fund a wholesale role?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Full-timer or commissioned agent, with KPIs either way.</a:t>
            </a:r>
            <a:endParaRPr lang="en-US" sz="800" dirty="0"/>
          </a:p>
        </p:txBody>
      </p:sp>
      <p:sp>
        <p:nvSpPr>
          <p:cNvPr id="64" name="Shape 59"/>
          <p:cNvSpPr/>
          <p:nvPr/>
        </p:nvSpPr>
        <p:spPr>
          <a:xfrm>
            <a:off x="438898" y="9037347"/>
            <a:ext cx="50400" cy="50400"/>
          </a:xfrm>
          <a:prstGeom prst="rect">
            <a:avLst/>
          </a:prstGeom>
          <a:solidFill>
            <a:srgbClr val="0066FF"/>
          </a:solidFill>
          <a:ln w="12700">
            <a:solidFill>
              <a:srgbClr val="333333"/>
            </a:solidFill>
            <a:prstDash val="solid"/>
          </a:ln>
        </p:spPr>
      </p:sp>
      <p:sp>
        <p:nvSpPr>
          <p:cNvPr id="65" name="Text 60"/>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Attach membership to every system sale?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Retention maths says yes.</a:t>
            </a:r>
            <a:endParaRPr lang="en-US" sz="800" dirty="0"/>
          </a:p>
        </p:txBody>
      </p:sp>
      <p:sp>
        <p:nvSpPr>
          <p:cNvPr id="66" name="Shape 61"/>
          <p:cNvSpPr/>
          <p:nvPr/>
        </p:nvSpPr>
        <p:spPr>
          <a:xfrm>
            <a:off x="438898" y="9647600"/>
            <a:ext cx="50400" cy="50400"/>
          </a:xfrm>
          <a:prstGeom prst="rect">
            <a:avLst/>
          </a:prstGeom>
          <a:solidFill>
            <a:srgbClr val="0066FF"/>
          </a:solidFill>
          <a:ln w="12700">
            <a:solidFill>
              <a:srgbClr val="333333"/>
            </a:solidFill>
            <a:prstDash val="solid"/>
          </a:ln>
        </p:spPr>
      </p:sp>
      <p:sp>
        <p:nvSpPr>
          <p:cNvPr id="67" name="Text 62"/>
          <p:cNvSpPr txBox="1"/>
          <p:nvPr/>
        </p:nvSpPr>
        <p:spPr>
          <a:xfrm>
            <a:off x="546898" y="960229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Commission the canning feasibility?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number, not an opinion.</a:t>
            </a:r>
            <a:endParaRPr lang="en-US" sz="800" dirty="0"/>
          </a:p>
        </p:txBody>
      </p:sp>
      <p:sp>
        <p:nvSpPr>
          <p:cNvPr id="68" name="Shape 63"/>
          <p:cNvSpPr/>
          <p:nvPr/>
        </p:nvSpPr>
        <p:spPr>
          <a:xfrm>
            <a:off x="438898" y="10257854"/>
            <a:ext cx="50400" cy="50400"/>
          </a:xfrm>
          <a:prstGeom prst="rect">
            <a:avLst/>
          </a:prstGeom>
          <a:solidFill>
            <a:srgbClr val="0066FF"/>
          </a:solidFill>
          <a:ln w="12700">
            <a:solidFill>
              <a:srgbClr val="333333"/>
            </a:solidFill>
            <a:prstDash val="solid"/>
          </a:ln>
        </p:spPr>
      </p:sp>
      <p:sp>
        <p:nvSpPr>
          <p:cNvPr id="69" name="Text 64"/>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the per-schooner figure.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Then pull or correct the live ad.</a:t>
            </a:r>
            <a:endParaRPr lang="en-US" sz="800" dirty="0"/>
          </a:p>
        </p:txBody>
      </p:sp>
      <p:sp>
        <p:nvSpPr>
          <p:cNvPr id="70" name="Shape 65"/>
          <p:cNvSpPr/>
          <p:nvPr/>
        </p:nvSpPr>
        <p:spPr>
          <a:xfrm>
            <a:off x="7613752" y="7486462"/>
            <a:ext cx="7182155" cy="2989618"/>
          </a:xfrm>
          <a:prstGeom prst="rect">
            <a:avLst/>
          </a:prstGeom>
          <a:solidFill>
            <a:srgbClr val="FFFFFF"/>
          </a:solidFill>
          <a:ln w="7620">
            <a:solidFill>
              <a:srgbClr val="E3E7EC"/>
            </a:solidFill>
            <a:prstDash val="solid"/>
          </a:ln>
        </p:spPr>
      </p:sp>
      <p:sp>
        <p:nvSpPr>
          <p:cNvPr id="71" name="Text 66"/>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2" name="Shape 67"/>
          <p:cNvSpPr/>
          <p:nvPr/>
        </p:nvSpPr>
        <p:spPr>
          <a:xfrm>
            <a:off x="7728952" y="7816840"/>
            <a:ext cx="50400" cy="50400"/>
          </a:xfrm>
          <a:prstGeom prst="rect">
            <a:avLst/>
          </a:prstGeom>
          <a:solidFill>
            <a:srgbClr val="0066FF"/>
          </a:solidFill>
          <a:ln w="12700">
            <a:solidFill>
              <a:srgbClr val="333333"/>
            </a:solidFill>
            <a:prstDash val="solid"/>
          </a:ln>
        </p:spPr>
      </p:sp>
      <p:sp>
        <p:nvSpPr>
          <p:cNvPr id="73" name="Text 68"/>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4" name="Shape 69"/>
          <p:cNvSpPr/>
          <p:nvPr/>
        </p:nvSpPr>
        <p:spPr>
          <a:xfrm>
            <a:off x="7728952" y="8549706"/>
            <a:ext cx="50400" cy="50400"/>
          </a:xfrm>
          <a:prstGeom prst="rect">
            <a:avLst/>
          </a:prstGeom>
          <a:solidFill>
            <a:srgbClr val="0066FF"/>
          </a:solidFill>
          <a:ln w="12700">
            <a:solidFill>
              <a:srgbClr val="333333"/>
            </a:solidFill>
            <a:prstDash val="solid"/>
          </a:ln>
        </p:spPr>
      </p:sp>
      <p:sp>
        <p:nvSpPr>
          <p:cNvPr id="75" name="Text 70"/>
          <p:cNvSpPr txBox="1"/>
          <p:nvPr/>
        </p:nvSpPr>
        <p:spPr>
          <a:xfrm>
            <a:off x="7836952" y="850439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76" name="Shape 71"/>
          <p:cNvSpPr/>
          <p:nvPr/>
        </p:nvSpPr>
        <p:spPr>
          <a:xfrm>
            <a:off x="7728952" y="9282572"/>
            <a:ext cx="50400" cy="50400"/>
          </a:xfrm>
          <a:prstGeom prst="rect">
            <a:avLst/>
          </a:prstGeom>
          <a:solidFill>
            <a:srgbClr val="0066FF"/>
          </a:solidFill>
          <a:ln w="12700">
            <a:solidFill>
              <a:srgbClr val="333333"/>
            </a:solidFill>
            <a:prstDash val="solid"/>
          </a:ln>
        </p:spPr>
      </p:sp>
      <p:sp>
        <p:nvSpPr>
          <p:cNvPr id="77" name="Text 72"/>
          <p:cNvSpPr txBox="1"/>
          <p:nvPr/>
        </p:nvSpPr>
        <p:spPr>
          <a:xfrm>
            <a:off x="7836952" y="923726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Cutting the range too fast.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tail costs money, but some of it is why people come.</a:t>
            </a:r>
            <a:endParaRPr lang="en-US" sz="800" dirty="0"/>
          </a:p>
        </p:txBody>
      </p:sp>
      <p:sp>
        <p:nvSpPr>
          <p:cNvPr id="78" name="Shape 73"/>
          <p:cNvSpPr/>
          <p:nvPr/>
        </p:nvSpPr>
        <p:spPr>
          <a:xfrm>
            <a:off x="7728952" y="10015439"/>
            <a:ext cx="50400" cy="50400"/>
          </a:xfrm>
          <a:prstGeom prst="rect">
            <a:avLst/>
          </a:prstGeom>
          <a:solidFill>
            <a:srgbClr val="0066FF"/>
          </a:solidFill>
          <a:ln w="12700">
            <a:solidFill>
              <a:srgbClr val="333333"/>
            </a:solidFill>
            <a:prstDash val="solid"/>
          </a:ln>
        </p:spPr>
      </p:sp>
      <p:sp>
        <p:nvSpPr>
          <p:cNvPr id="79" name="Text 74"/>
          <p:cNvSpPr txBox="1"/>
          <p:nvPr/>
        </p:nvSpPr>
        <p:spPr>
          <a:xfrm>
            <a:off x="7836952" y="997012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0" name="Shape 75"/>
          <p:cNvSpPr/>
          <p:nvPr/>
        </p:nvSpPr>
        <p:spPr>
          <a:xfrm>
            <a:off x="7728952" y="10183264"/>
            <a:ext cx="6951755" cy="0"/>
          </a:xfrm>
          <a:prstGeom prst="line">
            <a:avLst/>
          </a:prstGeom>
          <a:noFill/>
          <a:ln w="7620">
            <a:solidFill>
              <a:srgbClr val="E3E7EC"/>
            </a:solidFill>
            <a:prstDash val="solid"/>
          </a:ln>
        </p:spPr>
      </p:sp>
      <p:sp>
        <p:nvSpPr>
          <p:cNvPr id="81" name="Text 76"/>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the catch-up: as this scales, the personal connection cannot hold. It has to be replicated in systems.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93129" y="365760"/>
            <a:ext cx="1150475"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93129"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7" name="Shape 3"/>
          <p:cNvSpPr/>
          <p:nvPr/>
        </p:nvSpPr>
        <p:spPr>
          <a:xfrm>
            <a:off x="11385086"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85086"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27967" y="365760"/>
            <a:ext cx="967119"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27967" y="365760"/>
            <a:ext cx="967119"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5967146" cy="2637898"/>
          </a:xfrm>
          <a:prstGeom prst="rect">
            <a:avLst/>
          </a:prstGeom>
          <a:solidFill>
            <a:srgbClr val="FFFFFF"/>
          </a:solidFill>
          <a:ln w="7620">
            <a:solidFill>
              <a:srgbClr val="E3E7EC"/>
            </a:solidFill>
            <a:prstDash val="solid"/>
          </a:ln>
        </p:spPr>
      </p:sp>
      <p:sp>
        <p:nvSpPr>
          <p:cNvPr id="13" name="Shape 9"/>
          <p:cNvSpPr/>
          <p:nvPr/>
        </p:nvSpPr>
        <p:spPr>
          <a:xfrm>
            <a:off x="323698" y="1115568"/>
            <a:ext cx="5967146"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5736746" cy="422046"/>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The pub at your place. Fresher, cheaper by the schooner, and yours.</a:t>
            </a:r>
            <a:endParaRPr lang="en-US" sz="1340" dirty="0"/>
          </a:p>
        </p:txBody>
      </p:sp>
      <p:sp>
        <p:nvSpPr>
          <p:cNvPr id="16" name="Text 12"/>
          <p:cNvSpPr txBox="1"/>
          <p:nvPr/>
        </p:nvSpPr>
        <p:spPr>
          <a:xfrm>
            <a:off x="438898" y="1928317"/>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Tap That is not a brewery that also delivers. It is the way a household stops paying pub prices. That framing changes who the competitor is, what the range should be, and who the marketing is talking to.</a:t>
            </a:r>
            <a:endParaRPr lang="en-US" sz="810" dirty="0"/>
          </a:p>
        </p:txBody>
      </p:sp>
      <p:sp>
        <p:nvSpPr>
          <p:cNvPr id="17" name="Text 13"/>
          <p:cNvSpPr txBox="1"/>
          <p:nvPr/>
        </p:nvSpPr>
        <p:spPr>
          <a:xfrm>
            <a:off x="438898" y="2342562"/>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756807"/>
            <a:ext cx="5736746"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example was a New York restaurant that benchmarked where everyone else was weakest, found it was beer, and made beer the thing it celebrated. The pub does beer at home badly. That is the same gap.</a:t>
            </a:r>
            <a:endParaRPr lang="en-US" sz="810" dirty="0"/>
          </a:p>
        </p:txBody>
      </p:sp>
      <p:sp>
        <p:nvSpPr>
          <p:cNvPr id="19" name="Shape 15"/>
          <p:cNvSpPr/>
          <p:nvPr/>
        </p:nvSpPr>
        <p:spPr>
          <a:xfrm>
            <a:off x="438898" y="3460651"/>
            <a:ext cx="5736746" cy="0"/>
          </a:xfrm>
          <a:prstGeom prst="line">
            <a:avLst/>
          </a:prstGeom>
          <a:noFill/>
          <a:ln w="7620">
            <a:solidFill>
              <a:srgbClr val="E3E7EC"/>
            </a:solidFill>
            <a:prstDash val="solid"/>
          </a:ln>
        </p:spPr>
      </p:sp>
      <p:sp>
        <p:nvSpPr>
          <p:cNvPr id="20" name="Text 16"/>
          <p:cNvSpPr txBox="1"/>
          <p:nvPr/>
        </p:nvSpPr>
        <p:spPr>
          <a:xfrm>
            <a:off x="438898" y="3518251"/>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That is the opening.</a:t>
            </a:r>
            <a:endParaRPr lang="en-US" sz="700" dirty="0"/>
          </a:p>
        </p:txBody>
      </p:sp>
      <p:sp>
        <p:nvSpPr>
          <p:cNvPr id="21" name="Shape 17"/>
          <p:cNvSpPr/>
          <p:nvPr/>
        </p:nvSpPr>
        <p:spPr>
          <a:xfrm>
            <a:off x="6398743" y="1115568"/>
            <a:ext cx="8397164" cy="2637898"/>
          </a:xfrm>
          <a:prstGeom prst="rect">
            <a:avLst/>
          </a:prstGeom>
          <a:solidFill>
            <a:srgbClr val="FFFFFF"/>
          </a:solidFill>
          <a:ln w="7620">
            <a:solidFill>
              <a:srgbClr val="E3E7EC"/>
            </a:solidFill>
            <a:prstDash val="solid"/>
          </a:ln>
        </p:spPr>
      </p:sp>
      <p:sp>
        <p:nvSpPr>
          <p:cNvPr id="22" name="Text 18"/>
          <p:cNvSpPr txBox="1"/>
          <p:nvPr/>
        </p:nvSpPr>
        <p:spPr>
          <a:xfrm>
            <a:off x="6513943"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3" name="Text 19"/>
          <p:cNvSpPr txBox="1"/>
          <p:nvPr/>
        </p:nvSpPr>
        <p:spPr>
          <a:xfrm>
            <a:off x="6513943" y="1400636"/>
            <a:ext cx="8166764"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Overpriced pubs. Not the duopoly, not A&amp;A, not the keg delivery operators.</a:t>
            </a:r>
            <a:endParaRPr lang="en-US" sz="920" dirty="0"/>
          </a:p>
        </p:txBody>
      </p:sp>
      <p:sp>
        <p:nvSpPr>
          <p:cNvPr id="24" name="Text 20"/>
          <p:cNvSpPr txBox="1"/>
          <p:nvPr/>
        </p:nvSpPr>
        <p:spPr>
          <a:xfrm>
            <a:off x="6513943" y="1727475"/>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Every price conversation should be unit economics against a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$12 to $18 pub schooner</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Being dearer than another keg supplier is defensible. Losing a sticker fight is not, and A&amp;A cannot be beaten on sticker without giving away the margin this business runs on.</a:t>
            </a:r>
            <a:endParaRPr lang="en-US" sz="810" dirty="0"/>
          </a:p>
        </p:txBody>
      </p:sp>
      <p:sp>
        <p:nvSpPr>
          <p:cNvPr id="25" name="Text 21"/>
          <p:cNvSpPr txBox="1"/>
          <p:nvPr/>
        </p:nvSpPr>
        <p:spPr>
          <a:xfrm>
            <a:off x="6513943" y="2201685"/>
            <a:ext cx="8166764"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6" name="Text 22"/>
          <p:cNvSpPr txBox="1"/>
          <p:nvPr/>
        </p:nvSpPr>
        <p:spPr>
          <a:xfrm>
            <a:off x="6513943" y="2521590"/>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The competitor that set the price anchor is not in good health, which makes following them down worse than pointless.</a:t>
            </a:r>
            <a:endParaRPr lang="en-US" sz="810" dirty="0"/>
          </a:p>
        </p:txBody>
      </p:sp>
      <p:sp>
        <p:nvSpPr>
          <p:cNvPr id="27" name="Shape 23"/>
          <p:cNvSpPr/>
          <p:nvPr/>
        </p:nvSpPr>
        <p:spPr>
          <a:xfrm>
            <a:off x="6513943" y="3460651"/>
            <a:ext cx="8166764" cy="0"/>
          </a:xfrm>
          <a:prstGeom prst="line">
            <a:avLst/>
          </a:prstGeom>
          <a:noFill/>
          <a:ln w="7620">
            <a:solidFill>
              <a:srgbClr val="E3E7EC"/>
            </a:solidFill>
            <a:prstDash val="solid"/>
          </a:ln>
        </p:spPr>
      </p:sp>
      <p:sp>
        <p:nvSpPr>
          <p:cNvPr id="28" name="Text 24"/>
          <p:cNvSpPr txBox="1"/>
          <p:nvPr/>
        </p:nvSpPr>
        <p:spPr>
          <a:xfrm>
            <a:off x="6513943" y="351825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still needs settling. Use the comparison, not a number, until it is.</a:t>
            </a:r>
            <a:endParaRPr lang="en-US" sz="700" dirty="0"/>
          </a:p>
        </p:txBody>
      </p:sp>
      <p:sp>
        <p:nvSpPr>
          <p:cNvPr id="29" name="Shape 25"/>
          <p:cNvSpPr/>
          <p:nvPr/>
        </p:nvSpPr>
        <p:spPr>
          <a:xfrm>
            <a:off x="323698" y="3861365"/>
            <a:ext cx="4752137" cy="3341337"/>
          </a:xfrm>
          <a:prstGeom prst="rect">
            <a:avLst/>
          </a:prstGeom>
          <a:solidFill>
            <a:srgbClr val="FFFFFF"/>
          </a:solidFill>
          <a:ln w="7620">
            <a:solidFill>
              <a:srgbClr val="E3E7EC"/>
            </a:solidFill>
            <a:prstDash val="solid"/>
          </a:ln>
        </p:spPr>
      </p:sp>
      <p:sp>
        <p:nvSpPr>
          <p:cNvPr id="30" name="Text 26"/>
          <p:cNvSpPr txBox="1"/>
          <p:nvPr/>
        </p:nvSpPr>
        <p:spPr>
          <a:xfrm>
            <a:off x="438898"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1" name="Text 27"/>
          <p:cNvSpPr txBox="1"/>
          <p:nvPr/>
        </p:nvSpPr>
        <p:spPr>
          <a:xfrm>
            <a:off x="438898" y="414643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2" name="Text 28"/>
          <p:cNvSpPr txBox="1"/>
          <p:nvPr/>
        </p:nvSpPr>
        <p:spPr>
          <a:xfrm>
            <a:off x="438898" y="477494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3" name="Text 29"/>
          <p:cNvSpPr txBox="1"/>
          <p:nvPr/>
        </p:nvSpPr>
        <p:spPr>
          <a:xfrm>
            <a:off x="438898" y="524915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4" name="Shape 30"/>
          <p:cNvSpPr/>
          <p:nvPr/>
        </p:nvSpPr>
        <p:spPr>
          <a:xfrm>
            <a:off x="438898" y="6789872"/>
            <a:ext cx="4521737" cy="0"/>
          </a:xfrm>
          <a:prstGeom prst="line">
            <a:avLst/>
          </a:prstGeom>
          <a:noFill/>
          <a:ln w="7620">
            <a:solidFill>
              <a:srgbClr val="E3E7EC"/>
            </a:solidFill>
            <a:prstDash val="solid"/>
          </a:ln>
        </p:spPr>
      </p:sp>
      <p:sp>
        <p:nvSpPr>
          <p:cNvPr id="35" name="Text 31"/>
          <p:cNvSpPr txBox="1"/>
          <p:nvPr/>
        </p:nvSpPr>
        <p:spPr>
          <a:xfrm>
            <a:off x="438898" y="684747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6" name="Shape 32"/>
          <p:cNvSpPr/>
          <p:nvPr/>
        </p:nvSpPr>
        <p:spPr>
          <a:xfrm>
            <a:off x="5183734" y="3861365"/>
            <a:ext cx="4752137" cy="3341337"/>
          </a:xfrm>
          <a:prstGeom prst="rect">
            <a:avLst/>
          </a:prstGeom>
          <a:solidFill>
            <a:srgbClr val="FFFFFF"/>
          </a:solidFill>
          <a:ln w="7620">
            <a:solidFill>
              <a:srgbClr val="E3E7EC"/>
            </a:solidFill>
            <a:prstDash val="solid"/>
          </a:ln>
        </p:spPr>
      </p:sp>
      <p:sp>
        <p:nvSpPr>
          <p:cNvPr id="37" name="Text 33"/>
          <p:cNvSpPr txBox="1"/>
          <p:nvPr/>
        </p:nvSpPr>
        <p:spPr>
          <a:xfrm>
            <a:off x="5298934"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8" name="Text 34"/>
          <p:cNvSpPr txBox="1"/>
          <p:nvPr/>
        </p:nvSpPr>
        <p:spPr>
          <a:xfrm>
            <a:off x="5298934" y="414643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39" name="Text 35"/>
          <p:cNvSpPr txBox="1"/>
          <p:nvPr/>
        </p:nvSpPr>
        <p:spPr>
          <a:xfrm>
            <a:off x="5298934" y="4473272"/>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a:t>
            </a:r>
            <a:endParaRPr lang="en-US" sz="810" dirty="0"/>
          </a:p>
        </p:txBody>
      </p:sp>
      <p:sp>
        <p:nvSpPr>
          <p:cNvPr id="40" name="Text 36"/>
          <p:cNvSpPr txBox="1"/>
          <p:nvPr/>
        </p:nvSpPr>
        <p:spPr>
          <a:xfrm>
            <a:off x="5298934" y="510178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1" name="Text 37"/>
          <p:cNvSpPr txBox="1"/>
          <p:nvPr/>
        </p:nvSpPr>
        <p:spPr>
          <a:xfrm>
            <a:off x="5298934" y="573030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2" name="Shape 38"/>
          <p:cNvSpPr/>
          <p:nvPr/>
        </p:nvSpPr>
        <p:spPr>
          <a:xfrm>
            <a:off x="5298934" y="6909887"/>
            <a:ext cx="4521737" cy="0"/>
          </a:xfrm>
          <a:prstGeom prst="line">
            <a:avLst/>
          </a:prstGeom>
          <a:noFill/>
          <a:ln w="7620">
            <a:solidFill>
              <a:srgbClr val="E3E7EC"/>
            </a:solidFill>
            <a:prstDash val="solid"/>
          </a:ln>
        </p:spPr>
      </p:sp>
      <p:sp>
        <p:nvSpPr>
          <p:cNvPr id="43" name="Text 39"/>
          <p:cNvSpPr txBox="1"/>
          <p:nvPr/>
        </p:nvSpPr>
        <p:spPr>
          <a:xfrm>
            <a:off x="5298934" y="696748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4" name="Shape 40"/>
          <p:cNvSpPr/>
          <p:nvPr/>
        </p:nvSpPr>
        <p:spPr>
          <a:xfrm>
            <a:off x="10043770" y="3861365"/>
            <a:ext cx="4752137" cy="3341337"/>
          </a:xfrm>
          <a:prstGeom prst="rect">
            <a:avLst/>
          </a:prstGeom>
          <a:solidFill>
            <a:srgbClr val="FFFFFF"/>
          </a:solidFill>
          <a:ln w="7620">
            <a:solidFill>
              <a:srgbClr val="E3E7EC"/>
            </a:solidFill>
            <a:prstDash val="solid"/>
          </a:ln>
        </p:spPr>
      </p:sp>
      <p:sp>
        <p:nvSpPr>
          <p:cNvPr id="45" name="Text 41"/>
          <p:cNvSpPr txBox="1"/>
          <p:nvPr/>
        </p:nvSpPr>
        <p:spPr>
          <a:xfrm>
            <a:off x="10158970"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6" name="Shape 42"/>
          <p:cNvSpPr/>
          <p:nvPr/>
        </p:nvSpPr>
        <p:spPr>
          <a:xfrm>
            <a:off x="10158970" y="4181584"/>
            <a:ext cx="50400" cy="50400"/>
          </a:xfrm>
          <a:prstGeom prst="rect">
            <a:avLst/>
          </a:prstGeom>
          <a:solidFill>
            <a:srgbClr val="0066FF"/>
          </a:solidFill>
          <a:ln w="12700">
            <a:solidFill>
              <a:srgbClr val="333333"/>
            </a:solidFill>
            <a:prstDash val="solid"/>
          </a:ln>
        </p:spPr>
      </p:sp>
      <p:sp>
        <p:nvSpPr>
          <p:cNvPr id="47" name="Text 43"/>
          <p:cNvSpPr txBox="1"/>
          <p:nvPr/>
        </p:nvSpPr>
        <p:spPr>
          <a:xfrm>
            <a:off x="10266970" y="414643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48" name="Shape 44"/>
          <p:cNvSpPr/>
          <p:nvPr/>
        </p:nvSpPr>
        <p:spPr>
          <a:xfrm>
            <a:off x="10158970" y="4948855"/>
            <a:ext cx="50400" cy="50400"/>
          </a:xfrm>
          <a:prstGeom prst="rect">
            <a:avLst/>
          </a:prstGeom>
          <a:solidFill>
            <a:srgbClr val="0066FF"/>
          </a:solidFill>
          <a:ln w="12700">
            <a:solidFill>
              <a:srgbClr val="333333"/>
            </a:solidFill>
            <a:prstDash val="solid"/>
          </a:ln>
        </p:spPr>
      </p:sp>
      <p:sp>
        <p:nvSpPr>
          <p:cNvPr id="49" name="Text 45"/>
          <p:cNvSpPr txBox="1"/>
          <p:nvPr/>
        </p:nvSpPr>
        <p:spPr>
          <a:xfrm>
            <a:off x="10266970" y="4913704"/>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buying objection answered, currently below the fold.</a:t>
            </a:r>
            <a:endParaRPr lang="en-US" sz="720" dirty="0"/>
          </a:p>
        </p:txBody>
      </p:sp>
      <p:sp>
        <p:nvSpPr>
          <p:cNvPr id="50" name="Shape 46"/>
          <p:cNvSpPr/>
          <p:nvPr/>
        </p:nvSpPr>
        <p:spPr>
          <a:xfrm>
            <a:off x="10158970" y="5588110"/>
            <a:ext cx="50400" cy="50400"/>
          </a:xfrm>
          <a:prstGeom prst="rect">
            <a:avLst/>
          </a:prstGeom>
          <a:solidFill>
            <a:srgbClr val="0066FF"/>
          </a:solidFill>
          <a:ln w="12700">
            <a:solidFill>
              <a:srgbClr val="333333"/>
            </a:solidFill>
            <a:prstDash val="solid"/>
          </a:ln>
        </p:spPr>
      </p:sp>
      <p:sp>
        <p:nvSpPr>
          <p:cNvPr id="51" name="Text 47"/>
          <p:cNvSpPr txBox="1"/>
          <p:nvPr/>
        </p:nvSpPr>
        <p:spPr>
          <a:xfrm>
            <a:off x="10266970" y="555296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Gas bottle management is a real barrier for new owners and this removes it.</a:t>
            </a:r>
            <a:endParaRPr lang="en-US" sz="720" dirty="0"/>
          </a:p>
        </p:txBody>
      </p:sp>
      <p:sp>
        <p:nvSpPr>
          <p:cNvPr id="52" name="Shape 48"/>
          <p:cNvSpPr/>
          <p:nvPr/>
        </p:nvSpPr>
        <p:spPr>
          <a:xfrm>
            <a:off x="10158970" y="6355382"/>
            <a:ext cx="50400" cy="50400"/>
          </a:xfrm>
          <a:prstGeom prst="rect">
            <a:avLst/>
          </a:prstGeom>
          <a:solidFill>
            <a:srgbClr val="0066FF"/>
          </a:solidFill>
          <a:ln w="12700">
            <a:solidFill>
              <a:srgbClr val="333333"/>
            </a:solidFill>
            <a:prstDash val="solid"/>
          </a:ln>
        </p:spPr>
      </p:sp>
      <p:sp>
        <p:nvSpPr>
          <p:cNvPr id="53" name="Text 49"/>
          <p:cNvSpPr txBox="1"/>
          <p:nvPr/>
        </p:nvSpPr>
        <p:spPr>
          <a:xfrm>
            <a:off x="10266970" y="6320231"/>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not assumed.</a:t>
            </a:r>
            <a:endParaRPr lang="en-US" sz="720" dirty="0"/>
          </a:p>
        </p:txBody>
      </p:sp>
      <p:sp>
        <p:nvSpPr>
          <p:cNvPr id="54" name="Shape 50"/>
          <p:cNvSpPr/>
          <p:nvPr/>
        </p:nvSpPr>
        <p:spPr>
          <a:xfrm>
            <a:off x="10158970" y="6994637"/>
            <a:ext cx="50400" cy="50400"/>
          </a:xfrm>
          <a:prstGeom prst="rect">
            <a:avLst/>
          </a:prstGeom>
          <a:solidFill>
            <a:srgbClr val="0066FF"/>
          </a:solidFill>
          <a:ln w="12700">
            <a:solidFill>
              <a:srgbClr val="333333"/>
            </a:solidFill>
            <a:prstDash val="solid"/>
          </a:ln>
        </p:spPr>
      </p:sp>
      <p:sp>
        <p:nvSpPr>
          <p:cNvPr id="55" name="Text 51"/>
          <p:cNvSpPr txBox="1"/>
          <p:nvPr/>
        </p:nvSpPr>
        <p:spPr>
          <a:xfrm>
            <a:off x="10266970" y="695948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Present, unpromoted, and invisible to AI search.</a:t>
            </a:r>
            <a:endParaRPr lang="en-US" sz="720" dirty="0"/>
          </a:p>
        </p:txBody>
      </p:sp>
      <p:sp>
        <p:nvSpPr>
          <p:cNvPr id="56" name="Shape 52"/>
          <p:cNvSpPr/>
          <p:nvPr/>
        </p:nvSpPr>
        <p:spPr>
          <a:xfrm>
            <a:off x="323698" y="7310602"/>
            <a:ext cx="7182155" cy="3165478"/>
          </a:xfrm>
          <a:prstGeom prst="rect">
            <a:avLst/>
          </a:prstGeom>
          <a:solidFill>
            <a:srgbClr val="FFFFFF"/>
          </a:solidFill>
          <a:ln w="7620">
            <a:solidFill>
              <a:srgbClr val="E3E7EC"/>
            </a:solidFill>
            <a:prstDash val="solid"/>
          </a:ln>
        </p:spPr>
      </p:sp>
      <p:sp>
        <p:nvSpPr>
          <p:cNvPr id="57" name="Text 53"/>
          <p:cNvSpPr txBox="1"/>
          <p:nvPr/>
        </p:nvSpPr>
        <p:spPr>
          <a:xfrm>
            <a:off x="438898"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58" name="Shape 54"/>
          <p:cNvSpPr/>
          <p:nvPr/>
        </p:nvSpPr>
        <p:spPr>
          <a:xfrm>
            <a:off x="438898" y="7632636"/>
            <a:ext cx="50400" cy="50400"/>
          </a:xfrm>
          <a:prstGeom prst="rect">
            <a:avLst/>
          </a:prstGeom>
          <a:solidFill>
            <a:srgbClr val="0066FF"/>
          </a:solidFill>
          <a:ln w="12700">
            <a:solidFill>
              <a:srgbClr val="333333"/>
            </a:solidFill>
            <a:prstDash val="solid"/>
          </a:ln>
        </p:spPr>
      </p:sp>
      <p:sp>
        <p:nvSpPr>
          <p:cNvPr id="59" name="Text 55"/>
          <p:cNvSpPr txBox="1"/>
          <p:nvPr/>
        </p:nvSpPr>
        <p:spPr>
          <a:xfrm>
            <a:off x="546898" y="7595670"/>
            <a:ext cx="6843755" cy="263296"/>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0" name="Shape 56"/>
          <p:cNvSpPr/>
          <p:nvPr/>
        </p:nvSpPr>
        <p:spPr>
          <a:xfrm>
            <a:off x="438898" y="8598255"/>
            <a:ext cx="50400" cy="50400"/>
          </a:xfrm>
          <a:prstGeom prst="rect">
            <a:avLst/>
          </a:prstGeom>
          <a:solidFill>
            <a:srgbClr val="0066FF"/>
          </a:solidFill>
          <a:ln w="12700">
            <a:solidFill>
              <a:srgbClr val="333333"/>
            </a:solidFill>
            <a:prstDash val="solid"/>
          </a:ln>
        </p:spPr>
      </p:sp>
      <p:sp>
        <p:nvSpPr>
          <p:cNvPr id="61" name="Text 57"/>
          <p:cNvSpPr txBox="1"/>
          <p:nvPr/>
        </p:nvSpPr>
        <p:spPr>
          <a:xfrm>
            <a:off x="546898" y="8561289"/>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2" name="Shape 58"/>
          <p:cNvSpPr/>
          <p:nvPr/>
        </p:nvSpPr>
        <p:spPr>
          <a:xfrm>
            <a:off x="438898" y="9432226"/>
            <a:ext cx="50400" cy="50400"/>
          </a:xfrm>
          <a:prstGeom prst="rect">
            <a:avLst/>
          </a:prstGeom>
          <a:solidFill>
            <a:srgbClr val="0066FF"/>
          </a:solidFill>
          <a:ln w="12700">
            <a:solidFill>
              <a:srgbClr val="333333"/>
            </a:solidFill>
            <a:prstDash val="solid"/>
          </a:ln>
        </p:spPr>
      </p:sp>
      <p:sp>
        <p:nvSpPr>
          <p:cNvPr id="63" name="Text 59"/>
          <p:cNvSpPr txBox="1"/>
          <p:nvPr/>
        </p:nvSpPr>
        <p:spPr>
          <a:xfrm>
            <a:off x="546898" y="939526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4" name="Shape 60"/>
          <p:cNvSpPr/>
          <p:nvPr/>
        </p:nvSpPr>
        <p:spPr>
          <a:xfrm>
            <a:off x="438898" y="10266198"/>
            <a:ext cx="50400" cy="50400"/>
          </a:xfrm>
          <a:prstGeom prst="rect">
            <a:avLst/>
          </a:prstGeom>
          <a:solidFill>
            <a:srgbClr val="0066FF"/>
          </a:solidFill>
          <a:ln w="12700">
            <a:solidFill>
              <a:srgbClr val="333333"/>
            </a:solidFill>
            <a:prstDash val="solid"/>
          </a:ln>
        </p:spPr>
      </p:sp>
      <p:sp>
        <p:nvSpPr>
          <p:cNvPr id="65" name="Text 61"/>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Category language.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Commercial brewer invites mainstream price comparison. The category needs a name of its own.</a:t>
            </a:r>
            <a:endParaRPr lang="en-US" sz="730" dirty="0"/>
          </a:p>
        </p:txBody>
      </p:sp>
      <p:sp>
        <p:nvSpPr>
          <p:cNvPr id="66" name="Shape 62"/>
          <p:cNvSpPr/>
          <p:nvPr/>
        </p:nvSpPr>
        <p:spPr>
          <a:xfrm>
            <a:off x="7613752" y="7310602"/>
            <a:ext cx="7182155" cy="3165478"/>
          </a:xfrm>
          <a:prstGeom prst="rect">
            <a:avLst/>
          </a:prstGeom>
          <a:solidFill>
            <a:srgbClr val="FFFFFF"/>
          </a:solidFill>
          <a:ln w="7620">
            <a:solidFill>
              <a:srgbClr val="E3E7EC"/>
            </a:solidFill>
            <a:prstDash val="solid"/>
          </a:ln>
        </p:spPr>
      </p:sp>
      <p:sp>
        <p:nvSpPr>
          <p:cNvPr id="67" name="Text 63"/>
          <p:cNvSpPr txBox="1"/>
          <p:nvPr/>
        </p:nvSpPr>
        <p:spPr>
          <a:xfrm>
            <a:off x="7728952"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68" name="Text 64"/>
          <p:cNvSpPr txBox="1"/>
          <p:nvPr/>
        </p:nvSpPr>
        <p:spPr>
          <a:xfrm>
            <a:off x="7728952" y="759567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69" name="Text 65"/>
          <p:cNvSpPr txBox="1"/>
          <p:nvPr/>
        </p:nvSpPr>
        <p:spPr>
          <a:xfrm>
            <a:off x="7728952" y="806988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a:t>
            </a:r>
            <a:endParaRPr lang="en-US" sz="810" dirty="0"/>
          </a:p>
        </p:txBody>
      </p:sp>
      <p:sp>
        <p:nvSpPr>
          <p:cNvPr id="70" name="Text 66"/>
          <p:cNvSpPr txBox="1"/>
          <p:nvPr/>
        </p:nvSpPr>
        <p:spPr>
          <a:xfrm>
            <a:off x="7728952" y="854409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1" name="Shape 67"/>
          <p:cNvSpPr/>
          <p:nvPr/>
        </p:nvSpPr>
        <p:spPr>
          <a:xfrm>
            <a:off x="7728952" y="10183264"/>
            <a:ext cx="6951755" cy="0"/>
          </a:xfrm>
          <a:prstGeom prst="line">
            <a:avLst/>
          </a:prstGeom>
          <a:noFill/>
          <a:ln w="7620">
            <a:solidFill>
              <a:srgbClr val="E3E7EC"/>
            </a:solidFill>
            <a:prstDash val="solid"/>
          </a:ln>
        </p:spPr>
      </p:sp>
      <p:sp>
        <p:nvSpPr>
          <p:cNvPr id="72" name="Text 6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93129" y="365760"/>
            <a:ext cx="1150475"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93129"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7" name="Shape 3"/>
          <p:cNvSpPr/>
          <p:nvPr/>
        </p:nvSpPr>
        <p:spPr>
          <a:xfrm>
            <a:off x="11385086"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85086"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25139" y="365760"/>
            <a:ext cx="969947"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25139" y="365760"/>
            <a:ext cx="969947"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743414"/>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61511"/>
            <a:ext cx="2762042" cy="1739856"/>
          </a:xfrm>
          <a:prstGeom prst="rect">
            <a:avLst/>
          </a:prstGeom>
          <a:solidFill>
            <a:srgbClr val="F5F7FA"/>
          </a:solidFill>
          <a:ln w="7620">
            <a:solidFill>
              <a:srgbClr val="E3E7EC"/>
            </a:solidFill>
            <a:prstDash val="solid"/>
          </a:ln>
        </p:spPr>
      </p:sp>
      <p:sp>
        <p:nvSpPr>
          <p:cNvPr id="17" name="Shape 13"/>
          <p:cNvSpPr/>
          <p:nvPr/>
        </p:nvSpPr>
        <p:spPr>
          <a:xfrm>
            <a:off x="438898" y="1761511"/>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2021677"/>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221808"/>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a:t>
            </a:r>
            <a:endParaRPr lang="en-US" sz="740" dirty="0"/>
          </a:p>
        </p:txBody>
      </p:sp>
      <p:sp>
        <p:nvSpPr>
          <p:cNvPr id="21" name="Shape 17"/>
          <p:cNvSpPr/>
          <p:nvPr/>
        </p:nvSpPr>
        <p:spPr>
          <a:xfrm>
            <a:off x="3308839" y="1761511"/>
            <a:ext cx="2762042" cy="1739856"/>
          </a:xfrm>
          <a:prstGeom prst="rect">
            <a:avLst/>
          </a:prstGeom>
          <a:solidFill>
            <a:srgbClr val="F5F7FA"/>
          </a:solidFill>
          <a:ln w="7620">
            <a:solidFill>
              <a:srgbClr val="E3E7EC"/>
            </a:solidFill>
            <a:prstDash val="solid"/>
          </a:ln>
        </p:spPr>
      </p:sp>
      <p:sp>
        <p:nvSpPr>
          <p:cNvPr id="22" name="Shape 18"/>
          <p:cNvSpPr/>
          <p:nvPr/>
        </p:nvSpPr>
        <p:spPr>
          <a:xfrm>
            <a:off x="3308839" y="1761511"/>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a:t>
            </a:r>
            <a:endParaRPr lang="en-US" sz="660" dirty="0"/>
          </a:p>
        </p:txBody>
      </p:sp>
      <p:sp>
        <p:nvSpPr>
          <p:cNvPr id="24" name="Text 20"/>
          <p:cNvSpPr txBox="1"/>
          <p:nvPr/>
        </p:nvSpPr>
        <p:spPr>
          <a:xfrm>
            <a:off x="3402439"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No path to a system or a refill.</a:t>
            </a:r>
            <a:endParaRPr lang="en-US" sz="740" dirty="0"/>
          </a:p>
        </p:txBody>
      </p:sp>
      <p:sp>
        <p:nvSpPr>
          <p:cNvPr id="25" name="Text 21"/>
          <p:cNvSpPr txBox="1"/>
          <p:nvPr/>
        </p:nvSpPr>
        <p:spPr>
          <a:xfrm>
            <a:off x="3402439"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a buy path, proof, and an FAQ.</a:t>
            </a:r>
            <a:endParaRPr lang="en-US" sz="740" dirty="0"/>
          </a:p>
        </p:txBody>
      </p:sp>
      <p:sp>
        <p:nvSpPr>
          <p:cNvPr id="26" name="Shape 22"/>
          <p:cNvSpPr/>
          <p:nvPr/>
        </p:nvSpPr>
        <p:spPr>
          <a:xfrm>
            <a:off x="6178781" y="1761511"/>
            <a:ext cx="2762042" cy="1739856"/>
          </a:xfrm>
          <a:prstGeom prst="rect">
            <a:avLst/>
          </a:prstGeom>
          <a:solidFill>
            <a:srgbClr val="F5F7FA"/>
          </a:solidFill>
          <a:ln w="7620">
            <a:solidFill>
              <a:srgbClr val="E3E7EC"/>
            </a:solidFill>
            <a:prstDash val="solid"/>
          </a:ln>
        </p:spPr>
      </p:sp>
      <p:sp>
        <p:nvSpPr>
          <p:cNvPr id="27" name="Shape 23"/>
          <p:cNvSpPr/>
          <p:nvPr/>
        </p:nvSpPr>
        <p:spPr>
          <a:xfrm>
            <a:off x="6178781" y="1761511"/>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a:t>
            </a:r>
            <a:endParaRPr lang="en-US" sz="660" dirty="0"/>
          </a:p>
        </p:txBody>
      </p:sp>
      <p:sp>
        <p:nvSpPr>
          <p:cNvPr id="29" name="Text 25"/>
          <p:cNvSpPr txBox="1"/>
          <p:nvPr/>
        </p:nvSpPr>
        <p:spPr>
          <a:xfrm>
            <a:off x="6272381"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to write back to the CRM.</a:t>
            </a:r>
            <a:endParaRPr lang="en-US" sz="740" dirty="0"/>
          </a:p>
        </p:txBody>
      </p:sp>
      <p:sp>
        <p:nvSpPr>
          <p:cNvPr id="31" name="Shape 27"/>
          <p:cNvSpPr/>
          <p:nvPr/>
        </p:nvSpPr>
        <p:spPr>
          <a:xfrm>
            <a:off x="9048722" y="1761511"/>
            <a:ext cx="2762042" cy="1739856"/>
          </a:xfrm>
          <a:prstGeom prst="rect">
            <a:avLst/>
          </a:prstGeom>
          <a:solidFill>
            <a:srgbClr val="F5F7FA"/>
          </a:solidFill>
          <a:ln w="7620">
            <a:solidFill>
              <a:srgbClr val="E3E7EC"/>
            </a:solidFill>
            <a:prstDash val="solid"/>
          </a:ln>
        </p:spPr>
      </p:sp>
      <p:sp>
        <p:nvSpPr>
          <p:cNvPr id="32" name="Shape 28"/>
          <p:cNvSpPr/>
          <p:nvPr/>
        </p:nvSpPr>
        <p:spPr>
          <a:xfrm>
            <a:off x="9048722" y="1761511"/>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a:t>
            </a:r>
            <a:endParaRPr lang="en-US" sz="740" dirty="0"/>
          </a:p>
        </p:txBody>
      </p:sp>
      <p:sp>
        <p:nvSpPr>
          <p:cNvPr id="36" name="Shape 32"/>
          <p:cNvSpPr/>
          <p:nvPr/>
        </p:nvSpPr>
        <p:spPr>
          <a:xfrm>
            <a:off x="11918664" y="1761511"/>
            <a:ext cx="2762042" cy="1739856"/>
          </a:xfrm>
          <a:prstGeom prst="rect">
            <a:avLst/>
          </a:prstGeom>
          <a:solidFill>
            <a:srgbClr val="F5F7FA"/>
          </a:solidFill>
          <a:ln w="7620">
            <a:solidFill>
              <a:srgbClr val="E3E7EC"/>
            </a:solidFill>
            <a:prstDash val="solid"/>
          </a:ln>
        </p:spPr>
      </p:sp>
      <p:sp>
        <p:nvSpPr>
          <p:cNvPr id="37" name="Shape 33"/>
          <p:cNvSpPr/>
          <p:nvPr/>
        </p:nvSpPr>
        <p:spPr>
          <a:xfrm>
            <a:off x="11918664" y="1761511"/>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memberships, vouchers, delivery.</a:t>
            </a:r>
            <a:endParaRPr lang="en-US" sz="740" dirty="0"/>
          </a:p>
        </p:txBody>
      </p:sp>
      <p:sp>
        <p:nvSpPr>
          <p:cNvPr id="41" name="Shape 37"/>
          <p:cNvSpPr/>
          <p:nvPr/>
        </p:nvSpPr>
        <p:spPr>
          <a:xfrm>
            <a:off x="438898" y="3566167"/>
            <a:ext cx="14241809" cy="0"/>
          </a:xfrm>
          <a:prstGeom prst="line">
            <a:avLst/>
          </a:prstGeom>
          <a:noFill/>
          <a:ln w="7620">
            <a:solidFill>
              <a:srgbClr val="E3E7EC"/>
            </a:solidFill>
            <a:prstDash val="solid"/>
          </a:ln>
        </p:spPr>
      </p:sp>
      <p:sp>
        <p:nvSpPr>
          <p:cNvPr id="42" name="Text 38"/>
          <p:cNvSpPr txBox="1"/>
          <p:nvPr/>
        </p:nvSpPr>
        <p:spPr>
          <a:xfrm>
            <a:off x="438898" y="3623767"/>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unlock. Spending more on ads before it is fixed buys traffic the business cannot catch.</a:t>
            </a:r>
            <a:endParaRPr lang="en-US" sz="700" dirty="0"/>
          </a:p>
        </p:txBody>
      </p:sp>
      <p:sp>
        <p:nvSpPr>
          <p:cNvPr id="43" name="Shape 39"/>
          <p:cNvSpPr/>
          <p:nvPr/>
        </p:nvSpPr>
        <p:spPr>
          <a:xfrm>
            <a:off x="323698" y="3966881"/>
            <a:ext cx="7182155" cy="3429267"/>
          </a:xfrm>
          <a:prstGeom prst="rect">
            <a:avLst/>
          </a:prstGeom>
          <a:solidFill>
            <a:srgbClr val="FFFFFF"/>
          </a:solidFill>
          <a:ln w="7620">
            <a:solidFill>
              <a:srgbClr val="E3E7EC"/>
            </a:solidFill>
            <a:prstDash val="solid"/>
          </a:ln>
        </p:spPr>
      </p:sp>
      <p:sp>
        <p:nvSpPr>
          <p:cNvPr id="44" name="Text 40"/>
          <p:cNvSpPr txBox="1"/>
          <p:nvPr/>
        </p:nvSpPr>
        <p:spPr>
          <a:xfrm>
            <a:off x="438898"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251949"/>
          <a:ext cx="11339703" cy="914400"/>
        </p:xfrm>
        <a:graphic>
          <a:graphicData uri="http://schemas.openxmlformats.org/drawingml/2006/table">
            <a:tbl>
              <a:tblPr/>
              <a:tblGrid>
                <a:gridCol w="3011009"/>
                <a:gridCol w="3940746"/>
              </a:tblGrid>
              <a:tr h="39962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53610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Tour and event operators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Award-winning stop, parking for a bus, a tasting they can sell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46" name="Shape 41"/>
          <p:cNvSpPr/>
          <p:nvPr/>
        </p:nvSpPr>
        <p:spPr>
          <a:xfrm>
            <a:off x="7613752" y="3966881"/>
            <a:ext cx="7182155" cy="3429267"/>
          </a:xfrm>
          <a:prstGeom prst="rect">
            <a:avLst/>
          </a:prstGeom>
          <a:solidFill>
            <a:srgbClr val="FFFFFF"/>
          </a:solidFill>
          <a:ln w="7620">
            <a:solidFill>
              <a:srgbClr val="E3E7EC"/>
            </a:solidFill>
            <a:prstDash val="solid"/>
          </a:ln>
        </p:spPr>
      </p:sp>
      <p:sp>
        <p:nvSpPr>
          <p:cNvPr id="47" name="Text 42"/>
          <p:cNvSpPr txBox="1"/>
          <p:nvPr/>
        </p:nvSpPr>
        <p:spPr>
          <a:xfrm>
            <a:off x="7728952"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7728952" y="4251949"/>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7728952" y="449477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Gift with purchase or a first-keg-free voucher tied to Harvey Norman system sales. Buy the Kegland and corny keg owner databases. Pursue the Benchy partnership. The model is the one kitchen installers use with Bunnings: they sell the hardware, we are the named first call for what goes in it.</a:t>
            </a:r>
            <a:endParaRPr lang="en-US" sz="810" dirty="0"/>
          </a:p>
        </p:txBody>
      </p:sp>
      <p:sp>
        <p:nvSpPr>
          <p:cNvPr id="50" name="Text 45"/>
          <p:cNvSpPr txBox="1"/>
          <p:nvPr/>
        </p:nvSpPr>
        <p:spPr>
          <a:xfrm>
            <a:off x="7728952" y="5049790"/>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7728952" y="5292615"/>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works and the margin comes back in dollars, not percent. Replace the blanket 90-day SMS with consumption-triggered reminders, because about 60% reorder within three months and 40% take longer, and one clock fails both. Lead on no CO2. Rethink party rental so a minimum keg guarantee covers the hire fee instead of a $75 barrier.</a:t>
            </a:r>
            <a:endParaRPr lang="en-US" sz="810" dirty="0"/>
          </a:p>
        </p:txBody>
      </p:sp>
      <p:sp>
        <p:nvSpPr>
          <p:cNvPr id="52" name="Text 47"/>
          <p:cNvSpPr txBox="1"/>
          <p:nvPr/>
        </p:nvSpPr>
        <p:spPr>
          <a:xfrm>
            <a:off x="7728952" y="5847632"/>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7728952" y="6090457"/>
            <a:ext cx="6951755" cy="61722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Two cohorts, and one message is currently going to both. Some are cutting back, which needs the low and non-alcoholic range. Some simply did not get around to it, which is friction and needs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between them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deck puts 40% on cutting back; in the room Christy put 40% on the lapse rate itself and said what they report is not getting around to it. Read it off the CRM before either message is written.</a:t>
            </a:r>
            <a:endParaRPr lang="en-US" sz="810" dirty="0"/>
          </a:p>
        </p:txBody>
      </p:sp>
      <p:sp>
        <p:nvSpPr>
          <p:cNvPr id="54" name="Shape 49"/>
          <p:cNvSpPr/>
          <p:nvPr/>
        </p:nvSpPr>
        <p:spPr>
          <a:xfrm>
            <a:off x="7728952" y="6983318"/>
            <a:ext cx="6951755" cy="0"/>
          </a:xfrm>
          <a:prstGeom prst="line">
            <a:avLst/>
          </a:prstGeom>
          <a:noFill/>
          <a:ln w="7620">
            <a:solidFill>
              <a:srgbClr val="E3E7EC"/>
            </a:solidFill>
            <a:prstDash val="solid"/>
          </a:ln>
        </p:spPr>
      </p:sp>
      <p:sp>
        <p:nvSpPr>
          <p:cNvPr id="55" name="Text 50"/>
          <p:cNvSpPr txBox="1"/>
          <p:nvPr/>
        </p:nvSpPr>
        <p:spPr>
          <a:xfrm>
            <a:off x="7728952" y="7040918"/>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Jewell Projects holds Harvey Norman contacts at franchisee level, plus a contact who has done 20,000-plus installs for Harvey Norman, JB Hi-Fi and The Good Guys.</a:t>
            </a:r>
            <a:endParaRPr lang="en-US" sz="700" dirty="0"/>
          </a:p>
        </p:txBody>
      </p:sp>
      <p:sp>
        <p:nvSpPr>
          <p:cNvPr id="56" name="Shape 51"/>
          <p:cNvSpPr/>
          <p:nvPr/>
        </p:nvSpPr>
        <p:spPr>
          <a:xfrm>
            <a:off x="323698" y="7504048"/>
            <a:ext cx="4752137" cy="2972032"/>
          </a:xfrm>
          <a:prstGeom prst="rect">
            <a:avLst/>
          </a:prstGeom>
          <a:solidFill>
            <a:srgbClr val="FFFFFF"/>
          </a:solidFill>
          <a:ln w="7620">
            <a:solidFill>
              <a:srgbClr val="E3E7EC"/>
            </a:solidFill>
            <a:prstDash val="solid"/>
          </a:ln>
        </p:spPr>
      </p:sp>
      <p:sp>
        <p:nvSpPr>
          <p:cNvPr id="57" name="Text 52"/>
          <p:cNvSpPr txBox="1"/>
          <p:nvPr/>
        </p:nvSpPr>
        <p:spPr>
          <a:xfrm>
            <a:off x="438898"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58" name="Text 53"/>
          <p:cNvSpPr txBox="1"/>
          <p:nvPr/>
        </p:nvSpPr>
        <p:spPr>
          <a:xfrm>
            <a:off x="438898"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a:t>
            </a:r>
            <a:endParaRPr lang="en-US" sz="810" dirty="0"/>
          </a:p>
        </p:txBody>
      </p:sp>
      <p:sp>
        <p:nvSpPr>
          <p:cNvPr id="59" name="Text 54"/>
          <p:cNvSpPr txBox="1"/>
          <p:nvPr/>
        </p:nvSpPr>
        <p:spPr>
          <a:xfrm>
            <a:off x="438898" y="8201059"/>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a:t>
            </a:r>
            <a:endParaRPr lang="en-US" sz="810" dirty="0"/>
          </a:p>
        </p:txBody>
      </p:sp>
      <p:sp>
        <p:nvSpPr>
          <p:cNvPr id="60" name="Text 55"/>
          <p:cNvSpPr txBox="1"/>
          <p:nvPr/>
        </p:nvSpPr>
        <p:spPr>
          <a:xfrm>
            <a:off x="438898" y="8921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1" name="Text 56"/>
          <p:cNvSpPr txBox="1"/>
          <p:nvPr/>
        </p:nvSpPr>
        <p:spPr>
          <a:xfrm>
            <a:off x="438898" y="948786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Venues are already forming buying groups to get around it. Find the pain points and build an offer that fits alongside the contract.</a:t>
            </a:r>
            <a:endParaRPr lang="en-US" sz="810" dirty="0"/>
          </a:p>
        </p:txBody>
      </p:sp>
      <p:sp>
        <p:nvSpPr>
          <p:cNvPr id="62" name="Shape 57"/>
          <p:cNvSpPr/>
          <p:nvPr/>
        </p:nvSpPr>
        <p:spPr>
          <a:xfrm>
            <a:off x="438898" y="10183264"/>
            <a:ext cx="4521737" cy="0"/>
          </a:xfrm>
          <a:prstGeom prst="line">
            <a:avLst/>
          </a:prstGeom>
          <a:noFill/>
          <a:ln w="7620">
            <a:solidFill>
              <a:srgbClr val="E3E7EC"/>
            </a:solidFill>
            <a:prstDash val="solid"/>
          </a:ln>
        </p:spPr>
      </p:sp>
      <p:sp>
        <p:nvSpPr>
          <p:cNvPr id="63" name="Text 58"/>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leverage is.</a:t>
            </a:r>
            <a:endParaRPr lang="en-US" sz="700" dirty="0"/>
          </a:p>
        </p:txBody>
      </p:sp>
      <p:sp>
        <p:nvSpPr>
          <p:cNvPr id="64" name="Shape 59"/>
          <p:cNvSpPr/>
          <p:nvPr/>
        </p:nvSpPr>
        <p:spPr>
          <a:xfrm>
            <a:off x="5183734" y="7504048"/>
            <a:ext cx="4752137" cy="2972032"/>
          </a:xfrm>
          <a:prstGeom prst="rect">
            <a:avLst/>
          </a:prstGeom>
          <a:solidFill>
            <a:srgbClr val="FFFFFF"/>
          </a:solidFill>
          <a:ln w="7620">
            <a:solidFill>
              <a:srgbClr val="E3E7EC"/>
            </a:solidFill>
            <a:prstDash val="solid"/>
          </a:ln>
        </p:spPr>
      </p:sp>
      <p:sp>
        <p:nvSpPr>
          <p:cNvPr id="65" name="Text 60"/>
          <p:cNvSpPr txBox="1"/>
          <p:nvPr/>
        </p:nvSpPr>
        <p:spPr>
          <a:xfrm>
            <a:off x="5298934"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6" name="Text 61"/>
          <p:cNvSpPr txBox="1"/>
          <p:nvPr/>
        </p:nvSpPr>
        <p:spPr>
          <a:xfrm>
            <a:off x="5298934"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7" name="Text 62"/>
          <p:cNvSpPr txBox="1"/>
          <p:nvPr/>
        </p:nvSpPr>
        <p:spPr>
          <a:xfrm>
            <a:off x="5298934" y="8263326"/>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rather than off it, and the awards page the Crafted win deserves.</a:t>
            </a:r>
            <a:endParaRPr lang="en-US" sz="810" dirty="0"/>
          </a:p>
        </p:txBody>
      </p:sp>
      <p:sp>
        <p:nvSpPr>
          <p:cNvPr id="68" name="Text 63"/>
          <p:cNvSpPr txBox="1"/>
          <p:nvPr/>
        </p:nvSpPr>
        <p:spPr>
          <a:xfrm>
            <a:off x="5298934" y="889184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69" name="Text 64"/>
          <p:cNvSpPr txBox="1"/>
          <p:nvPr/>
        </p:nvSpPr>
        <p:spPr>
          <a:xfrm>
            <a:off x="5298934" y="936605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0" name="Shape 65"/>
          <p:cNvSpPr/>
          <p:nvPr/>
        </p:nvSpPr>
        <p:spPr>
          <a:xfrm>
            <a:off x="10043770" y="7504048"/>
            <a:ext cx="4752137" cy="2972032"/>
          </a:xfrm>
          <a:prstGeom prst="rect">
            <a:avLst/>
          </a:prstGeom>
          <a:solidFill>
            <a:srgbClr val="FFFFFF"/>
          </a:solidFill>
          <a:ln w="7620">
            <a:solidFill>
              <a:srgbClr val="E3E7EC"/>
            </a:solidFill>
            <a:prstDash val="solid"/>
          </a:ln>
        </p:spPr>
      </p:sp>
      <p:sp>
        <p:nvSpPr>
          <p:cNvPr id="71" name="Text 66"/>
          <p:cNvSpPr txBox="1"/>
          <p:nvPr/>
        </p:nvSpPr>
        <p:spPr>
          <a:xfrm>
            <a:off x="10158970"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2" name="Shape 67"/>
          <p:cNvSpPr/>
          <p:nvPr/>
        </p:nvSpPr>
        <p:spPr>
          <a:xfrm>
            <a:off x="10158970" y="7789116"/>
            <a:ext cx="2224868" cy="458111"/>
          </a:xfrm>
          <a:prstGeom prst="rect">
            <a:avLst/>
          </a:prstGeom>
          <a:solidFill>
            <a:srgbClr val="F5F7FA"/>
          </a:solidFill>
          <a:ln w="7620">
            <a:solidFill>
              <a:srgbClr val="E3E7EC"/>
            </a:solidFill>
            <a:prstDash val="solid"/>
          </a:ln>
        </p:spPr>
      </p:sp>
      <p:sp>
        <p:nvSpPr>
          <p:cNvPr id="73" name="Text 68"/>
          <p:cNvSpPr txBox="1"/>
          <p:nvPr/>
        </p:nvSpPr>
        <p:spPr>
          <a:xfrm>
            <a:off x="10266970"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4" name="Text 69"/>
          <p:cNvSpPr txBox="1"/>
          <p:nvPr/>
        </p:nvSpPr>
        <p:spPr>
          <a:xfrm>
            <a:off x="10266970"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IN MARKET, AGAINST 1,000</a:t>
            </a:r>
            <a:endParaRPr lang="en-US" sz="550" dirty="0"/>
          </a:p>
        </p:txBody>
      </p:sp>
      <p:sp>
        <p:nvSpPr>
          <p:cNvPr id="75" name="Shape 70"/>
          <p:cNvSpPr/>
          <p:nvPr/>
        </p:nvSpPr>
        <p:spPr>
          <a:xfrm>
            <a:off x="12455838" y="7789116"/>
            <a:ext cx="2224868" cy="458111"/>
          </a:xfrm>
          <a:prstGeom prst="rect">
            <a:avLst/>
          </a:prstGeom>
          <a:solidFill>
            <a:srgbClr val="F5F7FA"/>
          </a:solidFill>
          <a:ln w="7620">
            <a:solidFill>
              <a:srgbClr val="E3E7EC"/>
            </a:solidFill>
            <a:prstDash val="solid"/>
          </a:ln>
        </p:spPr>
      </p:sp>
      <p:sp>
        <p:nvSpPr>
          <p:cNvPr id="76" name="Text 71"/>
          <p:cNvSpPr txBox="1"/>
          <p:nvPr/>
        </p:nvSpPr>
        <p:spPr>
          <a:xfrm>
            <a:off x="12563838"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Active</a:t>
            </a:r>
            <a:endParaRPr lang="en-US" sz="1100" dirty="0"/>
          </a:p>
        </p:txBody>
      </p:sp>
      <p:sp>
        <p:nvSpPr>
          <p:cNvPr id="77" name="Text 72"/>
          <p:cNvSpPr txBox="1"/>
          <p:nvPr/>
        </p:nvSpPr>
        <p:spPr>
          <a:xfrm>
            <a:off x="12563838"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REFILL CUSTOMERS, ONE DEFINITION</a:t>
            </a:r>
            <a:endParaRPr lang="en-US" sz="550" dirty="0"/>
          </a:p>
        </p:txBody>
      </p:sp>
      <p:sp>
        <p:nvSpPr>
          <p:cNvPr id="78" name="Shape 73"/>
          <p:cNvSpPr/>
          <p:nvPr/>
        </p:nvSpPr>
        <p:spPr>
          <a:xfrm>
            <a:off x="10158970" y="8319227"/>
            <a:ext cx="2224868" cy="458111"/>
          </a:xfrm>
          <a:prstGeom prst="rect">
            <a:avLst/>
          </a:prstGeom>
          <a:solidFill>
            <a:srgbClr val="F5F7FA"/>
          </a:solidFill>
          <a:ln w="7620">
            <a:solidFill>
              <a:srgbClr val="E3E7EC"/>
            </a:solidFill>
            <a:prstDash val="solid"/>
          </a:ln>
        </p:spPr>
      </p:sp>
      <p:sp>
        <p:nvSpPr>
          <p:cNvPr id="79" name="Text 74"/>
          <p:cNvSpPr txBox="1"/>
          <p:nvPr/>
        </p:nvSpPr>
        <p:spPr>
          <a:xfrm>
            <a:off x="10266970"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0" name="Text 75"/>
          <p:cNvSpPr txBox="1"/>
          <p:nvPr/>
        </p:nvSpPr>
        <p:spPr>
          <a:xfrm>
            <a:off x="10266970"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1" name="Shape 76"/>
          <p:cNvSpPr/>
          <p:nvPr/>
        </p:nvSpPr>
        <p:spPr>
          <a:xfrm>
            <a:off x="12455838" y="8319227"/>
            <a:ext cx="2224868" cy="458111"/>
          </a:xfrm>
          <a:prstGeom prst="rect">
            <a:avLst/>
          </a:prstGeom>
          <a:solidFill>
            <a:srgbClr val="F5F7FA"/>
          </a:solidFill>
          <a:ln w="7620">
            <a:solidFill>
              <a:srgbClr val="E3E7EC"/>
            </a:solidFill>
            <a:prstDash val="solid"/>
          </a:ln>
        </p:spPr>
      </p:sp>
      <p:sp>
        <p:nvSpPr>
          <p:cNvPr id="82" name="Text 77"/>
          <p:cNvSpPr txBox="1"/>
          <p:nvPr/>
        </p:nvSpPr>
        <p:spPr>
          <a:xfrm>
            <a:off x="12563838"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3" name="Text 78"/>
          <p:cNvSpPr txBox="1"/>
          <p:nvPr/>
        </p:nvSpPr>
        <p:spPr>
          <a:xfrm>
            <a:off x="12563838"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AND KEGS PER ACCOUNT</a:t>
            </a:r>
            <a:endParaRPr lang="en-US" sz="550" dirty="0"/>
          </a:p>
        </p:txBody>
      </p:sp>
      <p:sp>
        <p:nvSpPr>
          <p:cNvPr id="84" name="Text 79"/>
          <p:cNvSpPr txBox="1"/>
          <p:nvPr/>
        </p:nvSpPr>
        <p:spPr>
          <a:xfrm>
            <a:off x="10158970" y="8942938"/>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a dashboard nobody opens.</a:t>
            </a:r>
            <a:endParaRPr lang="en-US" sz="810" dirty="0"/>
          </a:p>
        </p:txBody>
      </p:sp>
      <p:sp>
        <p:nvSpPr>
          <p:cNvPr id="85" name="Text 80"/>
          <p:cNvSpPr txBox="1"/>
          <p:nvPr/>
        </p:nvSpPr>
        <p:spPr>
          <a:xfrm>
            <a:off x="10158970" y="926284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customer is currently defined three ways.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Pick one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93129" y="365760"/>
            <a:ext cx="1150475"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93129"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7" name="Shape 3"/>
          <p:cNvSpPr/>
          <p:nvPr/>
        </p:nvSpPr>
        <p:spPr>
          <a:xfrm>
            <a:off x="11385086" y="365760"/>
            <a:ext cx="1218043"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85086"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319186" y="365760"/>
            <a:ext cx="975900"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319186" y="365760"/>
            <a:ext cx="975900"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3087069"/>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NINETY DAYS</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proposed, and dated off the 15 September catch-up</a:t>
            </a:r>
            <a:endParaRPr lang="en-US" sz="680" dirty="0"/>
          </a:p>
        </p:txBody>
      </p:sp>
      <p:sp>
        <p:nvSpPr>
          <p:cNvPr id="15" name="Shape 11"/>
          <p:cNvSpPr/>
          <p:nvPr/>
        </p:nvSpPr>
        <p:spPr>
          <a:xfrm>
            <a:off x="438898" y="1400636"/>
            <a:ext cx="3479528" cy="2444386"/>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NOW · TO FRI 18 SEPT</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Justin returns the committed moves</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Clent and Christy regroup after Thu 17th</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Settle the per-schooner figure, pull or fix the live ad</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Pick one definition of an active customer</a:t>
            </a:r>
            <a:endParaRPr lang="en-US" sz="740" dirty="0"/>
          </a:p>
        </p:txBody>
      </p:sp>
      <p:sp>
        <p:nvSpPr>
          <p:cNvPr id="26" name="Shape 22"/>
          <p:cNvSpPr/>
          <p:nvPr/>
        </p:nvSpPr>
        <p:spPr>
          <a:xfrm>
            <a:off x="4026325" y="1400636"/>
            <a:ext cx="3479528" cy="2444386"/>
          </a:xfrm>
          <a:prstGeom prst="rect">
            <a:avLst/>
          </a:prstGeom>
          <a:solidFill>
            <a:srgbClr val="F5F7FA"/>
          </a:solidFill>
          <a:ln w="7620">
            <a:solidFill>
              <a:srgbClr val="E3E7EC"/>
            </a:solidFill>
            <a:prstDash val="solid"/>
          </a:ln>
        </p:spPr>
      </p:sp>
      <p:sp>
        <p:nvSpPr>
          <p:cNvPr id="27" name="Shape 23"/>
          <p:cNvSpPr/>
          <p:nvPr/>
        </p:nvSpPr>
        <p:spPr>
          <a:xfrm>
            <a:off x="4026325" y="1400636"/>
            <a:ext cx="3479528" cy="28800"/>
          </a:xfrm>
          <a:prstGeom prst="rect">
            <a:avLst/>
          </a:prstGeom>
          <a:solidFill>
            <a:srgbClr val="0066FF"/>
          </a:solidFill>
          <a:ln w="12700">
            <a:solidFill>
              <a:srgbClr val="333333"/>
            </a:solidFill>
            <a:prstDash val="solid"/>
          </a:ln>
        </p:spPr>
      </p:sp>
      <p:sp>
        <p:nvSpPr>
          <p:cNvPr id="28" name="Text 24"/>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1 · 22 SEPT TO 17 OCT</a:t>
            </a:r>
            <a:endParaRPr lang="en-US" sz="650" dirty="0"/>
          </a:p>
        </p:txBody>
      </p:sp>
      <p:sp>
        <p:nvSpPr>
          <p:cNvPr id="29" name="Shape 25"/>
          <p:cNvSpPr/>
          <p:nvPr/>
        </p:nvSpPr>
        <p:spPr>
          <a:xfrm>
            <a:off x="4119925" y="1697019"/>
            <a:ext cx="50400" cy="50400"/>
          </a:xfrm>
          <a:prstGeom prst="rect">
            <a:avLst/>
          </a:prstGeom>
          <a:solidFill>
            <a:srgbClr val="0066FF"/>
          </a:solidFill>
          <a:ln w="12700">
            <a:solidFill>
              <a:srgbClr val="333333"/>
            </a:solidFill>
            <a:prstDash val="solid"/>
          </a:ln>
        </p:spPr>
      </p:sp>
      <p:sp>
        <p:nvSpPr>
          <p:cNvPr id="30" name="Text 26"/>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Connect website, POS and CRM</a:t>
            </a:r>
            <a:endParaRPr lang="en-US" sz="740" dirty="0"/>
          </a:p>
        </p:txBody>
      </p:sp>
      <p:sp>
        <p:nvSpPr>
          <p:cNvPr id="31" name="Shape 27"/>
          <p:cNvSpPr/>
          <p:nvPr/>
        </p:nvSpPr>
        <p:spPr>
          <a:xfrm>
            <a:off x="4119925" y="1873671"/>
            <a:ext cx="50400" cy="50400"/>
          </a:xfrm>
          <a:prstGeom prst="rect">
            <a:avLst/>
          </a:prstGeom>
          <a:solidFill>
            <a:srgbClr val="0066FF"/>
          </a:solidFill>
          <a:ln w="12700">
            <a:solidFill>
              <a:srgbClr val="333333"/>
            </a:solidFill>
            <a:prstDash val="solid"/>
          </a:ln>
        </p:spPr>
      </p:sp>
      <p:sp>
        <p:nvSpPr>
          <p:cNvPr id="32" name="Text 28"/>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Consumption-triggered reminders replace the 90-day SMS</a:t>
            </a:r>
            <a:endParaRPr lang="en-US" sz="740" dirty="0"/>
          </a:p>
        </p:txBody>
      </p:sp>
      <p:sp>
        <p:nvSpPr>
          <p:cNvPr id="33" name="Shape 29"/>
          <p:cNvSpPr/>
          <p:nvPr/>
        </p:nvSpPr>
        <p:spPr>
          <a:xfrm>
            <a:off x="4119925" y="2050322"/>
            <a:ext cx="50400" cy="50400"/>
          </a:xfrm>
          <a:prstGeom prst="rect">
            <a:avLst/>
          </a:prstGeom>
          <a:solidFill>
            <a:srgbClr val="0066FF"/>
          </a:solidFill>
          <a:ln w="12700">
            <a:solidFill>
              <a:srgbClr val="333333"/>
            </a:solidFill>
            <a:prstDash val="solid"/>
          </a:ln>
        </p:spPr>
      </p:sp>
      <p:sp>
        <p:nvSpPr>
          <p:cNvPr id="34" name="Text 30"/>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Destination offer live: tours, weddings, functions</a:t>
            </a:r>
            <a:endParaRPr lang="en-US" sz="740" dirty="0"/>
          </a:p>
        </p:txBody>
      </p:sp>
      <p:sp>
        <p:nvSpPr>
          <p:cNvPr id="35" name="Shape 31"/>
          <p:cNvSpPr/>
          <p:nvPr/>
        </p:nvSpPr>
        <p:spPr>
          <a:xfrm>
            <a:off x="4119925" y="2226974"/>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Harvey Norman and Kegland conversations opened</a:t>
            </a:r>
            <a:endParaRPr lang="en-US" sz="740" dirty="0"/>
          </a:p>
        </p:txBody>
      </p:sp>
      <p:sp>
        <p:nvSpPr>
          <p:cNvPr id="37" name="Shape 33"/>
          <p:cNvSpPr/>
          <p:nvPr/>
        </p:nvSpPr>
        <p:spPr>
          <a:xfrm>
            <a:off x="7613752" y="1400636"/>
            <a:ext cx="3479528" cy="2444386"/>
          </a:xfrm>
          <a:prstGeom prst="rect">
            <a:avLst/>
          </a:prstGeom>
          <a:solidFill>
            <a:srgbClr val="F5F7FA"/>
          </a:solidFill>
          <a:ln w="7620">
            <a:solidFill>
              <a:srgbClr val="E3E7EC"/>
            </a:solidFill>
            <a:prstDash val="solid"/>
          </a:ln>
        </p:spPr>
      </p:sp>
      <p:sp>
        <p:nvSpPr>
          <p:cNvPr id="38" name="Shape 34"/>
          <p:cNvSpPr/>
          <p:nvPr/>
        </p:nvSpPr>
        <p:spPr>
          <a:xfrm>
            <a:off x="7613752" y="1400636"/>
            <a:ext cx="3479528" cy="28800"/>
          </a:xfrm>
          <a:prstGeom prst="rect">
            <a:avLst/>
          </a:prstGeom>
          <a:solidFill>
            <a:srgbClr val="0066FF"/>
          </a:solidFill>
          <a:ln w="12700">
            <a:solidFill>
              <a:srgbClr val="333333"/>
            </a:solidFill>
            <a:prstDash val="solid"/>
          </a:ln>
        </p:spPr>
      </p:sp>
      <p:sp>
        <p:nvSpPr>
          <p:cNvPr id="39" name="Text 35"/>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2 · 20 OCT TO 14 NOV</a:t>
            </a:r>
            <a:endParaRPr lang="en-US" sz="650" dirty="0"/>
          </a:p>
        </p:txBody>
      </p:sp>
      <p:sp>
        <p:nvSpPr>
          <p:cNvPr id="40" name="Shape 36"/>
          <p:cNvSpPr/>
          <p:nvPr/>
        </p:nvSpPr>
        <p:spPr>
          <a:xfrm>
            <a:off x="7707352" y="1697019"/>
            <a:ext cx="50400" cy="50400"/>
          </a:xfrm>
          <a:prstGeom prst="rect">
            <a:avLst/>
          </a:prstGeom>
          <a:solidFill>
            <a:srgbClr val="0066FF"/>
          </a:solidFill>
          <a:ln w="12700">
            <a:solidFill>
              <a:srgbClr val="333333"/>
            </a:solidFill>
            <a:prstDash val="solid"/>
          </a:ln>
        </p:spPr>
      </p:sp>
      <p:sp>
        <p:nvSpPr>
          <p:cNvPr id="41" name="Text 37"/>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role starts, with targets</a:t>
            </a:r>
            <a:endParaRPr lang="en-US" sz="740" dirty="0"/>
          </a:p>
        </p:txBody>
      </p:sp>
      <p:sp>
        <p:nvSpPr>
          <p:cNvPr id="42" name="Shape 38"/>
          <p:cNvSpPr/>
          <p:nvPr/>
        </p:nvSpPr>
        <p:spPr>
          <a:xfrm>
            <a:off x="7707352" y="1873671"/>
            <a:ext cx="50400" cy="50400"/>
          </a:xfrm>
          <a:prstGeom prst="rect">
            <a:avLst/>
          </a:prstGeom>
          <a:solidFill>
            <a:srgbClr val="0066FF"/>
          </a:solidFill>
          <a:ln w="12700">
            <a:solidFill>
              <a:srgbClr val="333333"/>
            </a:solidFill>
            <a:prstDash val="solid"/>
          </a:ln>
        </p:spPr>
      </p:sp>
      <p:sp>
        <p:nvSpPr>
          <p:cNvPr id="43" name="Text 39"/>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Membership attached to every system sale</a:t>
            </a:r>
            <a:endParaRPr lang="en-US" sz="740" dirty="0"/>
          </a:p>
        </p:txBody>
      </p:sp>
      <p:sp>
        <p:nvSpPr>
          <p:cNvPr id="44" name="Shape 40"/>
          <p:cNvSpPr/>
          <p:nvPr/>
        </p:nvSpPr>
        <p:spPr>
          <a:xfrm>
            <a:off x="7707352" y="2050322"/>
            <a:ext cx="50400" cy="50400"/>
          </a:xfrm>
          <a:prstGeom prst="rect">
            <a:avLst/>
          </a:prstGeom>
          <a:solidFill>
            <a:srgbClr val="0066FF"/>
          </a:solidFill>
          <a:ln w="12700">
            <a:solidFill>
              <a:srgbClr val="333333"/>
            </a:solidFill>
            <a:prstDash val="solid"/>
          </a:ln>
        </p:spPr>
      </p:sp>
      <p:sp>
        <p:nvSpPr>
          <p:cNvPr id="45" name="Text 41"/>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Award and proof assets across site and venue</a:t>
            </a:r>
            <a:endParaRPr lang="en-US" sz="740" dirty="0"/>
          </a:p>
        </p:txBody>
      </p:sp>
      <p:sp>
        <p:nvSpPr>
          <p:cNvPr id="46" name="Shape 42"/>
          <p:cNvSpPr/>
          <p:nvPr/>
        </p:nvSpPr>
        <p:spPr>
          <a:xfrm>
            <a:off x="7707352" y="2226974"/>
            <a:ext cx="50400" cy="50400"/>
          </a:xfrm>
          <a:prstGeom prst="rect">
            <a:avLst/>
          </a:prstGeom>
          <a:solidFill>
            <a:srgbClr val="0066FF"/>
          </a:solidFill>
          <a:ln w="12700">
            <a:solidFill>
              <a:srgbClr val="333333"/>
            </a:solidFill>
            <a:prstDash val="solid"/>
          </a:ln>
        </p:spPr>
      </p:sp>
      <p:sp>
        <p:nvSpPr>
          <p:cNvPr id="47" name="Text 43"/>
          <p:cNvSpPr txBox="1"/>
          <p:nvPr/>
        </p:nvSpPr>
        <p:spPr>
          <a:xfrm>
            <a:off x="7800952"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Lapsed split into forgot and cutting back</a:t>
            </a:r>
            <a:endParaRPr lang="en-US" sz="740" dirty="0"/>
          </a:p>
        </p:txBody>
      </p:sp>
      <p:sp>
        <p:nvSpPr>
          <p:cNvPr id="48" name="Shape 44"/>
          <p:cNvSpPr/>
          <p:nvPr/>
        </p:nvSpPr>
        <p:spPr>
          <a:xfrm>
            <a:off x="11201179" y="1400636"/>
            <a:ext cx="3479528" cy="2444386"/>
          </a:xfrm>
          <a:prstGeom prst="rect">
            <a:avLst/>
          </a:prstGeom>
          <a:solidFill>
            <a:srgbClr val="F5F7FA"/>
          </a:solidFill>
          <a:ln w="7620">
            <a:solidFill>
              <a:srgbClr val="E3E7EC"/>
            </a:solidFill>
            <a:prstDash val="solid"/>
          </a:ln>
        </p:spPr>
      </p:sp>
      <p:sp>
        <p:nvSpPr>
          <p:cNvPr id="49" name="Shape 45"/>
          <p:cNvSpPr/>
          <p:nvPr/>
        </p:nvSpPr>
        <p:spPr>
          <a:xfrm>
            <a:off x="11201179" y="1400636"/>
            <a:ext cx="3479528" cy="28800"/>
          </a:xfrm>
          <a:prstGeom prst="rect">
            <a:avLst/>
          </a:prstGeom>
          <a:solidFill>
            <a:srgbClr val="0066FF"/>
          </a:solidFill>
          <a:ln w="12700">
            <a:solidFill>
              <a:srgbClr val="333333"/>
            </a:solidFill>
            <a:prstDash val="solid"/>
          </a:ln>
        </p:spPr>
      </p:sp>
      <p:sp>
        <p:nvSpPr>
          <p:cNvPr id="50" name="Text 46"/>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3 · 17 NOV TO 12 DEC</a:t>
            </a:r>
            <a:endParaRPr lang="en-US" sz="650" dirty="0"/>
          </a:p>
        </p:txBody>
      </p:sp>
      <p:sp>
        <p:nvSpPr>
          <p:cNvPr id="51" name="Shape 47"/>
          <p:cNvSpPr/>
          <p:nvPr/>
        </p:nvSpPr>
        <p:spPr>
          <a:xfrm>
            <a:off x="11294779" y="1697019"/>
            <a:ext cx="50400" cy="50400"/>
          </a:xfrm>
          <a:prstGeom prst="rect">
            <a:avLst/>
          </a:prstGeom>
          <a:solidFill>
            <a:srgbClr val="0066FF"/>
          </a:solidFill>
          <a:ln w="12700">
            <a:solidFill>
              <a:srgbClr val="333333"/>
            </a:solidFill>
            <a:prstDash val="solid"/>
          </a:ln>
        </p:spPr>
      </p:sp>
      <p:sp>
        <p:nvSpPr>
          <p:cNvPr id="52" name="Text 48"/>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Range cut to heroes, with the marketing behind them</a:t>
            </a:r>
            <a:endParaRPr lang="en-US" sz="740" dirty="0"/>
          </a:p>
        </p:txBody>
      </p:sp>
      <p:sp>
        <p:nvSpPr>
          <p:cNvPr id="53" name="Shape 49"/>
          <p:cNvSpPr/>
          <p:nvPr/>
        </p:nvSpPr>
        <p:spPr>
          <a:xfrm>
            <a:off x="11294779" y="1873671"/>
            <a:ext cx="50400" cy="50400"/>
          </a:xfrm>
          <a:prstGeom prst="rect">
            <a:avLst/>
          </a:prstGeom>
          <a:solidFill>
            <a:srgbClr val="0066FF"/>
          </a:solidFill>
          <a:ln w="12700">
            <a:solidFill>
              <a:srgbClr val="333333"/>
            </a:solidFill>
            <a:prstDash val="solid"/>
          </a:ln>
        </p:spPr>
      </p:sp>
      <p:sp>
        <p:nvSpPr>
          <p:cNvPr id="54" name="Text 50"/>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Wellness and light range briefed</a:t>
            </a:r>
            <a:endParaRPr lang="en-US" sz="740" dirty="0"/>
          </a:p>
        </p:txBody>
      </p:sp>
      <p:sp>
        <p:nvSpPr>
          <p:cNvPr id="55" name="Shape 51"/>
          <p:cNvSpPr/>
          <p:nvPr/>
        </p:nvSpPr>
        <p:spPr>
          <a:xfrm>
            <a:off x="11294779" y="2050322"/>
            <a:ext cx="50400" cy="50400"/>
          </a:xfrm>
          <a:prstGeom prst="rect">
            <a:avLst/>
          </a:prstGeom>
          <a:solidFill>
            <a:srgbClr val="0066FF"/>
          </a:solidFill>
          <a:ln w="12700">
            <a:solidFill>
              <a:srgbClr val="333333"/>
            </a:solidFill>
            <a:prstDash val="solid"/>
          </a:ln>
        </p:spPr>
      </p:sp>
      <p:sp>
        <p:nvSpPr>
          <p:cNvPr id="56" name="Text 52"/>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Designing for her, as a product brief</a:t>
            </a:r>
            <a:endParaRPr lang="en-US" sz="740" dirty="0"/>
          </a:p>
        </p:txBody>
      </p:sp>
      <p:sp>
        <p:nvSpPr>
          <p:cNvPr id="57" name="Shape 53"/>
          <p:cNvSpPr/>
          <p:nvPr/>
        </p:nvSpPr>
        <p:spPr>
          <a:xfrm>
            <a:off x="11294779" y="2226974"/>
            <a:ext cx="50400" cy="50400"/>
          </a:xfrm>
          <a:prstGeom prst="rect">
            <a:avLst/>
          </a:prstGeom>
          <a:solidFill>
            <a:srgbClr val="0066FF"/>
          </a:solidFill>
          <a:ln w="12700">
            <a:solidFill>
              <a:srgbClr val="333333"/>
            </a:solidFill>
            <a:prstDash val="solid"/>
          </a:ln>
        </p:spPr>
      </p:sp>
      <p:sp>
        <p:nvSpPr>
          <p:cNvPr id="58" name="Text 54"/>
          <p:cNvSpPr txBox="1"/>
          <p:nvPr/>
        </p:nvSpPr>
        <p:spPr>
          <a:xfrm>
            <a:off x="11388379"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Canning decision taken on costed numbers</a:t>
            </a:r>
            <a:endParaRPr lang="en-US" sz="740" dirty="0"/>
          </a:p>
        </p:txBody>
      </p:sp>
      <p:sp>
        <p:nvSpPr>
          <p:cNvPr id="59" name="Shape 55"/>
          <p:cNvSpPr/>
          <p:nvPr/>
        </p:nvSpPr>
        <p:spPr>
          <a:xfrm>
            <a:off x="438898" y="3909822"/>
            <a:ext cx="14241809" cy="0"/>
          </a:xfrm>
          <a:prstGeom prst="line">
            <a:avLst/>
          </a:prstGeom>
          <a:noFill/>
          <a:ln w="7620">
            <a:solidFill>
              <a:srgbClr val="E3E7EC"/>
            </a:solidFill>
            <a:prstDash val="solid"/>
          </a:ln>
        </p:spPr>
      </p:sp>
      <p:sp>
        <p:nvSpPr>
          <p:cNvPr id="60" name="Text 56"/>
          <p:cNvSpPr txBox="1"/>
          <p:nvPr/>
        </p:nvSpPr>
        <p:spPr>
          <a:xfrm>
            <a:off x="438898" y="396742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Clent is overseas from the end of September. Sprint 1 ownership needs to survive that.</a:t>
            </a:r>
            <a:endParaRPr lang="en-US" sz="700" dirty="0"/>
          </a:p>
        </p:txBody>
      </p:sp>
      <p:sp>
        <p:nvSpPr>
          <p:cNvPr id="61" name="Shape 57"/>
          <p:cNvSpPr/>
          <p:nvPr/>
        </p:nvSpPr>
        <p:spPr>
          <a:xfrm>
            <a:off x="323698" y="4310536"/>
            <a:ext cx="4752137" cy="3087069"/>
          </a:xfrm>
          <a:prstGeom prst="rect">
            <a:avLst/>
          </a:prstGeom>
          <a:solidFill>
            <a:srgbClr val="FFFFFF"/>
          </a:solidFill>
          <a:ln w="7620">
            <a:solidFill>
              <a:srgbClr val="E3E7EC"/>
            </a:solidFill>
            <a:prstDash val="solid"/>
          </a:ln>
        </p:spPr>
      </p:sp>
      <p:sp>
        <p:nvSpPr>
          <p:cNvPr id="62" name="Text 58"/>
          <p:cNvSpPr txBox="1"/>
          <p:nvPr/>
        </p:nvSpPr>
        <p:spPr>
          <a:xfrm>
            <a:off x="438898"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63" name="Text 59"/>
          <p:cNvSpPr txBox="1"/>
          <p:nvPr/>
        </p:nvSpPr>
        <p:spPr>
          <a:xfrm>
            <a:off x="438898" y="4595604"/>
            <a:ext cx="4521737"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64" name="Text 60"/>
          <p:cNvSpPr txBox="1"/>
          <p:nvPr/>
        </p:nvSpPr>
        <p:spPr>
          <a:xfrm>
            <a:off x="438898" y="503610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65" name="Text 61"/>
          <p:cNvSpPr txBox="1"/>
          <p:nvPr/>
        </p:nvSpPr>
        <p:spPr>
          <a:xfrm>
            <a:off x="438898" y="5462729"/>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 for every guest.</a:t>
            </a:r>
            <a:endParaRPr lang="en-US" sz="810" dirty="0"/>
          </a:p>
        </p:txBody>
      </p:sp>
      <p:sp>
        <p:nvSpPr>
          <p:cNvPr id="66" name="Text 62"/>
          <p:cNvSpPr txBox="1"/>
          <p:nvPr/>
        </p:nvSpPr>
        <p:spPr>
          <a:xfrm>
            <a:off x="438898" y="6043662"/>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Ticketed events and collabs.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Own the calendar rather than waiting for walk-ins.</a:t>
            </a:r>
            <a:endParaRPr lang="en-US" sz="810" dirty="0"/>
          </a:p>
        </p:txBody>
      </p:sp>
      <p:sp>
        <p:nvSpPr>
          <p:cNvPr id="67" name="Text 63"/>
          <p:cNvSpPr txBox="1"/>
          <p:nvPr/>
        </p:nvSpPr>
        <p:spPr>
          <a:xfrm>
            <a:off x="438898" y="631598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that the host runs for you, in front of exactly the people who might buy one.</a:t>
            </a:r>
            <a:endParaRPr lang="en-US" sz="810" dirty="0"/>
          </a:p>
        </p:txBody>
      </p:sp>
      <p:sp>
        <p:nvSpPr>
          <p:cNvPr id="68" name="Shape 64"/>
          <p:cNvSpPr/>
          <p:nvPr/>
        </p:nvSpPr>
        <p:spPr>
          <a:xfrm>
            <a:off x="438898" y="6984775"/>
            <a:ext cx="4521737" cy="0"/>
          </a:xfrm>
          <a:prstGeom prst="line">
            <a:avLst/>
          </a:prstGeom>
          <a:noFill/>
          <a:ln w="7620">
            <a:solidFill>
              <a:srgbClr val="E3E7EC"/>
            </a:solidFill>
            <a:prstDash val="solid"/>
          </a:ln>
        </p:spPr>
      </p:sp>
      <p:sp>
        <p:nvSpPr>
          <p:cNvPr id="69" name="Text 65"/>
          <p:cNvSpPr txBox="1"/>
          <p:nvPr/>
        </p:nvSpPr>
        <p:spPr>
          <a:xfrm>
            <a:off x="438898"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Romance the Crafted Brewers' Choice award everywhere in this. It is the reason a tour operator picks this stop.</a:t>
            </a:r>
            <a:endParaRPr lang="en-US" sz="700" dirty="0"/>
          </a:p>
        </p:txBody>
      </p:sp>
      <p:sp>
        <p:nvSpPr>
          <p:cNvPr id="70" name="Shape 66"/>
          <p:cNvSpPr/>
          <p:nvPr/>
        </p:nvSpPr>
        <p:spPr>
          <a:xfrm>
            <a:off x="5183734" y="4310536"/>
            <a:ext cx="4752137" cy="3087069"/>
          </a:xfrm>
          <a:prstGeom prst="rect">
            <a:avLst/>
          </a:prstGeom>
          <a:solidFill>
            <a:srgbClr val="FFFFFF"/>
          </a:solidFill>
          <a:ln w="7620">
            <a:solidFill>
              <a:srgbClr val="E3E7EC"/>
            </a:solidFill>
            <a:prstDash val="solid"/>
          </a:ln>
        </p:spPr>
      </p:sp>
      <p:sp>
        <p:nvSpPr>
          <p:cNvPr id="71" name="Text 67"/>
          <p:cNvSpPr txBox="1"/>
          <p:nvPr/>
        </p:nvSpPr>
        <p:spPr>
          <a:xfrm>
            <a:off x="5298934"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595604"/>
          <a:ext cx="11339703" cy="914400"/>
        </p:xfrm>
        <a:graphic>
          <a:graphicData uri="http://schemas.openxmlformats.org/drawingml/2006/table">
            <a:tbl>
              <a:tblPr/>
              <a:tblGrid>
                <a:gridCol w="1227824"/>
                <a:gridCol w="2702456"/>
                <a:gridCol w="591456"/>
              </a:tblGrid>
              <a:tr h="303282">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Harvey Norman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GWP or first keg free at point of sale, plus the buyer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Kegland / corny keg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Buy the owner databases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Benchy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Official partnership and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Mark's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300 weddings a year across two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Zip water contacts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 distribution points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Cannery contact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Clent's neighbour, former head of the country's largest cannery. Costed feasibility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73" name="Shape 68"/>
          <p:cNvSpPr/>
          <p:nvPr/>
        </p:nvSpPr>
        <p:spPr>
          <a:xfrm>
            <a:off x="5298934" y="7104790"/>
            <a:ext cx="4521737" cy="0"/>
          </a:xfrm>
          <a:prstGeom prst="line">
            <a:avLst/>
          </a:prstGeom>
          <a:noFill/>
          <a:ln w="7620">
            <a:solidFill>
              <a:srgbClr val="E3E7EC"/>
            </a:solidFill>
            <a:prstDash val="solid"/>
          </a:ln>
        </p:spPr>
      </p:sp>
      <p:sp>
        <p:nvSpPr>
          <p:cNvPr id="74" name="Text 69"/>
          <p:cNvSpPr txBox="1"/>
          <p:nvPr/>
        </p:nvSpPr>
        <p:spPr>
          <a:xfrm>
            <a:off x="5298934" y="7162390"/>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 None has been approached yet.</a:t>
            </a:r>
            <a:endParaRPr lang="en-US" sz="700" dirty="0"/>
          </a:p>
        </p:txBody>
      </p:sp>
      <p:sp>
        <p:nvSpPr>
          <p:cNvPr id="75" name="Shape 70"/>
          <p:cNvSpPr/>
          <p:nvPr/>
        </p:nvSpPr>
        <p:spPr>
          <a:xfrm>
            <a:off x="10043770" y="4310536"/>
            <a:ext cx="4752137" cy="3087069"/>
          </a:xfrm>
          <a:prstGeom prst="rect">
            <a:avLst/>
          </a:prstGeom>
          <a:solidFill>
            <a:srgbClr val="FFFFFF"/>
          </a:solidFill>
          <a:ln w="7620">
            <a:solidFill>
              <a:srgbClr val="E3E7EC"/>
            </a:solidFill>
            <a:prstDash val="solid"/>
          </a:ln>
        </p:spPr>
      </p:sp>
      <p:sp>
        <p:nvSpPr>
          <p:cNvPr id="76" name="Text 71"/>
          <p:cNvSpPr txBox="1"/>
          <p:nvPr/>
        </p:nvSpPr>
        <p:spPr>
          <a:xfrm>
            <a:off x="10158970"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77" name="Text 72"/>
          <p:cNvSpPr txBox="1"/>
          <p:nvPr/>
        </p:nvSpPr>
        <p:spPr>
          <a:xfrm>
            <a:off x="10158970" y="4595604"/>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78" name="Text 73"/>
          <p:cNvSpPr txBox="1"/>
          <p:nvPr/>
        </p:nvSpPr>
        <p:spPr>
          <a:xfrm>
            <a:off x="10158970" y="506981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79" name="Text 74"/>
          <p:cNvSpPr txBox="1"/>
          <p:nvPr/>
        </p:nvSpPr>
        <p:spPr>
          <a:xfrm>
            <a:off x="10158970" y="585263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a:t>
            </a:r>
            <a:endParaRPr lang="en-US" sz="810" dirty="0"/>
          </a:p>
        </p:txBody>
      </p:sp>
      <p:sp>
        <p:nvSpPr>
          <p:cNvPr id="80" name="Shape 75"/>
          <p:cNvSpPr/>
          <p:nvPr/>
        </p:nvSpPr>
        <p:spPr>
          <a:xfrm>
            <a:off x="10158970" y="6984775"/>
            <a:ext cx="4521737" cy="0"/>
          </a:xfrm>
          <a:prstGeom prst="line">
            <a:avLst/>
          </a:prstGeom>
          <a:noFill/>
          <a:ln w="7620">
            <a:solidFill>
              <a:srgbClr val="E3E7EC"/>
            </a:solidFill>
            <a:prstDash val="solid"/>
          </a:ln>
        </p:spPr>
      </p:sp>
      <p:sp>
        <p:nvSpPr>
          <p:cNvPr id="81" name="Text 76"/>
          <p:cNvSpPr txBox="1"/>
          <p:nvPr/>
        </p:nvSpPr>
        <p:spPr>
          <a:xfrm>
            <a:off x="10158970"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82" name="Shape 77"/>
          <p:cNvSpPr/>
          <p:nvPr/>
        </p:nvSpPr>
        <p:spPr>
          <a:xfrm>
            <a:off x="323698" y="7505504"/>
            <a:ext cx="9612173" cy="2970575"/>
          </a:xfrm>
          <a:prstGeom prst="rect">
            <a:avLst/>
          </a:prstGeom>
          <a:solidFill>
            <a:srgbClr val="FFFFFF"/>
          </a:solidFill>
          <a:ln w="7620">
            <a:solidFill>
              <a:srgbClr val="E3E7EC"/>
            </a:solidFill>
            <a:prstDash val="solid"/>
          </a:ln>
        </p:spPr>
      </p:sp>
      <p:sp>
        <p:nvSpPr>
          <p:cNvPr id="83" name="Text 78"/>
          <p:cNvSpPr txBox="1"/>
          <p:nvPr/>
        </p:nvSpPr>
        <p:spPr>
          <a:xfrm>
            <a:off x="438898" y="7620704"/>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7790572"/>
          <a:ext cx="11339703" cy="914400"/>
        </p:xfrm>
        <a:graphic>
          <a:graphicData uri="http://schemas.openxmlformats.org/drawingml/2006/table">
            <a:tbl>
              <a:tblPr/>
              <a:tblGrid>
                <a:gridCol w="3112742"/>
                <a:gridCol w="1036641"/>
                <a:gridCol w="1215982"/>
                <a:gridCol w="993326"/>
                <a:gridCol w="951910"/>
                <a:gridCol w="1206863"/>
                <a:gridCol w="864307"/>
              </a:tblGrid>
              <a:tr h="275851">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Chrissy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Connected data, CRM, site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build</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Destination programme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Partnerships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range,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85" name="Shape 79"/>
          <p:cNvSpPr/>
          <p:nvPr/>
        </p:nvSpPr>
        <p:spPr>
          <a:xfrm>
            <a:off x="438898" y="10183264"/>
            <a:ext cx="9381773" cy="0"/>
          </a:xfrm>
          <a:prstGeom prst="line">
            <a:avLst/>
          </a:prstGeom>
          <a:noFill/>
          <a:ln w="7620">
            <a:solidFill>
              <a:srgbClr val="E3E7EC"/>
            </a:solidFill>
            <a:prstDash val="solid"/>
          </a:ln>
        </p:spPr>
      </p:sp>
      <p:sp>
        <p:nvSpPr>
          <p:cNvPr id="86" name="Text 80"/>
          <p:cNvSpPr txBox="1"/>
          <p:nvPr/>
        </p:nvSpPr>
        <p:spPr>
          <a:xfrm>
            <a:off x="438898" y="10240864"/>
            <a:ext cx="9381773"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for the next conversation. Wholesale has no R on purpose: that is the hire. Harry carries activation, as agreed in the catch-up.</a:t>
            </a:r>
            <a:endParaRPr lang="en-US" sz="700" dirty="0"/>
          </a:p>
        </p:txBody>
      </p:sp>
      <p:sp>
        <p:nvSpPr>
          <p:cNvPr id="87" name="Shape 81"/>
          <p:cNvSpPr/>
          <p:nvPr/>
        </p:nvSpPr>
        <p:spPr>
          <a:xfrm>
            <a:off x="10043770" y="7505504"/>
            <a:ext cx="4752137" cy="2970575"/>
          </a:xfrm>
          <a:prstGeom prst="rect">
            <a:avLst/>
          </a:prstGeom>
          <a:solidFill>
            <a:srgbClr val="FFFFFF"/>
          </a:solidFill>
          <a:ln w="7620">
            <a:solidFill>
              <a:srgbClr val="E3E7EC"/>
            </a:solidFill>
            <a:prstDash val="solid"/>
          </a:ln>
        </p:spPr>
      </p:sp>
      <p:sp>
        <p:nvSpPr>
          <p:cNvPr id="88" name="Text 82"/>
          <p:cNvSpPr txBox="1"/>
          <p:nvPr/>
        </p:nvSpPr>
        <p:spPr>
          <a:xfrm>
            <a:off x="10158970" y="762070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89" name="Shape 83"/>
          <p:cNvSpPr/>
          <p:nvPr/>
        </p:nvSpPr>
        <p:spPr>
          <a:xfrm>
            <a:off x="10158970" y="7826611"/>
            <a:ext cx="50400" cy="50400"/>
          </a:xfrm>
          <a:prstGeom prst="rect">
            <a:avLst/>
          </a:prstGeom>
          <a:solidFill>
            <a:srgbClr val="0066FF"/>
          </a:solidFill>
          <a:ln w="12700">
            <a:solidFill>
              <a:srgbClr val="333333"/>
            </a:solidFill>
            <a:prstDash val="solid"/>
          </a:ln>
        </p:spPr>
      </p:sp>
      <p:sp>
        <p:nvSpPr>
          <p:cNvPr id="90" name="Text 84"/>
          <p:cNvSpPr txBox="1"/>
          <p:nvPr/>
        </p:nvSpPr>
        <p:spPr>
          <a:xfrm>
            <a:off x="10266970" y="77905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a:t>
            </a:r>
            <a:endParaRPr lang="en-US" sz="730" dirty="0"/>
          </a:p>
        </p:txBody>
      </p:sp>
      <p:sp>
        <p:nvSpPr>
          <p:cNvPr id="91" name="Shape 85"/>
          <p:cNvSpPr/>
          <p:nvPr/>
        </p:nvSpPr>
        <p:spPr>
          <a:xfrm>
            <a:off x="10158970" y="8376136"/>
            <a:ext cx="50400" cy="50400"/>
          </a:xfrm>
          <a:prstGeom prst="rect">
            <a:avLst/>
          </a:prstGeom>
          <a:solidFill>
            <a:srgbClr val="0066FF"/>
          </a:solidFill>
          <a:ln w="12700">
            <a:solidFill>
              <a:srgbClr val="333333"/>
            </a:solidFill>
            <a:prstDash val="solid"/>
          </a:ln>
        </p:spPr>
      </p:sp>
      <p:sp>
        <p:nvSpPr>
          <p:cNvPr id="92" name="Text 86"/>
          <p:cNvSpPr txBox="1"/>
          <p:nvPr/>
        </p:nvSpPr>
        <p:spPr>
          <a:xfrm>
            <a:off x="10266970" y="834009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21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Clent and Christy regroup, plan confirmed, owners named.</a:t>
            </a:r>
            <a:endParaRPr lang="en-US" sz="730" dirty="0"/>
          </a:p>
        </p:txBody>
      </p:sp>
      <p:sp>
        <p:nvSpPr>
          <p:cNvPr id="93" name="Shape 87"/>
          <p:cNvSpPr/>
          <p:nvPr/>
        </p:nvSpPr>
        <p:spPr>
          <a:xfrm>
            <a:off x="10158970" y="8925660"/>
            <a:ext cx="50400" cy="50400"/>
          </a:xfrm>
          <a:prstGeom prst="rect">
            <a:avLst/>
          </a:prstGeom>
          <a:solidFill>
            <a:srgbClr val="0066FF"/>
          </a:solidFill>
          <a:ln w="12700">
            <a:solidFill>
              <a:srgbClr val="333333"/>
            </a:solidFill>
            <a:prstDash val="solid"/>
          </a:ln>
        </p:spPr>
      </p:sp>
      <p:sp>
        <p:nvSpPr>
          <p:cNvPr id="94" name="Text 88"/>
          <p:cNvSpPr txBox="1"/>
          <p:nvPr/>
        </p:nvSpPr>
        <p:spPr>
          <a:xfrm>
            <a:off x="10266970" y="888962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17 Oct.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1 review. Is the data connected and are reminders live?</a:t>
            </a:r>
            <a:endParaRPr lang="en-US" sz="730" dirty="0"/>
          </a:p>
        </p:txBody>
      </p:sp>
      <p:sp>
        <p:nvSpPr>
          <p:cNvPr id="95" name="Shape 89"/>
          <p:cNvSpPr/>
          <p:nvPr/>
        </p:nvSpPr>
        <p:spPr>
          <a:xfrm>
            <a:off x="10158970" y="9475185"/>
            <a:ext cx="50400" cy="50400"/>
          </a:xfrm>
          <a:prstGeom prst="rect">
            <a:avLst/>
          </a:prstGeom>
          <a:solidFill>
            <a:srgbClr val="0066FF"/>
          </a:solidFill>
          <a:ln w="12700">
            <a:solidFill>
              <a:srgbClr val="333333"/>
            </a:solidFill>
            <a:prstDash val="solid"/>
          </a:ln>
        </p:spPr>
      </p:sp>
      <p:sp>
        <p:nvSpPr>
          <p:cNvPr id="96" name="Text 90"/>
          <p:cNvSpPr txBox="1"/>
          <p:nvPr/>
        </p:nvSpPr>
        <p:spPr>
          <a:xfrm>
            <a:off x="10266970" y="94391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14 Nov.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2 review. Wholesale pipeline and membership attach rate.</a:t>
            </a:r>
            <a:endParaRPr lang="en-US" sz="730" dirty="0"/>
          </a:p>
        </p:txBody>
      </p:sp>
      <p:sp>
        <p:nvSpPr>
          <p:cNvPr id="97" name="Shape 91"/>
          <p:cNvSpPr/>
          <p:nvPr/>
        </p:nvSpPr>
        <p:spPr>
          <a:xfrm>
            <a:off x="10158970" y="10024710"/>
            <a:ext cx="50400" cy="50400"/>
          </a:xfrm>
          <a:prstGeom prst="rect">
            <a:avLst/>
          </a:prstGeom>
          <a:solidFill>
            <a:srgbClr val="0066FF"/>
          </a:solidFill>
          <a:ln w="12700">
            <a:solidFill>
              <a:srgbClr val="333333"/>
            </a:solidFill>
            <a:prstDash val="solid"/>
          </a:ln>
        </p:spPr>
      </p:sp>
      <p:sp>
        <p:nvSpPr>
          <p:cNvPr id="98" name="Text 92"/>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12 Dec.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Ninety-day review against the 1,000 systems north star.</a:t>
            </a:r>
            <a:endParaRPr lang="en-US" sz="730" dirty="0"/>
          </a:p>
        </p:txBody>
      </p:sp>
      <p:sp>
        <p:nvSpPr>
          <p:cNvPr id="99" name="Shape 93"/>
          <p:cNvSpPr/>
          <p:nvPr/>
        </p:nvSpPr>
        <p:spPr>
          <a:xfrm>
            <a:off x="10158970" y="10183264"/>
            <a:ext cx="4521737" cy="0"/>
          </a:xfrm>
          <a:prstGeom prst="line">
            <a:avLst/>
          </a:prstGeom>
          <a:noFill/>
          <a:ln w="7620">
            <a:solidFill>
              <a:srgbClr val="E3E7EC"/>
            </a:solidFill>
            <a:prstDash val="solid"/>
          </a:ln>
        </p:spPr>
      </p:sp>
      <p:sp>
        <p:nvSpPr>
          <p:cNvPr id="100" name="Text 94"/>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one question first: did the number of systems in market move?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2026-09-15T07:39:04Z</dcterms:created>
  <dcterms:modified xsi:type="dcterms:W3CDTF">2026-09-15T07:39:04Z</dcterms:modified>
</cp:coreProperties>
</file>