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528736" y="365760"/>
            <a:ext cx="751467"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528736" y="365760"/>
            <a:ext cx="751467"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SUMMARY</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8397164" cy="2686259"/>
          </a:xfrm>
          <a:prstGeom prst="rect">
            <a:avLst/>
          </a:prstGeom>
          <a:solidFill>
            <a:srgbClr val="FFFFFF"/>
          </a:solidFill>
          <a:ln w="7620">
            <a:solidFill>
              <a:srgbClr val="E3E7EC"/>
            </a:solidFill>
            <a:prstDash val="solid"/>
          </a:ln>
        </p:spPr>
      </p:sp>
      <p:sp>
        <p:nvSpPr>
          <p:cNvPr id="13" name="Shape 9"/>
          <p:cNvSpPr/>
          <p:nvPr/>
        </p:nvSpPr>
        <p:spPr>
          <a:xfrm>
            <a:off x="323698" y="1115568"/>
            <a:ext cx="8397164"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5" name="Text 11"/>
          <p:cNvSpPr txBox="1"/>
          <p:nvPr/>
        </p:nvSpPr>
        <p:spPr>
          <a:xfrm>
            <a:off x="438898" y="1400636"/>
            <a:ext cx="8166764" cy="661416"/>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active keg refillers by year three, across the Gold Coast, Brisbane and Northern Rivers, residential and commercial, with 250 at six months (March 2027). Every decision gets tested against whether it moves that number.</a:t>
            </a:r>
            <a:endParaRPr lang="en-US" sz="1400" dirty="0"/>
          </a:p>
        </p:txBody>
      </p:sp>
      <p:sp>
        <p:nvSpPr>
          <p:cNvPr id="16" name="Text 12"/>
          <p:cNvSpPr txBox="1"/>
          <p:nvPr/>
        </p:nvSpPr>
        <p:spPr>
          <a:xfrm>
            <a:off x="438898" y="2139036"/>
            <a:ext cx="8166764"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three-way, not yet settled: a Taproom selling kegs, a Showroom selling beers, or an Event space doing both. JP recommended pausing walk-in trade to protect the refill business; Justin's own priority is to grow taproom traffic from local business, functions and ticketed music.</a:t>
            </a:r>
            <a:endParaRPr lang="en-US" sz="810" dirty="0"/>
          </a:p>
        </p:txBody>
      </p:sp>
      <p:sp>
        <p:nvSpPr>
          <p:cNvPr id="17" name="Text 13"/>
          <p:cNvSpPr txBox="1"/>
          <p:nvPr/>
        </p:nvSpPr>
        <p:spPr>
          <a:xfrm>
            <a:off x="438898" y="2678935"/>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gets split across three shapes at once, the best insights stay buried in a long document, and 1,000 refillers stays a number on a page.</a:t>
            </a:r>
            <a:endParaRPr lang="en-US" sz="810" dirty="0"/>
          </a:p>
        </p:txBody>
      </p:sp>
      <p:sp>
        <p:nvSpPr>
          <p:cNvPr id="18" name="Text 14"/>
          <p:cNvSpPr txBox="1"/>
          <p:nvPr/>
        </p:nvSpPr>
        <p:spPr>
          <a:xfrm>
            <a:off x="438898" y="306452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everything in it is equal, so none of it has shape. Clent asked for three things off the back of it: belief, clarity, momentum, because a decision made beats a strategy admired.</a:t>
            </a:r>
            <a:endParaRPr lang="en-US" sz="810" dirty="0"/>
          </a:p>
        </p:txBody>
      </p:sp>
      <p:sp>
        <p:nvSpPr>
          <p:cNvPr id="19" name="Shape 15"/>
          <p:cNvSpPr/>
          <p:nvPr/>
        </p:nvSpPr>
        <p:spPr>
          <a:xfrm>
            <a:off x="438898" y="3509012"/>
            <a:ext cx="8166764" cy="0"/>
          </a:xfrm>
          <a:prstGeom prst="line">
            <a:avLst/>
          </a:prstGeom>
          <a:noFill/>
          <a:ln w="7620">
            <a:solidFill>
              <a:srgbClr val="E3E7EC"/>
            </a:solidFill>
            <a:prstDash val="solid"/>
          </a:ln>
        </p:spPr>
      </p:sp>
      <p:sp>
        <p:nvSpPr>
          <p:cNvPr id="20" name="Text 16"/>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is Justin's, from his plan on a page. JP framed it in the catch-up as 1,000 systems; refillers is the better measure, since a system not refilling is worth nothing.</a:t>
            </a:r>
            <a:endParaRPr lang="en-US" sz="700" dirty="0"/>
          </a:p>
        </p:txBody>
      </p:sp>
      <p:sp>
        <p:nvSpPr>
          <p:cNvPr id="21" name="Shape 17"/>
          <p:cNvSpPr/>
          <p:nvPr/>
        </p:nvSpPr>
        <p:spPr>
          <a:xfrm>
            <a:off x="8828761" y="1115568"/>
            <a:ext cx="5967146" cy="2686259"/>
          </a:xfrm>
          <a:prstGeom prst="rect">
            <a:avLst/>
          </a:prstGeom>
          <a:solidFill>
            <a:srgbClr val="FFFFFF"/>
          </a:solidFill>
          <a:ln w="7620">
            <a:solidFill>
              <a:srgbClr val="E3E7EC"/>
            </a:solidFill>
            <a:prstDash val="solid"/>
          </a:ln>
        </p:spPr>
      </p:sp>
      <p:sp>
        <p:nvSpPr>
          <p:cNvPr id="22" name="Text 18"/>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3" name="Shape 19"/>
          <p:cNvSpPr/>
          <p:nvPr/>
        </p:nvSpPr>
        <p:spPr>
          <a:xfrm>
            <a:off x="8943961" y="1400636"/>
            <a:ext cx="1864249" cy="1106996"/>
          </a:xfrm>
          <a:prstGeom prst="rect">
            <a:avLst/>
          </a:prstGeom>
          <a:solidFill>
            <a:srgbClr val="F5F7FA"/>
          </a:solidFill>
          <a:ln w="7620">
            <a:solidFill>
              <a:srgbClr val="E3E7EC"/>
            </a:solidFill>
            <a:prstDash val="solid"/>
          </a:ln>
        </p:spPr>
      </p:sp>
      <p:sp>
        <p:nvSpPr>
          <p:cNvPr id="24" name="Text 20"/>
          <p:cNvSpPr txBox="1"/>
          <p:nvPr/>
        </p:nvSpPr>
        <p:spPr>
          <a:xfrm>
            <a:off x="9051961"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5" name="Text 21"/>
          <p:cNvSpPr txBox="1"/>
          <p:nvPr/>
        </p:nvSpPr>
        <p:spPr>
          <a:xfrm>
            <a:off x="9051961"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6" name="Shape 22"/>
          <p:cNvSpPr/>
          <p:nvPr/>
        </p:nvSpPr>
        <p:spPr>
          <a:xfrm>
            <a:off x="10880209" y="1400636"/>
            <a:ext cx="1864249" cy="1106996"/>
          </a:xfrm>
          <a:prstGeom prst="rect">
            <a:avLst/>
          </a:prstGeom>
          <a:solidFill>
            <a:srgbClr val="F5F7FA"/>
          </a:solidFill>
          <a:ln w="7620">
            <a:solidFill>
              <a:srgbClr val="E3E7EC"/>
            </a:solidFill>
            <a:prstDash val="solid"/>
          </a:ln>
        </p:spPr>
      </p:sp>
      <p:sp>
        <p:nvSpPr>
          <p:cNvPr id="27" name="Text 23"/>
          <p:cNvSpPr txBox="1"/>
          <p:nvPr/>
        </p:nvSpPr>
        <p:spPr>
          <a:xfrm>
            <a:off x="10988209"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250</a:t>
            </a:r>
            <a:endParaRPr lang="en-US" sz="1400" dirty="0"/>
          </a:p>
        </p:txBody>
      </p:sp>
      <p:sp>
        <p:nvSpPr>
          <p:cNvPr id="28" name="Text 24"/>
          <p:cNvSpPr txBox="1"/>
          <p:nvPr/>
        </p:nvSpPr>
        <p:spPr>
          <a:xfrm>
            <a:off x="10988209"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AT SIX MONTHS</a:t>
            </a:r>
            <a:endParaRPr lang="en-US" sz="560" dirty="0"/>
          </a:p>
        </p:txBody>
      </p:sp>
      <p:sp>
        <p:nvSpPr>
          <p:cNvPr id="29" name="Shape 25"/>
          <p:cNvSpPr/>
          <p:nvPr/>
        </p:nvSpPr>
        <p:spPr>
          <a:xfrm>
            <a:off x="12816458" y="1400636"/>
            <a:ext cx="1864249" cy="1106996"/>
          </a:xfrm>
          <a:prstGeom prst="rect">
            <a:avLst/>
          </a:prstGeom>
          <a:solidFill>
            <a:srgbClr val="F5F7FA"/>
          </a:solidFill>
          <a:ln w="7620">
            <a:solidFill>
              <a:srgbClr val="E3E7EC"/>
            </a:solidFill>
            <a:prstDash val="solid"/>
          </a:ln>
        </p:spPr>
      </p:sp>
      <p:sp>
        <p:nvSpPr>
          <p:cNvPr id="30" name="Text 26"/>
          <p:cNvSpPr txBox="1"/>
          <p:nvPr/>
        </p:nvSpPr>
        <p:spPr>
          <a:xfrm>
            <a:off x="12924458"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1,000</a:t>
            </a:r>
            <a:endParaRPr lang="en-US" sz="1400" dirty="0"/>
          </a:p>
        </p:txBody>
      </p:sp>
      <p:sp>
        <p:nvSpPr>
          <p:cNvPr id="31" name="Text 27"/>
          <p:cNvSpPr txBox="1"/>
          <p:nvPr/>
        </p:nvSpPr>
        <p:spPr>
          <a:xfrm>
            <a:off x="12924458"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BY YEAR THREE</a:t>
            </a:r>
            <a:endParaRPr lang="en-US" sz="560" dirty="0"/>
          </a:p>
        </p:txBody>
      </p:sp>
      <p:sp>
        <p:nvSpPr>
          <p:cNvPr id="32" name="Shape 28"/>
          <p:cNvSpPr/>
          <p:nvPr/>
        </p:nvSpPr>
        <p:spPr>
          <a:xfrm>
            <a:off x="8943961" y="2579632"/>
            <a:ext cx="1864249" cy="1106996"/>
          </a:xfrm>
          <a:prstGeom prst="rect">
            <a:avLst/>
          </a:prstGeom>
          <a:solidFill>
            <a:srgbClr val="F5F7FA"/>
          </a:solidFill>
          <a:ln w="7620">
            <a:solidFill>
              <a:srgbClr val="E3E7EC"/>
            </a:solidFill>
            <a:prstDash val="solid"/>
          </a:ln>
        </p:spPr>
      </p:sp>
      <p:sp>
        <p:nvSpPr>
          <p:cNvPr id="33" name="Text 29"/>
          <p:cNvSpPr txBox="1"/>
          <p:nvPr/>
        </p:nvSpPr>
        <p:spPr>
          <a:xfrm>
            <a:off x="9051961"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4" name="Text 30"/>
          <p:cNvSpPr txBox="1"/>
          <p:nvPr/>
        </p:nvSpPr>
        <p:spPr>
          <a:xfrm>
            <a:off x="9051961"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5" name="Shape 31"/>
          <p:cNvSpPr/>
          <p:nvPr/>
        </p:nvSpPr>
        <p:spPr>
          <a:xfrm>
            <a:off x="10880209" y="2579632"/>
            <a:ext cx="1864249" cy="1106996"/>
          </a:xfrm>
          <a:prstGeom prst="rect">
            <a:avLst/>
          </a:prstGeom>
          <a:solidFill>
            <a:srgbClr val="F5F7FA"/>
          </a:solidFill>
          <a:ln w="7620">
            <a:solidFill>
              <a:srgbClr val="E3E7EC"/>
            </a:solidFill>
            <a:prstDash val="solid"/>
          </a:ln>
        </p:spPr>
      </p:sp>
      <p:sp>
        <p:nvSpPr>
          <p:cNvPr id="36" name="Text 32"/>
          <p:cNvSpPr txBox="1"/>
          <p:nvPr/>
        </p:nvSpPr>
        <p:spPr>
          <a:xfrm>
            <a:off x="10988209"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$2.55 vs $12+</a:t>
            </a:r>
            <a:endParaRPr lang="en-US" sz="1400" dirty="0"/>
          </a:p>
        </p:txBody>
      </p:sp>
      <p:sp>
        <p:nvSpPr>
          <p:cNvPr id="37" name="Text 33"/>
          <p:cNvSpPr txBox="1"/>
          <p:nvPr/>
        </p:nvSpPr>
        <p:spPr>
          <a:xfrm>
            <a:off x="10988209"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HOME SCHOONER PRICE VS PUB</a:t>
            </a:r>
            <a:endParaRPr lang="en-US" sz="560" dirty="0"/>
          </a:p>
        </p:txBody>
      </p:sp>
      <p:sp>
        <p:nvSpPr>
          <p:cNvPr id="38" name="Shape 34"/>
          <p:cNvSpPr/>
          <p:nvPr/>
        </p:nvSpPr>
        <p:spPr>
          <a:xfrm>
            <a:off x="12816458" y="2579632"/>
            <a:ext cx="1864249" cy="1106996"/>
          </a:xfrm>
          <a:prstGeom prst="rect">
            <a:avLst/>
          </a:prstGeom>
          <a:solidFill>
            <a:srgbClr val="F5F7FA"/>
          </a:solidFill>
          <a:ln w="7620">
            <a:solidFill>
              <a:srgbClr val="E3E7EC"/>
            </a:solidFill>
            <a:prstDash val="solid"/>
          </a:ln>
        </p:spPr>
      </p:sp>
      <p:sp>
        <p:nvSpPr>
          <p:cNvPr id="39" name="Text 35"/>
          <p:cNvSpPr txBox="1"/>
          <p:nvPr/>
        </p:nvSpPr>
        <p:spPr>
          <a:xfrm>
            <a:off x="12924458"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0" name="Text 36"/>
          <p:cNvSpPr txBox="1"/>
          <p:nvPr/>
        </p:nvSpPr>
        <p:spPr>
          <a:xfrm>
            <a:off x="12924458"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1" name="Shape 37"/>
          <p:cNvSpPr/>
          <p:nvPr/>
        </p:nvSpPr>
        <p:spPr>
          <a:xfrm>
            <a:off x="323698" y="3909727"/>
            <a:ext cx="14472209" cy="3314958"/>
          </a:xfrm>
          <a:prstGeom prst="rect">
            <a:avLst/>
          </a:prstGeom>
          <a:solidFill>
            <a:srgbClr val="FFFFFF"/>
          </a:solidFill>
          <a:ln w="7620">
            <a:solidFill>
              <a:srgbClr val="E3E7EC"/>
            </a:solidFill>
            <a:prstDash val="solid"/>
          </a:ln>
        </p:spPr>
      </p:sp>
      <p:sp>
        <p:nvSpPr>
          <p:cNvPr id="42" name="Text 38"/>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3" name="Shape 39"/>
          <p:cNvSpPr/>
          <p:nvPr/>
        </p:nvSpPr>
        <p:spPr>
          <a:xfrm>
            <a:off x="438898" y="4194795"/>
            <a:ext cx="3479528" cy="2914690"/>
          </a:xfrm>
          <a:prstGeom prst="rect">
            <a:avLst/>
          </a:prstGeom>
          <a:solidFill>
            <a:srgbClr val="F5F7FA"/>
          </a:solidFill>
          <a:ln w="7620">
            <a:solidFill>
              <a:srgbClr val="E3E7EC"/>
            </a:solidFill>
            <a:prstDash val="solid"/>
          </a:ln>
        </p:spPr>
      </p:sp>
      <p:sp>
        <p:nvSpPr>
          <p:cNvPr id="44" name="Shape 40"/>
          <p:cNvSpPr/>
          <p:nvPr/>
        </p:nvSpPr>
        <p:spPr>
          <a:xfrm>
            <a:off x="438898" y="4194795"/>
            <a:ext cx="3479528" cy="28800"/>
          </a:xfrm>
          <a:prstGeom prst="rect">
            <a:avLst/>
          </a:prstGeom>
          <a:solidFill>
            <a:srgbClr val="0066FF"/>
          </a:solidFill>
          <a:ln w="12700">
            <a:solidFill>
              <a:srgbClr val="333333"/>
            </a:solidFill>
            <a:prstDash val="solid"/>
          </a:ln>
        </p:spPr>
      </p:sp>
      <p:sp>
        <p:nvSpPr>
          <p:cNvPr id="45" name="Text 41"/>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6" name="Text 42"/>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Settle the shape, then the split.</a:t>
            </a:r>
            <a:endParaRPr lang="en-US" sz="960" dirty="0"/>
          </a:p>
        </p:txBody>
      </p:sp>
      <p:sp>
        <p:nvSpPr>
          <p:cNvPr id="47" name="Text 43"/>
          <p:cNvSpPr txBox="1"/>
          <p:nvPr/>
        </p:nvSpPr>
        <p:spPr>
          <a:xfrm>
            <a:off x="532498"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30-day call: a Taproom selling kegs, a Showroom selling beers, or an Event space doing both. Alongside it, clarity on who is buying, residential vs commercial, and where the energy goes.</a:t>
            </a:r>
            <a:endParaRPr lang="en-US" sz="790" dirty="0"/>
          </a:p>
        </p:txBody>
      </p:sp>
      <p:sp>
        <p:nvSpPr>
          <p:cNvPr id="48" name="Text 44"/>
          <p:cNvSpPr txBox="1"/>
          <p:nvPr/>
        </p:nvSpPr>
        <p:spPr>
          <a:xfrm>
            <a:off x="532498"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picks the shape and the residential-vs-commercial split, inside 30 days.</a:t>
            </a:r>
            <a:endParaRPr lang="en-US" sz="790" dirty="0"/>
          </a:p>
        </p:txBody>
      </p:sp>
      <p:sp>
        <p:nvSpPr>
          <p:cNvPr id="49" name="Shape 45"/>
          <p:cNvSpPr/>
          <p:nvPr/>
        </p:nvSpPr>
        <p:spPr>
          <a:xfrm>
            <a:off x="4026325" y="4194795"/>
            <a:ext cx="3479528" cy="2914690"/>
          </a:xfrm>
          <a:prstGeom prst="rect">
            <a:avLst/>
          </a:prstGeom>
          <a:solidFill>
            <a:srgbClr val="F5F7FA"/>
          </a:solidFill>
          <a:ln w="7620">
            <a:solidFill>
              <a:srgbClr val="E3E7EC"/>
            </a:solidFill>
            <a:prstDash val="solid"/>
          </a:ln>
        </p:spPr>
      </p:sp>
      <p:sp>
        <p:nvSpPr>
          <p:cNvPr id="50" name="Shape 46"/>
          <p:cNvSpPr/>
          <p:nvPr/>
        </p:nvSpPr>
        <p:spPr>
          <a:xfrm>
            <a:off x="4026325" y="4194795"/>
            <a:ext cx="3479528" cy="28800"/>
          </a:xfrm>
          <a:prstGeom prst="rect">
            <a:avLst/>
          </a:prstGeom>
          <a:solidFill>
            <a:srgbClr val="0066FF"/>
          </a:solidFill>
          <a:ln w="12700">
            <a:solidFill>
              <a:srgbClr val="333333"/>
            </a:solidFill>
            <a:prstDash val="solid"/>
          </a:ln>
        </p:spPr>
      </p:sp>
      <p:sp>
        <p:nvSpPr>
          <p:cNvPr id="51" name="Text 47"/>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2" name="Text 48"/>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Every household deserves beer on tap.</a:t>
            </a:r>
            <a:endParaRPr lang="en-US" sz="960" dirty="0"/>
          </a:p>
        </p:txBody>
      </p:sp>
      <p:sp>
        <p:nvSpPr>
          <p:cNvPr id="53" name="Text 49"/>
          <p:cNvSpPr txBox="1"/>
          <p:nvPr/>
        </p:nvSpPr>
        <p:spPr>
          <a:xfrm>
            <a:off x="4119925"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line for the business, aimed at homeowners who entertain, venues, sports clubs and restaurants. Confirming key messaging for each target market is a 30-day item.</a:t>
            </a:r>
            <a:endParaRPr lang="en-US" sz="790" dirty="0"/>
          </a:p>
        </p:txBody>
      </p:sp>
      <p:sp>
        <p:nvSpPr>
          <p:cNvPr id="54" name="Text 50"/>
          <p:cNvSpPr txBox="1"/>
          <p:nvPr/>
        </p:nvSpPr>
        <p:spPr>
          <a:xfrm>
            <a:off x="4119925"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confirm key messaging by target market, inside 30 days.</a:t>
            </a:r>
            <a:endParaRPr lang="en-US" sz="790" dirty="0"/>
          </a:p>
        </p:txBody>
      </p:sp>
      <p:sp>
        <p:nvSpPr>
          <p:cNvPr id="55" name="Shape 51"/>
          <p:cNvSpPr/>
          <p:nvPr/>
        </p:nvSpPr>
        <p:spPr>
          <a:xfrm>
            <a:off x="7613752" y="4194795"/>
            <a:ext cx="3479528" cy="2914690"/>
          </a:xfrm>
          <a:prstGeom prst="rect">
            <a:avLst/>
          </a:prstGeom>
          <a:solidFill>
            <a:srgbClr val="F5F7FA"/>
          </a:solidFill>
          <a:ln w="7620">
            <a:solidFill>
              <a:srgbClr val="E3E7EC"/>
            </a:solidFill>
            <a:prstDash val="solid"/>
          </a:ln>
        </p:spPr>
      </p:sp>
      <p:sp>
        <p:nvSpPr>
          <p:cNvPr id="56" name="Shape 52"/>
          <p:cNvSpPr/>
          <p:nvPr/>
        </p:nvSpPr>
        <p:spPr>
          <a:xfrm>
            <a:off x="7613752" y="4194795"/>
            <a:ext cx="3479528" cy="28800"/>
          </a:xfrm>
          <a:prstGeom prst="rect">
            <a:avLst/>
          </a:prstGeom>
          <a:solidFill>
            <a:srgbClr val="0066FF"/>
          </a:solidFill>
          <a:ln w="12700">
            <a:solidFill>
              <a:srgbClr val="333333"/>
            </a:solidFill>
            <a:prstDash val="solid"/>
          </a:ln>
        </p:spPr>
      </p:sp>
      <p:sp>
        <p:nvSpPr>
          <p:cNvPr id="57" name="Text 53"/>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8" name="Text 54"/>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Switch the owners who already have a system.</a:t>
            </a:r>
            <a:endParaRPr lang="en-US" sz="960" dirty="0"/>
          </a:p>
        </p:txBody>
      </p:sp>
      <p:sp>
        <p:nvSpPr>
          <p:cNvPr id="59" name="Text 55"/>
          <p:cNvSpPr txBox="1"/>
          <p:nvPr/>
        </p:nvSpPr>
        <p:spPr>
          <a:xfrm>
            <a:off x="7707352"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number one priority: find every existing keg system owner and move them onto Tap That refills. Alongside it, the website upgrade plus SEM, and a referral programme with JVPs.</a:t>
            </a:r>
            <a:endParaRPr lang="en-US" sz="790" dirty="0"/>
          </a:p>
        </p:txBody>
      </p:sp>
      <p:sp>
        <p:nvSpPr>
          <p:cNvPr id="60" name="Text 56"/>
          <p:cNvSpPr txBox="1"/>
          <p:nvPr/>
        </p:nvSpPr>
        <p:spPr>
          <a:xfrm>
            <a:off x="7707352"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build the outreach list of existing system owners and start the switch.</a:t>
            </a:r>
            <a:endParaRPr lang="en-US" sz="790" dirty="0"/>
          </a:p>
        </p:txBody>
      </p:sp>
      <p:sp>
        <p:nvSpPr>
          <p:cNvPr id="61" name="Shape 57"/>
          <p:cNvSpPr/>
          <p:nvPr/>
        </p:nvSpPr>
        <p:spPr>
          <a:xfrm>
            <a:off x="11201179" y="4194795"/>
            <a:ext cx="3479528" cy="2914690"/>
          </a:xfrm>
          <a:prstGeom prst="rect">
            <a:avLst/>
          </a:prstGeom>
          <a:solidFill>
            <a:srgbClr val="F5F7FA"/>
          </a:solidFill>
          <a:ln w="7620">
            <a:solidFill>
              <a:srgbClr val="E3E7EC"/>
            </a:solidFill>
            <a:prstDash val="solid"/>
          </a:ln>
        </p:spPr>
      </p:sp>
      <p:sp>
        <p:nvSpPr>
          <p:cNvPr id="62" name="Shape 58"/>
          <p:cNvSpPr/>
          <p:nvPr/>
        </p:nvSpPr>
        <p:spPr>
          <a:xfrm>
            <a:off x="11201179" y="4194795"/>
            <a:ext cx="3479528" cy="28800"/>
          </a:xfrm>
          <a:prstGeom prst="rect">
            <a:avLst/>
          </a:prstGeom>
          <a:solidFill>
            <a:srgbClr val="0066FF"/>
          </a:solidFill>
          <a:ln w="12700">
            <a:solidFill>
              <a:srgbClr val="333333"/>
            </a:solidFill>
            <a:prstDash val="solid"/>
          </a:ln>
        </p:spPr>
      </p:sp>
      <p:sp>
        <p:nvSpPr>
          <p:cNvPr id="63" name="Text 59"/>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4" name="Text 60"/>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Oktoberfest, then grow the room.</a:t>
            </a:r>
            <a:endParaRPr lang="en-US" sz="960" dirty="0"/>
          </a:p>
        </p:txBody>
      </p:sp>
      <p:sp>
        <p:nvSpPr>
          <p:cNvPr id="65" name="Text 61"/>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A successful Oktoberfest and keg system giveaway first. Then taproom traffic from local business, functions and ticketed music events, Justin's own priority for the room.</a:t>
            </a:r>
            <a:endParaRPr lang="en-US" sz="790" dirty="0"/>
          </a:p>
        </p:txBody>
      </p:sp>
      <p:sp>
        <p:nvSpPr>
          <p:cNvPr id="66" name="Text 62"/>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deliver Oktoberfest and the giveaway, then book the first ticketed music night.</a:t>
            </a:r>
            <a:endParaRPr lang="en-US" sz="790" dirty="0"/>
          </a:p>
        </p:txBody>
      </p:sp>
      <p:sp>
        <p:nvSpPr>
          <p:cNvPr id="67" name="Shape 63"/>
          <p:cNvSpPr/>
          <p:nvPr/>
        </p:nvSpPr>
        <p:spPr>
          <a:xfrm>
            <a:off x="323698" y="7332584"/>
            <a:ext cx="4752137" cy="3143495"/>
          </a:xfrm>
          <a:prstGeom prst="rect">
            <a:avLst/>
          </a:prstGeom>
          <a:solidFill>
            <a:srgbClr val="FFFFFF"/>
          </a:solidFill>
          <a:ln w="7620">
            <a:solidFill>
              <a:srgbClr val="E3E7EC"/>
            </a:solidFill>
            <a:prstDash val="solid"/>
          </a:ln>
        </p:spPr>
      </p:sp>
      <p:sp>
        <p:nvSpPr>
          <p:cNvPr id="68" name="Text 64"/>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69" name="Shape 65"/>
          <p:cNvSpPr/>
          <p:nvPr/>
        </p:nvSpPr>
        <p:spPr>
          <a:xfrm>
            <a:off x="438898" y="7617652"/>
            <a:ext cx="677440" cy="205740"/>
          </a:xfrm>
          <a:prstGeom prst="roundRect">
            <a:avLst>
              <a:gd name="adj" fmla="val 50000"/>
            </a:avLst>
          </a:prstGeom>
          <a:solidFill>
            <a:srgbClr val="0E171F"/>
          </a:solidFill>
          <a:ln w="12700">
            <a:solidFill>
              <a:srgbClr val="333333"/>
            </a:solidFill>
            <a:prstDash val="solid"/>
          </a:ln>
        </p:spPr>
      </p:sp>
      <p:sp>
        <p:nvSpPr>
          <p:cNvPr id="70" name="Text 66"/>
          <p:cNvSpPr txBox="1"/>
          <p:nvPr/>
        </p:nvSpPr>
        <p:spPr>
          <a:xfrm>
            <a:off x="438898" y="7617652"/>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30 DAYS</a:t>
            </a:r>
            <a:endParaRPr lang="en-US" sz="640" dirty="0"/>
          </a:p>
        </p:txBody>
      </p:sp>
      <p:sp>
        <p:nvSpPr>
          <p:cNvPr id="71" name="Text 67"/>
          <p:cNvSpPr txBox="1"/>
          <p:nvPr/>
        </p:nvSpPr>
        <p:spPr>
          <a:xfrm>
            <a:off x="1280929" y="7604851"/>
            <a:ext cx="3679705"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shape decision, KPIs and growth targets, meeting rhythm agreed.</a:t>
            </a:r>
            <a:endParaRPr lang="en-US" sz="810" dirty="0"/>
          </a:p>
        </p:txBody>
      </p:sp>
      <p:sp>
        <p:nvSpPr>
          <p:cNvPr id="72" name="Shape 68"/>
          <p:cNvSpPr/>
          <p:nvPr/>
        </p:nvSpPr>
        <p:spPr>
          <a:xfrm>
            <a:off x="438898" y="7927584"/>
            <a:ext cx="677440" cy="205740"/>
          </a:xfrm>
          <a:prstGeom prst="roundRect">
            <a:avLst>
              <a:gd name="adj" fmla="val 50000"/>
            </a:avLst>
          </a:prstGeom>
          <a:solidFill>
            <a:srgbClr val="0E171F"/>
          </a:solidFill>
          <a:ln w="12700">
            <a:solidFill>
              <a:srgbClr val="333333"/>
            </a:solidFill>
            <a:prstDash val="solid"/>
          </a:ln>
        </p:spPr>
      </p:sp>
      <p:sp>
        <p:nvSpPr>
          <p:cNvPr id="73" name="Text 69"/>
          <p:cNvSpPr txBox="1"/>
          <p:nvPr/>
        </p:nvSpPr>
        <p:spPr>
          <a:xfrm>
            <a:off x="438898" y="7927584"/>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MONTHS</a:t>
            </a:r>
            <a:endParaRPr lang="en-US" sz="640" dirty="0"/>
          </a:p>
        </p:txBody>
      </p:sp>
      <p:sp>
        <p:nvSpPr>
          <p:cNvPr id="74" name="Text 70"/>
          <p:cNvSpPr txBox="1"/>
          <p:nvPr/>
        </p:nvSpPr>
        <p:spPr>
          <a:xfrm>
            <a:off x="1280929" y="7914782"/>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Website, GoTab and SEM live; existing owners contacted; next hire decided.</a:t>
            </a:r>
            <a:endParaRPr lang="en-US" sz="810" dirty="0"/>
          </a:p>
        </p:txBody>
      </p:sp>
      <p:sp>
        <p:nvSpPr>
          <p:cNvPr id="75" name="Shape 71"/>
          <p:cNvSpPr/>
          <p:nvPr/>
        </p:nvSpPr>
        <p:spPr>
          <a:xfrm>
            <a:off x="438898" y="8308381"/>
            <a:ext cx="677440" cy="205740"/>
          </a:xfrm>
          <a:prstGeom prst="roundRect">
            <a:avLst>
              <a:gd name="adj" fmla="val 50000"/>
            </a:avLst>
          </a:prstGeom>
          <a:solidFill>
            <a:srgbClr val="0E171F"/>
          </a:solidFill>
          <a:ln w="12700">
            <a:solidFill>
              <a:srgbClr val="333333"/>
            </a:solidFill>
            <a:prstDash val="solid"/>
          </a:ln>
        </p:spPr>
      </p:sp>
      <p:sp>
        <p:nvSpPr>
          <p:cNvPr id="76" name="Text 72"/>
          <p:cNvSpPr txBox="1"/>
          <p:nvPr/>
        </p:nvSpPr>
        <p:spPr>
          <a:xfrm>
            <a:off x="438898" y="8308381"/>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6 MONTHS</a:t>
            </a:r>
            <a:endParaRPr lang="en-US" sz="640" dirty="0"/>
          </a:p>
        </p:txBody>
      </p:sp>
      <p:sp>
        <p:nvSpPr>
          <p:cNvPr id="77" name="Text 73"/>
          <p:cNvSpPr txBox="1"/>
          <p:nvPr/>
        </p:nvSpPr>
        <p:spPr>
          <a:xfrm>
            <a:off x="1280929" y="8295580"/>
            <a:ext cx="3679705"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250 active keg refillers; a clear career pathway for Chris and Harry.</a:t>
            </a:r>
            <a:endParaRPr lang="en-US" sz="810" dirty="0"/>
          </a:p>
        </p:txBody>
      </p:sp>
      <p:sp>
        <p:nvSpPr>
          <p:cNvPr id="78" name="Shape 74"/>
          <p:cNvSpPr/>
          <p:nvPr/>
        </p:nvSpPr>
        <p:spPr>
          <a:xfrm>
            <a:off x="438898" y="8618313"/>
            <a:ext cx="677440" cy="205740"/>
          </a:xfrm>
          <a:prstGeom prst="roundRect">
            <a:avLst>
              <a:gd name="adj" fmla="val 50000"/>
            </a:avLst>
          </a:prstGeom>
          <a:solidFill>
            <a:srgbClr val="0E171F"/>
          </a:solidFill>
          <a:ln w="12700">
            <a:solidFill>
              <a:srgbClr val="333333"/>
            </a:solidFill>
            <a:prstDash val="solid"/>
          </a:ln>
        </p:spPr>
      </p:sp>
      <p:sp>
        <p:nvSpPr>
          <p:cNvPr id="79" name="Text 75"/>
          <p:cNvSpPr txBox="1"/>
          <p:nvPr/>
        </p:nvSpPr>
        <p:spPr>
          <a:xfrm>
            <a:off x="438898" y="8618313"/>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 YEAR</a:t>
            </a:r>
            <a:endParaRPr lang="en-US" sz="640" dirty="0"/>
          </a:p>
        </p:txBody>
      </p:sp>
      <p:sp>
        <p:nvSpPr>
          <p:cNvPr id="80" name="Text 76"/>
          <p:cNvSpPr txBox="1"/>
          <p:nvPr/>
        </p:nvSpPr>
        <p:spPr>
          <a:xfrm>
            <a:off x="1280929" y="8605511"/>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and JVPs driving most sales; cashflow positive, Justin on a wage.</a:t>
            </a:r>
            <a:endParaRPr lang="en-US" sz="810" dirty="0"/>
          </a:p>
        </p:txBody>
      </p:sp>
      <p:sp>
        <p:nvSpPr>
          <p:cNvPr id="81" name="Shape 77"/>
          <p:cNvSpPr/>
          <p:nvPr/>
        </p:nvSpPr>
        <p:spPr>
          <a:xfrm>
            <a:off x="438898" y="8999110"/>
            <a:ext cx="677440" cy="205740"/>
          </a:xfrm>
          <a:prstGeom prst="roundRect">
            <a:avLst>
              <a:gd name="adj" fmla="val 50000"/>
            </a:avLst>
          </a:prstGeom>
          <a:solidFill>
            <a:srgbClr val="0E171F"/>
          </a:solidFill>
          <a:ln w="12700">
            <a:solidFill>
              <a:srgbClr val="333333"/>
            </a:solidFill>
            <a:prstDash val="solid"/>
          </a:ln>
        </p:spPr>
      </p:sp>
      <p:sp>
        <p:nvSpPr>
          <p:cNvPr id="82" name="Text 78"/>
          <p:cNvSpPr txBox="1"/>
          <p:nvPr/>
        </p:nvSpPr>
        <p:spPr>
          <a:xfrm>
            <a:off x="438898" y="8999110"/>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YEARS</a:t>
            </a:r>
            <a:endParaRPr lang="en-US" sz="640" dirty="0"/>
          </a:p>
        </p:txBody>
      </p:sp>
      <p:sp>
        <p:nvSpPr>
          <p:cNvPr id="83" name="Text 79"/>
          <p:cNvSpPr txBox="1"/>
          <p:nvPr/>
        </p:nvSpPr>
        <p:spPr>
          <a:xfrm>
            <a:off x="1280929" y="8986309"/>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1,000 active keg refillers: Gold Coast, Brisbane, Northern Rivers, residential and commercial.</a:t>
            </a:r>
            <a:endParaRPr lang="en-US" sz="810" dirty="0"/>
          </a:p>
        </p:txBody>
      </p:sp>
      <p:sp>
        <p:nvSpPr>
          <p:cNvPr id="84" name="Shape 80"/>
          <p:cNvSpPr/>
          <p:nvPr/>
        </p:nvSpPr>
        <p:spPr>
          <a:xfrm>
            <a:off x="438898" y="9379908"/>
            <a:ext cx="677440" cy="205740"/>
          </a:xfrm>
          <a:prstGeom prst="roundRect">
            <a:avLst>
              <a:gd name="adj" fmla="val 50000"/>
            </a:avLst>
          </a:prstGeom>
          <a:solidFill>
            <a:srgbClr val="0E171F"/>
          </a:solidFill>
          <a:ln w="12700">
            <a:solidFill>
              <a:srgbClr val="333333"/>
            </a:solidFill>
            <a:prstDash val="solid"/>
          </a:ln>
        </p:spPr>
      </p:sp>
      <p:sp>
        <p:nvSpPr>
          <p:cNvPr id="85" name="Text 81"/>
          <p:cNvSpPr txBox="1"/>
          <p:nvPr/>
        </p:nvSpPr>
        <p:spPr>
          <a:xfrm>
            <a:off x="438898" y="9379908"/>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5 YEARS</a:t>
            </a:r>
            <a:endParaRPr lang="en-US" sz="640" dirty="0"/>
          </a:p>
        </p:txBody>
      </p:sp>
      <p:sp>
        <p:nvSpPr>
          <p:cNvPr id="86" name="Text 82"/>
          <p:cNvSpPr txBox="1"/>
          <p:nvPr/>
        </p:nvSpPr>
        <p:spPr>
          <a:xfrm>
            <a:off x="1280929" y="9367106"/>
            <a:ext cx="367970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Rapid expansion: external investment, franchising, and a production facility.</a:t>
            </a:r>
            <a:endParaRPr lang="en-US" sz="810" dirty="0"/>
          </a:p>
        </p:txBody>
      </p:sp>
      <p:sp>
        <p:nvSpPr>
          <p:cNvPr id="87" name="Shape 83"/>
          <p:cNvSpPr/>
          <p:nvPr/>
        </p:nvSpPr>
        <p:spPr>
          <a:xfrm>
            <a:off x="438898" y="9760705"/>
            <a:ext cx="677440" cy="205740"/>
          </a:xfrm>
          <a:prstGeom prst="roundRect">
            <a:avLst>
              <a:gd name="adj" fmla="val 50000"/>
            </a:avLst>
          </a:prstGeom>
          <a:solidFill>
            <a:srgbClr val="0E171F"/>
          </a:solidFill>
          <a:ln w="12700">
            <a:solidFill>
              <a:srgbClr val="333333"/>
            </a:solidFill>
            <a:prstDash val="solid"/>
          </a:ln>
        </p:spPr>
      </p:sp>
      <p:sp>
        <p:nvSpPr>
          <p:cNvPr id="88" name="Text 84"/>
          <p:cNvSpPr txBox="1"/>
          <p:nvPr/>
        </p:nvSpPr>
        <p:spPr>
          <a:xfrm>
            <a:off x="438898" y="9760705"/>
            <a:ext cx="6774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10 YEARS</a:t>
            </a:r>
            <a:endParaRPr lang="en-US" sz="640" dirty="0"/>
          </a:p>
        </p:txBody>
      </p:sp>
      <p:sp>
        <p:nvSpPr>
          <p:cNvPr id="89" name="Text 85"/>
          <p:cNvSpPr txBox="1"/>
          <p:nvPr/>
        </p:nvSpPr>
        <p:spPr>
          <a:xfrm>
            <a:off x="1280929" y="9747904"/>
            <a:ext cx="3679705"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Exit: sell the business, in Justin's own words, "the sucker".</a:t>
            </a:r>
            <a:endParaRPr lang="en-US" sz="810" dirty="0"/>
          </a:p>
        </p:txBody>
      </p:sp>
      <p:sp>
        <p:nvSpPr>
          <p:cNvPr id="90" name="Shape 86"/>
          <p:cNvSpPr/>
          <p:nvPr/>
        </p:nvSpPr>
        <p:spPr>
          <a:xfrm>
            <a:off x="438898" y="10063249"/>
            <a:ext cx="4521737" cy="0"/>
          </a:xfrm>
          <a:prstGeom prst="line">
            <a:avLst/>
          </a:prstGeom>
          <a:noFill/>
          <a:ln w="7620">
            <a:solidFill>
              <a:srgbClr val="E3E7EC"/>
            </a:solidFill>
            <a:prstDash val="solid"/>
          </a:ln>
        </p:spPr>
      </p:sp>
      <p:sp>
        <p:nvSpPr>
          <p:cNvPr id="91" name="Text 87"/>
          <p:cNvSpPr txBox="1"/>
          <p:nvPr/>
        </p:nvSpPr>
        <p:spPr>
          <a:xfrm>
            <a:off x="438898"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ladder is Justin's, from his plan on a page. JP's proposed sprints on the Activation sheet now sit inside it.</a:t>
            </a:r>
            <a:endParaRPr lang="en-US" sz="700" dirty="0"/>
          </a:p>
        </p:txBody>
      </p:sp>
      <p:sp>
        <p:nvSpPr>
          <p:cNvPr id="92" name="Shape 88"/>
          <p:cNvSpPr/>
          <p:nvPr/>
        </p:nvSpPr>
        <p:spPr>
          <a:xfrm>
            <a:off x="5183734" y="7332584"/>
            <a:ext cx="4752137" cy="3143495"/>
          </a:xfrm>
          <a:prstGeom prst="rect">
            <a:avLst/>
          </a:prstGeom>
          <a:solidFill>
            <a:srgbClr val="FFFFFF"/>
          </a:solidFill>
          <a:ln w="7620">
            <a:solidFill>
              <a:srgbClr val="E3E7EC"/>
            </a:solidFill>
            <a:prstDash val="solid"/>
          </a:ln>
        </p:spPr>
      </p:sp>
      <p:sp>
        <p:nvSpPr>
          <p:cNvPr id="93" name="Text 8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2354867"/>
                <a:gridCol w="625530"/>
                <a:gridCol w="1541340"/>
              </a:tblGrid>
              <a:tr h="343913">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 Harry, 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Website, GoTab + Fishbowl, SEM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Existing owners and referral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Taproom, events, Oktoberfest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 and next hire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messaging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95" name="Shape 90"/>
          <p:cNvSpPr/>
          <p:nvPr/>
        </p:nvSpPr>
        <p:spPr>
          <a:xfrm>
            <a:off x="5298934" y="10183264"/>
            <a:ext cx="4521737" cy="0"/>
          </a:xfrm>
          <a:prstGeom prst="line">
            <a:avLst/>
          </a:prstGeom>
          <a:noFill/>
          <a:ln w="7620">
            <a:solidFill>
              <a:srgbClr val="E3E7EC"/>
            </a:solidFill>
            <a:prstDash val="solid"/>
          </a:ln>
        </p:spPr>
      </p:sp>
      <p:sp>
        <p:nvSpPr>
          <p:cNvPr id="96" name="Text 91"/>
          <p:cNvSpPr txBox="1"/>
          <p:nvPr/>
        </p:nvSpPr>
        <p:spPr>
          <a:xfrm>
            <a:off x="5298934"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This is the summary of it.</a:t>
            </a:r>
            <a:endParaRPr lang="en-US" sz="700" dirty="0"/>
          </a:p>
        </p:txBody>
      </p:sp>
      <p:sp>
        <p:nvSpPr>
          <p:cNvPr id="97" name="Shape 92"/>
          <p:cNvSpPr/>
          <p:nvPr/>
        </p:nvSpPr>
        <p:spPr>
          <a:xfrm>
            <a:off x="10043770" y="7332584"/>
            <a:ext cx="4752137" cy="3143495"/>
          </a:xfrm>
          <a:prstGeom prst="rect">
            <a:avLst/>
          </a:prstGeom>
          <a:solidFill>
            <a:srgbClr val="FFFFFF"/>
          </a:solidFill>
          <a:ln w="7620">
            <a:solidFill>
              <a:srgbClr val="E3E7EC"/>
            </a:solidFill>
            <a:prstDash val="solid"/>
          </a:ln>
        </p:spPr>
      </p:sp>
      <p:sp>
        <p:nvSpPr>
          <p:cNvPr id="98" name="Shape 93"/>
          <p:cNvSpPr/>
          <p:nvPr/>
        </p:nvSpPr>
        <p:spPr>
          <a:xfrm>
            <a:off x="10043770" y="7332584"/>
            <a:ext cx="4752137" cy="36000"/>
          </a:xfrm>
          <a:prstGeom prst="rect">
            <a:avLst/>
          </a:prstGeom>
          <a:solidFill>
            <a:srgbClr val="0066FF"/>
          </a:solidFill>
          <a:ln w="12700">
            <a:solidFill>
              <a:srgbClr val="333333"/>
            </a:solidFill>
            <a:prstDash val="solid"/>
          </a:ln>
        </p:spPr>
      </p:sp>
      <p:sp>
        <p:nvSpPr>
          <p:cNvPr id="99" name="Text 9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100" name="Shape 95"/>
          <p:cNvSpPr/>
          <p:nvPr/>
        </p:nvSpPr>
        <p:spPr>
          <a:xfrm>
            <a:off x="10158970" y="7653692"/>
            <a:ext cx="50400" cy="50400"/>
          </a:xfrm>
          <a:prstGeom prst="rect">
            <a:avLst/>
          </a:prstGeom>
          <a:solidFill>
            <a:srgbClr val="0066FF"/>
          </a:solidFill>
          <a:ln w="12700">
            <a:solidFill>
              <a:srgbClr val="333333"/>
            </a:solidFill>
            <a:prstDash val="solid"/>
          </a:ln>
        </p:spPr>
      </p:sp>
      <p:sp>
        <p:nvSpPr>
          <p:cNvPr id="101" name="Text 96"/>
          <p:cNvSpPr txBox="1"/>
          <p:nvPr/>
        </p:nvSpPr>
        <p:spPr>
          <a:xfrm>
            <a:off x="10266970" y="7617652"/>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Taproom, Showroom, or Event space doing both?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JP's recommendation is to pause walk-in trade; Justin has not accepted that.</a:t>
            </a:r>
            <a:endParaRPr lang="en-US" sz="730" dirty="0"/>
          </a:p>
        </p:txBody>
      </p:sp>
      <p:sp>
        <p:nvSpPr>
          <p:cNvPr id="102" name="Shape 97"/>
          <p:cNvSpPr/>
          <p:nvPr/>
        </p:nvSpPr>
        <p:spPr>
          <a:xfrm>
            <a:off x="10158970" y="8207727"/>
            <a:ext cx="50400" cy="50400"/>
          </a:xfrm>
          <a:prstGeom prst="rect">
            <a:avLst/>
          </a:prstGeom>
          <a:solidFill>
            <a:srgbClr val="0066FF"/>
          </a:solidFill>
          <a:ln w="12700">
            <a:solidFill>
              <a:srgbClr val="333333"/>
            </a:solidFill>
            <a:prstDash val="solid"/>
          </a:ln>
        </p:spPr>
      </p:sp>
      <p:sp>
        <p:nvSpPr>
          <p:cNvPr id="103" name="Text 98"/>
          <p:cNvSpPr txBox="1"/>
          <p:nvPr/>
        </p:nvSpPr>
        <p:spPr>
          <a:xfrm>
            <a:off x="10266970" y="817168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Residential vs commercial: who is buying, and where does the energy go?</a:t>
            </a:r>
            <a:endParaRPr lang="en-US" sz="730" dirty="0"/>
          </a:p>
        </p:txBody>
      </p:sp>
      <p:sp>
        <p:nvSpPr>
          <p:cNvPr id="104" name="Shape 99"/>
          <p:cNvSpPr/>
          <p:nvPr/>
        </p:nvSpPr>
        <p:spPr>
          <a:xfrm>
            <a:off x="10158970" y="8631969"/>
            <a:ext cx="50400" cy="50400"/>
          </a:xfrm>
          <a:prstGeom prst="rect">
            <a:avLst/>
          </a:prstGeom>
          <a:solidFill>
            <a:srgbClr val="0066FF"/>
          </a:solidFill>
          <a:ln w="12700">
            <a:solidFill>
              <a:srgbClr val="333333"/>
            </a:solidFill>
            <a:prstDash val="solid"/>
          </a:ln>
        </p:spPr>
      </p:sp>
      <p:sp>
        <p:nvSpPr>
          <p:cNvPr id="105" name="Text 100"/>
          <p:cNvSpPr txBox="1"/>
          <p:nvPr/>
        </p:nvSpPr>
        <p:spPr>
          <a:xfrm>
            <a:off x="10266970" y="859593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External support, or do we try to do everything ourselves?</a:t>
            </a:r>
            <a:endParaRPr lang="en-US" sz="730" dirty="0"/>
          </a:p>
        </p:txBody>
      </p:sp>
      <p:sp>
        <p:nvSpPr>
          <p:cNvPr id="106" name="Shape 101"/>
          <p:cNvSpPr/>
          <p:nvPr/>
        </p:nvSpPr>
        <p:spPr>
          <a:xfrm>
            <a:off x="10158970" y="9056211"/>
            <a:ext cx="50400" cy="50400"/>
          </a:xfrm>
          <a:prstGeom prst="rect">
            <a:avLst/>
          </a:prstGeom>
          <a:solidFill>
            <a:srgbClr val="0066FF"/>
          </a:solidFill>
          <a:ln w="12700">
            <a:solidFill>
              <a:srgbClr val="333333"/>
            </a:solidFill>
            <a:prstDash val="solid"/>
          </a:ln>
        </p:spPr>
      </p:sp>
      <p:sp>
        <p:nvSpPr>
          <p:cNvPr id="107" name="Text 102"/>
          <p:cNvSpPr txBox="1"/>
          <p:nvPr/>
        </p:nvSpPr>
        <p:spPr>
          <a:xfrm>
            <a:off x="10266970" y="902017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The next hire: brewer vs wholesale plus bar coverage, hybrid either way.</a:t>
            </a:r>
            <a:endParaRPr lang="en-US" sz="730" dirty="0"/>
          </a:p>
        </p:txBody>
      </p:sp>
      <p:sp>
        <p:nvSpPr>
          <p:cNvPr id="108" name="Shape 103"/>
          <p:cNvSpPr/>
          <p:nvPr/>
        </p:nvSpPr>
        <p:spPr>
          <a:xfrm>
            <a:off x="10158970" y="9480453"/>
            <a:ext cx="50400" cy="50400"/>
          </a:xfrm>
          <a:prstGeom prst="rect">
            <a:avLst/>
          </a:prstGeom>
          <a:solidFill>
            <a:srgbClr val="0066FF"/>
          </a:solidFill>
          <a:ln w="12700">
            <a:solidFill>
              <a:srgbClr val="333333"/>
            </a:solidFill>
            <a:prstDash val="solid"/>
          </a:ln>
        </p:spPr>
      </p:sp>
      <p:sp>
        <p:nvSpPr>
          <p:cNvPr id="109" name="Text 104"/>
          <p:cNvSpPr txBox="1"/>
          <p:nvPr/>
        </p:nvSpPr>
        <p:spPr>
          <a:xfrm>
            <a:off x="10266970" y="9444413"/>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KPIs and growth targets: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keg system sales, active keg refillers, wholesale accounts.</a:t>
            </a:r>
            <a:endParaRPr lang="en-US" sz="730" dirty="0"/>
          </a:p>
        </p:txBody>
      </p:sp>
      <p:sp>
        <p:nvSpPr>
          <p:cNvPr id="110" name="Shape 105"/>
          <p:cNvSpPr/>
          <p:nvPr/>
        </p:nvSpPr>
        <p:spPr>
          <a:xfrm>
            <a:off x="10158970" y="9904695"/>
            <a:ext cx="50400" cy="50400"/>
          </a:xfrm>
          <a:prstGeom prst="rect">
            <a:avLst/>
          </a:prstGeom>
          <a:solidFill>
            <a:srgbClr val="0066FF"/>
          </a:solidFill>
          <a:ln w="12700">
            <a:solidFill>
              <a:srgbClr val="333333"/>
            </a:solidFill>
            <a:prstDash val="solid"/>
          </a:ln>
        </p:spPr>
      </p:sp>
      <p:sp>
        <p:nvSpPr>
          <p:cNvPr id="111" name="Text 106"/>
          <p:cNvSpPr txBox="1"/>
          <p:nvPr/>
        </p:nvSpPr>
        <p:spPr>
          <a:xfrm>
            <a:off x="10266970" y="986865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Meeting rhythm and agenda.</a:t>
            </a:r>
            <a:endParaRPr lang="en-US" sz="730" dirty="0"/>
          </a:p>
        </p:txBody>
      </p:sp>
      <p:sp>
        <p:nvSpPr>
          <p:cNvPr id="112" name="Shape 107"/>
          <p:cNvSpPr/>
          <p:nvPr/>
        </p:nvSpPr>
        <p:spPr>
          <a:xfrm>
            <a:off x="10158970" y="10063249"/>
            <a:ext cx="4521737" cy="0"/>
          </a:xfrm>
          <a:prstGeom prst="line">
            <a:avLst/>
          </a:prstGeom>
          <a:noFill/>
          <a:ln w="7620">
            <a:solidFill>
              <a:srgbClr val="E3E7EC"/>
            </a:solidFill>
            <a:prstDash val="solid"/>
          </a:ln>
        </p:spPr>
      </p:sp>
      <p:sp>
        <p:nvSpPr>
          <p:cNvPr id="113" name="Text 108"/>
          <p:cNvSpPr txBox="1"/>
          <p:nvPr/>
        </p:nvSpPr>
        <p:spPr>
          <a:xfrm>
            <a:off x="10158970"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30-day list, returned 16 September. The team's review of the JP deck was the agreed next step from the catch-up.</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29157" y="365760"/>
            <a:ext cx="951046"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29157" y="365760"/>
            <a:ext cx="951046"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01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304823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5" name="Text 11"/>
          <p:cNvSpPr txBox="1"/>
          <p:nvPr/>
        </p:nvSpPr>
        <p:spPr>
          <a:xfrm>
            <a:off x="438898" y="1400636"/>
            <a:ext cx="6951755" cy="409448"/>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6" name="Text 12"/>
          <p:cNvSpPr txBox="1"/>
          <p:nvPr/>
        </p:nvSpPr>
        <p:spPr>
          <a:xfrm>
            <a:off x="438898" y="195601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7" name="Text 13"/>
          <p:cNvSpPr txBox="1"/>
          <p:nvPr/>
        </p:nvSpPr>
        <p:spPr>
          <a:xfrm>
            <a:off x="438898" y="256485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8" name="Text 14"/>
          <p:cNvSpPr txBox="1"/>
          <p:nvPr/>
        </p:nvSpPr>
        <p:spPr>
          <a:xfrm>
            <a:off x="438898" y="3019399"/>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Justin frames the direction question as three-way: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Taproom selling kegs, a Showroom selling beers, or an Event space doing both. JP's recommendation is the first or the third, with walk-in paused. Justin's own priority list keeps taproom trade alive, growing it from local business, functions and ticketed music.</a:t>
            </a:r>
            <a:endParaRPr lang="en-US" sz="810" dirty="0"/>
          </a:p>
        </p:txBody>
      </p:sp>
      <p:sp>
        <p:nvSpPr>
          <p:cNvPr id="19" name="Shape 15"/>
          <p:cNvSpPr/>
          <p:nvPr/>
        </p:nvSpPr>
        <p:spPr>
          <a:xfrm>
            <a:off x="438898" y="3870991"/>
            <a:ext cx="6951755" cy="0"/>
          </a:xfrm>
          <a:prstGeom prst="line">
            <a:avLst/>
          </a:prstGeom>
          <a:noFill/>
          <a:ln w="7620">
            <a:solidFill>
              <a:srgbClr val="E3E7EC"/>
            </a:solidFill>
            <a:prstDash val="solid"/>
          </a:ln>
        </p:spPr>
      </p:sp>
      <p:sp>
        <p:nvSpPr>
          <p:cNvPr id="20" name="Text 16"/>
          <p:cNvSpPr txBox="1"/>
          <p:nvPr/>
        </p:nvSpPr>
        <p:spPr>
          <a:xfrm>
            <a:off x="438898"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Test them against the current P&amp;L before the plan is signed.</a:t>
            </a:r>
            <a:endParaRPr lang="en-US" sz="700" dirty="0"/>
          </a:p>
        </p:txBody>
      </p:sp>
      <p:sp>
        <p:nvSpPr>
          <p:cNvPr id="21" name="Shape 17"/>
          <p:cNvSpPr/>
          <p:nvPr/>
        </p:nvSpPr>
        <p:spPr>
          <a:xfrm>
            <a:off x="7613752" y="1115568"/>
            <a:ext cx="7182155" cy="304823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FIVE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82902"/>
                <a:gridCol w="2984426"/>
                <a:gridCol w="2984426"/>
              </a:tblGrid>
              <a:tr h="343907">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83836">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Keg systems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Sold near cost</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Lease-to-buy.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Plus a delivery service, Justin's three-month item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3836">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residential and commercial,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 250 by March 2027, 1,000 by year three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64659">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Walk-ins, local business, functions and events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Decide.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Justin's three-way, decided in 30 days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64659">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Next hire is brewer vs wholesale plus bar, hybrid</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64659">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Merchandise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Line five in Justin's plan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Keep it small.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24" name="Shape 19"/>
          <p:cNvSpPr/>
          <p:nvPr/>
        </p:nvSpPr>
        <p:spPr>
          <a:xfrm>
            <a:off x="7728952" y="3870991"/>
            <a:ext cx="6951755" cy="0"/>
          </a:xfrm>
          <a:prstGeom prst="line">
            <a:avLst/>
          </a:prstGeom>
          <a:noFill/>
          <a:ln w="7620">
            <a:solidFill>
              <a:srgbClr val="E3E7EC"/>
            </a:solidFill>
            <a:prstDash val="solid"/>
          </a:ln>
        </p:spPr>
      </p:sp>
      <p:sp>
        <p:nvSpPr>
          <p:cNvPr id="25" name="Text 20"/>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Canning is not in Justin's plan at all. Consistent with the room.</a:t>
            </a:r>
            <a:endParaRPr lang="en-US" sz="700" dirty="0"/>
          </a:p>
        </p:txBody>
      </p:sp>
      <p:sp>
        <p:nvSpPr>
          <p:cNvPr id="26" name="Shape 21"/>
          <p:cNvSpPr/>
          <p:nvPr/>
        </p:nvSpPr>
        <p:spPr>
          <a:xfrm>
            <a:off x="323698" y="4271705"/>
            <a:ext cx="4752137" cy="3106858"/>
          </a:xfrm>
          <a:prstGeom prst="rect">
            <a:avLst/>
          </a:prstGeom>
          <a:solidFill>
            <a:srgbClr val="FFFFFF"/>
          </a:solidFill>
          <a:ln w="7620">
            <a:solidFill>
              <a:srgbClr val="E3E7EC"/>
            </a:solidFill>
            <a:prstDash val="solid"/>
          </a:ln>
        </p:spPr>
      </p:sp>
      <p:sp>
        <p:nvSpPr>
          <p:cNvPr id="27" name="Text 22"/>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8" name="Shape 23"/>
          <p:cNvSpPr/>
          <p:nvPr/>
        </p:nvSpPr>
        <p:spPr>
          <a:xfrm>
            <a:off x="438898" y="4556773"/>
            <a:ext cx="1459246" cy="571522"/>
          </a:xfrm>
          <a:prstGeom prst="rect">
            <a:avLst/>
          </a:prstGeom>
          <a:solidFill>
            <a:srgbClr val="F5F7FA"/>
          </a:solidFill>
          <a:ln w="7620">
            <a:solidFill>
              <a:srgbClr val="E3E7EC"/>
            </a:solidFill>
            <a:prstDash val="solid"/>
          </a:ln>
        </p:spPr>
      </p:sp>
      <p:sp>
        <p:nvSpPr>
          <p:cNvPr id="29" name="Text 24"/>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250</a:t>
            </a:r>
            <a:endParaRPr lang="en-US" sz="1300" dirty="0"/>
          </a:p>
        </p:txBody>
      </p:sp>
      <p:sp>
        <p:nvSpPr>
          <p:cNvPr id="30" name="Text 25"/>
          <p:cNvSpPr txBox="1"/>
          <p:nvPr/>
        </p:nvSpPr>
        <p:spPr>
          <a:xfrm>
            <a:off x="546898"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REFILLERS AT SIX MONTHS</a:t>
            </a:r>
            <a:endParaRPr lang="en-US" sz="550" dirty="0"/>
          </a:p>
        </p:txBody>
      </p:sp>
      <p:sp>
        <p:nvSpPr>
          <p:cNvPr id="31" name="Shape 26"/>
          <p:cNvSpPr/>
          <p:nvPr/>
        </p:nvSpPr>
        <p:spPr>
          <a:xfrm>
            <a:off x="1970143" y="4556773"/>
            <a:ext cx="1459246" cy="571522"/>
          </a:xfrm>
          <a:prstGeom prst="rect">
            <a:avLst/>
          </a:prstGeom>
          <a:solidFill>
            <a:srgbClr val="F5F7FA"/>
          </a:solidFill>
          <a:ln w="7620">
            <a:solidFill>
              <a:srgbClr val="E3E7EC"/>
            </a:solidFill>
            <a:prstDash val="solid"/>
          </a:ln>
        </p:spPr>
      </p:sp>
      <p:sp>
        <p:nvSpPr>
          <p:cNvPr id="32" name="Text 27"/>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1,000</a:t>
            </a:r>
            <a:endParaRPr lang="en-US" sz="1300" dirty="0"/>
          </a:p>
        </p:txBody>
      </p:sp>
      <p:sp>
        <p:nvSpPr>
          <p:cNvPr id="33" name="Text 28"/>
          <p:cNvSpPr txBox="1"/>
          <p:nvPr/>
        </p:nvSpPr>
        <p:spPr>
          <a:xfrm>
            <a:off x="2078143"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BY YEAR THREE, GC, BRISBANE, NORTHERN RIVERS</a:t>
            </a:r>
            <a:endParaRPr lang="en-US" sz="550" dirty="0"/>
          </a:p>
        </p:txBody>
      </p:sp>
      <p:sp>
        <p:nvSpPr>
          <p:cNvPr id="34" name="Shape 29"/>
          <p:cNvSpPr/>
          <p:nvPr/>
        </p:nvSpPr>
        <p:spPr>
          <a:xfrm>
            <a:off x="3501389" y="4556773"/>
            <a:ext cx="1459246" cy="571522"/>
          </a:xfrm>
          <a:prstGeom prst="rect">
            <a:avLst/>
          </a:prstGeom>
          <a:solidFill>
            <a:srgbClr val="F5F7FA"/>
          </a:solidFill>
          <a:ln w="7620">
            <a:solidFill>
              <a:srgbClr val="E3E7EC"/>
            </a:solidFill>
            <a:prstDash val="solid"/>
          </a:ln>
        </p:spPr>
      </p:sp>
      <p:sp>
        <p:nvSpPr>
          <p:cNvPr id="35" name="Text 30"/>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~$50k</a:t>
            </a:r>
            <a:endParaRPr lang="en-US" sz="1300" dirty="0"/>
          </a:p>
        </p:txBody>
      </p:sp>
      <p:sp>
        <p:nvSpPr>
          <p:cNvPr id="36" name="Text 31"/>
          <p:cNvSpPr txBox="1"/>
          <p:nvPr/>
        </p:nvSpPr>
        <p:spPr>
          <a:xfrm>
            <a:off x="3609389"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BREAKEVEN, JUSTIN'S FIGURE, PERIOD NOT STATED</a:t>
            </a:r>
            <a:endParaRPr lang="en-US" sz="550" dirty="0"/>
          </a:p>
        </p:txBody>
      </p:sp>
      <p:sp>
        <p:nvSpPr>
          <p:cNvPr id="37" name="Text 32"/>
          <p:cNvSpPr txBox="1"/>
          <p:nvPr/>
        </p:nvSpPr>
        <p:spPr>
          <a:xfrm>
            <a:off x="438898" y="5293895"/>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still the 116 who already own a system and already refill here. Their objections are overcome. Nobody has to be sold on the idea of beer at home.</a:t>
            </a:r>
            <a:endParaRPr lang="en-US" sz="810" dirty="0"/>
          </a:p>
        </p:txBody>
      </p:sp>
      <p:sp>
        <p:nvSpPr>
          <p:cNvPr id="38" name="Text 33"/>
          <p:cNvSpPr txBox="1"/>
          <p:nvPr/>
        </p:nvSpPr>
        <p:spPr>
          <a:xfrm>
            <a:off x="438898" y="5768105"/>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 Justin's one-year marker is cashflow positive, with JM taking a wage.</a:t>
            </a:r>
            <a:endParaRPr lang="en-US" sz="810" dirty="0"/>
          </a:p>
        </p:txBody>
      </p:sp>
      <p:sp>
        <p:nvSpPr>
          <p:cNvPr id="39" name="Shape 34"/>
          <p:cNvSpPr/>
          <p:nvPr/>
        </p:nvSpPr>
        <p:spPr>
          <a:xfrm>
            <a:off x="438898" y="7085747"/>
            <a:ext cx="4521737" cy="0"/>
          </a:xfrm>
          <a:prstGeom prst="line">
            <a:avLst/>
          </a:prstGeom>
          <a:noFill/>
          <a:ln w="7620">
            <a:solidFill>
              <a:srgbClr val="E3E7EC"/>
            </a:solidFill>
            <a:prstDash val="solid"/>
          </a:ln>
        </p:spPr>
      </p:sp>
      <p:sp>
        <p:nvSpPr>
          <p:cNvPr id="40" name="Text 35"/>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climb to 1,000 is not a marketing target, it is a distribution target. It needs partners, not posts.</a:t>
            </a:r>
            <a:endParaRPr lang="en-US" sz="700" dirty="0"/>
          </a:p>
        </p:txBody>
      </p:sp>
      <p:sp>
        <p:nvSpPr>
          <p:cNvPr id="41" name="Shape 36"/>
          <p:cNvSpPr/>
          <p:nvPr/>
        </p:nvSpPr>
        <p:spPr>
          <a:xfrm>
            <a:off x="5183734" y="4271705"/>
            <a:ext cx="4752137" cy="3106858"/>
          </a:xfrm>
          <a:prstGeom prst="rect">
            <a:avLst/>
          </a:prstGeom>
          <a:solidFill>
            <a:srgbClr val="FFFFFF"/>
          </a:solidFill>
          <a:ln w="7620">
            <a:solidFill>
              <a:srgbClr val="E3E7EC"/>
            </a:solidFill>
            <a:prstDash val="solid"/>
          </a:ln>
        </p:spPr>
      </p:sp>
      <p:sp>
        <p:nvSpPr>
          <p:cNvPr id="42" name="Text 37"/>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3" name="Text 38"/>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4" name="Text 39"/>
          <p:cNvSpPr txBox="1"/>
          <p:nvPr/>
        </p:nvSpPr>
        <p:spPr>
          <a:xfrm>
            <a:off x="5298934" y="49524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5" name="Text 40"/>
          <p:cNvSpPr txBox="1"/>
          <p:nvPr/>
        </p:nvSpPr>
        <p:spPr>
          <a:xfrm>
            <a:off x="5298934" y="534816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2.5 cases for the price of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Against $12+ at the pub and $80+ for a case at the bottleshop.</a:t>
            </a:r>
            <a:endParaRPr lang="en-US" sz="810" dirty="0"/>
          </a:p>
        </p:txBody>
      </p:sp>
      <p:sp>
        <p:nvSpPr>
          <p:cNvPr id="46" name="Text 41"/>
          <p:cNvSpPr txBox="1"/>
          <p:nvPr/>
        </p:nvSpPr>
        <p:spPr>
          <a:xfrm>
            <a:off x="5298934" y="574386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7" name="Text 42"/>
          <p:cNvSpPr txBox="1"/>
          <p:nvPr/>
        </p:nvSpPr>
        <p:spPr>
          <a:xfrm>
            <a:off x="5298934" y="6139558"/>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 Justin lists a taproom membership as a three-month item, so the tension is live.</a:t>
            </a:r>
            <a:endParaRPr lang="en-US" sz="810" dirty="0"/>
          </a:p>
        </p:txBody>
      </p:sp>
      <p:sp>
        <p:nvSpPr>
          <p:cNvPr id="48" name="Shape 43"/>
          <p:cNvSpPr/>
          <p:nvPr/>
        </p:nvSpPr>
        <p:spPr>
          <a:xfrm>
            <a:off x="5298934" y="6965732"/>
            <a:ext cx="4521737" cy="0"/>
          </a:xfrm>
          <a:prstGeom prst="line">
            <a:avLst/>
          </a:prstGeom>
          <a:noFill/>
          <a:ln w="7620">
            <a:solidFill>
              <a:srgbClr val="E3E7EC"/>
            </a:solidFill>
            <a:prstDash val="solid"/>
          </a:ln>
        </p:spPr>
      </p:sp>
      <p:sp>
        <p:nvSpPr>
          <p:cNvPr id="49" name="Text 44"/>
          <p:cNvSpPr txBox="1"/>
          <p:nvPr/>
        </p:nvSpPr>
        <p:spPr>
          <a:xfrm>
            <a:off x="5298934" y="702333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open item is no longer which maths, it is making sure the live ad and every piece of collateral carry $2.55.</a:t>
            </a:r>
            <a:endParaRPr lang="en-US" sz="700" dirty="0"/>
          </a:p>
        </p:txBody>
      </p:sp>
      <p:sp>
        <p:nvSpPr>
          <p:cNvPr id="50" name="Shape 45"/>
          <p:cNvSpPr/>
          <p:nvPr/>
        </p:nvSpPr>
        <p:spPr>
          <a:xfrm>
            <a:off x="10043770" y="4271705"/>
            <a:ext cx="4752137" cy="3106858"/>
          </a:xfrm>
          <a:prstGeom prst="rect">
            <a:avLst/>
          </a:prstGeom>
          <a:solidFill>
            <a:srgbClr val="FFFFFF"/>
          </a:solidFill>
          <a:ln w="7620">
            <a:solidFill>
              <a:srgbClr val="E3E7EC"/>
            </a:solidFill>
            <a:prstDash val="solid"/>
          </a:ln>
        </p:spPr>
      </p:sp>
      <p:sp>
        <p:nvSpPr>
          <p:cNvPr id="51" name="Text 46"/>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2" name="Text 47"/>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It is not in Justin's plan.</a:t>
            </a:r>
            <a:endParaRPr lang="en-US" sz="920" dirty="0"/>
          </a:p>
        </p:txBody>
      </p:sp>
      <p:sp>
        <p:nvSpPr>
          <p:cNvPr id="53" name="Text 48"/>
          <p:cNvSpPr txBox="1"/>
          <p:nvPr/>
        </p:nvSpPr>
        <p:spPr>
          <a:xfrm>
            <a:off x="10158970" y="488361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find out the brand exists, which no keg marketing reaches. It also opens bars and restaurants that will not give up a tap.</a:t>
            </a:r>
            <a:endParaRPr lang="en-US" sz="810" dirty="0"/>
          </a:p>
        </p:txBody>
      </p:sp>
      <p:sp>
        <p:nvSpPr>
          <p:cNvPr id="54" name="Text 49"/>
          <p:cNvSpPr txBox="1"/>
          <p:nvPr/>
        </p:nvSpPr>
        <p:spPr>
          <a:xfrm>
            <a:off x="10158970" y="535782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and parked it.</a:t>
            </a:r>
            <a:endParaRPr lang="en-US" sz="810" dirty="0"/>
          </a:p>
        </p:txBody>
      </p:sp>
      <p:sp>
        <p:nvSpPr>
          <p:cNvPr id="55" name="Text 50"/>
          <p:cNvSpPr txBox="1"/>
          <p:nvPr/>
        </p:nvSpPr>
        <p:spPr>
          <a:xfrm>
            <a:off x="10158970" y="583203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a:t>
            </a:r>
            <a:endParaRPr lang="en-US" sz="810" dirty="0"/>
          </a:p>
        </p:txBody>
      </p:sp>
      <p:sp>
        <p:nvSpPr>
          <p:cNvPr id="56" name="Shape 51"/>
          <p:cNvSpPr/>
          <p:nvPr/>
        </p:nvSpPr>
        <p:spPr>
          <a:xfrm>
            <a:off x="10158970" y="7085747"/>
            <a:ext cx="4521737" cy="0"/>
          </a:xfrm>
          <a:prstGeom prst="line">
            <a:avLst/>
          </a:prstGeom>
          <a:noFill/>
          <a:ln w="7620">
            <a:solidFill>
              <a:srgbClr val="E3E7EC"/>
            </a:solidFill>
            <a:prstDash val="solid"/>
          </a:ln>
        </p:spPr>
      </p:sp>
      <p:sp>
        <p:nvSpPr>
          <p:cNvPr id="57" name="Text 52"/>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8" name="Shape 53"/>
          <p:cNvSpPr/>
          <p:nvPr/>
        </p:nvSpPr>
        <p:spPr>
          <a:xfrm>
            <a:off x="323698" y="7486462"/>
            <a:ext cx="7182155" cy="2989618"/>
          </a:xfrm>
          <a:prstGeom prst="rect">
            <a:avLst/>
          </a:prstGeom>
          <a:solidFill>
            <a:srgbClr val="FFFFFF"/>
          </a:solidFill>
          <a:ln w="7620">
            <a:solidFill>
              <a:srgbClr val="E3E7EC"/>
            </a:solidFill>
            <a:prstDash val="solid"/>
          </a:ln>
        </p:spPr>
      </p:sp>
      <p:sp>
        <p:nvSpPr>
          <p:cNvPr id="59" name="Text 54"/>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0" name="Shape 55"/>
          <p:cNvSpPr/>
          <p:nvPr/>
        </p:nvSpPr>
        <p:spPr>
          <a:xfrm>
            <a:off x="438898" y="7816840"/>
            <a:ext cx="50400" cy="50400"/>
          </a:xfrm>
          <a:prstGeom prst="rect">
            <a:avLst/>
          </a:prstGeom>
          <a:solidFill>
            <a:srgbClr val="0066FF"/>
          </a:solidFill>
          <a:ln w="12700">
            <a:solidFill>
              <a:srgbClr val="333333"/>
            </a:solidFill>
            <a:prstDash val="solid"/>
          </a:ln>
        </p:spPr>
      </p:sp>
      <p:sp>
        <p:nvSpPr>
          <p:cNvPr id="61" name="Text 56"/>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three-way shape question.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Taproom, showroom or event space. Owner: Justin.</a:t>
            </a:r>
            <a:endParaRPr lang="en-US" sz="800" dirty="0"/>
          </a:p>
        </p:txBody>
      </p:sp>
      <p:sp>
        <p:nvSpPr>
          <p:cNvPr id="62" name="Shape 57"/>
          <p:cNvSpPr/>
          <p:nvPr/>
        </p:nvSpPr>
        <p:spPr>
          <a:xfrm>
            <a:off x="438898" y="8305043"/>
            <a:ext cx="50400" cy="50400"/>
          </a:xfrm>
          <a:prstGeom prst="rect">
            <a:avLst/>
          </a:prstGeom>
          <a:solidFill>
            <a:srgbClr val="0066FF"/>
          </a:solidFill>
          <a:ln w="12700">
            <a:solidFill>
              <a:srgbClr val="333333"/>
            </a:solidFill>
            <a:prstDash val="solid"/>
          </a:ln>
        </p:spPr>
      </p:sp>
      <p:sp>
        <p:nvSpPr>
          <p:cNvPr id="63" name="Text 58"/>
          <p:cNvSpPr txBox="1"/>
          <p:nvPr/>
        </p:nvSpPr>
        <p:spPr>
          <a:xfrm>
            <a:off x="546898" y="825973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Residential vs commercial.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Where the energy goes.</a:t>
            </a:r>
            <a:endParaRPr lang="en-US" sz="800" dirty="0"/>
          </a:p>
        </p:txBody>
      </p:sp>
      <p:sp>
        <p:nvSpPr>
          <p:cNvPr id="64" name="Shape 59"/>
          <p:cNvSpPr/>
          <p:nvPr/>
        </p:nvSpPr>
        <p:spPr>
          <a:xfrm>
            <a:off x="438898" y="8793245"/>
            <a:ext cx="50400" cy="50400"/>
          </a:xfrm>
          <a:prstGeom prst="rect">
            <a:avLst/>
          </a:prstGeom>
          <a:solidFill>
            <a:srgbClr val="0066FF"/>
          </a:solidFill>
          <a:ln w="12700">
            <a:solidFill>
              <a:srgbClr val="333333"/>
            </a:solidFill>
            <a:prstDash val="solid"/>
          </a:ln>
        </p:spPr>
      </p:sp>
      <p:sp>
        <p:nvSpPr>
          <p:cNvPr id="65" name="Text 60"/>
          <p:cNvSpPr txBox="1"/>
          <p:nvPr/>
        </p:nvSpPr>
        <p:spPr>
          <a:xfrm>
            <a:off x="546898" y="8747935"/>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External support vs in-house.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Do it ourselves or bring it in.</a:t>
            </a:r>
            <a:endParaRPr lang="en-US" sz="800" dirty="0"/>
          </a:p>
        </p:txBody>
      </p:sp>
      <p:sp>
        <p:nvSpPr>
          <p:cNvPr id="66" name="Shape 61"/>
          <p:cNvSpPr/>
          <p:nvPr/>
        </p:nvSpPr>
        <p:spPr>
          <a:xfrm>
            <a:off x="438898" y="9281448"/>
            <a:ext cx="50400" cy="50400"/>
          </a:xfrm>
          <a:prstGeom prst="rect">
            <a:avLst/>
          </a:prstGeom>
          <a:solidFill>
            <a:srgbClr val="0066FF"/>
          </a:solidFill>
          <a:ln w="12700">
            <a:solidFill>
              <a:srgbClr val="333333"/>
            </a:solidFill>
            <a:prstDash val="solid"/>
          </a:ln>
        </p:spPr>
      </p:sp>
      <p:sp>
        <p:nvSpPr>
          <p:cNvPr id="67" name="Text 62"/>
          <p:cNvSpPr txBox="1"/>
          <p:nvPr/>
        </p:nvSpPr>
        <p:spPr>
          <a:xfrm>
            <a:off x="546898" y="923613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Next hire.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Brewer vs wholesale plus bar coverage, hybrid.</a:t>
            </a:r>
            <a:endParaRPr lang="en-US" sz="800" dirty="0"/>
          </a:p>
        </p:txBody>
      </p:sp>
      <p:sp>
        <p:nvSpPr>
          <p:cNvPr id="68" name="Shape 63"/>
          <p:cNvSpPr/>
          <p:nvPr/>
        </p:nvSpPr>
        <p:spPr>
          <a:xfrm>
            <a:off x="438898" y="9769651"/>
            <a:ext cx="50400" cy="50400"/>
          </a:xfrm>
          <a:prstGeom prst="rect">
            <a:avLst/>
          </a:prstGeom>
          <a:solidFill>
            <a:srgbClr val="0066FF"/>
          </a:solidFill>
          <a:ln w="12700">
            <a:solidFill>
              <a:srgbClr val="333333"/>
            </a:solidFill>
            <a:prstDash val="solid"/>
          </a:ln>
        </p:spPr>
      </p:sp>
      <p:sp>
        <p:nvSpPr>
          <p:cNvPr id="69" name="Text 64"/>
          <p:cNvSpPr txBox="1"/>
          <p:nvPr/>
        </p:nvSpPr>
        <p:spPr>
          <a:xfrm>
            <a:off x="546898" y="972434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KPIs and growth targets.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Keg system sales, active keg refillers, wholesale accounts.</a:t>
            </a:r>
            <a:endParaRPr lang="en-US" sz="800" dirty="0"/>
          </a:p>
        </p:txBody>
      </p:sp>
      <p:sp>
        <p:nvSpPr>
          <p:cNvPr id="70" name="Shape 65"/>
          <p:cNvSpPr/>
          <p:nvPr/>
        </p:nvSpPr>
        <p:spPr>
          <a:xfrm>
            <a:off x="438898" y="10257854"/>
            <a:ext cx="50400" cy="50400"/>
          </a:xfrm>
          <a:prstGeom prst="rect">
            <a:avLst/>
          </a:prstGeom>
          <a:solidFill>
            <a:srgbClr val="0066FF"/>
          </a:solidFill>
          <a:ln w="12700">
            <a:solidFill>
              <a:srgbClr val="333333"/>
            </a:solidFill>
            <a:prstDash val="solid"/>
          </a:ln>
        </p:spPr>
      </p:sp>
      <p:sp>
        <p:nvSpPr>
          <p:cNvPr id="71" name="Text 66"/>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$2.55.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number on the live ad.</a:t>
            </a:r>
            <a:endParaRPr lang="en-US" sz="800" dirty="0"/>
          </a:p>
        </p:txBody>
      </p:sp>
      <p:sp>
        <p:nvSpPr>
          <p:cNvPr id="72" name="Shape 67"/>
          <p:cNvSpPr/>
          <p:nvPr/>
        </p:nvSpPr>
        <p:spPr>
          <a:xfrm>
            <a:off x="7613752" y="7486462"/>
            <a:ext cx="7182155" cy="2989618"/>
          </a:xfrm>
          <a:prstGeom prst="rect">
            <a:avLst/>
          </a:prstGeom>
          <a:solidFill>
            <a:srgbClr val="FFFFFF"/>
          </a:solidFill>
          <a:ln w="7620">
            <a:solidFill>
              <a:srgbClr val="E3E7EC"/>
            </a:solidFill>
            <a:prstDash val="solid"/>
          </a:ln>
        </p:spPr>
      </p:sp>
      <p:sp>
        <p:nvSpPr>
          <p:cNvPr id="73" name="Text 68"/>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4" name="Shape 69"/>
          <p:cNvSpPr/>
          <p:nvPr/>
        </p:nvSpPr>
        <p:spPr>
          <a:xfrm>
            <a:off x="7728952" y="7816840"/>
            <a:ext cx="50400" cy="50400"/>
          </a:xfrm>
          <a:prstGeom prst="rect">
            <a:avLst/>
          </a:prstGeom>
          <a:solidFill>
            <a:srgbClr val="0066FF"/>
          </a:solidFill>
          <a:ln w="12700">
            <a:solidFill>
              <a:srgbClr val="333333"/>
            </a:solidFill>
            <a:prstDash val="solid"/>
          </a:ln>
        </p:spPr>
      </p:sp>
      <p:sp>
        <p:nvSpPr>
          <p:cNvPr id="75" name="Text 70"/>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6" name="Shape 71"/>
          <p:cNvSpPr/>
          <p:nvPr/>
        </p:nvSpPr>
        <p:spPr>
          <a:xfrm>
            <a:off x="7728952" y="8500261"/>
            <a:ext cx="50400" cy="50400"/>
          </a:xfrm>
          <a:prstGeom prst="rect">
            <a:avLst/>
          </a:prstGeom>
          <a:solidFill>
            <a:srgbClr val="0066FF"/>
          </a:solidFill>
          <a:ln w="12700">
            <a:solidFill>
              <a:srgbClr val="333333"/>
            </a:solidFill>
            <a:prstDash val="solid"/>
          </a:ln>
        </p:spPr>
      </p:sp>
      <p:sp>
        <p:nvSpPr>
          <p:cNvPr id="77" name="Text 72"/>
          <p:cNvSpPr txBox="1"/>
          <p:nvPr/>
        </p:nvSpPr>
        <p:spPr>
          <a:xfrm>
            <a:off x="7836952" y="845495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78" name="Shape 73"/>
          <p:cNvSpPr/>
          <p:nvPr/>
        </p:nvSpPr>
        <p:spPr>
          <a:xfrm>
            <a:off x="7728952" y="9183682"/>
            <a:ext cx="50400" cy="50400"/>
          </a:xfrm>
          <a:prstGeom prst="rect">
            <a:avLst/>
          </a:prstGeom>
          <a:solidFill>
            <a:srgbClr val="0066FF"/>
          </a:solidFill>
          <a:ln w="12700">
            <a:solidFill>
              <a:srgbClr val="333333"/>
            </a:solidFill>
            <a:prstDash val="solid"/>
          </a:ln>
        </p:spPr>
      </p:sp>
      <p:sp>
        <p:nvSpPr>
          <p:cNvPr id="79" name="Text 74"/>
          <p:cNvSpPr txBox="1"/>
          <p:nvPr/>
        </p:nvSpPr>
        <p:spPr>
          <a:xfrm>
            <a:off x="7836952" y="9138371"/>
            <a:ext cx="6843755" cy="296672"/>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Chris is trapped in production.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Justin's words: highly valued and intelligent, but the business needs his time and knowledge freed up.</a:t>
            </a:r>
            <a:endParaRPr lang="en-US" sz="800" dirty="0"/>
          </a:p>
        </p:txBody>
      </p:sp>
      <p:sp>
        <p:nvSpPr>
          <p:cNvPr id="80" name="Shape 75"/>
          <p:cNvSpPr/>
          <p:nvPr/>
        </p:nvSpPr>
        <p:spPr>
          <a:xfrm>
            <a:off x="7728952" y="10015439"/>
            <a:ext cx="50400" cy="50400"/>
          </a:xfrm>
          <a:prstGeom prst="rect">
            <a:avLst/>
          </a:prstGeom>
          <a:solidFill>
            <a:srgbClr val="0066FF"/>
          </a:solidFill>
          <a:ln w="12700">
            <a:solidFill>
              <a:srgbClr val="333333"/>
            </a:solidFill>
            <a:prstDash val="solid"/>
          </a:ln>
        </p:spPr>
      </p:sp>
      <p:sp>
        <p:nvSpPr>
          <p:cNvPr id="81" name="Text 76"/>
          <p:cNvSpPr txBox="1"/>
          <p:nvPr/>
        </p:nvSpPr>
        <p:spPr>
          <a:xfrm>
            <a:off x="7836952" y="997012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2" name="Shape 77"/>
          <p:cNvSpPr/>
          <p:nvPr/>
        </p:nvSpPr>
        <p:spPr>
          <a:xfrm>
            <a:off x="7728952" y="10183264"/>
            <a:ext cx="6951755" cy="0"/>
          </a:xfrm>
          <a:prstGeom prst="line">
            <a:avLst/>
          </a:prstGeom>
          <a:noFill/>
          <a:ln w="7620">
            <a:solidFill>
              <a:srgbClr val="E3E7EC"/>
            </a:solidFill>
            <a:prstDash val="solid"/>
          </a:ln>
        </p:spPr>
      </p:sp>
      <p:sp>
        <p:nvSpPr>
          <p:cNvPr id="83" name="Text 78"/>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the catch-up: as this scales, the personal connection cannot hold. It has to be replicated in systems.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13084" y="365760"/>
            <a:ext cx="967119"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13084" y="365760"/>
            <a:ext cx="967119"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02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5967146" cy="2637898"/>
          </a:xfrm>
          <a:prstGeom prst="rect">
            <a:avLst/>
          </a:prstGeom>
          <a:solidFill>
            <a:srgbClr val="FFFFFF"/>
          </a:solidFill>
          <a:ln w="7620">
            <a:solidFill>
              <a:srgbClr val="E3E7EC"/>
            </a:solidFill>
            <a:prstDash val="solid"/>
          </a:ln>
        </p:spPr>
      </p:sp>
      <p:sp>
        <p:nvSpPr>
          <p:cNvPr id="13" name="Shape 9"/>
          <p:cNvSpPr/>
          <p:nvPr/>
        </p:nvSpPr>
        <p:spPr>
          <a:xfrm>
            <a:off x="323698" y="1115568"/>
            <a:ext cx="5967146"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5" name="Text 11"/>
          <p:cNvSpPr txBox="1"/>
          <p:nvPr/>
        </p:nvSpPr>
        <p:spPr>
          <a:xfrm>
            <a:off x="438898" y="1400636"/>
            <a:ext cx="5736746" cy="422046"/>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The pub at your place. Fresher, cheaper by the schooner, and yours.</a:t>
            </a:r>
            <a:endParaRPr lang="en-US" sz="1340" dirty="0"/>
          </a:p>
        </p:txBody>
      </p:sp>
      <p:sp>
        <p:nvSpPr>
          <p:cNvPr id="16" name="Text 12"/>
          <p:cNvSpPr txBox="1"/>
          <p:nvPr/>
        </p:nvSpPr>
        <p:spPr>
          <a:xfrm>
            <a:off x="438898" y="1928317"/>
            <a:ext cx="5736746"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"Every household in Australia deserves beer on tap."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line, and the goal is bringing people together. Catching up with friends at a venue is stressful, rushed and expensive. Catching up at home is made easy: pub-quality beer and non-beer on tap, and a set-up that is the envy of your friends.</a:t>
            </a:r>
            <a:endParaRPr lang="en-US" sz="810" dirty="0"/>
          </a:p>
        </p:txBody>
      </p:sp>
      <p:sp>
        <p:nvSpPr>
          <p:cNvPr id="17" name="Text 13"/>
          <p:cNvSpPr txBox="1"/>
          <p:nvPr/>
        </p:nvSpPr>
        <p:spPr>
          <a:xfrm>
            <a:off x="438898" y="2496867"/>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8" name="Text 14"/>
          <p:cNvSpPr txBox="1"/>
          <p:nvPr/>
        </p:nvSpPr>
        <p:spPr>
          <a:xfrm>
            <a:off x="438898" y="2911112"/>
            <a:ext cx="5736746"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pub does beer at home badly. That is the gap.</a:t>
            </a:r>
            <a:endParaRPr lang="en-US" sz="810" dirty="0"/>
          </a:p>
        </p:txBody>
      </p:sp>
      <p:sp>
        <p:nvSpPr>
          <p:cNvPr id="19" name="Shape 15"/>
          <p:cNvSpPr/>
          <p:nvPr/>
        </p:nvSpPr>
        <p:spPr>
          <a:xfrm>
            <a:off x="438898" y="3460651"/>
            <a:ext cx="5736746" cy="0"/>
          </a:xfrm>
          <a:prstGeom prst="line">
            <a:avLst/>
          </a:prstGeom>
          <a:noFill/>
          <a:ln w="7620">
            <a:solidFill>
              <a:srgbClr val="E3E7EC"/>
            </a:solidFill>
            <a:prstDash val="solid"/>
          </a:ln>
        </p:spPr>
      </p:sp>
      <p:sp>
        <p:nvSpPr>
          <p:cNvPr id="20" name="Text 16"/>
          <p:cNvSpPr txBox="1"/>
          <p:nvPr/>
        </p:nvSpPr>
        <p:spPr>
          <a:xfrm>
            <a:off x="438898" y="3518251"/>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That is the opening.</a:t>
            </a:r>
            <a:endParaRPr lang="en-US" sz="700" dirty="0"/>
          </a:p>
        </p:txBody>
      </p:sp>
      <p:sp>
        <p:nvSpPr>
          <p:cNvPr id="21" name="Shape 17"/>
          <p:cNvSpPr/>
          <p:nvPr/>
        </p:nvSpPr>
        <p:spPr>
          <a:xfrm>
            <a:off x="6398743" y="1115568"/>
            <a:ext cx="8397164" cy="2637898"/>
          </a:xfrm>
          <a:prstGeom prst="rect">
            <a:avLst/>
          </a:prstGeom>
          <a:solidFill>
            <a:srgbClr val="FFFFFF"/>
          </a:solidFill>
          <a:ln w="7620">
            <a:solidFill>
              <a:srgbClr val="E3E7EC"/>
            </a:solidFill>
            <a:prstDash val="solid"/>
          </a:ln>
        </p:spPr>
      </p:sp>
      <p:sp>
        <p:nvSpPr>
          <p:cNvPr id="22" name="Text 18"/>
          <p:cNvSpPr txBox="1"/>
          <p:nvPr/>
        </p:nvSpPr>
        <p:spPr>
          <a:xfrm>
            <a:off x="6513943"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3" name="Text 19"/>
          <p:cNvSpPr txBox="1"/>
          <p:nvPr/>
        </p:nvSpPr>
        <p:spPr>
          <a:xfrm>
            <a:off x="6513943" y="1400636"/>
            <a:ext cx="8166764"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Pubs at $12+ a schooner, bottleshops at $80+ a case, and home brew supply stores. Not the duopoly, not A&amp;A, not the keg delivery operators.</a:t>
            </a:r>
            <a:endParaRPr lang="en-US" sz="920" dirty="0"/>
          </a:p>
        </p:txBody>
      </p:sp>
      <p:sp>
        <p:nvSpPr>
          <p:cNvPr id="24" name="Text 20"/>
          <p:cNvSpPr txBox="1"/>
          <p:nvPr/>
        </p:nvSpPr>
        <p:spPr>
          <a:xfrm>
            <a:off x="6513943" y="1888714"/>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words: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more people drinking craft beer and not XXXX, the better.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Other breweries are not the enemy. Every price conversation should be unit economics: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against $12+ at the pub</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2.5 cases for the price of one.</a:t>
            </a:r>
            <a:endParaRPr lang="en-US" sz="810" dirty="0"/>
          </a:p>
        </p:txBody>
      </p:sp>
      <p:sp>
        <p:nvSpPr>
          <p:cNvPr id="25" name="Text 21"/>
          <p:cNvSpPr txBox="1"/>
          <p:nvPr/>
        </p:nvSpPr>
        <p:spPr>
          <a:xfrm>
            <a:off x="6513943" y="2362924"/>
            <a:ext cx="8166764"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6" name="Text 22"/>
          <p:cNvSpPr txBox="1"/>
          <p:nvPr/>
        </p:nvSpPr>
        <p:spPr>
          <a:xfrm>
            <a:off x="6513943" y="2682829"/>
            <a:ext cx="8166764"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Following a competitor in that state down on price is worse than pointless.</a:t>
            </a:r>
            <a:endParaRPr lang="en-US" sz="810" dirty="0"/>
          </a:p>
        </p:txBody>
      </p:sp>
      <p:sp>
        <p:nvSpPr>
          <p:cNvPr id="27" name="Shape 23"/>
          <p:cNvSpPr/>
          <p:nvPr/>
        </p:nvSpPr>
        <p:spPr>
          <a:xfrm>
            <a:off x="6513943" y="3460651"/>
            <a:ext cx="8166764" cy="0"/>
          </a:xfrm>
          <a:prstGeom prst="line">
            <a:avLst/>
          </a:prstGeom>
          <a:noFill/>
          <a:ln w="7620">
            <a:solidFill>
              <a:srgbClr val="E3E7EC"/>
            </a:solidFill>
            <a:prstDash val="solid"/>
          </a:ln>
        </p:spPr>
      </p:sp>
      <p:sp>
        <p:nvSpPr>
          <p:cNvPr id="28" name="Text 24"/>
          <p:cNvSpPr txBox="1"/>
          <p:nvPr/>
        </p:nvSpPr>
        <p:spPr>
          <a:xfrm>
            <a:off x="6513943" y="351825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figure is settled: $2.55 a schooner. Every piece of collateral and the live ad should carry it.</a:t>
            </a:r>
            <a:endParaRPr lang="en-US" sz="700" dirty="0"/>
          </a:p>
        </p:txBody>
      </p:sp>
      <p:sp>
        <p:nvSpPr>
          <p:cNvPr id="29" name="Shape 25"/>
          <p:cNvSpPr/>
          <p:nvPr/>
        </p:nvSpPr>
        <p:spPr>
          <a:xfrm>
            <a:off x="323698" y="3861365"/>
            <a:ext cx="4752137" cy="3341337"/>
          </a:xfrm>
          <a:prstGeom prst="rect">
            <a:avLst/>
          </a:prstGeom>
          <a:solidFill>
            <a:srgbClr val="FFFFFF"/>
          </a:solidFill>
          <a:ln w="7620">
            <a:solidFill>
              <a:srgbClr val="E3E7EC"/>
            </a:solidFill>
            <a:prstDash val="solid"/>
          </a:ln>
        </p:spPr>
      </p:sp>
      <p:sp>
        <p:nvSpPr>
          <p:cNvPr id="30" name="Text 26"/>
          <p:cNvSpPr txBox="1"/>
          <p:nvPr/>
        </p:nvSpPr>
        <p:spPr>
          <a:xfrm>
            <a:off x="438898"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1" name="Text 27"/>
          <p:cNvSpPr txBox="1"/>
          <p:nvPr/>
        </p:nvSpPr>
        <p:spPr>
          <a:xfrm>
            <a:off x="438898" y="414643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2" name="Text 28"/>
          <p:cNvSpPr txBox="1"/>
          <p:nvPr/>
        </p:nvSpPr>
        <p:spPr>
          <a:xfrm>
            <a:off x="438898" y="477494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3" name="Text 29"/>
          <p:cNvSpPr txBox="1"/>
          <p:nvPr/>
        </p:nvSpPr>
        <p:spPr>
          <a:xfrm>
            <a:off x="438898" y="524915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4" name="Shape 30"/>
          <p:cNvSpPr/>
          <p:nvPr/>
        </p:nvSpPr>
        <p:spPr>
          <a:xfrm>
            <a:off x="438898" y="6789872"/>
            <a:ext cx="4521737" cy="0"/>
          </a:xfrm>
          <a:prstGeom prst="line">
            <a:avLst/>
          </a:prstGeom>
          <a:noFill/>
          <a:ln w="7620">
            <a:solidFill>
              <a:srgbClr val="E3E7EC"/>
            </a:solidFill>
            <a:prstDash val="solid"/>
          </a:ln>
        </p:spPr>
      </p:sp>
      <p:sp>
        <p:nvSpPr>
          <p:cNvPr id="35" name="Text 31"/>
          <p:cNvSpPr txBox="1"/>
          <p:nvPr/>
        </p:nvSpPr>
        <p:spPr>
          <a:xfrm>
            <a:off x="438898" y="684747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6" name="Shape 32"/>
          <p:cNvSpPr/>
          <p:nvPr/>
        </p:nvSpPr>
        <p:spPr>
          <a:xfrm>
            <a:off x="5183734" y="3861365"/>
            <a:ext cx="4752137" cy="3341337"/>
          </a:xfrm>
          <a:prstGeom prst="rect">
            <a:avLst/>
          </a:prstGeom>
          <a:solidFill>
            <a:srgbClr val="FFFFFF"/>
          </a:solidFill>
          <a:ln w="7620">
            <a:solidFill>
              <a:srgbClr val="E3E7EC"/>
            </a:solidFill>
            <a:prstDash val="solid"/>
          </a:ln>
        </p:spPr>
      </p:sp>
      <p:sp>
        <p:nvSpPr>
          <p:cNvPr id="37" name="Text 33"/>
          <p:cNvSpPr txBox="1"/>
          <p:nvPr/>
        </p:nvSpPr>
        <p:spPr>
          <a:xfrm>
            <a:off x="5298934"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8" name="Text 34"/>
          <p:cNvSpPr txBox="1"/>
          <p:nvPr/>
        </p:nvSpPr>
        <p:spPr>
          <a:xfrm>
            <a:off x="5298934" y="414643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39" name="Text 35"/>
          <p:cNvSpPr txBox="1"/>
          <p:nvPr/>
        </p:nvSpPr>
        <p:spPr>
          <a:xfrm>
            <a:off x="5298934" y="4465361"/>
            <a:ext cx="4521737" cy="77152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target segments, sharehouses, DINKs, young families, baby boomers, high-volume drinkers, cashed-up tradies, are households, and designing for her is how those households say yes.</a:t>
            </a:r>
            <a:endParaRPr lang="en-US" sz="810" dirty="0"/>
          </a:p>
        </p:txBody>
      </p:sp>
      <p:sp>
        <p:nvSpPr>
          <p:cNvPr id="40" name="Text 36"/>
          <p:cNvSpPr txBox="1"/>
          <p:nvPr/>
        </p:nvSpPr>
        <p:spPr>
          <a:xfrm>
            <a:off x="5298934" y="5394575"/>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1" name="Text 37"/>
          <p:cNvSpPr txBox="1"/>
          <p:nvPr/>
        </p:nvSpPr>
        <p:spPr>
          <a:xfrm>
            <a:off x="5298934" y="6015179"/>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2" name="Shape 38"/>
          <p:cNvSpPr/>
          <p:nvPr/>
        </p:nvSpPr>
        <p:spPr>
          <a:xfrm>
            <a:off x="5298934" y="6909887"/>
            <a:ext cx="4521737" cy="0"/>
          </a:xfrm>
          <a:prstGeom prst="line">
            <a:avLst/>
          </a:prstGeom>
          <a:noFill/>
          <a:ln w="7620">
            <a:solidFill>
              <a:srgbClr val="E3E7EC"/>
            </a:solidFill>
            <a:prstDash val="solid"/>
          </a:ln>
        </p:spPr>
      </p:sp>
      <p:sp>
        <p:nvSpPr>
          <p:cNvPr id="43" name="Text 39"/>
          <p:cNvSpPr txBox="1"/>
          <p:nvPr/>
        </p:nvSpPr>
        <p:spPr>
          <a:xfrm>
            <a:off x="5298934" y="696748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4" name="Shape 40"/>
          <p:cNvSpPr/>
          <p:nvPr/>
        </p:nvSpPr>
        <p:spPr>
          <a:xfrm>
            <a:off x="10043770" y="3861365"/>
            <a:ext cx="4752137" cy="3341337"/>
          </a:xfrm>
          <a:prstGeom prst="rect">
            <a:avLst/>
          </a:prstGeom>
          <a:solidFill>
            <a:srgbClr val="FFFFFF"/>
          </a:solidFill>
          <a:ln w="7620">
            <a:solidFill>
              <a:srgbClr val="E3E7EC"/>
            </a:solidFill>
            <a:prstDash val="solid"/>
          </a:ln>
        </p:spPr>
      </p:sp>
      <p:sp>
        <p:nvSpPr>
          <p:cNvPr id="45" name="Text 41"/>
          <p:cNvSpPr txBox="1"/>
          <p:nvPr/>
        </p:nvSpPr>
        <p:spPr>
          <a:xfrm>
            <a:off x="10158970"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6" name="Shape 42"/>
          <p:cNvSpPr/>
          <p:nvPr/>
        </p:nvSpPr>
        <p:spPr>
          <a:xfrm>
            <a:off x="10158970" y="4181584"/>
            <a:ext cx="50400" cy="50400"/>
          </a:xfrm>
          <a:prstGeom prst="rect">
            <a:avLst/>
          </a:prstGeom>
          <a:solidFill>
            <a:srgbClr val="0066FF"/>
          </a:solidFill>
          <a:ln w="12700">
            <a:solidFill>
              <a:srgbClr val="333333"/>
            </a:solidFill>
            <a:prstDash val="solid"/>
          </a:ln>
        </p:spPr>
      </p:sp>
      <p:sp>
        <p:nvSpPr>
          <p:cNvPr id="47" name="Text 43"/>
          <p:cNvSpPr txBox="1"/>
          <p:nvPr/>
        </p:nvSpPr>
        <p:spPr>
          <a:xfrm>
            <a:off x="10266970" y="414643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48" name="Shape 44"/>
          <p:cNvSpPr/>
          <p:nvPr/>
        </p:nvSpPr>
        <p:spPr>
          <a:xfrm>
            <a:off x="10158970" y="4884847"/>
            <a:ext cx="50400" cy="50400"/>
          </a:xfrm>
          <a:prstGeom prst="rect">
            <a:avLst/>
          </a:prstGeom>
          <a:solidFill>
            <a:srgbClr val="0066FF"/>
          </a:solidFill>
          <a:ln w="12700">
            <a:solidFill>
              <a:srgbClr val="333333"/>
            </a:solidFill>
            <a:prstDash val="solid"/>
          </a:ln>
        </p:spPr>
      </p:sp>
      <p:sp>
        <p:nvSpPr>
          <p:cNvPr id="49" name="Text 45"/>
          <p:cNvSpPr txBox="1"/>
          <p:nvPr/>
        </p:nvSpPr>
        <p:spPr>
          <a:xfrm>
            <a:off x="10266970" y="4849696"/>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Two buying objections answered, both currently below the fold.</a:t>
            </a:r>
            <a:endParaRPr lang="en-US" sz="720" dirty="0"/>
          </a:p>
        </p:txBody>
      </p:sp>
      <p:sp>
        <p:nvSpPr>
          <p:cNvPr id="50" name="Shape 46"/>
          <p:cNvSpPr/>
          <p:nvPr/>
        </p:nvSpPr>
        <p:spPr>
          <a:xfrm>
            <a:off x="10158970" y="5588110"/>
            <a:ext cx="50400" cy="50400"/>
          </a:xfrm>
          <a:prstGeom prst="rect">
            <a:avLst/>
          </a:prstGeom>
          <a:solidFill>
            <a:srgbClr val="0066FF"/>
          </a:solidFill>
          <a:ln w="12700">
            <a:solidFill>
              <a:srgbClr val="333333"/>
            </a:solidFill>
            <a:prstDash val="solid"/>
          </a:ln>
        </p:spPr>
      </p:sp>
      <p:sp>
        <p:nvSpPr>
          <p:cNvPr id="51" name="Text 47"/>
          <p:cNvSpPr txBox="1"/>
          <p:nvPr/>
        </p:nvSpPr>
        <p:spPr>
          <a:xfrm>
            <a:off x="10266970" y="555296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and 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and the reviews are present but unpromoted and invisible to AI search.</a:t>
            </a:r>
            <a:endParaRPr lang="en-US" sz="720" dirty="0"/>
          </a:p>
        </p:txBody>
      </p:sp>
      <p:sp>
        <p:nvSpPr>
          <p:cNvPr id="52" name="Shape 48"/>
          <p:cNvSpPr/>
          <p:nvPr/>
        </p:nvSpPr>
        <p:spPr>
          <a:xfrm>
            <a:off x="10158970" y="6291374"/>
            <a:ext cx="50400" cy="50400"/>
          </a:xfrm>
          <a:prstGeom prst="rect">
            <a:avLst/>
          </a:prstGeom>
          <a:solidFill>
            <a:srgbClr val="0066FF"/>
          </a:solidFill>
          <a:ln w="12700">
            <a:solidFill>
              <a:srgbClr val="333333"/>
            </a:solidFill>
            <a:prstDash val="solid"/>
          </a:ln>
        </p:spPr>
      </p:sp>
      <p:sp>
        <p:nvSpPr>
          <p:cNvPr id="53" name="Text 49"/>
          <p:cNvSpPr txBox="1"/>
          <p:nvPr/>
        </p:nvSpPr>
        <p:spPr>
          <a:xfrm>
            <a:off x="10266970" y="625622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Named brand ambassadors and UGC providers.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Kurt, Troy, Mitch, Aden and Ash, Justin's own list, ready to deploy within three months.</a:t>
            </a:r>
            <a:endParaRPr lang="en-US" sz="720" dirty="0"/>
          </a:p>
        </p:txBody>
      </p:sp>
      <p:sp>
        <p:nvSpPr>
          <p:cNvPr id="54" name="Shape 50"/>
          <p:cNvSpPr/>
          <p:nvPr/>
        </p:nvSpPr>
        <p:spPr>
          <a:xfrm>
            <a:off x="10158970" y="6994637"/>
            <a:ext cx="50400" cy="50400"/>
          </a:xfrm>
          <a:prstGeom prst="rect">
            <a:avLst/>
          </a:prstGeom>
          <a:solidFill>
            <a:srgbClr val="0066FF"/>
          </a:solidFill>
          <a:ln w="12700">
            <a:solidFill>
              <a:srgbClr val="333333"/>
            </a:solidFill>
            <a:prstDash val="solid"/>
          </a:ln>
        </p:spPr>
      </p:sp>
      <p:sp>
        <p:nvSpPr>
          <p:cNvPr id="55" name="Text 51"/>
          <p:cNvSpPr txBox="1"/>
          <p:nvPr/>
        </p:nvSpPr>
        <p:spPr>
          <a:xfrm>
            <a:off x="10266970" y="695948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Oktoberfest, with the keg system giveaway.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proof moment in the next 30 days.</a:t>
            </a:r>
            <a:endParaRPr lang="en-US" sz="720" dirty="0"/>
          </a:p>
        </p:txBody>
      </p:sp>
      <p:sp>
        <p:nvSpPr>
          <p:cNvPr id="56" name="Shape 52"/>
          <p:cNvSpPr/>
          <p:nvPr/>
        </p:nvSpPr>
        <p:spPr>
          <a:xfrm>
            <a:off x="323698" y="7310602"/>
            <a:ext cx="7182155" cy="3165478"/>
          </a:xfrm>
          <a:prstGeom prst="rect">
            <a:avLst/>
          </a:prstGeom>
          <a:solidFill>
            <a:srgbClr val="FFFFFF"/>
          </a:solidFill>
          <a:ln w="7620">
            <a:solidFill>
              <a:srgbClr val="E3E7EC"/>
            </a:solidFill>
            <a:prstDash val="solid"/>
          </a:ln>
        </p:spPr>
      </p:sp>
      <p:sp>
        <p:nvSpPr>
          <p:cNvPr id="57" name="Text 53"/>
          <p:cNvSpPr txBox="1"/>
          <p:nvPr/>
        </p:nvSpPr>
        <p:spPr>
          <a:xfrm>
            <a:off x="438898"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58" name="Shape 54"/>
          <p:cNvSpPr/>
          <p:nvPr/>
        </p:nvSpPr>
        <p:spPr>
          <a:xfrm>
            <a:off x="438898" y="7632636"/>
            <a:ext cx="50400" cy="50400"/>
          </a:xfrm>
          <a:prstGeom prst="rect">
            <a:avLst/>
          </a:prstGeom>
          <a:solidFill>
            <a:srgbClr val="0066FF"/>
          </a:solidFill>
          <a:ln w="12700">
            <a:solidFill>
              <a:srgbClr val="333333"/>
            </a:solidFill>
            <a:prstDash val="solid"/>
          </a:ln>
        </p:spPr>
      </p:sp>
      <p:sp>
        <p:nvSpPr>
          <p:cNvPr id="59" name="Text 55"/>
          <p:cNvSpPr txBox="1"/>
          <p:nvPr/>
        </p:nvSpPr>
        <p:spPr>
          <a:xfrm>
            <a:off x="546898" y="7595670"/>
            <a:ext cx="6843755" cy="263296"/>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0" name="Shape 56"/>
          <p:cNvSpPr/>
          <p:nvPr/>
        </p:nvSpPr>
        <p:spPr>
          <a:xfrm>
            <a:off x="438898" y="8598255"/>
            <a:ext cx="50400" cy="50400"/>
          </a:xfrm>
          <a:prstGeom prst="rect">
            <a:avLst/>
          </a:prstGeom>
          <a:solidFill>
            <a:srgbClr val="0066FF"/>
          </a:solidFill>
          <a:ln w="12700">
            <a:solidFill>
              <a:srgbClr val="333333"/>
            </a:solidFill>
            <a:prstDash val="solid"/>
          </a:ln>
        </p:spPr>
      </p:sp>
      <p:sp>
        <p:nvSpPr>
          <p:cNvPr id="61" name="Text 57"/>
          <p:cNvSpPr txBox="1"/>
          <p:nvPr/>
        </p:nvSpPr>
        <p:spPr>
          <a:xfrm>
            <a:off x="546898" y="8561289"/>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2" name="Shape 58"/>
          <p:cNvSpPr/>
          <p:nvPr/>
        </p:nvSpPr>
        <p:spPr>
          <a:xfrm>
            <a:off x="438898" y="9432226"/>
            <a:ext cx="50400" cy="50400"/>
          </a:xfrm>
          <a:prstGeom prst="rect">
            <a:avLst/>
          </a:prstGeom>
          <a:solidFill>
            <a:srgbClr val="0066FF"/>
          </a:solidFill>
          <a:ln w="12700">
            <a:solidFill>
              <a:srgbClr val="333333"/>
            </a:solidFill>
            <a:prstDash val="solid"/>
          </a:ln>
        </p:spPr>
      </p:sp>
      <p:sp>
        <p:nvSpPr>
          <p:cNvPr id="63" name="Text 59"/>
          <p:cNvSpPr txBox="1"/>
          <p:nvPr/>
        </p:nvSpPr>
        <p:spPr>
          <a:xfrm>
            <a:off x="546898" y="939526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4" name="Shape 60"/>
          <p:cNvSpPr/>
          <p:nvPr/>
        </p:nvSpPr>
        <p:spPr>
          <a:xfrm>
            <a:off x="438898" y="10266198"/>
            <a:ext cx="50400" cy="50400"/>
          </a:xfrm>
          <a:prstGeom prst="rect">
            <a:avLst/>
          </a:prstGeom>
          <a:solidFill>
            <a:srgbClr val="0066FF"/>
          </a:solidFill>
          <a:ln w="12700">
            <a:solidFill>
              <a:srgbClr val="333333"/>
            </a:solidFill>
            <a:prstDash val="solid"/>
          </a:ln>
        </p:spPr>
      </p:sp>
      <p:sp>
        <p:nvSpPr>
          <p:cNvPr id="65" name="Text 61"/>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30 days, per Justin.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Confirm key messaging for each target market, and get the customer journey mapped.</a:t>
            </a:r>
            <a:endParaRPr lang="en-US" sz="730" dirty="0"/>
          </a:p>
        </p:txBody>
      </p:sp>
      <p:sp>
        <p:nvSpPr>
          <p:cNvPr id="66" name="Shape 62"/>
          <p:cNvSpPr/>
          <p:nvPr/>
        </p:nvSpPr>
        <p:spPr>
          <a:xfrm>
            <a:off x="7613752" y="7310602"/>
            <a:ext cx="7182155" cy="3165478"/>
          </a:xfrm>
          <a:prstGeom prst="rect">
            <a:avLst/>
          </a:prstGeom>
          <a:solidFill>
            <a:srgbClr val="FFFFFF"/>
          </a:solidFill>
          <a:ln w="7620">
            <a:solidFill>
              <a:srgbClr val="E3E7EC"/>
            </a:solidFill>
            <a:prstDash val="solid"/>
          </a:ln>
        </p:spPr>
      </p:sp>
      <p:sp>
        <p:nvSpPr>
          <p:cNvPr id="67" name="Text 63"/>
          <p:cNvSpPr txBox="1"/>
          <p:nvPr/>
        </p:nvSpPr>
        <p:spPr>
          <a:xfrm>
            <a:off x="7728952"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68" name="Text 64"/>
          <p:cNvSpPr txBox="1"/>
          <p:nvPr/>
        </p:nvSpPr>
        <p:spPr>
          <a:xfrm>
            <a:off x="7728952" y="759567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69" name="Text 65"/>
          <p:cNvSpPr txBox="1"/>
          <p:nvPr/>
        </p:nvSpPr>
        <p:spPr>
          <a:xfrm>
            <a:off x="7728952" y="8069880"/>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 Justin's own register, be the envy of your friends, cashed-up tradies, sets the ceiling for how far the cheek goes.</a:t>
            </a:r>
            <a:endParaRPr lang="en-US" sz="810" dirty="0"/>
          </a:p>
        </p:txBody>
      </p:sp>
      <p:sp>
        <p:nvSpPr>
          <p:cNvPr id="70" name="Text 66"/>
          <p:cNvSpPr txBox="1"/>
          <p:nvPr/>
        </p:nvSpPr>
        <p:spPr>
          <a:xfrm>
            <a:off x="7728952" y="8698395"/>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1" name="Shape 67"/>
          <p:cNvSpPr/>
          <p:nvPr/>
        </p:nvSpPr>
        <p:spPr>
          <a:xfrm>
            <a:off x="7728952" y="10183264"/>
            <a:ext cx="6951755" cy="0"/>
          </a:xfrm>
          <a:prstGeom prst="line">
            <a:avLst/>
          </a:prstGeom>
          <a:noFill/>
          <a:ln w="7620">
            <a:solidFill>
              <a:srgbClr val="E3E7EC"/>
            </a:solidFill>
            <a:prstDash val="solid"/>
          </a:ln>
        </p:spPr>
      </p:sp>
      <p:sp>
        <p:nvSpPr>
          <p:cNvPr id="72" name="Text 68"/>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10256" y="365760"/>
            <a:ext cx="969947"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10256" y="365760"/>
            <a:ext cx="969947"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03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743414"/>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5" name="Text 11"/>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6" name="Shape 12"/>
          <p:cNvSpPr/>
          <p:nvPr/>
        </p:nvSpPr>
        <p:spPr>
          <a:xfrm>
            <a:off x="438898" y="1761511"/>
            <a:ext cx="2762042" cy="1739856"/>
          </a:xfrm>
          <a:prstGeom prst="rect">
            <a:avLst/>
          </a:prstGeom>
          <a:solidFill>
            <a:srgbClr val="F5F7FA"/>
          </a:solidFill>
          <a:ln w="7620">
            <a:solidFill>
              <a:srgbClr val="E3E7EC"/>
            </a:solidFill>
            <a:prstDash val="solid"/>
          </a:ln>
        </p:spPr>
      </p:sp>
      <p:sp>
        <p:nvSpPr>
          <p:cNvPr id="17" name="Shape 13"/>
          <p:cNvSpPr/>
          <p:nvPr/>
        </p:nvSpPr>
        <p:spPr>
          <a:xfrm>
            <a:off x="438898" y="1761511"/>
            <a:ext cx="2762042" cy="28800"/>
          </a:xfrm>
          <a:prstGeom prst="rect">
            <a:avLst/>
          </a:prstGeom>
          <a:solidFill>
            <a:srgbClr val="0066FF"/>
          </a:solidFill>
          <a:ln w="12700">
            <a:solidFill>
              <a:srgbClr val="333333"/>
            </a:solidFill>
            <a:prstDash val="solid"/>
          </a:ln>
        </p:spPr>
      </p:sp>
      <p:sp>
        <p:nvSpPr>
          <p:cNvPr id="18" name="Text 14"/>
          <p:cNvSpPr txBox="1"/>
          <p:nvPr/>
        </p:nvSpPr>
        <p:spPr>
          <a:xfrm>
            <a:off x="532498"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19" name="Text 15"/>
          <p:cNvSpPr txBox="1"/>
          <p:nvPr/>
        </p:nvSpPr>
        <p:spPr>
          <a:xfrm>
            <a:off x="532498" y="2021677"/>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0" name="Text 16"/>
          <p:cNvSpPr txBox="1"/>
          <p:nvPr/>
        </p:nvSpPr>
        <p:spPr>
          <a:xfrm>
            <a:off x="532498" y="2221808"/>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confirmed budget breakdown.</a:t>
            </a:r>
            <a:endParaRPr lang="en-US" sz="740" dirty="0"/>
          </a:p>
        </p:txBody>
      </p:sp>
      <p:sp>
        <p:nvSpPr>
          <p:cNvPr id="21" name="Shape 17"/>
          <p:cNvSpPr/>
          <p:nvPr/>
        </p:nvSpPr>
        <p:spPr>
          <a:xfrm>
            <a:off x="3308839" y="1761511"/>
            <a:ext cx="2762042" cy="1739856"/>
          </a:xfrm>
          <a:prstGeom prst="rect">
            <a:avLst/>
          </a:prstGeom>
          <a:solidFill>
            <a:srgbClr val="F5F7FA"/>
          </a:solidFill>
          <a:ln w="7620">
            <a:solidFill>
              <a:srgbClr val="E3E7EC"/>
            </a:solidFill>
            <a:prstDash val="solid"/>
          </a:ln>
        </p:spPr>
      </p:sp>
      <p:sp>
        <p:nvSpPr>
          <p:cNvPr id="22" name="Shape 18"/>
          <p:cNvSpPr/>
          <p:nvPr/>
        </p:nvSpPr>
        <p:spPr>
          <a:xfrm>
            <a:off x="3308839" y="1761511"/>
            <a:ext cx="2762042" cy="28800"/>
          </a:xfrm>
          <a:prstGeom prst="rect">
            <a:avLst/>
          </a:prstGeom>
          <a:solidFill>
            <a:srgbClr val="0066FF"/>
          </a:solidFill>
          <a:ln w="12700">
            <a:solidFill>
              <a:srgbClr val="333333"/>
            </a:solidFill>
            <a:prstDash val="solid"/>
          </a:ln>
        </p:spPr>
      </p:sp>
      <p:sp>
        <p:nvSpPr>
          <p:cNvPr id="23" name="Text 19"/>
          <p:cNvSpPr txBox="1"/>
          <p:nvPr/>
        </p:nvSpPr>
        <p:spPr>
          <a:xfrm>
            <a:off x="3402439"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 + SEM</a:t>
            </a:r>
            <a:endParaRPr lang="en-US" sz="660" dirty="0"/>
          </a:p>
        </p:txBody>
      </p:sp>
      <p:sp>
        <p:nvSpPr>
          <p:cNvPr id="24" name="Text 20"/>
          <p:cNvSpPr txBox="1"/>
          <p:nvPr/>
        </p:nvSpPr>
        <p:spPr>
          <a:xfrm>
            <a:off x="3402439"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No path to a system or a refill.</a:t>
            </a:r>
            <a:endParaRPr lang="en-US" sz="740" dirty="0"/>
          </a:p>
        </p:txBody>
      </p:sp>
      <p:sp>
        <p:nvSpPr>
          <p:cNvPr id="25" name="Text 21"/>
          <p:cNvSpPr txBox="1"/>
          <p:nvPr/>
        </p:nvSpPr>
        <p:spPr>
          <a:xfrm>
            <a:off x="3402439" y="2357140"/>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priority two,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website upgrade plus SEM, with a buy path, proof and an FAQ.</a:t>
            </a:r>
            <a:endParaRPr lang="en-US" sz="740" dirty="0"/>
          </a:p>
        </p:txBody>
      </p:sp>
      <p:sp>
        <p:nvSpPr>
          <p:cNvPr id="26" name="Shape 22"/>
          <p:cNvSpPr/>
          <p:nvPr/>
        </p:nvSpPr>
        <p:spPr>
          <a:xfrm>
            <a:off x="6178781" y="1761511"/>
            <a:ext cx="2762042" cy="1739856"/>
          </a:xfrm>
          <a:prstGeom prst="rect">
            <a:avLst/>
          </a:prstGeom>
          <a:solidFill>
            <a:srgbClr val="F5F7FA"/>
          </a:solidFill>
          <a:ln w="7620">
            <a:solidFill>
              <a:srgbClr val="E3E7EC"/>
            </a:solidFill>
            <a:prstDash val="solid"/>
          </a:ln>
        </p:spPr>
      </p:sp>
      <p:sp>
        <p:nvSpPr>
          <p:cNvPr id="27" name="Shape 23"/>
          <p:cNvSpPr/>
          <p:nvPr/>
        </p:nvSpPr>
        <p:spPr>
          <a:xfrm>
            <a:off x="6178781" y="1761511"/>
            <a:ext cx="2762042" cy="28800"/>
          </a:xfrm>
          <a:prstGeom prst="rect">
            <a:avLst/>
          </a:prstGeom>
          <a:solidFill>
            <a:srgbClr val="0066FF"/>
          </a:solidFill>
          <a:ln w="12700">
            <a:solidFill>
              <a:srgbClr val="333333"/>
            </a:solidFill>
            <a:prstDash val="solid"/>
          </a:ln>
        </p:spPr>
      </p:sp>
      <p:sp>
        <p:nvSpPr>
          <p:cNvPr id="28" name="Text 24"/>
          <p:cNvSpPr txBox="1"/>
          <p:nvPr/>
        </p:nvSpPr>
        <p:spPr>
          <a:xfrm>
            <a:off x="6272381"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 AND INVENTORY</a:t>
            </a:r>
            <a:endParaRPr lang="en-US" sz="660" dirty="0"/>
          </a:p>
        </p:txBody>
      </p:sp>
      <p:sp>
        <p:nvSpPr>
          <p:cNvPr id="29" name="Text 25"/>
          <p:cNvSpPr txBox="1"/>
          <p:nvPr/>
        </p:nvSpPr>
        <p:spPr>
          <a:xfrm>
            <a:off x="6272381"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0" name="Text 26"/>
          <p:cNvSpPr txBox="1"/>
          <p:nvPr/>
        </p:nvSpPr>
        <p:spPr>
          <a:xfrm>
            <a:off x="6272381" y="2357140"/>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transition to GoTab plus Fishbowl, writing back to the CRM.</a:t>
            </a:r>
            <a:endParaRPr lang="en-US" sz="740" dirty="0"/>
          </a:p>
        </p:txBody>
      </p:sp>
      <p:sp>
        <p:nvSpPr>
          <p:cNvPr id="31" name="Shape 27"/>
          <p:cNvSpPr/>
          <p:nvPr/>
        </p:nvSpPr>
        <p:spPr>
          <a:xfrm>
            <a:off x="9048722" y="1761511"/>
            <a:ext cx="2762042" cy="1739856"/>
          </a:xfrm>
          <a:prstGeom prst="rect">
            <a:avLst/>
          </a:prstGeom>
          <a:solidFill>
            <a:srgbClr val="F5F7FA"/>
          </a:solidFill>
          <a:ln w="7620">
            <a:solidFill>
              <a:srgbClr val="E3E7EC"/>
            </a:solidFill>
            <a:prstDash val="solid"/>
          </a:ln>
        </p:spPr>
      </p:sp>
      <p:sp>
        <p:nvSpPr>
          <p:cNvPr id="32" name="Shape 28"/>
          <p:cNvSpPr/>
          <p:nvPr/>
        </p:nvSpPr>
        <p:spPr>
          <a:xfrm>
            <a:off x="9048722" y="1761511"/>
            <a:ext cx="2762042" cy="28800"/>
          </a:xfrm>
          <a:prstGeom prst="rect">
            <a:avLst/>
          </a:prstGeom>
          <a:solidFill>
            <a:srgbClr val="0066FF"/>
          </a:solidFill>
          <a:ln w="12700">
            <a:solidFill>
              <a:srgbClr val="333333"/>
            </a:solidFill>
            <a:prstDash val="solid"/>
          </a:ln>
        </p:spPr>
      </p:sp>
      <p:sp>
        <p:nvSpPr>
          <p:cNvPr id="33" name="Text 29"/>
          <p:cNvSpPr txBox="1"/>
          <p:nvPr/>
        </p:nvSpPr>
        <p:spPr>
          <a:xfrm>
            <a:off x="9142322"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4" name="Text 30"/>
          <p:cNvSpPr txBox="1"/>
          <p:nvPr/>
        </p:nvSpPr>
        <p:spPr>
          <a:xfrm>
            <a:off x="9142322"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5" name="Text 31"/>
          <p:cNvSpPr txBox="1"/>
          <p:nvPr/>
        </p:nvSpPr>
        <p:spPr>
          <a:xfrm>
            <a:off x="9142322" y="2357140"/>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system for re-engaging lapsed keg customers.</a:t>
            </a:r>
            <a:endParaRPr lang="en-US" sz="740" dirty="0"/>
          </a:p>
        </p:txBody>
      </p:sp>
      <p:sp>
        <p:nvSpPr>
          <p:cNvPr id="36" name="Shape 32"/>
          <p:cNvSpPr/>
          <p:nvPr/>
        </p:nvSpPr>
        <p:spPr>
          <a:xfrm>
            <a:off x="11918664" y="1761511"/>
            <a:ext cx="2762042" cy="1739856"/>
          </a:xfrm>
          <a:prstGeom prst="rect">
            <a:avLst/>
          </a:prstGeom>
          <a:solidFill>
            <a:srgbClr val="F5F7FA"/>
          </a:solidFill>
          <a:ln w="7620">
            <a:solidFill>
              <a:srgbClr val="E3E7EC"/>
            </a:solidFill>
            <a:prstDash val="solid"/>
          </a:ln>
        </p:spPr>
      </p:sp>
      <p:sp>
        <p:nvSpPr>
          <p:cNvPr id="37" name="Shape 33"/>
          <p:cNvSpPr/>
          <p:nvPr/>
        </p:nvSpPr>
        <p:spPr>
          <a:xfrm>
            <a:off x="11918664" y="1761511"/>
            <a:ext cx="2762042" cy="28800"/>
          </a:xfrm>
          <a:prstGeom prst="rect">
            <a:avLst/>
          </a:prstGeom>
          <a:solidFill>
            <a:srgbClr val="0066FF"/>
          </a:solidFill>
          <a:ln w="12700">
            <a:solidFill>
              <a:srgbClr val="333333"/>
            </a:solidFill>
            <a:prstDash val="solid"/>
          </a:ln>
        </p:spPr>
      </p:sp>
      <p:sp>
        <p:nvSpPr>
          <p:cNvPr id="38" name="Text 34"/>
          <p:cNvSpPr txBox="1"/>
          <p:nvPr/>
        </p:nvSpPr>
        <p:spPr>
          <a:xfrm>
            <a:off x="12012264"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39" name="Text 35"/>
          <p:cNvSpPr txBox="1"/>
          <p:nvPr/>
        </p:nvSpPr>
        <p:spPr>
          <a:xfrm>
            <a:off x="12012264"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0" name="Text 36"/>
          <p:cNvSpPr txBox="1"/>
          <p:nvPr/>
        </p:nvSpPr>
        <p:spPr>
          <a:xfrm>
            <a:off x="12012264" y="2357140"/>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Must support at launch: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memberships, vouchers, delivery, lease-to-buy systems and the keg delivery service.</a:t>
            </a:r>
            <a:endParaRPr lang="en-US" sz="740" dirty="0"/>
          </a:p>
        </p:txBody>
      </p:sp>
      <p:sp>
        <p:nvSpPr>
          <p:cNvPr id="41" name="Shape 37"/>
          <p:cNvSpPr/>
          <p:nvPr/>
        </p:nvSpPr>
        <p:spPr>
          <a:xfrm>
            <a:off x="438898" y="3566167"/>
            <a:ext cx="14241809" cy="0"/>
          </a:xfrm>
          <a:prstGeom prst="line">
            <a:avLst/>
          </a:prstGeom>
          <a:noFill/>
          <a:ln w="7620">
            <a:solidFill>
              <a:srgbClr val="E3E7EC"/>
            </a:solidFill>
            <a:prstDash val="solid"/>
          </a:ln>
        </p:spPr>
      </p:sp>
      <p:sp>
        <p:nvSpPr>
          <p:cNvPr id="42" name="Text 38"/>
          <p:cNvSpPr txBox="1"/>
          <p:nvPr/>
        </p:nvSpPr>
        <p:spPr>
          <a:xfrm>
            <a:off x="438898" y="3623767"/>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unlock. Spending more on ads before it is fixed buys traffic the business cannot catch.</a:t>
            </a:r>
            <a:endParaRPr lang="en-US" sz="700" dirty="0"/>
          </a:p>
        </p:txBody>
      </p:sp>
      <p:sp>
        <p:nvSpPr>
          <p:cNvPr id="43" name="Shape 39"/>
          <p:cNvSpPr/>
          <p:nvPr/>
        </p:nvSpPr>
        <p:spPr>
          <a:xfrm>
            <a:off x="323698" y="3966881"/>
            <a:ext cx="7182155" cy="3429267"/>
          </a:xfrm>
          <a:prstGeom prst="rect">
            <a:avLst/>
          </a:prstGeom>
          <a:solidFill>
            <a:srgbClr val="FFFFFF"/>
          </a:solidFill>
          <a:ln w="7620">
            <a:solidFill>
              <a:srgbClr val="E3E7EC"/>
            </a:solidFill>
            <a:prstDash val="solid"/>
          </a:ln>
        </p:spPr>
      </p:sp>
      <p:sp>
        <p:nvSpPr>
          <p:cNvPr id="44" name="Text 40"/>
          <p:cNvSpPr txBox="1"/>
          <p:nvPr/>
        </p:nvSpPr>
        <p:spPr>
          <a:xfrm>
            <a:off x="438898"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251949"/>
          <a:ext cx="11339703" cy="914400"/>
        </p:xfrm>
        <a:graphic>
          <a:graphicData uri="http://schemas.openxmlformats.org/drawingml/2006/table">
            <a:tbl>
              <a:tblPr/>
              <a:tblGrid>
                <a:gridCol w="3475877"/>
                <a:gridCol w="3475877"/>
              </a:tblGrid>
              <a:tr h="33261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1641">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Residential vs commercial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Justin's 30-day call: where the energy goes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6909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Household segments</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Sharehouses, DINKs, young families, boomers, high-volume drinkers, tradies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Catching up with friends made easy. $2.55 a schooner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6909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1641">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1641">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1641">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1641">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46" name="Shape 41"/>
          <p:cNvSpPr/>
          <p:nvPr/>
        </p:nvSpPr>
        <p:spPr>
          <a:xfrm>
            <a:off x="7613752" y="3966881"/>
            <a:ext cx="7182155" cy="3429267"/>
          </a:xfrm>
          <a:prstGeom prst="rect">
            <a:avLst/>
          </a:prstGeom>
          <a:solidFill>
            <a:srgbClr val="FFFFFF"/>
          </a:solidFill>
          <a:ln w="7620">
            <a:solidFill>
              <a:srgbClr val="E3E7EC"/>
            </a:solidFill>
            <a:prstDash val="solid"/>
          </a:ln>
        </p:spPr>
      </p:sp>
      <p:sp>
        <p:nvSpPr>
          <p:cNvPr id="47" name="Text 42"/>
          <p:cNvSpPr txBox="1"/>
          <p:nvPr/>
        </p:nvSpPr>
        <p:spPr>
          <a:xfrm>
            <a:off x="7728952"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8" name="Text 43"/>
          <p:cNvSpPr txBox="1"/>
          <p:nvPr/>
        </p:nvSpPr>
        <p:spPr>
          <a:xfrm>
            <a:off x="7728952" y="4251949"/>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49" name="Text 44"/>
          <p:cNvSpPr txBox="1"/>
          <p:nvPr/>
        </p:nvSpPr>
        <p:spPr>
          <a:xfrm>
            <a:off x="7728952" y="4485456"/>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one, with a 3-month item: a strategy to transition every existing keg system owner onto Tap That refills. Voucher tied to Harvey Norman sales, the Kegland and corny keg databases, and Benchy. Bunnings-installer model: they sell hardware, we are named first call.</a:t>
            </a:r>
            <a:endParaRPr lang="en-US" sz="810" dirty="0"/>
          </a:p>
        </p:txBody>
      </p:sp>
      <p:sp>
        <p:nvSpPr>
          <p:cNvPr id="50" name="Text 45"/>
          <p:cNvSpPr txBox="1"/>
          <p:nvPr/>
        </p:nvSpPr>
        <p:spPr>
          <a:xfrm>
            <a:off x="7728952" y="5031155"/>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1" name="Text 46"/>
          <p:cNvSpPr txBox="1"/>
          <p:nvPr/>
        </p:nvSpPr>
        <p:spPr>
          <a:xfrm>
            <a:off x="7728952" y="5264662"/>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and consumption-triggered reminders replace the 90-day SMS. Justin's launch items: lease-to-buy systems and a keg delivery service.</a:t>
            </a:r>
            <a:endParaRPr lang="en-US" sz="810" dirty="0"/>
          </a:p>
        </p:txBody>
      </p:sp>
      <p:sp>
        <p:nvSpPr>
          <p:cNvPr id="52" name="Text 47"/>
          <p:cNvSpPr txBox="1"/>
          <p:nvPr/>
        </p:nvSpPr>
        <p:spPr>
          <a:xfrm>
            <a:off x="7728952" y="5656056"/>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3" name="Text 48"/>
          <p:cNvSpPr txBox="1"/>
          <p:nvPr/>
        </p:nvSpPr>
        <p:spPr>
          <a:xfrm>
            <a:off x="7728952" y="5889563"/>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Some are cutting back, needing the low and non-alcoholic range; some just forgot, needing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3-month item: a re-engagement system for lapsed customers.</a:t>
            </a:r>
            <a:endParaRPr lang="en-US" sz="810" dirty="0"/>
          </a:p>
        </p:txBody>
      </p:sp>
      <p:sp>
        <p:nvSpPr>
          <p:cNvPr id="54" name="Text 49"/>
          <p:cNvSpPr txBox="1"/>
          <p:nvPr/>
        </p:nvSpPr>
        <p:spPr>
          <a:xfrm>
            <a:off x="7728952" y="6280956"/>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04 · Referrals, JVPs and online drive system sales.</a:t>
            </a:r>
            <a:endParaRPr lang="en-US" sz="860" dirty="0"/>
          </a:p>
        </p:txBody>
      </p:sp>
      <p:sp>
        <p:nvSpPr>
          <p:cNvPr id="55" name="Text 50"/>
          <p:cNvSpPr txBox="1"/>
          <p:nvPr/>
        </p:nvSpPr>
        <p:spPr>
          <a:xfrm>
            <a:off x="7728952" y="6514464"/>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three and one-year marker for most keg sales. 3-month items: referral programme and Bring a Mate live; JVP/referral list built, outreach started; UGC/ambassador content (Kurt, Troy, Mitch, Aden, Ash) ready.</a:t>
            </a:r>
            <a:endParaRPr lang="en-US" sz="810" dirty="0"/>
          </a:p>
        </p:txBody>
      </p:sp>
      <p:sp>
        <p:nvSpPr>
          <p:cNvPr id="56" name="Shape 51"/>
          <p:cNvSpPr/>
          <p:nvPr/>
        </p:nvSpPr>
        <p:spPr>
          <a:xfrm>
            <a:off x="7728952" y="7103333"/>
            <a:ext cx="6951755" cy="0"/>
          </a:xfrm>
          <a:prstGeom prst="line">
            <a:avLst/>
          </a:prstGeom>
          <a:noFill/>
          <a:ln w="7620">
            <a:solidFill>
              <a:srgbClr val="E3E7EC"/>
            </a:solidFill>
            <a:prstDash val="solid"/>
          </a:ln>
        </p:spPr>
      </p:sp>
      <p:sp>
        <p:nvSpPr>
          <p:cNvPr id="57" name="Text 52"/>
          <p:cNvSpPr txBox="1"/>
          <p:nvPr/>
        </p:nvSpPr>
        <p:spPr>
          <a:xfrm>
            <a:off x="7728952" y="7160933"/>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JP holds Harvey Norman franchisee contacts, plus a contact with 20,000-plus installs across Harvey Norman, JB Hi-Fi and Good Guys.</a:t>
            </a:r>
            <a:endParaRPr lang="en-US" sz="700" dirty="0"/>
          </a:p>
        </p:txBody>
      </p:sp>
      <p:sp>
        <p:nvSpPr>
          <p:cNvPr id="58" name="Shape 53"/>
          <p:cNvSpPr/>
          <p:nvPr/>
        </p:nvSpPr>
        <p:spPr>
          <a:xfrm>
            <a:off x="323698" y="7504048"/>
            <a:ext cx="4752137" cy="2972032"/>
          </a:xfrm>
          <a:prstGeom prst="rect">
            <a:avLst/>
          </a:prstGeom>
          <a:solidFill>
            <a:srgbClr val="FFFFFF"/>
          </a:solidFill>
          <a:ln w="7620">
            <a:solidFill>
              <a:srgbClr val="E3E7EC"/>
            </a:solidFill>
            <a:prstDash val="solid"/>
          </a:ln>
        </p:spPr>
      </p:sp>
      <p:sp>
        <p:nvSpPr>
          <p:cNvPr id="59" name="Text 54"/>
          <p:cNvSpPr txBox="1"/>
          <p:nvPr/>
        </p:nvSpPr>
        <p:spPr>
          <a:xfrm>
            <a:off x="438898"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60" name="Text 55"/>
          <p:cNvSpPr txBox="1"/>
          <p:nvPr/>
        </p:nvSpPr>
        <p:spPr>
          <a:xfrm>
            <a:off x="438898" y="7789116"/>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 Justin's priority five, with a 3-month item: outreach to event venues and niched venues.</a:t>
            </a:r>
            <a:endParaRPr lang="en-US" sz="810" dirty="0"/>
          </a:p>
        </p:txBody>
      </p:sp>
      <p:sp>
        <p:nvSpPr>
          <p:cNvPr id="61" name="Text 56"/>
          <p:cNvSpPr txBox="1"/>
          <p:nvPr/>
        </p:nvSpPr>
        <p:spPr>
          <a:xfrm>
            <a:off x="438898" y="8332218"/>
            <a:ext cx="4521737" cy="77152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 The next hire is undecided between a brewer and wholesale plus bar coverage, hybrid either way.</a:t>
            </a:r>
            <a:endParaRPr lang="en-US" sz="810" dirty="0"/>
          </a:p>
        </p:txBody>
      </p:sp>
      <p:sp>
        <p:nvSpPr>
          <p:cNvPr id="62" name="Text 57"/>
          <p:cNvSpPr txBox="1"/>
          <p:nvPr/>
        </p:nvSpPr>
        <p:spPr>
          <a:xfrm>
            <a:off x="438898" y="9183931"/>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3" name="Text 58"/>
          <p:cNvSpPr txBox="1"/>
          <p:nvPr/>
        </p:nvSpPr>
        <p:spPr>
          <a:xfrm>
            <a:off x="438898" y="972703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and venues are already forming buying groups to get around it.</a:t>
            </a:r>
            <a:endParaRPr lang="en-US" sz="810" dirty="0"/>
          </a:p>
        </p:txBody>
      </p:sp>
      <p:sp>
        <p:nvSpPr>
          <p:cNvPr id="64" name="Shape 59"/>
          <p:cNvSpPr/>
          <p:nvPr/>
        </p:nvSpPr>
        <p:spPr>
          <a:xfrm>
            <a:off x="438898" y="10183264"/>
            <a:ext cx="4521737" cy="0"/>
          </a:xfrm>
          <a:prstGeom prst="line">
            <a:avLst/>
          </a:prstGeom>
          <a:noFill/>
          <a:ln w="7620">
            <a:solidFill>
              <a:srgbClr val="E3E7EC"/>
            </a:solidFill>
            <a:prstDash val="solid"/>
          </a:ln>
        </p:spPr>
      </p:sp>
      <p:sp>
        <p:nvSpPr>
          <p:cNvPr id="65" name="Text 60"/>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leverage is.</a:t>
            </a:r>
            <a:endParaRPr lang="en-US" sz="700" dirty="0"/>
          </a:p>
        </p:txBody>
      </p:sp>
      <p:sp>
        <p:nvSpPr>
          <p:cNvPr id="66" name="Shape 61"/>
          <p:cNvSpPr/>
          <p:nvPr/>
        </p:nvSpPr>
        <p:spPr>
          <a:xfrm>
            <a:off x="5183734" y="7504048"/>
            <a:ext cx="4752137" cy="2972032"/>
          </a:xfrm>
          <a:prstGeom prst="rect">
            <a:avLst/>
          </a:prstGeom>
          <a:solidFill>
            <a:srgbClr val="FFFFFF"/>
          </a:solidFill>
          <a:ln w="7620">
            <a:solidFill>
              <a:srgbClr val="E3E7EC"/>
            </a:solidFill>
            <a:prstDash val="solid"/>
          </a:ln>
        </p:spPr>
      </p:sp>
      <p:sp>
        <p:nvSpPr>
          <p:cNvPr id="67" name="Text 62"/>
          <p:cNvSpPr txBox="1"/>
          <p:nvPr/>
        </p:nvSpPr>
        <p:spPr>
          <a:xfrm>
            <a:off x="5298934"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8" name="Text 63"/>
          <p:cNvSpPr txBox="1"/>
          <p:nvPr/>
        </p:nvSpPr>
        <p:spPr>
          <a:xfrm>
            <a:off x="5298934"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9" name="Text 64"/>
          <p:cNvSpPr txBox="1"/>
          <p:nvPr/>
        </p:nvSpPr>
        <p:spPr>
          <a:xfrm>
            <a:off x="5298934" y="8263326"/>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and the awards page the Crafted win deserves. Justin's tech item, SEM, runs alongside these GEO basics, not instead of them.</a:t>
            </a:r>
            <a:endParaRPr lang="en-US" sz="810" dirty="0"/>
          </a:p>
        </p:txBody>
      </p:sp>
      <p:sp>
        <p:nvSpPr>
          <p:cNvPr id="70" name="Text 65"/>
          <p:cNvSpPr txBox="1"/>
          <p:nvPr/>
        </p:nvSpPr>
        <p:spPr>
          <a:xfrm>
            <a:off x="5298934" y="889184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1" name="Text 66"/>
          <p:cNvSpPr txBox="1"/>
          <p:nvPr/>
        </p:nvSpPr>
        <p:spPr>
          <a:xfrm>
            <a:off x="5298934" y="936605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2" name="Shape 67"/>
          <p:cNvSpPr/>
          <p:nvPr/>
        </p:nvSpPr>
        <p:spPr>
          <a:xfrm>
            <a:off x="10043770" y="7504048"/>
            <a:ext cx="4752137" cy="2972032"/>
          </a:xfrm>
          <a:prstGeom prst="rect">
            <a:avLst/>
          </a:prstGeom>
          <a:solidFill>
            <a:srgbClr val="FFFFFF"/>
          </a:solidFill>
          <a:ln w="7620">
            <a:solidFill>
              <a:srgbClr val="E3E7EC"/>
            </a:solidFill>
            <a:prstDash val="solid"/>
          </a:ln>
        </p:spPr>
      </p:sp>
      <p:sp>
        <p:nvSpPr>
          <p:cNvPr id="73" name="Text 68"/>
          <p:cNvSpPr txBox="1"/>
          <p:nvPr/>
        </p:nvSpPr>
        <p:spPr>
          <a:xfrm>
            <a:off x="10158970"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4" name="Shape 69"/>
          <p:cNvSpPr/>
          <p:nvPr/>
        </p:nvSpPr>
        <p:spPr>
          <a:xfrm>
            <a:off x="10158970" y="7789116"/>
            <a:ext cx="2224868" cy="546122"/>
          </a:xfrm>
          <a:prstGeom prst="rect">
            <a:avLst/>
          </a:prstGeom>
          <a:solidFill>
            <a:srgbClr val="F5F7FA"/>
          </a:solidFill>
          <a:ln w="7620">
            <a:solidFill>
              <a:srgbClr val="E3E7EC"/>
            </a:solidFill>
            <a:prstDash val="solid"/>
          </a:ln>
        </p:spPr>
      </p:sp>
      <p:sp>
        <p:nvSpPr>
          <p:cNvPr id="75" name="Text 70"/>
          <p:cNvSpPr txBox="1"/>
          <p:nvPr/>
        </p:nvSpPr>
        <p:spPr>
          <a:xfrm>
            <a:off x="10266970"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6" name="Text 71"/>
          <p:cNvSpPr txBox="1"/>
          <p:nvPr/>
        </p:nvSpPr>
        <p:spPr>
          <a:xfrm>
            <a:off x="10266970" y="8118536"/>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KEG SYSTEM SALES</a:t>
            </a:r>
            <a:endParaRPr lang="en-US" sz="550" dirty="0"/>
          </a:p>
        </p:txBody>
      </p:sp>
      <p:sp>
        <p:nvSpPr>
          <p:cNvPr id="77" name="Shape 72"/>
          <p:cNvSpPr/>
          <p:nvPr/>
        </p:nvSpPr>
        <p:spPr>
          <a:xfrm>
            <a:off x="12455838" y="7789116"/>
            <a:ext cx="2224868" cy="546122"/>
          </a:xfrm>
          <a:prstGeom prst="rect">
            <a:avLst/>
          </a:prstGeom>
          <a:solidFill>
            <a:srgbClr val="F5F7FA"/>
          </a:solidFill>
          <a:ln w="7620">
            <a:solidFill>
              <a:srgbClr val="E3E7EC"/>
            </a:solidFill>
            <a:prstDash val="solid"/>
          </a:ln>
        </p:spPr>
      </p:sp>
      <p:sp>
        <p:nvSpPr>
          <p:cNvPr id="78" name="Text 73"/>
          <p:cNvSpPr txBox="1"/>
          <p:nvPr/>
        </p:nvSpPr>
        <p:spPr>
          <a:xfrm>
            <a:off x="12563838"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Refillers</a:t>
            </a:r>
            <a:endParaRPr lang="en-US" sz="1100" dirty="0"/>
          </a:p>
        </p:txBody>
      </p:sp>
      <p:sp>
        <p:nvSpPr>
          <p:cNvPr id="79" name="Text 74"/>
          <p:cNvSpPr txBox="1"/>
          <p:nvPr/>
        </p:nvSpPr>
        <p:spPr>
          <a:xfrm>
            <a:off x="12563838" y="8118536"/>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KEG REFILLERS, AGAINST 250 THEN 1,000</a:t>
            </a:r>
            <a:endParaRPr lang="en-US" sz="550" dirty="0"/>
          </a:p>
        </p:txBody>
      </p:sp>
      <p:sp>
        <p:nvSpPr>
          <p:cNvPr id="80" name="Shape 75"/>
          <p:cNvSpPr/>
          <p:nvPr/>
        </p:nvSpPr>
        <p:spPr>
          <a:xfrm>
            <a:off x="10158970" y="8407238"/>
            <a:ext cx="2224868" cy="546122"/>
          </a:xfrm>
          <a:prstGeom prst="rect">
            <a:avLst/>
          </a:prstGeom>
          <a:solidFill>
            <a:srgbClr val="F5F7FA"/>
          </a:solidFill>
          <a:ln w="7620">
            <a:solidFill>
              <a:srgbClr val="E3E7EC"/>
            </a:solidFill>
            <a:prstDash val="solid"/>
          </a:ln>
        </p:spPr>
      </p:sp>
      <p:sp>
        <p:nvSpPr>
          <p:cNvPr id="81" name="Text 76"/>
          <p:cNvSpPr txBox="1"/>
          <p:nvPr/>
        </p:nvSpPr>
        <p:spPr>
          <a:xfrm>
            <a:off x="10266970" y="8493638"/>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2" name="Text 77"/>
          <p:cNvSpPr txBox="1"/>
          <p:nvPr/>
        </p:nvSpPr>
        <p:spPr>
          <a:xfrm>
            <a:off x="10266970" y="8736658"/>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ACCOUNTS</a:t>
            </a:r>
            <a:endParaRPr lang="en-US" sz="550" dirty="0"/>
          </a:p>
        </p:txBody>
      </p:sp>
      <p:sp>
        <p:nvSpPr>
          <p:cNvPr id="83" name="Shape 78"/>
          <p:cNvSpPr/>
          <p:nvPr/>
        </p:nvSpPr>
        <p:spPr>
          <a:xfrm>
            <a:off x="12455838" y="8407238"/>
            <a:ext cx="2224868" cy="546122"/>
          </a:xfrm>
          <a:prstGeom prst="rect">
            <a:avLst/>
          </a:prstGeom>
          <a:solidFill>
            <a:srgbClr val="F5F7FA"/>
          </a:solidFill>
          <a:ln w="7620">
            <a:solidFill>
              <a:srgbClr val="E3E7EC"/>
            </a:solidFill>
            <a:prstDash val="solid"/>
          </a:ln>
        </p:spPr>
      </p:sp>
      <p:sp>
        <p:nvSpPr>
          <p:cNvPr id="84" name="Text 79"/>
          <p:cNvSpPr txBox="1"/>
          <p:nvPr/>
        </p:nvSpPr>
        <p:spPr>
          <a:xfrm>
            <a:off x="12563838" y="8493638"/>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5" name="Text 80"/>
          <p:cNvSpPr txBox="1"/>
          <p:nvPr/>
        </p:nvSpPr>
        <p:spPr>
          <a:xfrm>
            <a:off x="12563838" y="8736658"/>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6" name="Text 81"/>
          <p:cNvSpPr txBox="1"/>
          <p:nvPr/>
        </p:nvSpPr>
        <p:spPr>
          <a:xfrm>
            <a:off x="10158970" y="9118960"/>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a dashboard nobody opens.</a:t>
            </a:r>
            <a:endParaRPr lang="en-US" sz="810" dirty="0"/>
          </a:p>
        </p:txBody>
      </p:sp>
      <p:sp>
        <p:nvSpPr>
          <p:cNvPr id="87" name="Text 82"/>
          <p:cNvSpPr txBox="1"/>
          <p:nvPr/>
        </p:nvSpPr>
        <p:spPr>
          <a:xfrm>
            <a:off x="10158970" y="943886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Justin's KPI is active keg refillers, defined three ways today.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Define it once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78246" y="365760"/>
            <a:ext cx="1165358"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78246" y="365760"/>
            <a:ext cx="1165358"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V02 · 16 SEPT 2026</a:t>
            </a:r>
            <a:endParaRPr lang="en-US" sz="650" dirty="0"/>
          </a:p>
        </p:txBody>
      </p:sp>
      <p:sp>
        <p:nvSpPr>
          <p:cNvPr id="7" name="Shape 3"/>
          <p:cNvSpPr/>
          <p:nvPr/>
        </p:nvSpPr>
        <p:spPr>
          <a:xfrm>
            <a:off x="11370203"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70203"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04303" y="365760"/>
            <a:ext cx="975900"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04303" y="365760"/>
            <a:ext cx="975900"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04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3087069"/>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JUSTIN'S LADDER</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his own horizons, dated from 16 September</a:t>
            </a:r>
            <a:endParaRPr lang="en-US" sz="680" dirty="0"/>
          </a:p>
        </p:txBody>
      </p:sp>
      <p:sp>
        <p:nvSpPr>
          <p:cNvPr id="15" name="Shape 11"/>
          <p:cNvSpPr/>
          <p:nvPr/>
        </p:nvSpPr>
        <p:spPr>
          <a:xfrm>
            <a:off x="438898" y="1400636"/>
            <a:ext cx="3479528" cy="2444386"/>
          </a:xfrm>
          <a:prstGeom prst="rect">
            <a:avLst/>
          </a:prstGeom>
          <a:solidFill>
            <a:srgbClr val="F5F7FA"/>
          </a:solidFill>
          <a:ln w="7620">
            <a:solidFill>
              <a:srgbClr val="E3E7EC"/>
            </a:solidFill>
            <a:prstDash val="solid"/>
          </a:ln>
        </p:spPr>
      </p:sp>
      <p:sp>
        <p:nvSpPr>
          <p:cNvPr id="16" name="Shape 12"/>
          <p:cNvSpPr/>
          <p:nvPr/>
        </p:nvSpPr>
        <p:spPr>
          <a:xfrm>
            <a:off x="438898" y="1400636"/>
            <a:ext cx="3479528" cy="28800"/>
          </a:xfrm>
          <a:prstGeom prst="rect">
            <a:avLst/>
          </a:prstGeom>
          <a:solidFill>
            <a:srgbClr val="0066FF"/>
          </a:solidFill>
          <a:ln w="12700">
            <a:solidFill>
              <a:srgbClr val="333333"/>
            </a:solidFill>
            <a:prstDash val="solid"/>
          </a:ln>
        </p:spPr>
      </p:sp>
      <p:sp>
        <p:nvSpPr>
          <p:cNvPr id="17" name="Text 13"/>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30 DAYS · TO MID-OCTOBER</a:t>
            </a:r>
            <a:endParaRPr lang="en-US" sz="650" dirty="0"/>
          </a:p>
        </p:txBody>
      </p:sp>
      <p:sp>
        <p:nvSpPr>
          <p:cNvPr id="18" name="Shape 14"/>
          <p:cNvSpPr/>
          <p:nvPr/>
        </p:nvSpPr>
        <p:spPr>
          <a:xfrm>
            <a:off x="532498" y="1697019"/>
            <a:ext cx="50400" cy="50400"/>
          </a:xfrm>
          <a:prstGeom prst="rect">
            <a:avLst/>
          </a:prstGeom>
          <a:solidFill>
            <a:srgbClr val="0066FF"/>
          </a:solidFill>
          <a:ln w="12700">
            <a:solidFill>
              <a:srgbClr val="333333"/>
            </a:solidFill>
            <a:prstDash val="solid"/>
          </a:ln>
        </p:spPr>
      </p:sp>
      <p:sp>
        <p:nvSpPr>
          <p:cNvPr id="19" name="Text 15"/>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Three-way shape decision: taproom, showroom or event space</a:t>
            </a:r>
            <a:endParaRPr lang="en-US" sz="740" dirty="0"/>
          </a:p>
        </p:txBody>
      </p:sp>
      <p:sp>
        <p:nvSpPr>
          <p:cNvPr id="20" name="Shape 16"/>
          <p:cNvSpPr/>
          <p:nvPr/>
        </p:nvSpPr>
        <p:spPr>
          <a:xfrm>
            <a:off x="532498" y="1873671"/>
            <a:ext cx="50400" cy="50400"/>
          </a:xfrm>
          <a:prstGeom prst="rect">
            <a:avLst/>
          </a:prstGeom>
          <a:solidFill>
            <a:srgbClr val="0066FF"/>
          </a:solidFill>
          <a:ln w="12700">
            <a:solidFill>
              <a:srgbClr val="333333"/>
            </a:solidFill>
            <a:prstDash val="solid"/>
          </a:ln>
        </p:spPr>
      </p:sp>
      <p:sp>
        <p:nvSpPr>
          <p:cNvPr id="21" name="Text 17"/>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Customer journey mapped, key messaging confirmed</a:t>
            </a:r>
            <a:endParaRPr lang="en-US" sz="740" dirty="0"/>
          </a:p>
        </p:txBody>
      </p:sp>
      <p:sp>
        <p:nvSpPr>
          <p:cNvPr id="22" name="Shape 18"/>
          <p:cNvSpPr/>
          <p:nvPr/>
        </p:nvSpPr>
        <p:spPr>
          <a:xfrm>
            <a:off x="532498" y="2050322"/>
            <a:ext cx="50400" cy="50400"/>
          </a:xfrm>
          <a:prstGeom prst="rect">
            <a:avLst/>
          </a:prstGeom>
          <a:solidFill>
            <a:srgbClr val="0066FF"/>
          </a:solidFill>
          <a:ln w="12700">
            <a:solidFill>
              <a:srgbClr val="333333"/>
            </a:solidFill>
            <a:prstDash val="solid"/>
          </a:ln>
        </p:spPr>
      </p:sp>
      <p:sp>
        <p:nvSpPr>
          <p:cNvPr id="23" name="Text 19"/>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KPIs, growth targets and meeting rhythm set</a:t>
            </a:r>
            <a:endParaRPr lang="en-US" sz="740" dirty="0"/>
          </a:p>
        </p:txBody>
      </p:sp>
      <p:sp>
        <p:nvSpPr>
          <p:cNvPr id="24" name="Shape 20"/>
          <p:cNvSpPr/>
          <p:nvPr/>
        </p:nvSpPr>
        <p:spPr>
          <a:xfrm>
            <a:off x="532498" y="2226974"/>
            <a:ext cx="50400" cy="50400"/>
          </a:xfrm>
          <a:prstGeom prst="rect">
            <a:avLst/>
          </a:prstGeom>
          <a:solidFill>
            <a:srgbClr val="0066FF"/>
          </a:solidFill>
          <a:ln w="12700">
            <a:solidFill>
              <a:srgbClr val="333333"/>
            </a:solidFill>
            <a:prstDash val="solid"/>
          </a:ln>
        </p:spPr>
      </p:sp>
      <p:sp>
        <p:nvSpPr>
          <p:cNvPr id="25" name="Text 21"/>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Residential vs commercial, external support vs in-house</a:t>
            </a:r>
            <a:endParaRPr lang="en-US" sz="740" dirty="0"/>
          </a:p>
        </p:txBody>
      </p:sp>
      <p:sp>
        <p:nvSpPr>
          <p:cNvPr id="26" name="Shape 22"/>
          <p:cNvSpPr/>
          <p:nvPr/>
        </p:nvSpPr>
        <p:spPr>
          <a:xfrm>
            <a:off x="532498" y="2403626"/>
            <a:ext cx="50400" cy="50400"/>
          </a:xfrm>
          <a:prstGeom prst="rect">
            <a:avLst/>
          </a:prstGeom>
          <a:solidFill>
            <a:srgbClr val="0066FF"/>
          </a:solidFill>
          <a:ln w="12700">
            <a:solidFill>
              <a:srgbClr val="333333"/>
            </a:solidFill>
            <a:prstDash val="solid"/>
          </a:ln>
        </p:spPr>
      </p:sp>
      <p:sp>
        <p:nvSpPr>
          <p:cNvPr id="27" name="Text 23"/>
          <p:cNvSpPr txBox="1"/>
          <p:nvPr/>
        </p:nvSpPr>
        <p:spPr>
          <a:xfrm>
            <a:off x="626098"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Brand ambassadors named: Kurt, Troy, Mitch, Aden, Ash</a:t>
            </a:r>
            <a:endParaRPr lang="en-US" sz="740" dirty="0"/>
          </a:p>
        </p:txBody>
      </p:sp>
      <p:sp>
        <p:nvSpPr>
          <p:cNvPr id="28" name="Shape 24"/>
          <p:cNvSpPr/>
          <p:nvPr/>
        </p:nvSpPr>
        <p:spPr>
          <a:xfrm>
            <a:off x="532498" y="2580277"/>
            <a:ext cx="50400" cy="50400"/>
          </a:xfrm>
          <a:prstGeom prst="rect">
            <a:avLst/>
          </a:prstGeom>
          <a:solidFill>
            <a:srgbClr val="0066FF"/>
          </a:solidFill>
          <a:ln w="12700">
            <a:solidFill>
              <a:srgbClr val="333333"/>
            </a:solidFill>
            <a:prstDash val="solid"/>
          </a:ln>
        </p:spPr>
      </p:sp>
      <p:sp>
        <p:nvSpPr>
          <p:cNvPr id="29" name="Text 25"/>
          <p:cNvSpPr txBox="1"/>
          <p:nvPr/>
        </p:nvSpPr>
        <p:spPr>
          <a:xfrm>
            <a:off x="626098"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Oktoberfest and the keg system giveaway</a:t>
            </a:r>
            <a:endParaRPr lang="en-US" sz="740" dirty="0"/>
          </a:p>
        </p:txBody>
      </p:sp>
      <p:sp>
        <p:nvSpPr>
          <p:cNvPr id="30" name="Shape 26"/>
          <p:cNvSpPr/>
          <p:nvPr/>
        </p:nvSpPr>
        <p:spPr>
          <a:xfrm>
            <a:off x="4026325" y="1400636"/>
            <a:ext cx="3479528" cy="2444386"/>
          </a:xfrm>
          <a:prstGeom prst="rect">
            <a:avLst/>
          </a:prstGeom>
          <a:solidFill>
            <a:srgbClr val="F5F7FA"/>
          </a:solidFill>
          <a:ln w="7620">
            <a:solidFill>
              <a:srgbClr val="E3E7EC"/>
            </a:solidFill>
            <a:prstDash val="solid"/>
          </a:ln>
        </p:spPr>
      </p:sp>
      <p:sp>
        <p:nvSpPr>
          <p:cNvPr id="31" name="Shape 27"/>
          <p:cNvSpPr/>
          <p:nvPr/>
        </p:nvSpPr>
        <p:spPr>
          <a:xfrm>
            <a:off x="4026325" y="1400636"/>
            <a:ext cx="3479528" cy="28800"/>
          </a:xfrm>
          <a:prstGeom prst="rect">
            <a:avLst/>
          </a:prstGeom>
          <a:solidFill>
            <a:srgbClr val="0066FF"/>
          </a:solidFill>
          <a:ln w="12700">
            <a:solidFill>
              <a:srgbClr val="333333"/>
            </a:solidFill>
            <a:prstDash val="solid"/>
          </a:ln>
        </p:spPr>
      </p:sp>
      <p:sp>
        <p:nvSpPr>
          <p:cNvPr id="32" name="Text 28"/>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 MONTHS · TO MID-DECEMBER</a:t>
            </a:r>
            <a:endParaRPr lang="en-US" sz="650" dirty="0"/>
          </a:p>
        </p:txBody>
      </p:sp>
      <p:sp>
        <p:nvSpPr>
          <p:cNvPr id="33" name="Shape 29"/>
          <p:cNvSpPr/>
          <p:nvPr/>
        </p:nvSpPr>
        <p:spPr>
          <a:xfrm>
            <a:off x="4119925" y="1697019"/>
            <a:ext cx="50400" cy="50400"/>
          </a:xfrm>
          <a:prstGeom prst="rect">
            <a:avLst/>
          </a:prstGeom>
          <a:solidFill>
            <a:srgbClr val="0066FF"/>
          </a:solidFill>
          <a:ln w="12700">
            <a:solidFill>
              <a:srgbClr val="333333"/>
            </a:solidFill>
            <a:prstDash val="solid"/>
          </a:ln>
        </p:spPr>
      </p:sp>
      <p:sp>
        <p:nvSpPr>
          <p:cNvPr id="34" name="Text 30"/>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Website upgrade, SEM, GoTab and Fishbowl transition</a:t>
            </a:r>
            <a:endParaRPr lang="en-US" sz="740" dirty="0"/>
          </a:p>
        </p:txBody>
      </p:sp>
      <p:sp>
        <p:nvSpPr>
          <p:cNvPr id="35" name="Shape 31"/>
          <p:cNvSpPr/>
          <p:nvPr/>
        </p:nvSpPr>
        <p:spPr>
          <a:xfrm>
            <a:off x="4119925" y="1873671"/>
            <a:ext cx="50400" cy="50400"/>
          </a:xfrm>
          <a:prstGeom prst="rect">
            <a:avLst/>
          </a:prstGeom>
          <a:solidFill>
            <a:srgbClr val="0066FF"/>
          </a:solidFill>
          <a:ln w="12700">
            <a:solidFill>
              <a:srgbClr val="333333"/>
            </a:solidFill>
            <a:prstDash val="solid"/>
          </a:ln>
        </p:spPr>
      </p:sp>
      <p:sp>
        <p:nvSpPr>
          <p:cNvPr id="36" name="Text 32"/>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Lease-to-buy keg systems and delivery service</a:t>
            </a:r>
            <a:endParaRPr lang="en-US" sz="740" dirty="0"/>
          </a:p>
        </p:txBody>
      </p:sp>
      <p:sp>
        <p:nvSpPr>
          <p:cNvPr id="37" name="Shape 33"/>
          <p:cNvSpPr/>
          <p:nvPr/>
        </p:nvSpPr>
        <p:spPr>
          <a:xfrm>
            <a:off x="4119925" y="2050322"/>
            <a:ext cx="50400" cy="50400"/>
          </a:xfrm>
          <a:prstGeom prst="rect">
            <a:avLst/>
          </a:prstGeom>
          <a:solidFill>
            <a:srgbClr val="0066FF"/>
          </a:solidFill>
          <a:ln w="12700">
            <a:solidFill>
              <a:srgbClr val="333333"/>
            </a:solidFill>
            <a:prstDash val="solid"/>
          </a:ln>
        </p:spPr>
      </p:sp>
      <p:sp>
        <p:nvSpPr>
          <p:cNvPr id="38" name="Text 34"/>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JVPs, referral partners; referral programme, Bring a Mate</a:t>
            </a:r>
            <a:endParaRPr lang="en-US" sz="740" dirty="0"/>
          </a:p>
        </p:txBody>
      </p:sp>
      <p:sp>
        <p:nvSpPr>
          <p:cNvPr id="39" name="Shape 35"/>
          <p:cNvSpPr/>
          <p:nvPr/>
        </p:nvSpPr>
        <p:spPr>
          <a:xfrm>
            <a:off x="4119925" y="2226974"/>
            <a:ext cx="50400" cy="50400"/>
          </a:xfrm>
          <a:prstGeom prst="rect">
            <a:avLst/>
          </a:prstGeom>
          <a:solidFill>
            <a:srgbClr val="0066FF"/>
          </a:solidFill>
          <a:ln w="12700">
            <a:solidFill>
              <a:srgbClr val="333333"/>
            </a:solidFill>
            <a:prstDash val="solid"/>
          </a:ln>
        </p:spPr>
      </p:sp>
      <p:sp>
        <p:nvSpPr>
          <p:cNvPr id="40" name="Text 36"/>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Existing-owner switch strategy, lapsed re-engagement system</a:t>
            </a:r>
            <a:endParaRPr lang="en-US" sz="740" dirty="0"/>
          </a:p>
        </p:txBody>
      </p:sp>
      <p:sp>
        <p:nvSpPr>
          <p:cNvPr id="41" name="Shape 37"/>
          <p:cNvSpPr/>
          <p:nvPr/>
        </p:nvSpPr>
        <p:spPr>
          <a:xfrm>
            <a:off x="4119925" y="2403626"/>
            <a:ext cx="50400" cy="50400"/>
          </a:xfrm>
          <a:prstGeom prst="rect">
            <a:avLst/>
          </a:prstGeom>
          <a:solidFill>
            <a:srgbClr val="0066FF"/>
          </a:solidFill>
          <a:ln w="12700">
            <a:solidFill>
              <a:srgbClr val="333333"/>
            </a:solidFill>
            <a:prstDash val="solid"/>
          </a:ln>
        </p:spPr>
      </p:sp>
      <p:sp>
        <p:nvSpPr>
          <p:cNvPr id="42" name="Text 38"/>
          <p:cNvSpPr txBox="1"/>
          <p:nvPr/>
        </p:nvSpPr>
        <p:spPr>
          <a:xfrm>
            <a:off x="4213525"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Taproom: local business, events, membership</a:t>
            </a:r>
            <a:endParaRPr lang="en-US" sz="740" dirty="0"/>
          </a:p>
        </p:txBody>
      </p:sp>
      <p:sp>
        <p:nvSpPr>
          <p:cNvPr id="43" name="Shape 39"/>
          <p:cNvSpPr/>
          <p:nvPr/>
        </p:nvSpPr>
        <p:spPr>
          <a:xfrm>
            <a:off x="4119925" y="2580277"/>
            <a:ext cx="50400" cy="50400"/>
          </a:xfrm>
          <a:prstGeom prst="rect">
            <a:avLst/>
          </a:prstGeom>
          <a:solidFill>
            <a:srgbClr val="0066FF"/>
          </a:solidFill>
          <a:ln w="12700">
            <a:solidFill>
              <a:srgbClr val="333333"/>
            </a:solidFill>
            <a:prstDash val="solid"/>
          </a:ln>
        </p:spPr>
      </p:sp>
      <p:sp>
        <p:nvSpPr>
          <p:cNvPr id="44" name="Text 40"/>
          <p:cNvSpPr txBox="1"/>
          <p:nvPr/>
        </p:nvSpPr>
        <p:spPr>
          <a:xfrm>
            <a:off x="4213525"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outreach; next hire decided</a:t>
            </a:r>
            <a:endParaRPr lang="en-US" sz="740" dirty="0"/>
          </a:p>
        </p:txBody>
      </p:sp>
      <p:sp>
        <p:nvSpPr>
          <p:cNvPr id="45" name="Shape 41"/>
          <p:cNvSpPr/>
          <p:nvPr/>
        </p:nvSpPr>
        <p:spPr>
          <a:xfrm>
            <a:off x="7613752" y="1400636"/>
            <a:ext cx="3479528" cy="2444386"/>
          </a:xfrm>
          <a:prstGeom prst="rect">
            <a:avLst/>
          </a:prstGeom>
          <a:solidFill>
            <a:srgbClr val="F5F7FA"/>
          </a:solidFill>
          <a:ln w="7620">
            <a:solidFill>
              <a:srgbClr val="E3E7EC"/>
            </a:solidFill>
            <a:prstDash val="solid"/>
          </a:ln>
        </p:spPr>
      </p:sp>
      <p:sp>
        <p:nvSpPr>
          <p:cNvPr id="46" name="Shape 42"/>
          <p:cNvSpPr/>
          <p:nvPr/>
        </p:nvSpPr>
        <p:spPr>
          <a:xfrm>
            <a:off x="7613752" y="1400636"/>
            <a:ext cx="3479528" cy="28800"/>
          </a:xfrm>
          <a:prstGeom prst="rect">
            <a:avLst/>
          </a:prstGeom>
          <a:solidFill>
            <a:srgbClr val="0066FF"/>
          </a:solidFill>
          <a:ln w="12700">
            <a:solidFill>
              <a:srgbClr val="333333"/>
            </a:solidFill>
            <a:prstDash val="solid"/>
          </a:ln>
        </p:spPr>
      </p:sp>
      <p:sp>
        <p:nvSpPr>
          <p:cNvPr id="47" name="Text 43"/>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6 MONTHS · TO MARCH 2027</a:t>
            </a:r>
            <a:endParaRPr lang="en-US" sz="650" dirty="0"/>
          </a:p>
        </p:txBody>
      </p:sp>
      <p:sp>
        <p:nvSpPr>
          <p:cNvPr id="48" name="Shape 44"/>
          <p:cNvSpPr/>
          <p:nvPr/>
        </p:nvSpPr>
        <p:spPr>
          <a:xfrm>
            <a:off x="7707352" y="1697019"/>
            <a:ext cx="50400" cy="50400"/>
          </a:xfrm>
          <a:prstGeom prst="rect">
            <a:avLst/>
          </a:prstGeom>
          <a:solidFill>
            <a:srgbClr val="0066FF"/>
          </a:solidFill>
          <a:ln w="12700">
            <a:solidFill>
              <a:srgbClr val="333333"/>
            </a:solidFill>
            <a:prstDash val="solid"/>
          </a:ln>
        </p:spPr>
      </p:sp>
      <p:sp>
        <p:nvSpPr>
          <p:cNvPr id="49" name="Text 45"/>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250 active keg refillers reached</a:t>
            </a:r>
            <a:endParaRPr lang="en-US" sz="740" dirty="0"/>
          </a:p>
        </p:txBody>
      </p:sp>
      <p:sp>
        <p:nvSpPr>
          <p:cNvPr id="50" name="Shape 46"/>
          <p:cNvSpPr/>
          <p:nvPr/>
        </p:nvSpPr>
        <p:spPr>
          <a:xfrm>
            <a:off x="7707352" y="1873671"/>
            <a:ext cx="50400" cy="50400"/>
          </a:xfrm>
          <a:prstGeom prst="rect">
            <a:avLst/>
          </a:prstGeom>
          <a:solidFill>
            <a:srgbClr val="0066FF"/>
          </a:solidFill>
          <a:ln w="12700">
            <a:solidFill>
              <a:srgbClr val="333333"/>
            </a:solidFill>
            <a:prstDash val="solid"/>
          </a:ln>
        </p:spPr>
      </p:sp>
      <p:sp>
        <p:nvSpPr>
          <p:cNvPr id="51" name="Text 47"/>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Career pathways defined for Chris and Harry</a:t>
            </a:r>
            <a:endParaRPr lang="en-US" sz="740" dirty="0"/>
          </a:p>
        </p:txBody>
      </p:sp>
      <p:sp>
        <p:nvSpPr>
          <p:cNvPr id="52" name="Shape 48"/>
          <p:cNvSpPr/>
          <p:nvPr/>
        </p:nvSpPr>
        <p:spPr>
          <a:xfrm>
            <a:off x="11201179" y="1400636"/>
            <a:ext cx="3479528" cy="2444386"/>
          </a:xfrm>
          <a:prstGeom prst="rect">
            <a:avLst/>
          </a:prstGeom>
          <a:solidFill>
            <a:srgbClr val="F5F7FA"/>
          </a:solidFill>
          <a:ln w="7620">
            <a:solidFill>
              <a:srgbClr val="E3E7EC"/>
            </a:solidFill>
            <a:prstDash val="solid"/>
          </a:ln>
        </p:spPr>
      </p:sp>
      <p:sp>
        <p:nvSpPr>
          <p:cNvPr id="53" name="Shape 49"/>
          <p:cNvSpPr/>
          <p:nvPr/>
        </p:nvSpPr>
        <p:spPr>
          <a:xfrm>
            <a:off x="11201179" y="1400636"/>
            <a:ext cx="3479528" cy="28800"/>
          </a:xfrm>
          <a:prstGeom prst="rect">
            <a:avLst/>
          </a:prstGeom>
          <a:solidFill>
            <a:srgbClr val="0066FF"/>
          </a:solidFill>
          <a:ln w="12700">
            <a:solidFill>
              <a:srgbClr val="333333"/>
            </a:solidFill>
            <a:prstDash val="solid"/>
          </a:ln>
        </p:spPr>
      </p:sp>
      <p:sp>
        <p:nvSpPr>
          <p:cNvPr id="54" name="Text 50"/>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1 YEAR · TO SEPTEMBER 2027</a:t>
            </a:r>
            <a:endParaRPr lang="en-US" sz="650" dirty="0"/>
          </a:p>
        </p:txBody>
      </p:sp>
      <p:sp>
        <p:nvSpPr>
          <p:cNvPr id="55" name="Shape 51"/>
          <p:cNvSpPr/>
          <p:nvPr/>
        </p:nvSpPr>
        <p:spPr>
          <a:xfrm>
            <a:off x="11294779" y="1697019"/>
            <a:ext cx="50400" cy="50400"/>
          </a:xfrm>
          <a:prstGeom prst="rect">
            <a:avLst/>
          </a:prstGeom>
          <a:solidFill>
            <a:srgbClr val="0066FF"/>
          </a:solidFill>
          <a:ln w="12700">
            <a:solidFill>
              <a:srgbClr val="333333"/>
            </a:solidFill>
            <a:prstDash val="solid"/>
          </a:ln>
        </p:spPr>
      </p:sp>
      <p:sp>
        <p:nvSpPr>
          <p:cNvPr id="56" name="Text 52"/>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Referrals, JVPs and online driving most system sales</a:t>
            </a:r>
            <a:endParaRPr lang="en-US" sz="740" dirty="0"/>
          </a:p>
        </p:txBody>
      </p:sp>
      <p:sp>
        <p:nvSpPr>
          <p:cNvPr id="57" name="Shape 53"/>
          <p:cNvSpPr/>
          <p:nvPr/>
        </p:nvSpPr>
        <p:spPr>
          <a:xfrm>
            <a:off x="11294779" y="1873671"/>
            <a:ext cx="50400" cy="50400"/>
          </a:xfrm>
          <a:prstGeom prst="rect">
            <a:avLst/>
          </a:prstGeom>
          <a:solidFill>
            <a:srgbClr val="0066FF"/>
          </a:solidFill>
          <a:ln w="12700">
            <a:solidFill>
              <a:srgbClr val="333333"/>
            </a:solidFill>
            <a:prstDash val="solid"/>
          </a:ln>
        </p:spPr>
      </p:sp>
      <p:sp>
        <p:nvSpPr>
          <p:cNvPr id="58" name="Text 54"/>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Replicable events and promotions calendar in place</a:t>
            </a:r>
            <a:endParaRPr lang="en-US" sz="740" dirty="0"/>
          </a:p>
        </p:txBody>
      </p:sp>
      <p:sp>
        <p:nvSpPr>
          <p:cNvPr id="59" name="Shape 55"/>
          <p:cNvSpPr/>
          <p:nvPr/>
        </p:nvSpPr>
        <p:spPr>
          <a:xfrm>
            <a:off x="11294779" y="2050322"/>
            <a:ext cx="50400" cy="50400"/>
          </a:xfrm>
          <a:prstGeom prst="rect">
            <a:avLst/>
          </a:prstGeom>
          <a:solidFill>
            <a:srgbClr val="0066FF"/>
          </a:solidFill>
          <a:ln w="12700">
            <a:solidFill>
              <a:srgbClr val="333333"/>
            </a:solidFill>
            <a:prstDash val="solid"/>
          </a:ln>
        </p:spPr>
      </p:sp>
      <p:sp>
        <p:nvSpPr>
          <p:cNvPr id="60" name="Text 56"/>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Cashflow positive, JM on a wage</a:t>
            </a:r>
            <a:endParaRPr lang="en-US" sz="740" dirty="0"/>
          </a:p>
        </p:txBody>
      </p:sp>
      <p:sp>
        <p:nvSpPr>
          <p:cNvPr id="61" name="Shape 57"/>
          <p:cNvSpPr/>
          <p:nvPr/>
        </p:nvSpPr>
        <p:spPr>
          <a:xfrm>
            <a:off x="438898" y="3909822"/>
            <a:ext cx="14241809" cy="0"/>
          </a:xfrm>
          <a:prstGeom prst="line">
            <a:avLst/>
          </a:prstGeom>
          <a:noFill/>
          <a:ln w="7620">
            <a:solidFill>
              <a:srgbClr val="E3E7EC"/>
            </a:solidFill>
            <a:prstDash val="solid"/>
          </a:ln>
        </p:spPr>
      </p:sp>
      <p:sp>
        <p:nvSpPr>
          <p:cNvPr id="62" name="Text 58"/>
          <p:cNvSpPr txBox="1"/>
          <p:nvPr/>
        </p:nvSpPr>
        <p:spPr>
          <a:xfrm>
            <a:off x="438898" y="396742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Longer horizons, 1,000 refillers and proprietary system supply at three years, expansion, franchising and a production facility at five years, exit at ten to twelve, sit on the summary sheet. Clent is overseas from the end of September.</a:t>
            </a:r>
            <a:endParaRPr lang="en-US" sz="700" dirty="0"/>
          </a:p>
        </p:txBody>
      </p:sp>
      <p:sp>
        <p:nvSpPr>
          <p:cNvPr id="63" name="Shape 59"/>
          <p:cNvSpPr/>
          <p:nvPr/>
        </p:nvSpPr>
        <p:spPr>
          <a:xfrm>
            <a:off x="323698" y="4310536"/>
            <a:ext cx="4752137" cy="3087069"/>
          </a:xfrm>
          <a:prstGeom prst="rect">
            <a:avLst/>
          </a:prstGeom>
          <a:solidFill>
            <a:srgbClr val="FFFFFF"/>
          </a:solidFill>
          <a:ln w="7620">
            <a:solidFill>
              <a:srgbClr val="E3E7EC"/>
            </a:solidFill>
            <a:prstDash val="solid"/>
          </a:ln>
        </p:spPr>
      </p:sp>
      <p:sp>
        <p:nvSpPr>
          <p:cNvPr id="64" name="Text 60"/>
          <p:cNvSpPr txBox="1"/>
          <p:nvPr/>
        </p:nvSpPr>
        <p:spPr>
          <a:xfrm>
            <a:off x="438898"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65" name="Text 61"/>
          <p:cNvSpPr txBox="1"/>
          <p:nvPr/>
        </p:nvSpPr>
        <p:spPr>
          <a:xfrm>
            <a:off x="438898" y="4595604"/>
            <a:ext cx="4521737"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66" name="Text 62"/>
          <p:cNvSpPr txBox="1"/>
          <p:nvPr/>
        </p:nvSpPr>
        <p:spPr>
          <a:xfrm>
            <a:off x="438898" y="501874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67" name="Text 63"/>
          <p:cNvSpPr txBox="1"/>
          <p:nvPr/>
        </p:nvSpPr>
        <p:spPr>
          <a:xfrm>
            <a:off x="438898" y="5428010"/>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a:t>
            </a:r>
            <a:endParaRPr lang="en-US" sz="810" dirty="0"/>
          </a:p>
        </p:txBody>
      </p:sp>
      <p:sp>
        <p:nvSpPr>
          <p:cNvPr id="68" name="Text 64"/>
          <p:cNvSpPr txBox="1"/>
          <p:nvPr/>
        </p:nvSpPr>
        <p:spPr>
          <a:xfrm>
            <a:off x="438898" y="599158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Local business and ticketed music.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taproom priorities: lunch and after-work trade from local business, and ticketed music events, not pausing walk-ins.</a:t>
            </a:r>
            <a:endParaRPr lang="en-US" sz="810" dirty="0"/>
          </a:p>
        </p:txBody>
      </p:sp>
      <p:sp>
        <p:nvSpPr>
          <p:cNvPr id="69" name="Text 65"/>
          <p:cNvSpPr txBox="1"/>
          <p:nvPr/>
        </p:nvSpPr>
        <p:spPr>
          <a:xfrm>
            <a:off x="438898" y="640085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the host runs for you, in front of the people who might buy one.</a:t>
            </a:r>
            <a:endParaRPr lang="en-US" sz="810" dirty="0"/>
          </a:p>
        </p:txBody>
      </p:sp>
      <p:sp>
        <p:nvSpPr>
          <p:cNvPr id="70" name="Shape 66"/>
          <p:cNvSpPr/>
          <p:nvPr/>
        </p:nvSpPr>
        <p:spPr>
          <a:xfrm>
            <a:off x="438898" y="6984775"/>
            <a:ext cx="4521737" cy="0"/>
          </a:xfrm>
          <a:prstGeom prst="line">
            <a:avLst/>
          </a:prstGeom>
          <a:noFill/>
          <a:ln w="7620">
            <a:solidFill>
              <a:srgbClr val="E3E7EC"/>
            </a:solidFill>
            <a:prstDash val="solid"/>
          </a:ln>
        </p:spPr>
      </p:sp>
      <p:sp>
        <p:nvSpPr>
          <p:cNvPr id="71" name="Text 67"/>
          <p:cNvSpPr txBox="1"/>
          <p:nvPr/>
        </p:nvSpPr>
        <p:spPr>
          <a:xfrm>
            <a:off x="438898"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First dated event: Oktoberfest plus the keg system giveaway. Taproom membership sits on Justin's three-month list; the business sheet flags two membership programmes as a cost to resolve.</a:t>
            </a:r>
            <a:endParaRPr lang="en-US" sz="700" dirty="0"/>
          </a:p>
        </p:txBody>
      </p:sp>
      <p:sp>
        <p:nvSpPr>
          <p:cNvPr id="72" name="Shape 68"/>
          <p:cNvSpPr/>
          <p:nvPr/>
        </p:nvSpPr>
        <p:spPr>
          <a:xfrm>
            <a:off x="5183734" y="4310536"/>
            <a:ext cx="4752137" cy="3087069"/>
          </a:xfrm>
          <a:prstGeom prst="rect">
            <a:avLst/>
          </a:prstGeom>
          <a:solidFill>
            <a:srgbClr val="FFFFFF"/>
          </a:solidFill>
          <a:ln w="7620">
            <a:solidFill>
              <a:srgbClr val="E3E7EC"/>
            </a:solidFill>
            <a:prstDash val="solid"/>
          </a:ln>
        </p:spPr>
      </p:sp>
      <p:sp>
        <p:nvSpPr>
          <p:cNvPr id="73" name="Text 69"/>
          <p:cNvSpPr txBox="1"/>
          <p:nvPr/>
        </p:nvSpPr>
        <p:spPr>
          <a:xfrm>
            <a:off x="5298934"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595604"/>
          <a:ext cx="11339703" cy="914400"/>
        </p:xfrm>
        <a:graphic>
          <a:graphicData uri="http://schemas.openxmlformats.org/drawingml/2006/table">
            <a:tbl>
              <a:tblPr/>
              <a:tblGrid>
                <a:gridCol w="1459421"/>
                <a:gridCol w="2512445"/>
                <a:gridCol w="549871"/>
              </a:tblGrid>
              <a:tr h="23242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61991">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Harvey Norman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GWP or first keg free at point of sale, plus the buyer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47996">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Kegland / corny keg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Buy the owner databases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47996">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Benchy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Official partnership and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47996">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Mark's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300 weddings a year across two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47996">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Zip water contacts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1,000 distribution points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47996">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Cannery contact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Parked. Canning is not in Justin's plan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47996">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JVPs and referral partners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List built, outreach started within three months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61991">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Brand ambassadors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Kurt, Troy, Mitch, Aden, Ash. UGC content ready to deploy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75" name="Shape 70"/>
          <p:cNvSpPr/>
          <p:nvPr/>
        </p:nvSpPr>
        <p:spPr>
          <a:xfrm>
            <a:off x="5298934" y="7104790"/>
            <a:ext cx="4521737" cy="0"/>
          </a:xfrm>
          <a:prstGeom prst="line">
            <a:avLst/>
          </a:prstGeom>
          <a:noFill/>
          <a:ln w="7620">
            <a:solidFill>
              <a:srgbClr val="E3E7EC"/>
            </a:solidFill>
            <a:prstDash val="solid"/>
          </a:ln>
        </p:spPr>
      </p:sp>
      <p:sp>
        <p:nvSpPr>
          <p:cNvPr id="76" name="Text 71"/>
          <p:cNvSpPr txBox="1"/>
          <p:nvPr/>
        </p:nvSpPr>
        <p:spPr>
          <a:xfrm>
            <a:off x="5298934" y="7162390"/>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 and in Justin's plan. The ambassadors are Justin's list.</a:t>
            </a:r>
            <a:endParaRPr lang="en-US" sz="700" dirty="0"/>
          </a:p>
        </p:txBody>
      </p:sp>
      <p:sp>
        <p:nvSpPr>
          <p:cNvPr id="77" name="Shape 72"/>
          <p:cNvSpPr/>
          <p:nvPr/>
        </p:nvSpPr>
        <p:spPr>
          <a:xfrm>
            <a:off x="10043770" y="4310536"/>
            <a:ext cx="4752137" cy="3087069"/>
          </a:xfrm>
          <a:prstGeom prst="rect">
            <a:avLst/>
          </a:prstGeom>
          <a:solidFill>
            <a:srgbClr val="FFFFFF"/>
          </a:solidFill>
          <a:ln w="7620">
            <a:solidFill>
              <a:srgbClr val="E3E7EC"/>
            </a:solidFill>
            <a:prstDash val="solid"/>
          </a:ln>
        </p:spPr>
      </p:sp>
      <p:sp>
        <p:nvSpPr>
          <p:cNvPr id="78" name="Text 73"/>
          <p:cNvSpPr txBox="1"/>
          <p:nvPr/>
        </p:nvSpPr>
        <p:spPr>
          <a:xfrm>
            <a:off x="10158970"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79" name="Text 74"/>
          <p:cNvSpPr txBox="1"/>
          <p:nvPr/>
        </p:nvSpPr>
        <p:spPr>
          <a:xfrm>
            <a:off x="10158970" y="4595604"/>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80" name="Text 75"/>
          <p:cNvSpPr txBox="1"/>
          <p:nvPr/>
        </p:nvSpPr>
        <p:spPr>
          <a:xfrm>
            <a:off x="10158970" y="506981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1" name="Text 76"/>
          <p:cNvSpPr txBox="1"/>
          <p:nvPr/>
        </p:nvSpPr>
        <p:spPr>
          <a:xfrm>
            <a:off x="10158970" y="5852634"/>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 Next pieces: UGC and brand ambassador content, and Oktoberfest artwork.</a:t>
            </a:r>
            <a:endParaRPr lang="en-US" sz="810" dirty="0"/>
          </a:p>
        </p:txBody>
      </p:sp>
      <p:sp>
        <p:nvSpPr>
          <p:cNvPr id="82" name="Shape 77"/>
          <p:cNvSpPr/>
          <p:nvPr/>
        </p:nvSpPr>
        <p:spPr>
          <a:xfrm>
            <a:off x="10158970" y="6984775"/>
            <a:ext cx="4521737" cy="0"/>
          </a:xfrm>
          <a:prstGeom prst="line">
            <a:avLst/>
          </a:prstGeom>
          <a:noFill/>
          <a:ln w="7620">
            <a:solidFill>
              <a:srgbClr val="E3E7EC"/>
            </a:solidFill>
            <a:prstDash val="solid"/>
          </a:ln>
        </p:spPr>
      </p:sp>
      <p:sp>
        <p:nvSpPr>
          <p:cNvPr id="83" name="Text 78"/>
          <p:cNvSpPr txBox="1"/>
          <p:nvPr/>
        </p:nvSpPr>
        <p:spPr>
          <a:xfrm>
            <a:off x="10158970"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84" name="Shape 79"/>
          <p:cNvSpPr/>
          <p:nvPr/>
        </p:nvSpPr>
        <p:spPr>
          <a:xfrm>
            <a:off x="323698" y="7505504"/>
            <a:ext cx="9612173" cy="2970575"/>
          </a:xfrm>
          <a:prstGeom prst="rect">
            <a:avLst/>
          </a:prstGeom>
          <a:solidFill>
            <a:srgbClr val="FFFFFF"/>
          </a:solidFill>
          <a:ln w="7620">
            <a:solidFill>
              <a:srgbClr val="E3E7EC"/>
            </a:solidFill>
            <a:prstDash val="solid"/>
          </a:ln>
        </p:spPr>
      </p:sp>
      <p:sp>
        <p:nvSpPr>
          <p:cNvPr id="85" name="Text 80"/>
          <p:cNvSpPr txBox="1"/>
          <p:nvPr/>
        </p:nvSpPr>
        <p:spPr>
          <a:xfrm>
            <a:off x="438898" y="7620704"/>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7790572"/>
          <a:ext cx="11339703" cy="914400"/>
        </p:xfrm>
        <a:graphic>
          <a:graphicData uri="http://schemas.openxmlformats.org/drawingml/2006/table">
            <a:tbl>
              <a:tblPr/>
              <a:tblGrid>
                <a:gridCol w="3563845"/>
                <a:gridCol w="1006200"/>
                <a:gridCol w="913262"/>
                <a:gridCol w="964157"/>
                <a:gridCol w="923958"/>
                <a:gridCol w="1171424"/>
                <a:gridCol w="838926"/>
              </a:tblGrid>
              <a:tr h="275851">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Website, GoTab + Fishbowl, SEM</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Existing owners, referrals, JVPs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Taproom, events, Oktoberfest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and next hire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messaging,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87" name="Shape 81"/>
          <p:cNvSpPr/>
          <p:nvPr/>
        </p:nvSpPr>
        <p:spPr>
          <a:xfrm>
            <a:off x="438898" y="10183264"/>
            <a:ext cx="9381773" cy="0"/>
          </a:xfrm>
          <a:prstGeom prst="line">
            <a:avLst/>
          </a:prstGeom>
          <a:noFill/>
          <a:ln w="7620">
            <a:solidFill>
              <a:srgbClr val="E3E7EC"/>
            </a:solidFill>
            <a:prstDash val="solid"/>
          </a:ln>
        </p:spPr>
      </p:sp>
      <p:sp>
        <p:nvSpPr>
          <p:cNvPr id="88" name="Text 82"/>
          <p:cNvSpPr txBox="1"/>
          <p:nvPr/>
        </p:nvSpPr>
        <p:spPr>
          <a:xfrm>
            <a:off x="438898" y="10240864"/>
            <a:ext cx="9381773"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for the next conversation. Wholesale has no R on purpose, that is the hire; brewer vs wholesale plus bar is Justin's call. Chris is trapped in production, and this matrix has to free him, not load him.</a:t>
            </a:r>
            <a:endParaRPr lang="en-US" sz="700" dirty="0"/>
          </a:p>
        </p:txBody>
      </p:sp>
      <p:sp>
        <p:nvSpPr>
          <p:cNvPr id="89" name="Shape 83"/>
          <p:cNvSpPr/>
          <p:nvPr/>
        </p:nvSpPr>
        <p:spPr>
          <a:xfrm>
            <a:off x="10043770" y="7505504"/>
            <a:ext cx="4752137" cy="2970575"/>
          </a:xfrm>
          <a:prstGeom prst="rect">
            <a:avLst/>
          </a:prstGeom>
          <a:solidFill>
            <a:srgbClr val="FFFFFF"/>
          </a:solidFill>
          <a:ln w="7620">
            <a:solidFill>
              <a:srgbClr val="E3E7EC"/>
            </a:solidFill>
            <a:prstDash val="solid"/>
          </a:ln>
        </p:spPr>
      </p:sp>
      <p:sp>
        <p:nvSpPr>
          <p:cNvPr id="90" name="Text 84"/>
          <p:cNvSpPr txBox="1"/>
          <p:nvPr/>
        </p:nvSpPr>
        <p:spPr>
          <a:xfrm>
            <a:off x="10158970" y="762070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1" name="Shape 85"/>
          <p:cNvSpPr/>
          <p:nvPr/>
        </p:nvSpPr>
        <p:spPr>
          <a:xfrm>
            <a:off x="10158970" y="7826611"/>
            <a:ext cx="50400" cy="50400"/>
          </a:xfrm>
          <a:prstGeom prst="rect">
            <a:avLst/>
          </a:prstGeom>
          <a:solidFill>
            <a:srgbClr val="0066FF"/>
          </a:solidFill>
          <a:ln w="12700">
            <a:solidFill>
              <a:srgbClr val="333333"/>
            </a:solidFill>
            <a:prstDash val="solid"/>
          </a:ln>
        </p:spPr>
      </p:sp>
      <p:sp>
        <p:nvSpPr>
          <p:cNvPr id="92" name="Text 86"/>
          <p:cNvSpPr txBox="1"/>
          <p:nvPr/>
        </p:nvSpPr>
        <p:spPr>
          <a:xfrm>
            <a:off x="10266970" y="779057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 Still stands.</a:t>
            </a:r>
            <a:endParaRPr lang="en-US" sz="730" dirty="0"/>
          </a:p>
        </p:txBody>
      </p:sp>
      <p:sp>
        <p:nvSpPr>
          <p:cNvPr id="93" name="Shape 87"/>
          <p:cNvSpPr/>
          <p:nvPr/>
        </p:nvSpPr>
        <p:spPr>
          <a:xfrm>
            <a:off x="10158970" y="8266231"/>
            <a:ext cx="50400" cy="50400"/>
          </a:xfrm>
          <a:prstGeom prst="rect">
            <a:avLst/>
          </a:prstGeom>
          <a:solidFill>
            <a:srgbClr val="0066FF"/>
          </a:solidFill>
          <a:ln w="12700">
            <a:solidFill>
              <a:srgbClr val="333333"/>
            </a:solidFill>
            <a:prstDash val="solid"/>
          </a:ln>
        </p:spPr>
      </p:sp>
      <p:sp>
        <p:nvSpPr>
          <p:cNvPr id="94" name="Text 88"/>
          <p:cNvSpPr txBox="1"/>
          <p:nvPr/>
        </p:nvSpPr>
        <p:spPr>
          <a:xfrm>
            <a:off x="10266970" y="823019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21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Clent and Christy regroup, plan confirmed, owners named. Still stands.</a:t>
            </a:r>
            <a:endParaRPr lang="en-US" sz="730" dirty="0"/>
          </a:p>
        </p:txBody>
      </p:sp>
      <p:sp>
        <p:nvSpPr>
          <p:cNvPr id="95" name="Shape 89"/>
          <p:cNvSpPr/>
          <p:nvPr/>
        </p:nvSpPr>
        <p:spPr>
          <a:xfrm>
            <a:off x="10158970" y="8705851"/>
            <a:ext cx="50400" cy="50400"/>
          </a:xfrm>
          <a:prstGeom prst="rect">
            <a:avLst/>
          </a:prstGeom>
          <a:solidFill>
            <a:srgbClr val="0066FF"/>
          </a:solidFill>
          <a:ln w="12700">
            <a:solidFill>
              <a:srgbClr val="333333"/>
            </a:solidFill>
            <a:prstDash val="solid"/>
          </a:ln>
        </p:spPr>
      </p:sp>
      <p:sp>
        <p:nvSpPr>
          <p:cNvPr id="96" name="Text 90"/>
          <p:cNvSpPr txBox="1"/>
          <p:nvPr/>
        </p:nvSpPr>
        <p:spPr>
          <a:xfrm>
            <a:off x="10266970" y="866981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Mid-October.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30-day list closed, including meeting rhythm and agenda. Oktoberfest run.</a:t>
            </a:r>
            <a:endParaRPr lang="en-US" sz="730" dirty="0"/>
          </a:p>
        </p:txBody>
      </p:sp>
      <p:sp>
        <p:nvSpPr>
          <p:cNvPr id="97" name="Shape 91"/>
          <p:cNvSpPr/>
          <p:nvPr/>
        </p:nvSpPr>
        <p:spPr>
          <a:xfrm>
            <a:off x="10158970" y="9145470"/>
            <a:ext cx="50400" cy="50400"/>
          </a:xfrm>
          <a:prstGeom prst="rect">
            <a:avLst/>
          </a:prstGeom>
          <a:solidFill>
            <a:srgbClr val="0066FF"/>
          </a:solidFill>
          <a:ln w="12700">
            <a:solidFill>
              <a:srgbClr val="333333"/>
            </a:solidFill>
            <a:prstDash val="solid"/>
          </a:ln>
        </p:spPr>
      </p:sp>
      <p:sp>
        <p:nvSpPr>
          <p:cNvPr id="98" name="Text 92"/>
          <p:cNvSpPr txBox="1"/>
          <p:nvPr/>
        </p:nvSpPr>
        <p:spPr>
          <a:xfrm>
            <a:off x="10266970" y="910943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Mid-December.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Three-month list closed. Tech live, lease-to-buy launched.</a:t>
            </a:r>
            <a:endParaRPr lang="en-US" sz="730" dirty="0"/>
          </a:p>
        </p:txBody>
      </p:sp>
      <p:sp>
        <p:nvSpPr>
          <p:cNvPr id="99" name="Shape 93"/>
          <p:cNvSpPr/>
          <p:nvPr/>
        </p:nvSpPr>
        <p:spPr>
          <a:xfrm>
            <a:off x="10158970" y="9585090"/>
            <a:ext cx="50400" cy="50400"/>
          </a:xfrm>
          <a:prstGeom prst="rect">
            <a:avLst/>
          </a:prstGeom>
          <a:solidFill>
            <a:srgbClr val="0066FF"/>
          </a:solidFill>
          <a:ln w="12700">
            <a:solidFill>
              <a:srgbClr val="333333"/>
            </a:solidFill>
            <a:prstDash val="solid"/>
          </a:ln>
        </p:spPr>
      </p:sp>
      <p:sp>
        <p:nvSpPr>
          <p:cNvPr id="100" name="Text 94"/>
          <p:cNvSpPr txBox="1"/>
          <p:nvPr/>
        </p:nvSpPr>
        <p:spPr>
          <a:xfrm>
            <a:off x="10266970" y="954905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March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250 active refillers.</a:t>
            </a:r>
            <a:endParaRPr lang="en-US" sz="730" dirty="0"/>
          </a:p>
        </p:txBody>
      </p:sp>
      <p:sp>
        <p:nvSpPr>
          <p:cNvPr id="101" name="Shape 95"/>
          <p:cNvSpPr/>
          <p:nvPr/>
        </p:nvSpPr>
        <p:spPr>
          <a:xfrm>
            <a:off x="10158970" y="10024710"/>
            <a:ext cx="50400" cy="50400"/>
          </a:xfrm>
          <a:prstGeom prst="rect">
            <a:avLst/>
          </a:prstGeom>
          <a:solidFill>
            <a:srgbClr val="0066FF"/>
          </a:solidFill>
          <a:ln w="12700">
            <a:solidFill>
              <a:srgbClr val="333333"/>
            </a:solidFill>
            <a:prstDash val="solid"/>
          </a:ln>
        </p:spPr>
      </p:sp>
      <p:sp>
        <p:nvSpPr>
          <p:cNvPr id="102" name="Text 96"/>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September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Cashflow positive, JM on a wage.</a:t>
            </a:r>
            <a:endParaRPr lang="en-US" sz="730" dirty="0"/>
          </a:p>
        </p:txBody>
      </p:sp>
      <p:sp>
        <p:nvSpPr>
          <p:cNvPr id="103" name="Shape 97"/>
          <p:cNvSpPr/>
          <p:nvPr/>
        </p:nvSpPr>
        <p:spPr>
          <a:xfrm>
            <a:off x="10158970" y="10183264"/>
            <a:ext cx="4521737" cy="0"/>
          </a:xfrm>
          <a:prstGeom prst="line">
            <a:avLst/>
          </a:prstGeom>
          <a:noFill/>
          <a:ln w="7620">
            <a:solidFill>
              <a:srgbClr val="E3E7EC"/>
            </a:solidFill>
            <a:prstDash val="solid"/>
          </a:ln>
        </p:spPr>
      </p:sp>
      <p:sp>
        <p:nvSpPr>
          <p:cNvPr id="104" name="Text 98"/>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first whether active refillers moved.</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2026-09-16T01:16:18Z</dcterms:created>
  <dcterms:modified xsi:type="dcterms:W3CDTF">2026-09-16T01:16:18Z</dcterms:modified>
</cp:coreProperties>
</file>