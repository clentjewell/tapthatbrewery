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The plan – on a page</a:t>
            </a:r>
            <a:endParaRPr lang="en-US" sz="2100" dirty="0"/>
          </a:p>
        </p:txBody>
      </p:sp>
      <p:sp>
        <p:nvSpPr>
          <p:cNvPr id="4" name="Shape 1"/>
          <p:cNvSpPr/>
          <p:nvPr/>
        </p:nvSpPr>
        <p:spPr>
          <a:xfrm>
            <a:off x="13650938" y="365760"/>
            <a:ext cx="1144969" cy="251460"/>
          </a:xfrm>
          <a:prstGeom prst="roundRect">
            <a:avLst>
              <a:gd name="adj" fmla="val 50000"/>
            </a:avLst>
          </a:prstGeom>
          <a:solidFill>
            <a:srgbClr val="0E171F"/>
          </a:solidFill>
          <a:ln w="9525">
            <a:solidFill>
              <a:srgbClr val="0E171F"/>
            </a:solidFill>
            <a:prstDash val="solid"/>
          </a:ln>
        </p:spPr>
      </p:sp>
      <p:sp>
        <p:nvSpPr>
          <p:cNvPr id="5" name="Text 2"/>
          <p:cNvSpPr txBox="1"/>
          <p:nvPr/>
        </p:nvSpPr>
        <p:spPr>
          <a:xfrm>
            <a:off x="13650938" y="365760"/>
            <a:ext cx="1144969" cy="251460"/>
          </a:xfrm>
          <a:prstGeom prst="rect">
            <a:avLst/>
          </a:prstGeom>
          <a:noFill/>
          <a:ln/>
        </p:spPr>
        <p:txBody>
          <a:bodyPr wrap="square" lIns="0" tIns="0" rIns="0" bIns="0" rtlCol="0" anchor="ctr"/>
          <a:lstStyle/>
          <a:p>
            <a:pPr algn="ctr" indent="0" marL="0">
              <a:buNone/>
            </a:pPr>
            <a:r>
              <a:rPr lang="en-US" sz="650" b="1" spc="78" kern="0" dirty="0">
                <a:solidFill>
                  <a:srgbClr val="FFFFFF"/>
                </a:solidFill>
                <a:latin typeface="Poppins" pitchFamily="34" charset="0"/>
                <a:ea typeface="Poppins" pitchFamily="34" charset="-122"/>
                <a:cs typeface="Poppins" pitchFamily="34" charset="-120"/>
              </a:rPr>
              <a:t>JEWELL PROJECTS</a:t>
            </a:r>
            <a:endParaRPr lang="en-US" sz="650" dirty="0"/>
          </a:p>
        </p:txBody>
      </p:sp>
      <p:sp>
        <p:nvSpPr>
          <p:cNvPr id="6" name="Shape 3"/>
          <p:cNvSpPr/>
          <p:nvPr/>
        </p:nvSpPr>
        <p:spPr>
          <a:xfrm>
            <a:off x="12410462" y="365760"/>
            <a:ext cx="1150475" cy="251460"/>
          </a:xfrm>
          <a:prstGeom prst="roundRect">
            <a:avLst>
              <a:gd name="adj" fmla="val 50000"/>
            </a:avLst>
          </a:prstGeom>
          <a:solidFill>
            <a:srgbClr val="FFFFFF"/>
          </a:solidFill>
          <a:ln w="9525">
            <a:solidFill>
              <a:srgbClr val="E3E7EC"/>
            </a:solidFill>
            <a:prstDash val="solid"/>
          </a:ln>
        </p:spPr>
      </p:sp>
      <p:sp>
        <p:nvSpPr>
          <p:cNvPr id="7" name="Text 4"/>
          <p:cNvSpPr txBox="1"/>
          <p:nvPr/>
        </p:nvSpPr>
        <p:spPr>
          <a:xfrm>
            <a:off x="12410462"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8" name="Shape 5"/>
          <p:cNvSpPr/>
          <p:nvPr/>
        </p:nvSpPr>
        <p:spPr>
          <a:xfrm>
            <a:off x="11102419" y="365760"/>
            <a:ext cx="1218043" cy="251460"/>
          </a:xfrm>
          <a:prstGeom prst="roundRect">
            <a:avLst>
              <a:gd name="adj" fmla="val 50000"/>
            </a:avLst>
          </a:prstGeom>
          <a:solidFill>
            <a:srgbClr val="FFFFFF"/>
          </a:solidFill>
          <a:ln w="9525">
            <a:solidFill>
              <a:srgbClr val="E3E7EC"/>
            </a:solidFill>
            <a:prstDash val="solid"/>
          </a:ln>
        </p:spPr>
      </p:sp>
      <p:sp>
        <p:nvSpPr>
          <p:cNvPr id="9" name="Text 6"/>
          <p:cNvSpPr txBox="1"/>
          <p:nvPr/>
        </p:nvSpPr>
        <p:spPr>
          <a:xfrm>
            <a:off x="11102419"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10" name="Shape 7"/>
          <p:cNvSpPr/>
          <p:nvPr/>
        </p:nvSpPr>
        <p:spPr>
          <a:xfrm>
            <a:off x="10260952" y="365760"/>
            <a:ext cx="751467" cy="251460"/>
          </a:xfrm>
          <a:prstGeom prst="roundRect">
            <a:avLst>
              <a:gd name="adj" fmla="val 50000"/>
            </a:avLst>
          </a:prstGeom>
          <a:solidFill>
            <a:srgbClr val="FFFFFF"/>
          </a:solidFill>
          <a:ln w="9525">
            <a:solidFill>
              <a:srgbClr val="E3E7EC"/>
            </a:solidFill>
            <a:prstDash val="solid"/>
          </a:ln>
        </p:spPr>
      </p:sp>
      <p:sp>
        <p:nvSpPr>
          <p:cNvPr id="11" name="Text 8"/>
          <p:cNvSpPr txBox="1"/>
          <p:nvPr/>
        </p:nvSpPr>
        <p:spPr>
          <a:xfrm>
            <a:off x="10260952" y="365760"/>
            <a:ext cx="751467"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SUMMARY</a:t>
            </a:r>
            <a:endParaRPr lang="en-US" sz="650" dirty="0"/>
          </a:p>
        </p:txBody>
      </p:sp>
      <p:sp>
        <p:nvSpPr>
          <p:cNvPr id="12" name="Shape 9"/>
          <p:cNvSpPr/>
          <p:nvPr/>
        </p:nvSpPr>
        <p:spPr>
          <a:xfrm>
            <a:off x="323698" y="969264"/>
            <a:ext cx="14472209" cy="0"/>
          </a:xfrm>
          <a:prstGeom prst="line">
            <a:avLst/>
          </a:prstGeom>
          <a:noFill/>
          <a:ln w="25400">
            <a:solidFill>
              <a:srgbClr val="0E171F"/>
            </a:solidFill>
            <a:prstDash val="solid"/>
          </a:ln>
        </p:spPr>
      </p:sp>
      <p:sp>
        <p:nvSpPr>
          <p:cNvPr id="13" name="Shape 10"/>
          <p:cNvSpPr/>
          <p:nvPr/>
        </p:nvSpPr>
        <p:spPr>
          <a:xfrm>
            <a:off x="323698" y="1115568"/>
            <a:ext cx="8397164" cy="2686259"/>
          </a:xfrm>
          <a:prstGeom prst="rect">
            <a:avLst/>
          </a:prstGeom>
          <a:solidFill>
            <a:srgbClr val="FFFFFF"/>
          </a:solidFill>
          <a:ln w="7620">
            <a:solidFill>
              <a:srgbClr val="E3E7EC"/>
            </a:solidFill>
            <a:prstDash val="solid"/>
          </a:ln>
        </p:spPr>
      </p:sp>
      <p:sp>
        <p:nvSpPr>
          <p:cNvPr id="14" name="Shape 11"/>
          <p:cNvSpPr/>
          <p:nvPr/>
        </p:nvSpPr>
        <p:spPr>
          <a:xfrm>
            <a:off x="323698" y="1115568"/>
            <a:ext cx="8397164" cy="36000"/>
          </a:xfrm>
          <a:prstGeom prst="rect">
            <a:avLst/>
          </a:prstGeom>
          <a:solidFill>
            <a:srgbClr val="0066FF"/>
          </a:solidFill>
          <a:ln w="12700">
            <a:solidFill>
              <a:srgbClr val="333333"/>
            </a:solidFill>
            <a:prstDash val="solid"/>
          </a:ln>
        </p:spPr>
      </p:sp>
      <p:sp>
        <p:nvSpPr>
          <p:cNvPr id="15" name="Text 12"/>
          <p:cNvSpPr txBox="1"/>
          <p:nvPr/>
        </p:nvSpPr>
        <p:spPr>
          <a:xfrm>
            <a:off x="438898"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NORTH STAR</a:t>
            </a:r>
            <a:endParaRPr lang="en-US" sz="680" dirty="0"/>
          </a:p>
        </p:txBody>
      </p:sp>
      <p:sp>
        <p:nvSpPr>
          <p:cNvPr id="16" name="Text 13"/>
          <p:cNvSpPr txBox="1"/>
          <p:nvPr/>
        </p:nvSpPr>
        <p:spPr>
          <a:xfrm>
            <a:off x="438898" y="1400636"/>
            <a:ext cx="8166764" cy="440944"/>
          </a:xfrm>
          <a:prstGeom prst="rect">
            <a:avLst/>
          </a:prstGeom>
          <a:noFill/>
          <a:ln/>
        </p:spPr>
        <p:txBody>
          <a:bodyPr wrap="square" lIns="0" tIns="0" rIns="0" bIns="0" rtlCol="0" anchor="t"/>
          <a:lstStyle/>
          <a:p>
            <a:pPr indent="0" marL="0">
              <a:lnSpc>
                <a:spcPts val="1736"/>
              </a:lnSpc>
              <a:buNone/>
            </a:pPr>
            <a:r>
              <a:rPr lang="en-US" sz="1400" b="1" dirty="0">
                <a:solidFill>
                  <a:srgbClr val="0E171F"/>
                </a:solidFill>
                <a:latin typeface="Poppins" pitchFamily="34" charset="0"/>
                <a:ea typeface="Poppins" pitchFamily="34" charset="-122"/>
                <a:cs typeface="Poppins" pitchFamily="34" charset="-120"/>
              </a:rPr>
              <a:t>1,000 keg systems in the market. Every decision gets tested against whether it moves that number.</a:t>
            </a:r>
            <a:endParaRPr lang="en-US" sz="1400" dirty="0"/>
          </a:p>
        </p:txBody>
      </p:sp>
      <p:sp>
        <p:nvSpPr>
          <p:cNvPr id="17" name="Text 14"/>
          <p:cNvSpPr txBox="1"/>
          <p:nvPr/>
        </p:nvSpPr>
        <p:spPr>
          <a:xfrm>
            <a:off x="438898" y="1928489"/>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shape decision underneath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refills lead, and the Tap Room stops being run as a walk-in venue. It becomes a destination that sells events, tours and functions. The two halves have been cancelling each other out, because a good refill business takes traffic out of the room.</a:t>
            </a:r>
            <a:endParaRPr lang="en-US" sz="810" dirty="0"/>
          </a:p>
        </p:txBody>
      </p:sp>
      <p:sp>
        <p:nvSpPr>
          <p:cNvPr id="18" name="Text 15"/>
          <p:cNvSpPr txBox="1"/>
          <p:nvPr/>
        </p:nvSpPr>
        <p:spPr>
          <a:xfrm>
            <a:off x="438898" y="2324008"/>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nothing is decided, the default continues.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Marketing time keeps going to the half that loses money, the best insights stay buried in a long document, and 1,000 systems stays a number on a slide.</a:t>
            </a:r>
            <a:endParaRPr lang="en-US" sz="810" dirty="0"/>
          </a:p>
        </p:txBody>
      </p:sp>
      <p:sp>
        <p:nvSpPr>
          <p:cNvPr id="19" name="Text 16"/>
          <p:cNvSpPr txBox="1"/>
          <p:nvPr/>
        </p:nvSpPr>
        <p:spPr>
          <a:xfrm>
            <a:off x="438898" y="2719527"/>
            <a:ext cx="8166764"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Why this exists.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Christy's reading of the Discovery set was that everything in it is equal, so none of it has shape: everything is important, the best insights are buried inside other insights, and nothing has been stress-tested. Clent asked for three things off the back of it, and they are the test for this page. Belief, because the work is already good. Clarity, on which few things get picked up. Momentum, because a decision made is worth more than a strategy admired.</a:t>
            </a:r>
            <a:endParaRPr lang="en-US" sz="810" dirty="0"/>
          </a:p>
        </p:txBody>
      </p:sp>
      <p:sp>
        <p:nvSpPr>
          <p:cNvPr id="20" name="Shape 17"/>
          <p:cNvSpPr/>
          <p:nvPr/>
        </p:nvSpPr>
        <p:spPr>
          <a:xfrm>
            <a:off x="438898" y="3509012"/>
            <a:ext cx="8166764" cy="0"/>
          </a:xfrm>
          <a:prstGeom prst="line">
            <a:avLst/>
          </a:prstGeom>
          <a:noFill/>
          <a:ln w="7620">
            <a:solidFill>
              <a:srgbClr val="E3E7EC"/>
            </a:solidFill>
            <a:prstDash val="solid"/>
          </a:ln>
        </p:spPr>
      </p:sp>
      <p:sp>
        <p:nvSpPr>
          <p:cNvPr id="21" name="Text 18"/>
          <p:cNvSpPr txBox="1"/>
          <p:nvPr/>
        </p:nvSpPr>
        <p:spPr>
          <a:xfrm>
            <a:off x="438898" y="3566612"/>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North star proposed by Christy in the 15 September catch-up. Numbers on this sheet come from the Discovery pack unless marked.</a:t>
            </a:r>
            <a:endParaRPr lang="en-US" sz="700" dirty="0"/>
          </a:p>
        </p:txBody>
      </p:sp>
      <p:sp>
        <p:nvSpPr>
          <p:cNvPr id="22" name="Shape 19"/>
          <p:cNvSpPr/>
          <p:nvPr/>
        </p:nvSpPr>
        <p:spPr>
          <a:xfrm>
            <a:off x="8828761" y="1115568"/>
            <a:ext cx="5967146" cy="2686259"/>
          </a:xfrm>
          <a:prstGeom prst="rect">
            <a:avLst/>
          </a:prstGeom>
          <a:solidFill>
            <a:srgbClr val="FFFFFF"/>
          </a:solidFill>
          <a:ln w="7620">
            <a:solidFill>
              <a:srgbClr val="E3E7EC"/>
            </a:solidFill>
            <a:prstDash val="solid"/>
          </a:ln>
        </p:spPr>
      </p:sp>
      <p:sp>
        <p:nvSpPr>
          <p:cNvPr id="23" name="Text 20"/>
          <p:cNvSpPr txBox="1"/>
          <p:nvPr/>
        </p:nvSpPr>
        <p:spPr>
          <a:xfrm>
            <a:off x="8943961"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WE START FROM</a:t>
            </a:r>
            <a:endParaRPr lang="en-US" sz="680" dirty="0"/>
          </a:p>
        </p:txBody>
      </p:sp>
      <p:sp>
        <p:nvSpPr>
          <p:cNvPr id="24" name="Shape 21"/>
          <p:cNvSpPr/>
          <p:nvPr/>
        </p:nvSpPr>
        <p:spPr>
          <a:xfrm>
            <a:off x="8943961" y="1400636"/>
            <a:ext cx="1864249" cy="1106996"/>
          </a:xfrm>
          <a:prstGeom prst="rect">
            <a:avLst/>
          </a:prstGeom>
          <a:solidFill>
            <a:srgbClr val="F5F7FA"/>
          </a:solidFill>
          <a:ln w="7620">
            <a:solidFill>
              <a:srgbClr val="E3E7EC"/>
            </a:solidFill>
            <a:prstDash val="solid"/>
          </a:ln>
        </p:spPr>
      </p:sp>
      <p:sp>
        <p:nvSpPr>
          <p:cNvPr id="25" name="Text 22"/>
          <p:cNvSpPr txBox="1"/>
          <p:nvPr/>
        </p:nvSpPr>
        <p:spPr>
          <a:xfrm>
            <a:off x="9051961"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96–113</a:t>
            </a:r>
            <a:endParaRPr lang="en-US" sz="1400" dirty="0"/>
          </a:p>
        </p:txBody>
      </p:sp>
      <p:sp>
        <p:nvSpPr>
          <p:cNvPr id="26" name="Text 23"/>
          <p:cNvSpPr txBox="1"/>
          <p:nvPr/>
        </p:nvSpPr>
        <p:spPr>
          <a:xfrm>
            <a:off x="9051961"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 CUSTOMERS, NO PUSH</a:t>
            </a:r>
            <a:endParaRPr lang="en-US" sz="560" dirty="0"/>
          </a:p>
        </p:txBody>
      </p:sp>
      <p:sp>
        <p:nvSpPr>
          <p:cNvPr id="27" name="Shape 24"/>
          <p:cNvSpPr/>
          <p:nvPr/>
        </p:nvSpPr>
        <p:spPr>
          <a:xfrm>
            <a:off x="10880209" y="1400636"/>
            <a:ext cx="1864249" cy="1106996"/>
          </a:xfrm>
          <a:prstGeom prst="rect">
            <a:avLst/>
          </a:prstGeom>
          <a:solidFill>
            <a:srgbClr val="F5F7FA"/>
          </a:solidFill>
          <a:ln w="7620">
            <a:solidFill>
              <a:srgbClr val="E3E7EC"/>
            </a:solidFill>
            <a:prstDash val="solid"/>
          </a:ln>
        </p:spPr>
      </p:sp>
      <p:sp>
        <p:nvSpPr>
          <p:cNvPr id="28" name="Text 25"/>
          <p:cNvSpPr txBox="1"/>
          <p:nvPr/>
        </p:nvSpPr>
        <p:spPr>
          <a:xfrm>
            <a:off x="10988209"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206</a:t>
            </a:r>
            <a:endParaRPr lang="en-US" sz="1400" dirty="0"/>
          </a:p>
        </p:txBody>
      </p:sp>
      <p:sp>
        <p:nvSpPr>
          <p:cNvPr id="29" name="Text 26"/>
          <p:cNvSpPr txBox="1"/>
          <p:nvPr/>
        </p:nvSpPr>
        <p:spPr>
          <a:xfrm>
            <a:off x="10988209"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SYSTEMS IN THE DATABASE</a:t>
            </a:r>
            <a:endParaRPr lang="en-US" sz="560" dirty="0"/>
          </a:p>
        </p:txBody>
      </p:sp>
      <p:sp>
        <p:nvSpPr>
          <p:cNvPr id="30" name="Shape 27"/>
          <p:cNvSpPr/>
          <p:nvPr/>
        </p:nvSpPr>
        <p:spPr>
          <a:xfrm>
            <a:off x="12816458" y="1400636"/>
            <a:ext cx="1864249" cy="1106996"/>
          </a:xfrm>
          <a:prstGeom prst="rect">
            <a:avLst/>
          </a:prstGeom>
          <a:solidFill>
            <a:srgbClr val="F5F7FA"/>
          </a:solidFill>
          <a:ln w="7620">
            <a:solidFill>
              <a:srgbClr val="E3E7EC"/>
            </a:solidFill>
            <a:prstDash val="solid"/>
          </a:ln>
        </p:spPr>
      </p:sp>
      <p:sp>
        <p:nvSpPr>
          <p:cNvPr id="31" name="Text 28"/>
          <p:cNvSpPr txBox="1"/>
          <p:nvPr/>
        </p:nvSpPr>
        <p:spPr>
          <a:xfrm>
            <a:off x="12924458"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56%</a:t>
            </a:r>
            <a:endParaRPr lang="en-US" sz="1400" dirty="0"/>
          </a:p>
        </p:txBody>
      </p:sp>
      <p:sp>
        <p:nvSpPr>
          <p:cNvPr id="32" name="Text 29"/>
          <p:cNvSpPr txBox="1"/>
          <p:nvPr/>
        </p:nvSpPr>
        <p:spPr>
          <a:xfrm>
            <a:off x="12924458"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BOUGHT THEIR SYSTEM ELSEWHERE</a:t>
            </a:r>
            <a:endParaRPr lang="en-US" sz="560" dirty="0"/>
          </a:p>
        </p:txBody>
      </p:sp>
      <p:sp>
        <p:nvSpPr>
          <p:cNvPr id="33" name="Shape 30"/>
          <p:cNvSpPr/>
          <p:nvPr/>
        </p:nvSpPr>
        <p:spPr>
          <a:xfrm>
            <a:off x="8943961" y="2579632"/>
            <a:ext cx="1864249" cy="1106996"/>
          </a:xfrm>
          <a:prstGeom prst="rect">
            <a:avLst/>
          </a:prstGeom>
          <a:solidFill>
            <a:srgbClr val="F5F7FA"/>
          </a:solidFill>
          <a:ln w="7620">
            <a:solidFill>
              <a:srgbClr val="E3E7EC"/>
            </a:solidFill>
            <a:prstDash val="solid"/>
          </a:ln>
        </p:spPr>
      </p:sp>
      <p:sp>
        <p:nvSpPr>
          <p:cNvPr id="34" name="Text 31"/>
          <p:cNvSpPr txBox="1"/>
          <p:nvPr/>
        </p:nvSpPr>
        <p:spPr>
          <a:xfrm>
            <a:off x="9051961"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~9×</a:t>
            </a:r>
            <a:endParaRPr lang="en-US" sz="1400" dirty="0"/>
          </a:p>
        </p:txBody>
      </p:sp>
      <p:sp>
        <p:nvSpPr>
          <p:cNvPr id="35" name="Text 32"/>
          <p:cNvSpPr txBox="1"/>
          <p:nvPr/>
        </p:nvSpPr>
        <p:spPr>
          <a:xfrm>
            <a:off x="9051961"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THE CLIMB TO 1,000 FROM HERE</a:t>
            </a:r>
            <a:endParaRPr lang="en-US" sz="560" dirty="0"/>
          </a:p>
        </p:txBody>
      </p:sp>
      <p:sp>
        <p:nvSpPr>
          <p:cNvPr id="36" name="Shape 33"/>
          <p:cNvSpPr/>
          <p:nvPr/>
        </p:nvSpPr>
        <p:spPr>
          <a:xfrm>
            <a:off x="10880209" y="2579632"/>
            <a:ext cx="1864249" cy="1106996"/>
          </a:xfrm>
          <a:prstGeom prst="rect">
            <a:avLst/>
          </a:prstGeom>
          <a:solidFill>
            <a:srgbClr val="F5F7FA"/>
          </a:solidFill>
          <a:ln w="7620">
            <a:solidFill>
              <a:srgbClr val="E3E7EC"/>
            </a:solidFill>
            <a:prstDash val="solid"/>
          </a:ln>
        </p:spPr>
      </p:sp>
      <p:sp>
        <p:nvSpPr>
          <p:cNvPr id="37" name="Text 34"/>
          <p:cNvSpPr txBox="1"/>
          <p:nvPr/>
        </p:nvSpPr>
        <p:spPr>
          <a:xfrm>
            <a:off x="10988209"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40%</a:t>
            </a:r>
            <a:endParaRPr lang="en-US" sz="1400" dirty="0"/>
          </a:p>
        </p:txBody>
      </p:sp>
      <p:sp>
        <p:nvSpPr>
          <p:cNvPr id="38" name="Text 35"/>
          <p:cNvSpPr txBox="1"/>
          <p:nvPr/>
        </p:nvSpPr>
        <p:spPr>
          <a:xfrm>
            <a:off x="10988209"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LAPSED, REASON SPLIT UNSETTLED</a:t>
            </a:r>
            <a:endParaRPr lang="en-US" sz="560" dirty="0"/>
          </a:p>
        </p:txBody>
      </p:sp>
      <p:sp>
        <p:nvSpPr>
          <p:cNvPr id="39" name="Shape 36"/>
          <p:cNvSpPr/>
          <p:nvPr/>
        </p:nvSpPr>
        <p:spPr>
          <a:xfrm>
            <a:off x="12816458" y="2579632"/>
            <a:ext cx="1864249" cy="1106996"/>
          </a:xfrm>
          <a:prstGeom prst="rect">
            <a:avLst/>
          </a:prstGeom>
          <a:solidFill>
            <a:srgbClr val="F5F7FA"/>
          </a:solidFill>
          <a:ln w="7620">
            <a:solidFill>
              <a:srgbClr val="E3E7EC"/>
            </a:solidFill>
            <a:prstDash val="solid"/>
          </a:ln>
        </p:spPr>
      </p:sp>
      <p:sp>
        <p:nvSpPr>
          <p:cNvPr id="40" name="Text 37"/>
          <p:cNvSpPr txBox="1"/>
          <p:nvPr/>
        </p:nvSpPr>
        <p:spPr>
          <a:xfrm>
            <a:off x="12924458"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1:10</a:t>
            </a:r>
            <a:endParaRPr lang="en-US" sz="1400" dirty="0"/>
          </a:p>
        </p:txBody>
      </p:sp>
      <p:sp>
        <p:nvSpPr>
          <p:cNvPr id="41" name="Text 38"/>
          <p:cNvSpPr txBox="1"/>
          <p:nvPr/>
        </p:nvSpPr>
        <p:spPr>
          <a:xfrm>
            <a:off x="12924458"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WHOLESALE ACCOUNT VS HOUSEHOLD</a:t>
            </a:r>
            <a:endParaRPr lang="en-US" sz="560" dirty="0"/>
          </a:p>
        </p:txBody>
      </p:sp>
      <p:sp>
        <p:nvSpPr>
          <p:cNvPr id="42" name="Shape 39"/>
          <p:cNvSpPr/>
          <p:nvPr/>
        </p:nvSpPr>
        <p:spPr>
          <a:xfrm>
            <a:off x="323698" y="3909727"/>
            <a:ext cx="14472209" cy="3314958"/>
          </a:xfrm>
          <a:prstGeom prst="rect">
            <a:avLst/>
          </a:prstGeom>
          <a:solidFill>
            <a:srgbClr val="FFFFFF"/>
          </a:solidFill>
          <a:ln w="7620">
            <a:solidFill>
              <a:srgbClr val="E3E7EC"/>
            </a:solidFill>
            <a:prstDash val="solid"/>
          </a:ln>
        </p:spPr>
      </p:sp>
      <p:sp>
        <p:nvSpPr>
          <p:cNvPr id="43" name="Text 40"/>
          <p:cNvSpPr txBox="1"/>
          <p:nvPr/>
        </p:nvSpPr>
        <p:spPr>
          <a:xfrm>
            <a:off x="438898" y="4024927"/>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FOUR PLANS, ONE MOVE EACH</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the rest of this pack is a page per plan</a:t>
            </a:r>
            <a:endParaRPr lang="en-US" sz="680" dirty="0"/>
          </a:p>
        </p:txBody>
      </p:sp>
      <p:sp>
        <p:nvSpPr>
          <p:cNvPr id="44" name="Shape 41"/>
          <p:cNvSpPr/>
          <p:nvPr/>
        </p:nvSpPr>
        <p:spPr>
          <a:xfrm>
            <a:off x="438898" y="4194795"/>
            <a:ext cx="3479528" cy="2914690"/>
          </a:xfrm>
          <a:prstGeom prst="rect">
            <a:avLst/>
          </a:prstGeom>
          <a:solidFill>
            <a:srgbClr val="F5F7FA"/>
          </a:solidFill>
          <a:ln w="7620">
            <a:solidFill>
              <a:srgbClr val="E3E7EC"/>
            </a:solidFill>
            <a:prstDash val="solid"/>
          </a:ln>
        </p:spPr>
      </p:sp>
      <p:sp>
        <p:nvSpPr>
          <p:cNvPr id="45" name="Shape 42"/>
          <p:cNvSpPr/>
          <p:nvPr/>
        </p:nvSpPr>
        <p:spPr>
          <a:xfrm>
            <a:off x="438898" y="4194795"/>
            <a:ext cx="3479528" cy="28800"/>
          </a:xfrm>
          <a:prstGeom prst="rect">
            <a:avLst/>
          </a:prstGeom>
          <a:solidFill>
            <a:srgbClr val="0066FF"/>
          </a:solidFill>
          <a:ln w="12700">
            <a:solidFill>
              <a:srgbClr val="333333"/>
            </a:solidFill>
            <a:prstDash val="solid"/>
          </a:ln>
        </p:spPr>
      </p:sp>
      <p:sp>
        <p:nvSpPr>
          <p:cNvPr id="46" name="Text 43"/>
          <p:cNvSpPr txBox="1"/>
          <p:nvPr/>
        </p:nvSpPr>
        <p:spPr>
          <a:xfrm>
            <a:off x="532498"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BUSINESS</a:t>
            </a:r>
            <a:endParaRPr lang="en-US" sz="680" dirty="0"/>
          </a:p>
        </p:txBody>
      </p:sp>
      <p:sp>
        <p:nvSpPr>
          <p:cNvPr id="47" name="Text 44"/>
          <p:cNvSpPr txBox="1"/>
          <p:nvPr/>
        </p:nvSpPr>
        <p:spPr>
          <a:xfrm>
            <a:off x="532498"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Stop funding the losing half.</a:t>
            </a:r>
            <a:endParaRPr lang="en-US" sz="960" dirty="0"/>
          </a:p>
        </p:txBody>
      </p:sp>
      <p:sp>
        <p:nvSpPr>
          <p:cNvPr id="48" name="Text 45"/>
          <p:cNvSpPr txBox="1"/>
          <p:nvPr/>
        </p:nvSpPr>
        <p:spPr>
          <a:xfrm>
            <a:off x="532498" y="4679120"/>
            <a:ext cx="3292328" cy="593954"/>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Pause walk-in trading and redirect that spend into refills and wholesale. Resource wholesale properly, because one account is worth about ten households and it is currently falling through the cracks.</a:t>
            </a:r>
            <a:endParaRPr lang="en-US" sz="790" dirty="0"/>
          </a:p>
        </p:txBody>
      </p:sp>
      <p:sp>
        <p:nvSpPr>
          <p:cNvPr id="49" name="Text 46"/>
          <p:cNvSpPr txBox="1"/>
          <p:nvPr/>
        </p:nvSpPr>
        <p:spPr>
          <a:xfrm>
            <a:off x="532498" y="5337874"/>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 confirms the walk-in call, and wholesale gets a person with a target.</a:t>
            </a:r>
            <a:endParaRPr lang="en-US" sz="790" dirty="0"/>
          </a:p>
        </p:txBody>
      </p:sp>
      <p:sp>
        <p:nvSpPr>
          <p:cNvPr id="50" name="Shape 47"/>
          <p:cNvSpPr/>
          <p:nvPr/>
        </p:nvSpPr>
        <p:spPr>
          <a:xfrm>
            <a:off x="4026325" y="4194795"/>
            <a:ext cx="3479528" cy="2914690"/>
          </a:xfrm>
          <a:prstGeom prst="rect">
            <a:avLst/>
          </a:prstGeom>
          <a:solidFill>
            <a:srgbClr val="F5F7FA"/>
          </a:solidFill>
          <a:ln w="7620">
            <a:solidFill>
              <a:srgbClr val="E3E7EC"/>
            </a:solidFill>
            <a:prstDash val="solid"/>
          </a:ln>
        </p:spPr>
      </p:sp>
      <p:sp>
        <p:nvSpPr>
          <p:cNvPr id="51" name="Shape 48"/>
          <p:cNvSpPr/>
          <p:nvPr/>
        </p:nvSpPr>
        <p:spPr>
          <a:xfrm>
            <a:off x="4026325" y="4194795"/>
            <a:ext cx="3479528" cy="28800"/>
          </a:xfrm>
          <a:prstGeom prst="rect">
            <a:avLst/>
          </a:prstGeom>
          <a:solidFill>
            <a:srgbClr val="0066FF"/>
          </a:solidFill>
          <a:ln w="12700">
            <a:solidFill>
              <a:srgbClr val="333333"/>
            </a:solidFill>
            <a:prstDash val="solid"/>
          </a:ln>
        </p:spPr>
      </p:sp>
      <p:sp>
        <p:nvSpPr>
          <p:cNvPr id="52" name="Text 49"/>
          <p:cNvSpPr txBox="1"/>
          <p:nvPr/>
        </p:nvSpPr>
        <p:spPr>
          <a:xfrm>
            <a:off x="4119925"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BRAND</a:t>
            </a:r>
            <a:endParaRPr lang="en-US" sz="680" dirty="0"/>
          </a:p>
        </p:txBody>
      </p:sp>
      <p:sp>
        <p:nvSpPr>
          <p:cNvPr id="53" name="Text 50"/>
          <p:cNvSpPr txBox="1"/>
          <p:nvPr/>
        </p:nvSpPr>
        <p:spPr>
          <a:xfrm>
            <a:off x="4119925"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Own the category, not the price.</a:t>
            </a:r>
            <a:endParaRPr lang="en-US" sz="960" dirty="0"/>
          </a:p>
        </p:txBody>
      </p:sp>
      <p:sp>
        <p:nvSpPr>
          <p:cNvPr id="54" name="Text 51"/>
          <p:cNvSpPr txBox="1"/>
          <p:nvPr/>
        </p:nvSpPr>
        <p:spPr>
          <a:xfrm>
            <a:off x="4119925"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The enemy is the overpriced pub, not the operator across the road. Cut the tail of about 19 brews to a set of heroes, put the Crafted award everywhere, and start designing for her.</a:t>
            </a:r>
            <a:endParaRPr lang="en-US" sz="790" dirty="0"/>
          </a:p>
        </p:txBody>
      </p:sp>
      <p:sp>
        <p:nvSpPr>
          <p:cNvPr id="55" name="Text 52"/>
          <p:cNvSpPr txBox="1"/>
          <p:nvPr/>
        </p:nvSpPr>
        <p:spPr>
          <a:xfrm>
            <a:off x="4119925"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the award goes on the site, the room and the decals this month.</a:t>
            </a:r>
            <a:endParaRPr lang="en-US" sz="790" dirty="0"/>
          </a:p>
        </p:txBody>
      </p:sp>
      <p:sp>
        <p:nvSpPr>
          <p:cNvPr id="56" name="Shape 53"/>
          <p:cNvSpPr/>
          <p:nvPr/>
        </p:nvSpPr>
        <p:spPr>
          <a:xfrm>
            <a:off x="7613752" y="4194795"/>
            <a:ext cx="3479528" cy="2914690"/>
          </a:xfrm>
          <a:prstGeom prst="rect">
            <a:avLst/>
          </a:prstGeom>
          <a:solidFill>
            <a:srgbClr val="F5F7FA"/>
          </a:solidFill>
          <a:ln w="7620">
            <a:solidFill>
              <a:srgbClr val="E3E7EC"/>
            </a:solidFill>
            <a:prstDash val="solid"/>
          </a:ln>
        </p:spPr>
      </p:sp>
      <p:sp>
        <p:nvSpPr>
          <p:cNvPr id="57" name="Shape 54"/>
          <p:cNvSpPr/>
          <p:nvPr/>
        </p:nvSpPr>
        <p:spPr>
          <a:xfrm>
            <a:off x="7613752" y="4194795"/>
            <a:ext cx="3479528" cy="28800"/>
          </a:xfrm>
          <a:prstGeom prst="rect">
            <a:avLst/>
          </a:prstGeom>
          <a:solidFill>
            <a:srgbClr val="0066FF"/>
          </a:solidFill>
          <a:ln w="12700">
            <a:solidFill>
              <a:srgbClr val="333333"/>
            </a:solidFill>
            <a:prstDash val="solid"/>
          </a:ln>
        </p:spPr>
      </p:sp>
      <p:sp>
        <p:nvSpPr>
          <p:cNvPr id="58" name="Text 55"/>
          <p:cNvSpPr txBox="1"/>
          <p:nvPr/>
        </p:nvSpPr>
        <p:spPr>
          <a:xfrm>
            <a:off x="7707352"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SALES AND MARKETING</a:t>
            </a:r>
            <a:endParaRPr lang="en-US" sz="680" dirty="0"/>
          </a:p>
        </p:txBody>
      </p:sp>
      <p:sp>
        <p:nvSpPr>
          <p:cNvPr id="59" name="Text 56"/>
          <p:cNvSpPr txBox="1"/>
          <p:nvPr/>
        </p:nvSpPr>
        <p:spPr>
          <a:xfrm>
            <a:off x="7707352"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Connect the system before spending more.</a:t>
            </a:r>
            <a:endParaRPr lang="en-US" sz="960" dirty="0"/>
          </a:p>
        </p:txBody>
      </p:sp>
      <p:sp>
        <p:nvSpPr>
          <p:cNvPr id="60" name="Text 57"/>
          <p:cNvSpPr txBox="1"/>
          <p:nvPr/>
        </p:nvSpPr>
        <p:spPr>
          <a:xfrm>
            <a:off x="7707352" y="4679120"/>
            <a:ext cx="3292328" cy="593954"/>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Website, POS and CRM do not talk to each other, so every campaign underperforms. Then convert the owners who already bought elsewhere and take the friction out of reordering.</a:t>
            </a:r>
            <a:endParaRPr lang="en-US" sz="790" dirty="0"/>
          </a:p>
        </p:txBody>
      </p:sp>
      <p:sp>
        <p:nvSpPr>
          <p:cNvPr id="61" name="Text 58"/>
          <p:cNvSpPr txBox="1"/>
          <p:nvPr/>
        </p:nvSpPr>
        <p:spPr>
          <a:xfrm>
            <a:off x="7707352" y="5337874"/>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connect the three systems, then replace the 90-day SMS.</a:t>
            </a:r>
            <a:endParaRPr lang="en-US" sz="790" dirty="0"/>
          </a:p>
        </p:txBody>
      </p:sp>
      <p:sp>
        <p:nvSpPr>
          <p:cNvPr id="62" name="Shape 59"/>
          <p:cNvSpPr/>
          <p:nvPr/>
        </p:nvSpPr>
        <p:spPr>
          <a:xfrm>
            <a:off x="11201179" y="4194795"/>
            <a:ext cx="3479528" cy="2914690"/>
          </a:xfrm>
          <a:prstGeom prst="rect">
            <a:avLst/>
          </a:prstGeom>
          <a:solidFill>
            <a:srgbClr val="F5F7FA"/>
          </a:solidFill>
          <a:ln w="7620">
            <a:solidFill>
              <a:srgbClr val="E3E7EC"/>
            </a:solidFill>
            <a:prstDash val="solid"/>
          </a:ln>
        </p:spPr>
      </p:sp>
      <p:sp>
        <p:nvSpPr>
          <p:cNvPr id="63" name="Shape 60"/>
          <p:cNvSpPr/>
          <p:nvPr/>
        </p:nvSpPr>
        <p:spPr>
          <a:xfrm>
            <a:off x="11201179" y="4194795"/>
            <a:ext cx="3479528" cy="28800"/>
          </a:xfrm>
          <a:prstGeom prst="rect">
            <a:avLst/>
          </a:prstGeom>
          <a:solidFill>
            <a:srgbClr val="0066FF"/>
          </a:solidFill>
          <a:ln w="12700">
            <a:solidFill>
              <a:srgbClr val="333333"/>
            </a:solidFill>
            <a:prstDash val="solid"/>
          </a:ln>
        </p:spPr>
      </p:sp>
      <p:sp>
        <p:nvSpPr>
          <p:cNvPr id="64" name="Text 61"/>
          <p:cNvSpPr txBox="1"/>
          <p:nvPr/>
        </p:nvSpPr>
        <p:spPr>
          <a:xfrm>
            <a:off x="11294779"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ACTIVATION</a:t>
            </a:r>
            <a:endParaRPr lang="en-US" sz="680" dirty="0"/>
          </a:p>
        </p:txBody>
      </p:sp>
      <p:sp>
        <p:nvSpPr>
          <p:cNvPr id="65" name="Text 62"/>
          <p:cNvSpPr txBox="1"/>
          <p:nvPr/>
        </p:nvSpPr>
        <p:spPr>
          <a:xfrm>
            <a:off x="11294779"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Sell the room as a destination.</a:t>
            </a:r>
            <a:endParaRPr lang="en-US" sz="960" dirty="0"/>
          </a:p>
        </p:txBody>
      </p:sp>
      <p:sp>
        <p:nvSpPr>
          <p:cNvPr id="66" name="Text 63"/>
          <p:cNvSpPr txBox="1"/>
          <p:nvPr/>
        </p:nvSpPr>
        <p:spPr>
          <a:xfrm>
            <a:off x="11294779"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Tours, weddings, functions and ticketed events, with the artwork and the booking path already built. Partnerships where the systems are already being sold.</a:t>
            </a:r>
            <a:endParaRPr lang="en-US" sz="790" dirty="0"/>
          </a:p>
        </p:txBody>
      </p:sp>
      <p:sp>
        <p:nvSpPr>
          <p:cNvPr id="67" name="Text 64"/>
          <p:cNvSpPr txBox="1"/>
          <p:nvPr/>
        </p:nvSpPr>
        <p:spPr>
          <a:xfrm>
            <a:off x="11294779"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get on the tour circuit and open the Harvey Norman conversation.</a:t>
            </a:r>
            <a:endParaRPr lang="en-US" sz="790" dirty="0"/>
          </a:p>
        </p:txBody>
      </p:sp>
      <p:sp>
        <p:nvSpPr>
          <p:cNvPr id="68" name="Shape 65"/>
          <p:cNvSpPr/>
          <p:nvPr/>
        </p:nvSpPr>
        <p:spPr>
          <a:xfrm>
            <a:off x="323698" y="7332584"/>
            <a:ext cx="4752137" cy="3143495"/>
          </a:xfrm>
          <a:prstGeom prst="rect">
            <a:avLst/>
          </a:prstGeom>
          <a:solidFill>
            <a:srgbClr val="FFFFFF"/>
          </a:solidFill>
          <a:ln w="7620">
            <a:solidFill>
              <a:srgbClr val="E3E7EC"/>
            </a:solidFill>
            <a:prstDash val="solid"/>
          </a:ln>
        </p:spPr>
      </p:sp>
      <p:sp>
        <p:nvSpPr>
          <p:cNvPr id="69" name="Text 66"/>
          <p:cNvSpPr txBox="1"/>
          <p:nvPr/>
        </p:nvSpPr>
        <p:spPr>
          <a:xfrm>
            <a:off x="438898"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SEQUENCE</a:t>
            </a:r>
            <a:endParaRPr lang="en-US" sz="680" dirty="0"/>
          </a:p>
        </p:txBody>
      </p:sp>
      <p:sp>
        <p:nvSpPr>
          <p:cNvPr id="70" name="Shape 67"/>
          <p:cNvSpPr/>
          <p:nvPr/>
        </p:nvSpPr>
        <p:spPr>
          <a:xfrm>
            <a:off x="438898" y="7617652"/>
            <a:ext cx="548640" cy="205740"/>
          </a:xfrm>
          <a:prstGeom prst="roundRect">
            <a:avLst>
              <a:gd name="adj" fmla="val 50000"/>
            </a:avLst>
          </a:prstGeom>
          <a:solidFill>
            <a:srgbClr val="0E171F"/>
          </a:solidFill>
          <a:ln w="12700">
            <a:solidFill>
              <a:srgbClr val="333333"/>
            </a:solidFill>
            <a:prstDash val="solid"/>
          </a:ln>
        </p:spPr>
      </p:sp>
      <p:sp>
        <p:nvSpPr>
          <p:cNvPr id="71" name="Text 68"/>
          <p:cNvSpPr txBox="1"/>
          <p:nvPr/>
        </p:nvSpPr>
        <p:spPr>
          <a:xfrm>
            <a:off x="438898" y="7617652"/>
            <a:ext cx="5486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NOW</a:t>
            </a:r>
            <a:endParaRPr lang="en-US" sz="640" dirty="0"/>
          </a:p>
        </p:txBody>
      </p:sp>
      <p:sp>
        <p:nvSpPr>
          <p:cNvPr id="72" name="Text 69"/>
          <p:cNvSpPr txBox="1"/>
          <p:nvPr/>
        </p:nvSpPr>
        <p:spPr>
          <a:xfrm>
            <a:off x="1170418" y="7604851"/>
            <a:ext cx="379021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 picks the moves he is committing to. Connect the data. Pause walk-in spend.</a:t>
            </a:r>
            <a:endParaRPr lang="en-US" sz="810" dirty="0"/>
          </a:p>
        </p:txBody>
      </p:sp>
      <p:sp>
        <p:nvSpPr>
          <p:cNvPr id="73" name="Shape 70"/>
          <p:cNvSpPr/>
          <p:nvPr/>
        </p:nvSpPr>
        <p:spPr>
          <a:xfrm>
            <a:off x="438898" y="8713753"/>
            <a:ext cx="548640" cy="205740"/>
          </a:xfrm>
          <a:prstGeom prst="roundRect">
            <a:avLst>
              <a:gd name="adj" fmla="val 50000"/>
            </a:avLst>
          </a:prstGeom>
          <a:solidFill>
            <a:srgbClr val="0E171F"/>
          </a:solidFill>
          <a:ln w="12700">
            <a:solidFill>
              <a:srgbClr val="333333"/>
            </a:solidFill>
            <a:prstDash val="solid"/>
          </a:ln>
        </p:spPr>
      </p:sp>
      <p:sp>
        <p:nvSpPr>
          <p:cNvPr id="74" name="Text 71"/>
          <p:cNvSpPr txBox="1"/>
          <p:nvPr/>
        </p:nvSpPr>
        <p:spPr>
          <a:xfrm>
            <a:off x="438898" y="8713753"/>
            <a:ext cx="5486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NEXT</a:t>
            </a:r>
            <a:endParaRPr lang="en-US" sz="640" dirty="0"/>
          </a:p>
        </p:txBody>
      </p:sp>
      <p:sp>
        <p:nvSpPr>
          <p:cNvPr id="75" name="Text 72"/>
          <p:cNvSpPr txBox="1"/>
          <p:nvPr/>
        </p:nvSpPr>
        <p:spPr>
          <a:xfrm>
            <a:off x="1170418" y="8700952"/>
            <a:ext cx="379021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Convert existing owners. Fix reorder friction. Stand wholesale up as a role with targets.</a:t>
            </a:r>
            <a:endParaRPr lang="en-US" sz="810" dirty="0"/>
          </a:p>
        </p:txBody>
      </p:sp>
      <p:sp>
        <p:nvSpPr>
          <p:cNvPr id="76" name="Shape 73"/>
          <p:cNvSpPr/>
          <p:nvPr/>
        </p:nvSpPr>
        <p:spPr>
          <a:xfrm>
            <a:off x="438898" y="9809854"/>
            <a:ext cx="548640" cy="205740"/>
          </a:xfrm>
          <a:prstGeom prst="roundRect">
            <a:avLst>
              <a:gd name="adj" fmla="val 50000"/>
            </a:avLst>
          </a:prstGeom>
          <a:solidFill>
            <a:srgbClr val="0E171F"/>
          </a:solidFill>
          <a:ln w="12700">
            <a:solidFill>
              <a:srgbClr val="333333"/>
            </a:solidFill>
            <a:prstDash val="solid"/>
          </a:ln>
        </p:spPr>
      </p:sp>
      <p:sp>
        <p:nvSpPr>
          <p:cNvPr id="77" name="Text 74"/>
          <p:cNvSpPr txBox="1"/>
          <p:nvPr/>
        </p:nvSpPr>
        <p:spPr>
          <a:xfrm>
            <a:off x="438898" y="9809854"/>
            <a:ext cx="5486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LATER</a:t>
            </a:r>
            <a:endParaRPr lang="en-US" sz="640" dirty="0"/>
          </a:p>
        </p:txBody>
      </p:sp>
      <p:sp>
        <p:nvSpPr>
          <p:cNvPr id="78" name="Text 75"/>
          <p:cNvSpPr txBox="1"/>
          <p:nvPr/>
        </p:nvSpPr>
        <p:spPr>
          <a:xfrm>
            <a:off x="1170418" y="9797053"/>
            <a:ext cx="379021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Range rationalisation, the wellness line, designing for her, and the duopoly workaround.</a:t>
            </a:r>
            <a:endParaRPr lang="en-US" sz="810" dirty="0"/>
          </a:p>
        </p:txBody>
      </p:sp>
      <p:sp>
        <p:nvSpPr>
          <p:cNvPr id="79" name="Shape 76"/>
          <p:cNvSpPr/>
          <p:nvPr/>
        </p:nvSpPr>
        <p:spPr>
          <a:xfrm>
            <a:off x="438898" y="10183264"/>
            <a:ext cx="4521737" cy="0"/>
          </a:xfrm>
          <a:prstGeom prst="line">
            <a:avLst/>
          </a:prstGeom>
          <a:noFill/>
          <a:ln w="7620">
            <a:solidFill>
              <a:srgbClr val="E3E7EC"/>
            </a:solidFill>
            <a:prstDash val="solid"/>
          </a:ln>
        </p:spPr>
      </p:sp>
      <p:sp>
        <p:nvSpPr>
          <p:cNvPr id="80" name="Text 77"/>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Nothing in Later starts until the Now column is done. That is the discipline the plan is buying.</a:t>
            </a:r>
            <a:endParaRPr lang="en-US" sz="700" dirty="0"/>
          </a:p>
        </p:txBody>
      </p:sp>
      <p:sp>
        <p:nvSpPr>
          <p:cNvPr id="81" name="Shape 78"/>
          <p:cNvSpPr/>
          <p:nvPr/>
        </p:nvSpPr>
        <p:spPr>
          <a:xfrm>
            <a:off x="5183734" y="7332584"/>
            <a:ext cx="4752137" cy="3143495"/>
          </a:xfrm>
          <a:prstGeom prst="rect">
            <a:avLst/>
          </a:prstGeom>
          <a:solidFill>
            <a:srgbClr val="FFFFFF"/>
          </a:solidFill>
          <a:ln w="7620">
            <a:solidFill>
              <a:srgbClr val="E3E7EC"/>
            </a:solidFill>
            <a:prstDash val="solid"/>
          </a:ln>
        </p:spPr>
      </p:sp>
      <p:sp>
        <p:nvSpPr>
          <p:cNvPr id="82" name="Text 79"/>
          <p:cNvSpPr txBox="1"/>
          <p:nvPr/>
        </p:nvSpPr>
        <p:spPr>
          <a:xfrm>
            <a:off x="5298934"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OWNS WHAT</a:t>
            </a:r>
            <a:endParaRPr lang="en-US" sz="68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298934" y="7617652"/>
          <a:ext cx="11339703" cy="914400"/>
        </p:xfrm>
        <a:graphic>
          <a:graphicData uri="http://schemas.openxmlformats.org/drawingml/2006/table">
            <a:tbl>
              <a:tblPr/>
              <a:tblGrid>
                <a:gridCol w="1966441"/>
                <a:gridCol w="1382760"/>
                <a:gridCol w="1172536"/>
              </a:tblGrid>
              <a:tr h="343913">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Owns it</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Supports</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The shape decision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 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Connected data and CRM</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Jewell Projects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Wholesale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New hire or agent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Destination programme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Jewell Projects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Partnerships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Brand and range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84" name="Shape 80"/>
          <p:cNvSpPr/>
          <p:nvPr/>
        </p:nvSpPr>
        <p:spPr>
          <a:xfrm>
            <a:off x="5298934" y="10183264"/>
            <a:ext cx="4521737" cy="0"/>
          </a:xfrm>
          <a:prstGeom prst="line">
            <a:avLst/>
          </a:prstGeom>
          <a:noFill/>
          <a:ln w="7620">
            <a:solidFill>
              <a:srgbClr val="E3E7EC"/>
            </a:solidFill>
            <a:prstDash val="solid"/>
          </a:ln>
        </p:spPr>
      </p:sp>
      <p:sp>
        <p:nvSpPr>
          <p:cNvPr id="85" name="Text 81"/>
          <p:cNvSpPr txBox="1"/>
          <p:nvPr/>
        </p:nvSpPr>
        <p:spPr>
          <a:xfrm>
            <a:off x="5298934"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 full responsibility matrix sits on the Activation sheet. This is the summary of it.</a:t>
            </a:r>
            <a:endParaRPr lang="en-US" sz="700" dirty="0"/>
          </a:p>
        </p:txBody>
      </p:sp>
      <p:sp>
        <p:nvSpPr>
          <p:cNvPr id="86" name="Shape 82"/>
          <p:cNvSpPr/>
          <p:nvPr/>
        </p:nvSpPr>
        <p:spPr>
          <a:xfrm>
            <a:off x="10043770" y="7332584"/>
            <a:ext cx="4752137" cy="3143495"/>
          </a:xfrm>
          <a:prstGeom prst="rect">
            <a:avLst/>
          </a:prstGeom>
          <a:solidFill>
            <a:srgbClr val="FFFFFF"/>
          </a:solidFill>
          <a:ln w="7620">
            <a:solidFill>
              <a:srgbClr val="E3E7EC"/>
            </a:solidFill>
            <a:prstDash val="solid"/>
          </a:ln>
        </p:spPr>
      </p:sp>
      <p:sp>
        <p:nvSpPr>
          <p:cNvPr id="87" name="Shape 83"/>
          <p:cNvSpPr/>
          <p:nvPr/>
        </p:nvSpPr>
        <p:spPr>
          <a:xfrm>
            <a:off x="10043770" y="7332584"/>
            <a:ext cx="4752137" cy="36000"/>
          </a:xfrm>
          <a:prstGeom prst="rect">
            <a:avLst/>
          </a:prstGeom>
          <a:solidFill>
            <a:srgbClr val="0066FF"/>
          </a:solidFill>
          <a:ln w="12700">
            <a:solidFill>
              <a:srgbClr val="333333"/>
            </a:solidFill>
            <a:prstDash val="solid"/>
          </a:ln>
        </p:spPr>
      </p:sp>
      <p:sp>
        <p:nvSpPr>
          <p:cNvPr id="88" name="Text 84"/>
          <p:cNvSpPr txBox="1"/>
          <p:nvPr/>
        </p:nvSpPr>
        <p:spPr>
          <a:xfrm>
            <a:off x="10158970"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JUSTIN DECIDES FIRST</a:t>
            </a:r>
            <a:endParaRPr lang="en-US" sz="680" dirty="0"/>
          </a:p>
        </p:txBody>
      </p:sp>
      <p:sp>
        <p:nvSpPr>
          <p:cNvPr id="89" name="Shape 85"/>
          <p:cNvSpPr/>
          <p:nvPr/>
        </p:nvSpPr>
        <p:spPr>
          <a:xfrm>
            <a:off x="10158970" y="7653692"/>
            <a:ext cx="50400" cy="50400"/>
          </a:xfrm>
          <a:prstGeom prst="rect">
            <a:avLst/>
          </a:prstGeom>
          <a:solidFill>
            <a:srgbClr val="0066FF"/>
          </a:solidFill>
          <a:ln w="12700">
            <a:solidFill>
              <a:srgbClr val="333333"/>
            </a:solidFill>
            <a:prstDash val="solid"/>
          </a:ln>
        </p:spPr>
      </p:sp>
      <p:sp>
        <p:nvSpPr>
          <p:cNvPr id="90" name="Text 86"/>
          <p:cNvSpPr txBox="1"/>
          <p:nvPr/>
        </p:nvSpPr>
        <p:spPr>
          <a:xfrm>
            <a:off x="10266970" y="761765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Do we pause walk-in trading?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Everything on the Business sheet follows from this one.</a:t>
            </a:r>
            <a:endParaRPr lang="en-US" sz="730" dirty="0"/>
          </a:p>
        </p:txBody>
      </p:sp>
      <p:sp>
        <p:nvSpPr>
          <p:cNvPr id="91" name="Shape 87"/>
          <p:cNvSpPr/>
          <p:nvPr/>
        </p:nvSpPr>
        <p:spPr>
          <a:xfrm>
            <a:off x="10158970" y="8183994"/>
            <a:ext cx="50400" cy="50400"/>
          </a:xfrm>
          <a:prstGeom prst="rect">
            <a:avLst/>
          </a:prstGeom>
          <a:solidFill>
            <a:srgbClr val="0066FF"/>
          </a:solidFill>
          <a:ln w="12700">
            <a:solidFill>
              <a:srgbClr val="333333"/>
            </a:solidFill>
            <a:prstDash val="solid"/>
          </a:ln>
        </p:spPr>
      </p:sp>
      <p:sp>
        <p:nvSpPr>
          <p:cNvPr id="92" name="Text 88"/>
          <p:cNvSpPr txBox="1"/>
          <p:nvPr/>
        </p:nvSpPr>
        <p:spPr>
          <a:xfrm>
            <a:off x="10266970" y="8147954"/>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Do we resource wholesale?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A person with targets, not a founder in spare hours.</a:t>
            </a:r>
            <a:endParaRPr lang="en-US" sz="730" dirty="0"/>
          </a:p>
        </p:txBody>
      </p:sp>
      <p:sp>
        <p:nvSpPr>
          <p:cNvPr id="93" name="Shape 89"/>
          <p:cNvSpPr/>
          <p:nvPr/>
        </p:nvSpPr>
        <p:spPr>
          <a:xfrm>
            <a:off x="10158970" y="8714296"/>
            <a:ext cx="50400" cy="50400"/>
          </a:xfrm>
          <a:prstGeom prst="rect">
            <a:avLst/>
          </a:prstGeom>
          <a:solidFill>
            <a:srgbClr val="0066FF"/>
          </a:solidFill>
          <a:ln w="12700">
            <a:solidFill>
              <a:srgbClr val="333333"/>
            </a:solidFill>
            <a:prstDash val="solid"/>
          </a:ln>
        </p:spPr>
      </p:sp>
      <p:sp>
        <p:nvSpPr>
          <p:cNvPr id="94" name="Text 90"/>
          <p:cNvSpPr txBox="1"/>
          <p:nvPr/>
        </p:nvSpPr>
        <p:spPr>
          <a:xfrm>
            <a:off x="10266970" y="8678257"/>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Canning: in or out?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It buys awareness and it competes with the refill model.</a:t>
            </a:r>
            <a:endParaRPr lang="en-US" sz="730" dirty="0"/>
          </a:p>
        </p:txBody>
      </p:sp>
      <p:sp>
        <p:nvSpPr>
          <p:cNvPr id="95" name="Shape 91"/>
          <p:cNvSpPr/>
          <p:nvPr/>
        </p:nvSpPr>
        <p:spPr>
          <a:xfrm>
            <a:off x="10158970" y="9244598"/>
            <a:ext cx="50400" cy="50400"/>
          </a:xfrm>
          <a:prstGeom prst="rect">
            <a:avLst/>
          </a:prstGeom>
          <a:solidFill>
            <a:srgbClr val="0066FF"/>
          </a:solidFill>
          <a:ln w="12700">
            <a:solidFill>
              <a:srgbClr val="333333"/>
            </a:solidFill>
            <a:prstDash val="solid"/>
          </a:ln>
        </p:spPr>
      </p:sp>
      <p:sp>
        <p:nvSpPr>
          <p:cNvPr id="96" name="Text 92"/>
          <p:cNvSpPr txBox="1"/>
          <p:nvPr/>
        </p:nvSpPr>
        <p:spPr>
          <a:xfrm>
            <a:off x="10266970" y="9208559"/>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Does membership attach to every system sale?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Non-members leak at 44%, members at 18%.</a:t>
            </a:r>
            <a:endParaRPr lang="en-US" sz="730" dirty="0"/>
          </a:p>
        </p:txBody>
      </p:sp>
      <p:sp>
        <p:nvSpPr>
          <p:cNvPr id="97" name="Shape 93"/>
          <p:cNvSpPr/>
          <p:nvPr/>
        </p:nvSpPr>
        <p:spPr>
          <a:xfrm>
            <a:off x="10158970" y="9904695"/>
            <a:ext cx="50400" cy="50400"/>
          </a:xfrm>
          <a:prstGeom prst="rect">
            <a:avLst/>
          </a:prstGeom>
          <a:solidFill>
            <a:srgbClr val="0066FF"/>
          </a:solidFill>
          <a:ln w="12700">
            <a:solidFill>
              <a:srgbClr val="333333"/>
            </a:solidFill>
            <a:prstDash val="solid"/>
          </a:ln>
        </p:spPr>
      </p:sp>
      <p:sp>
        <p:nvSpPr>
          <p:cNvPr id="98" name="Text 94"/>
          <p:cNvSpPr txBox="1"/>
          <p:nvPr/>
        </p:nvSpPr>
        <p:spPr>
          <a:xfrm>
            <a:off x="10266970" y="9868655"/>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How far do we cut the range?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Heroes need the marketing that the tail is absorbing.</a:t>
            </a:r>
            <a:endParaRPr lang="en-US" sz="730" dirty="0"/>
          </a:p>
        </p:txBody>
      </p:sp>
      <p:sp>
        <p:nvSpPr>
          <p:cNvPr id="99" name="Shape 95"/>
          <p:cNvSpPr/>
          <p:nvPr/>
        </p:nvSpPr>
        <p:spPr>
          <a:xfrm>
            <a:off x="10158970" y="10063249"/>
            <a:ext cx="4521737" cy="0"/>
          </a:xfrm>
          <a:prstGeom prst="line">
            <a:avLst/>
          </a:prstGeom>
          <a:noFill/>
          <a:ln w="7620">
            <a:solidFill>
              <a:srgbClr val="E3E7EC"/>
            </a:solidFill>
            <a:prstDash val="solid"/>
          </a:ln>
        </p:spPr>
      </p:sp>
      <p:sp>
        <p:nvSpPr>
          <p:cNvPr id="100" name="Text 96"/>
          <p:cNvSpPr txBox="1"/>
          <p:nvPr/>
        </p:nvSpPr>
        <p:spPr>
          <a:xfrm>
            <a:off x="10158970" y="10120849"/>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Agreed in the catch-up: the team reviews the deck and comes back with the commitments before the next conversation.</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Business plan – on a page</a:t>
            </a:r>
            <a:endParaRPr lang="en-US" sz="2100" dirty="0"/>
          </a:p>
        </p:txBody>
      </p:sp>
      <p:sp>
        <p:nvSpPr>
          <p:cNvPr id="4" name="Shape 1"/>
          <p:cNvSpPr/>
          <p:nvPr/>
        </p:nvSpPr>
        <p:spPr>
          <a:xfrm>
            <a:off x="13650938" y="365760"/>
            <a:ext cx="1144969" cy="251460"/>
          </a:xfrm>
          <a:prstGeom prst="roundRect">
            <a:avLst>
              <a:gd name="adj" fmla="val 50000"/>
            </a:avLst>
          </a:prstGeom>
          <a:solidFill>
            <a:srgbClr val="0E171F"/>
          </a:solidFill>
          <a:ln w="9525">
            <a:solidFill>
              <a:srgbClr val="0E171F"/>
            </a:solidFill>
            <a:prstDash val="solid"/>
          </a:ln>
        </p:spPr>
      </p:sp>
      <p:sp>
        <p:nvSpPr>
          <p:cNvPr id="5" name="Text 2"/>
          <p:cNvSpPr txBox="1"/>
          <p:nvPr/>
        </p:nvSpPr>
        <p:spPr>
          <a:xfrm>
            <a:off x="13650938" y="365760"/>
            <a:ext cx="1144969" cy="251460"/>
          </a:xfrm>
          <a:prstGeom prst="rect">
            <a:avLst/>
          </a:prstGeom>
          <a:noFill/>
          <a:ln/>
        </p:spPr>
        <p:txBody>
          <a:bodyPr wrap="square" lIns="0" tIns="0" rIns="0" bIns="0" rtlCol="0" anchor="ctr"/>
          <a:lstStyle/>
          <a:p>
            <a:pPr algn="ctr" indent="0" marL="0">
              <a:buNone/>
            </a:pPr>
            <a:r>
              <a:rPr lang="en-US" sz="650" b="1" spc="78" kern="0" dirty="0">
                <a:solidFill>
                  <a:srgbClr val="FFFFFF"/>
                </a:solidFill>
                <a:latin typeface="Poppins" pitchFamily="34" charset="0"/>
                <a:ea typeface="Poppins" pitchFamily="34" charset="-122"/>
                <a:cs typeface="Poppins" pitchFamily="34" charset="-120"/>
              </a:rPr>
              <a:t>JEWELL PROJECTS</a:t>
            </a:r>
            <a:endParaRPr lang="en-US" sz="650" dirty="0"/>
          </a:p>
        </p:txBody>
      </p:sp>
      <p:sp>
        <p:nvSpPr>
          <p:cNvPr id="6" name="Shape 3"/>
          <p:cNvSpPr/>
          <p:nvPr/>
        </p:nvSpPr>
        <p:spPr>
          <a:xfrm>
            <a:off x="12410462" y="365760"/>
            <a:ext cx="1150475" cy="251460"/>
          </a:xfrm>
          <a:prstGeom prst="roundRect">
            <a:avLst>
              <a:gd name="adj" fmla="val 50000"/>
            </a:avLst>
          </a:prstGeom>
          <a:solidFill>
            <a:srgbClr val="FFFFFF"/>
          </a:solidFill>
          <a:ln w="9525">
            <a:solidFill>
              <a:srgbClr val="E3E7EC"/>
            </a:solidFill>
            <a:prstDash val="solid"/>
          </a:ln>
        </p:spPr>
      </p:sp>
      <p:sp>
        <p:nvSpPr>
          <p:cNvPr id="7" name="Text 4"/>
          <p:cNvSpPr txBox="1"/>
          <p:nvPr/>
        </p:nvSpPr>
        <p:spPr>
          <a:xfrm>
            <a:off x="12410462"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8" name="Shape 5"/>
          <p:cNvSpPr/>
          <p:nvPr/>
        </p:nvSpPr>
        <p:spPr>
          <a:xfrm>
            <a:off x="11102419" y="365760"/>
            <a:ext cx="1218043" cy="251460"/>
          </a:xfrm>
          <a:prstGeom prst="roundRect">
            <a:avLst>
              <a:gd name="adj" fmla="val 50000"/>
            </a:avLst>
          </a:prstGeom>
          <a:solidFill>
            <a:srgbClr val="FFFFFF"/>
          </a:solidFill>
          <a:ln w="9525">
            <a:solidFill>
              <a:srgbClr val="E3E7EC"/>
            </a:solidFill>
            <a:prstDash val="solid"/>
          </a:ln>
        </p:spPr>
      </p:sp>
      <p:sp>
        <p:nvSpPr>
          <p:cNvPr id="9" name="Text 6"/>
          <p:cNvSpPr txBox="1"/>
          <p:nvPr/>
        </p:nvSpPr>
        <p:spPr>
          <a:xfrm>
            <a:off x="11102419"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10" name="Shape 7"/>
          <p:cNvSpPr/>
          <p:nvPr/>
        </p:nvSpPr>
        <p:spPr>
          <a:xfrm>
            <a:off x="10061373" y="365760"/>
            <a:ext cx="951046" cy="251460"/>
          </a:xfrm>
          <a:prstGeom prst="roundRect">
            <a:avLst>
              <a:gd name="adj" fmla="val 50000"/>
            </a:avLst>
          </a:prstGeom>
          <a:solidFill>
            <a:srgbClr val="FFFFFF"/>
          </a:solidFill>
          <a:ln w="9525">
            <a:solidFill>
              <a:srgbClr val="E3E7EC"/>
            </a:solidFill>
            <a:prstDash val="solid"/>
          </a:ln>
        </p:spPr>
      </p:sp>
      <p:sp>
        <p:nvSpPr>
          <p:cNvPr id="11" name="Text 8"/>
          <p:cNvSpPr txBox="1"/>
          <p:nvPr/>
        </p:nvSpPr>
        <p:spPr>
          <a:xfrm>
            <a:off x="10061373" y="365760"/>
            <a:ext cx="951046"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PLAN 01 OF 04</a:t>
            </a:r>
            <a:endParaRPr lang="en-US" sz="650" dirty="0"/>
          </a:p>
        </p:txBody>
      </p:sp>
      <p:sp>
        <p:nvSpPr>
          <p:cNvPr id="12" name="Shape 9"/>
          <p:cNvSpPr/>
          <p:nvPr/>
        </p:nvSpPr>
        <p:spPr>
          <a:xfrm>
            <a:off x="323698" y="969264"/>
            <a:ext cx="14472209" cy="0"/>
          </a:xfrm>
          <a:prstGeom prst="line">
            <a:avLst/>
          </a:prstGeom>
          <a:noFill/>
          <a:ln w="25400">
            <a:solidFill>
              <a:srgbClr val="0E171F"/>
            </a:solidFill>
            <a:prstDash val="solid"/>
          </a:ln>
        </p:spPr>
      </p:sp>
      <p:sp>
        <p:nvSpPr>
          <p:cNvPr id="13" name="Shape 10"/>
          <p:cNvSpPr/>
          <p:nvPr/>
        </p:nvSpPr>
        <p:spPr>
          <a:xfrm>
            <a:off x="323698" y="1115568"/>
            <a:ext cx="7182155" cy="3048238"/>
          </a:xfrm>
          <a:prstGeom prst="rect">
            <a:avLst/>
          </a:prstGeom>
          <a:solidFill>
            <a:srgbClr val="FFFFFF"/>
          </a:solidFill>
          <a:ln w="7620">
            <a:solidFill>
              <a:srgbClr val="E3E7EC"/>
            </a:solidFill>
            <a:prstDash val="solid"/>
          </a:ln>
        </p:spPr>
      </p:sp>
      <p:sp>
        <p:nvSpPr>
          <p:cNvPr id="14" name="Shape 11"/>
          <p:cNvSpPr/>
          <p:nvPr/>
        </p:nvSpPr>
        <p:spPr>
          <a:xfrm>
            <a:off x="323698" y="1115568"/>
            <a:ext cx="7182155" cy="36000"/>
          </a:xfrm>
          <a:prstGeom prst="rect">
            <a:avLst/>
          </a:prstGeom>
          <a:solidFill>
            <a:srgbClr val="0066FF"/>
          </a:solidFill>
          <a:ln w="12700">
            <a:solidFill>
              <a:srgbClr val="333333"/>
            </a:solidFill>
            <a:prstDash val="solid"/>
          </a:ln>
        </p:spPr>
      </p:sp>
      <p:sp>
        <p:nvSpPr>
          <p:cNvPr id="15" name="Text 12"/>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THE MONEY ACTUALLY IS</a:t>
            </a:r>
            <a:endParaRPr lang="en-US" sz="680" dirty="0"/>
          </a:p>
        </p:txBody>
      </p:sp>
      <p:sp>
        <p:nvSpPr>
          <p:cNvPr id="16" name="Text 13"/>
          <p:cNvSpPr txBox="1"/>
          <p:nvPr/>
        </p:nvSpPr>
        <p:spPr>
          <a:xfrm>
            <a:off x="438898" y="1400636"/>
            <a:ext cx="6951755" cy="409448"/>
          </a:xfrm>
          <a:prstGeom prst="rect">
            <a:avLst/>
          </a:prstGeom>
          <a:noFill/>
          <a:ln/>
        </p:spPr>
        <p:txBody>
          <a:bodyPr wrap="square" lIns="0" tIns="0" rIns="0" bIns="0" rtlCol="0" anchor="t"/>
          <a:lstStyle/>
          <a:p>
            <a:pPr indent="0" marL="0">
              <a:lnSpc>
                <a:spcPts val="1612"/>
              </a:lnSpc>
              <a:buNone/>
            </a:pPr>
            <a:r>
              <a:rPr lang="en-US" sz="1300" b="1" dirty="0">
                <a:solidFill>
                  <a:srgbClr val="0E171F"/>
                </a:solidFill>
                <a:latin typeface="Poppins" pitchFamily="34" charset="0"/>
                <a:ea typeface="Poppins" pitchFamily="34" charset="-122"/>
                <a:cs typeface="Poppins" pitchFamily="34" charset="-120"/>
              </a:rPr>
              <a:t>The system is the barrier. The refill is the business. Attention has been going to neither.</a:t>
            </a:r>
            <a:endParaRPr lang="en-US" sz="1300" dirty="0"/>
          </a:p>
        </p:txBody>
      </p:sp>
      <p:sp>
        <p:nvSpPr>
          <p:cNvPr id="17" name="Text 14"/>
          <p:cNvSpPr txBox="1"/>
          <p:nvPr/>
        </p:nvSpPr>
        <p:spPr>
          <a:xfrm>
            <a:off x="438898" y="1975684"/>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Systems go out close to cost, and the margin arrives later at roughly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$70 gross a keg</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That makes this a subscription business wearing a brewery's clothes. A subscription business needs people to stay home and reorder. The Tap Room needs them to come in. Eighteen months of attention went to the half that loses money.</a:t>
            </a:r>
            <a:endParaRPr lang="en-US" sz="810" dirty="0"/>
          </a:p>
        </p:txBody>
      </p:sp>
      <p:sp>
        <p:nvSpPr>
          <p:cNvPr id="18" name="Text 15"/>
          <p:cNvSpPr txBox="1"/>
          <p:nvPr/>
        </p:nvSpPr>
        <p:spPr>
          <a:xfrm>
            <a:off x="438898" y="260419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fix is not optimisation, it is reshaping.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Running a brewery and a hospitality venue on a skeleton staff is not a resourcing problem to be solved with more hours.</a:t>
            </a:r>
            <a:endParaRPr lang="en-US" sz="810" dirty="0"/>
          </a:p>
        </p:txBody>
      </p:sp>
      <p:sp>
        <p:nvSpPr>
          <p:cNvPr id="19" name="Text 16"/>
          <p:cNvSpPr txBox="1"/>
          <p:nvPr/>
        </p:nvSpPr>
        <p:spPr>
          <a:xfrm>
            <a:off x="438898" y="307840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Reshaping means three concrete things: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room stops being staffed for walk-in trade it does not get, the spend that was chasing footfall moves to refills and wholesale, and somebody owns wholesale as a job rather than as an evening.</a:t>
            </a:r>
            <a:endParaRPr lang="en-US" sz="810" dirty="0"/>
          </a:p>
        </p:txBody>
      </p:sp>
      <p:sp>
        <p:nvSpPr>
          <p:cNvPr id="20" name="Shape 17"/>
          <p:cNvSpPr/>
          <p:nvPr/>
        </p:nvSpPr>
        <p:spPr>
          <a:xfrm>
            <a:off x="438898" y="3870991"/>
            <a:ext cx="6951755" cy="0"/>
          </a:xfrm>
          <a:prstGeom prst="line">
            <a:avLst/>
          </a:prstGeom>
          <a:noFill/>
          <a:ln w="7620">
            <a:solidFill>
              <a:srgbClr val="E3E7EC"/>
            </a:solidFill>
            <a:prstDash val="solid"/>
          </a:ln>
        </p:spPr>
      </p:sp>
      <p:sp>
        <p:nvSpPr>
          <p:cNvPr id="21" name="Text 18"/>
          <p:cNvSpPr txBox="1"/>
          <p:nvPr/>
        </p:nvSpPr>
        <p:spPr>
          <a:xfrm>
            <a:off x="438898"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Per-keg margin and system economics from the Discovery pack. Test them against the current P&amp;L before the plan is signed.</a:t>
            </a:r>
            <a:endParaRPr lang="en-US" sz="700" dirty="0"/>
          </a:p>
        </p:txBody>
      </p:sp>
      <p:sp>
        <p:nvSpPr>
          <p:cNvPr id="22" name="Shape 19"/>
          <p:cNvSpPr/>
          <p:nvPr/>
        </p:nvSpPr>
        <p:spPr>
          <a:xfrm>
            <a:off x="7613752" y="1115568"/>
            <a:ext cx="7182155" cy="3048238"/>
          </a:xfrm>
          <a:prstGeom prst="rect">
            <a:avLst/>
          </a:prstGeom>
          <a:solidFill>
            <a:srgbClr val="FFFFFF"/>
          </a:solidFill>
          <a:ln w="7620">
            <a:solidFill>
              <a:srgbClr val="E3E7EC"/>
            </a:solidFill>
            <a:prstDash val="solid"/>
          </a:ln>
        </p:spPr>
      </p:sp>
      <p:sp>
        <p:nvSpPr>
          <p:cNvPr id="23" name="Text 20"/>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FOUR UNITS, AND THE CALL ON EACH</a:t>
            </a:r>
            <a:endParaRPr lang="en-US" sz="6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28952" y="1400636"/>
          <a:ext cx="11339703" cy="914400"/>
        </p:xfrm>
        <a:graphic>
          <a:graphicData uri="http://schemas.openxmlformats.org/drawingml/2006/table">
            <a:tbl>
              <a:tblPr/>
              <a:tblGrid>
                <a:gridCol w="986122"/>
                <a:gridCol w="3587739"/>
                <a:gridCol w="2377893"/>
              </a:tblGrid>
              <a:tr h="464509">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Unit</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Today</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call</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Refills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96–113 active, at MVP, reached with no push</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Scale.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This is the business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Tap Room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Walk-in trade does not cover it. Events already do</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Pivot.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Destination, not walk-in</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Wholesale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Approaches come in, nothing converts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Resource.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A role with targets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Canning</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Not started. Opens bottle shops and bars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Decide.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See the box below</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25" name="Shape 21"/>
          <p:cNvSpPr/>
          <p:nvPr/>
        </p:nvSpPr>
        <p:spPr>
          <a:xfrm>
            <a:off x="7728952" y="3870991"/>
            <a:ext cx="6951755" cy="0"/>
          </a:xfrm>
          <a:prstGeom prst="line">
            <a:avLst/>
          </a:prstGeom>
          <a:noFill/>
          <a:ln w="7620">
            <a:solidFill>
              <a:srgbClr val="E3E7EC"/>
            </a:solidFill>
            <a:prstDash val="solid"/>
          </a:ln>
        </p:spPr>
      </p:sp>
      <p:sp>
        <p:nvSpPr>
          <p:cNvPr id="26" name="Text 22"/>
          <p:cNvSpPr txBox="1"/>
          <p:nvPr/>
        </p:nvSpPr>
        <p:spPr>
          <a:xfrm>
            <a:off x="7728952"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Tap Room is not being closed. It is being asked to earn its keep a different way.</a:t>
            </a:r>
            <a:endParaRPr lang="en-US" sz="700" dirty="0"/>
          </a:p>
        </p:txBody>
      </p:sp>
      <p:sp>
        <p:nvSpPr>
          <p:cNvPr id="27" name="Shape 23"/>
          <p:cNvSpPr/>
          <p:nvPr/>
        </p:nvSpPr>
        <p:spPr>
          <a:xfrm>
            <a:off x="323698" y="4271705"/>
            <a:ext cx="4752137" cy="3106858"/>
          </a:xfrm>
          <a:prstGeom prst="rect">
            <a:avLst/>
          </a:prstGeom>
          <a:solidFill>
            <a:srgbClr val="FFFFFF"/>
          </a:solidFill>
          <a:ln w="7620">
            <a:solidFill>
              <a:srgbClr val="E3E7EC"/>
            </a:solidFill>
            <a:prstDash val="solid"/>
          </a:ln>
        </p:spPr>
      </p:sp>
      <p:sp>
        <p:nvSpPr>
          <p:cNvPr id="28" name="Text 24"/>
          <p:cNvSpPr txBox="1"/>
          <p:nvPr/>
        </p:nvSpPr>
        <p:spPr>
          <a:xfrm>
            <a:off x="438898"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CLIMB TO 1,000</a:t>
            </a:r>
            <a:endParaRPr lang="en-US" sz="680" dirty="0"/>
          </a:p>
        </p:txBody>
      </p:sp>
      <p:sp>
        <p:nvSpPr>
          <p:cNvPr id="29" name="Shape 25"/>
          <p:cNvSpPr/>
          <p:nvPr/>
        </p:nvSpPr>
        <p:spPr>
          <a:xfrm>
            <a:off x="438898" y="4556773"/>
            <a:ext cx="1459246" cy="571522"/>
          </a:xfrm>
          <a:prstGeom prst="rect">
            <a:avLst/>
          </a:prstGeom>
          <a:solidFill>
            <a:srgbClr val="F5F7FA"/>
          </a:solidFill>
          <a:ln w="7620">
            <a:solidFill>
              <a:srgbClr val="E3E7EC"/>
            </a:solidFill>
            <a:prstDash val="solid"/>
          </a:ln>
        </p:spPr>
      </p:sp>
      <p:sp>
        <p:nvSpPr>
          <p:cNvPr id="30" name="Text 26"/>
          <p:cNvSpPr txBox="1"/>
          <p:nvPr/>
        </p:nvSpPr>
        <p:spPr>
          <a:xfrm>
            <a:off x="546898"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206</a:t>
            </a:r>
            <a:endParaRPr lang="en-US" sz="1300" dirty="0"/>
          </a:p>
        </p:txBody>
      </p:sp>
      <p:sp>
        <p:nvSpPr>
          <p:cNvPr id="31" name="Text 27"/>
          <p:cNvSpPr txBox="1"/>
          <p:nvPr/>
        </p:nvSpPr>
        <p:spPr>
          <a:xfrm>
            <a:off x="546898"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SYSTEMS IN THE DATABASE NOW</a:t>
            </a:r>
            <a:endParaRPr lang="en-US" sz="550" dirty="0"/>
          </a:p>
        </p:txBody>
      </p:sp>
      <p:sp>
        <p:nvSpPr>
          <p:cNvPr id="32" name="Shape 28"/>
          <p:cNvSpPr/>
          <p:nvPr/>
        </p:nvSpPr>
        <p:spPr>
          <a:xfrm>
            <a:off x="1970143" y="4556773"/>
            <a:ext cx="1459246" cy="571522"/>
          </a:xfrm>
          <a:prstGeom prst="rect">
            <a:avLst/>
          </a:prstGeom>
          <a:solidFill>
            <a:srgbClr val="F5F7FA"/>
          </a:solidFill>
          <a:ln w="7620">
            <a:solidFill>
              <a:srgbClr val="E3E7EC"/>
            </a:solidFill>
            <a:prstDash val="solid"/>
          </a:ln>
        </p:spPr>
      </p:sp>
      <p:sp>
        <p:nvSpPr>
          <p:cNvPr id="33" name="Text 29"/>
          <p:cNvSpPr txBox="1"/>
          <p:nvPr/>
        </p:nvSpPr>
        <p:spPr>
          <a:xfrm>
            <a:off x="2078143"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~9×</a:t>
            </a:r>
            <a:endParaRPr lang="en-US" sz="1300" dirty="0"/>
          </a:p>
        </p:txBody>
      </p:sp>
      <p:sp>
        <p:nvSpPr>
          <p:cNvPr id="34" name="Text 30"/>
          <p:cNvSpPr txBox="1"/>
          <p:nvPr/>
        </p:nvSpPr>
        <p:spPr>
          <a:xfrm>
            <a:off x="2078143"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MULTIPLE NEEDED TO HIT 1,000</a:t>
            </a:r>
            <a:endParaRPr lang="en-US" sz="550" dirty="0"/>
          </a:p>
        </p:txBody>
      </p:sp>
      <p:sp>
        <p:nvSpPr>
          <p:cNvPr id="35" name="Shape 31"/>
          <p:cNvSpPr/>
          <p:nvPr/>
        </p:nvSpPr>
        <p:spPr>
          <a:xfrm>
            <a:off x="3501389" y="4556773"/>
            <a:ext cx="1459246" cy="571522"/>
          </a:xfrm>
          <a:prstGeom prst="rect">
            <a:avLst/>
          </a:prstGeom>
          <a:solidFill>
            <a:srgbClr val="F5F7FA"/>
          </a:solidFill>
          <a:ln w="7620">
            <a:solidFill>
              <a:srgbClr val="E3E7EC"/>
            </a:solidFill>
            <a:prstDash val="solid"/>
          </a:ln>
        </p:spPr>
      </p:sp>
      <p:sp>
        <p:nvSpPr>
          <p:cNvPr id="36" name="Text 32"/>
          <p:cNvSpPr txBox="1"/>
          <p:nvPr/>
        </p:nvSpPr>
        <p:spPr>
          <a:xfrm>
            <a:off x="3609389"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116</a:t>
            </a:r>
            <a:endParaRPr lang="en-US" sz="1300" dirty="0"/>
          </a:p>
        </p:txBody>
      </p:sp>
      <p:sp>
        <p:nvSpPr>
          <p:cNvPr id="37" name="Text 33"/>
          <p:cNvSpPr txBox="1"/>
          <p:nvPr/>
        </p:nvSpPr>
        <p:spPr>
          <a:xfrm>
            <a:off x="3609389"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OWNERS WHO BOUGHT ELSEWHERE</a:t>
            </a:r>
            <a:endParaRPr lang="en-US" sz="550" dirty="0"/>
          </a:p>
        </p:txBody>
      </p:sp>
      <p:sp>
        <p:nvSpPr>
          <p:cNvPr id="38" name="Text 34"/>
          <p:cNvSpPr txBox="1"/>
          <p:nvPr/>
        </p:nvSpPr>
        <p:spPr>
          <a:xfrm>
            <a:off x="438898" y="5293895"/>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cheapest growth is the 116 who already own a system and already refill here. Their objections are overcome. Nobody has to be sold on the idea of beer at home.</a:t>
            </a:r>
            <a:endParaRPr lang="en-US" sz="810" dirty="0"/>
          </a:p>
        </p:txBody>
      </p:sp>
      <p:sp>
        <p:nvSpPr>
          <p:cNvPr id="39" name="Text 35"/>
          <p:cNvSpPr txBox="1"/>
          <p:nvPr/>
        </p:nvSpPr>
        <p:spPr>
          <a:xfrm>
            <a:off x="438898" y="5768105"/>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Partners move this number, campaigns do not.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Harvey Norman, Kegland and Benchy each put Tap That in front of people who have already bought the hardware.</a:t>
            </a:r>
            <a:endParaRPr lang="en-US" sz="810" dirty="0"/>
          </a:p>
        </p:txBody>
      </p:sp>
      <p:sp>
        <p:nvSpPr>
          <p:cNvPr id="40" name="Shape 36"/>
          <p:cNvSpPr/>
          <p:nvPr/>
        </p:nvSpPr>
        <p:spPr>
          <a:xfrm>
            <a:off x="438898" y="7085747"/>
            <a:ext cx="4521737" cy="0"/>
          </a:xfrm>
          <a:prstGeom prst="line">
            <a:avLst/>
          </a:prstGeom>
          <a:noFill/>
          <a:ln w="7620">
            <a:solidFill>
              <a:srgbClr val="E3E7EC"/>
            </a:solidFill>
            <a:prstDash val="solid"/>
          </a:ln>
        </p:spPr>
      </p:sp>
      <p:sp>
        <p:nvSpPr>
          <p:cNvPr id="41" name="Text 37"/>
          <p:cNvSpPr txBox="1"/>
          <p:nvPr/>
        </p:nvSpPr>
        <p:spPr>
          <a:xfrm>
            <a:off x="438898"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 nine-times climb is not a marketing target, it is a distribution target. It needs partners, not posts.</a:t>
            </a:r>
            <a:endParaRPr lang="en-US" sz="700" dirty="0"/>
          </a:p>
        </p:txBody>
      </p:sp>
      <p:sp>
        <p:nvSpPr>
          <p:cNvPr id="42" name="Shape 38"/>
          <p:cNvSpPr/>
          <p:nvPr/>
        </p:nvSpPr>
        <p:spPr>
          <a:xfrm>
            <a:off x="5183734" y="4271705"/>
            <a:ext cx="4752137" cy="3106858"/>
          </a:xfrm>
          <a:prstGeom prst="rect">
            <a:avLst/>
          </a:prstGeom>
          <a:solidFill>
            <a:srgbClr val="FFFFFF"/>
          </a:solidFill>
          <a:ln w="7620">
            <a:solidFill>
              <a:srgbClr val="E3E7EC"/>
            </a:solidFill>
            <a:prstDash val="solid"/>
          </a:ln>
        </p:spPr>
      </p:sp>
      <p:sp>
        <p:nvSpPr>
          <p:cNvPr id="43" name="Text 39"/>
          <p:cNvSpPr txBox="1"/>
          <p:nvPr/>
        </p:nvSpPr>
        <p:spPr>
          <a:xfrm>
            <a:off x="5298934"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UNIT ECONOMICS, AND THE ARGUMENT</a:t>
            </a:r>
            <a:endParaRPr lang="en-US" sz="680" dirty="0"/>
          </a:p>
        </p:txBody>
      </p:sp>
      <p:sp>
        <p:nvSpPr>
          <p:cNvPr id="44" name="Text 40"/>
          <p:cNvSpPr txBox="1"/>
          <p:nvPr/>
        </p:nvSpPr>
        <p:spPr>
          <a:xfrm>
            <a:off x="5298934" y="455677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wholesale account is worth about ten households.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ratio is the whole case for resourcing wholesale ahead of another consumer campaign.</a:t>
            </a:r>
            <a:endParaRPr lang="en-US" sz="810" dirty="0"/>
          </a:p>
        </p:txBody>
      </p:sp>
      <p:sp>
        <p:nvSpPr>
          <p:cNvPr id="45" name="Text 41"/>
          <p:cNvSpPr txBox="1"/>
          <p:nvPr/>
        </p:nvSpPr>
        <p:spPr>
          <a:xfrm>
            <a:off x="5298934" y="496982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Members leak at 18%, non-members at 44%.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Attaching membership to a system sale is the single highest-return retention move available.</a:t>
            </a:r>
            <a:endParaRPr lang="en-US" sz="810" dirty="0"/>
          </a:p>
        </p:txBody>
      </p:sp>
      <p:sp>
        <p:nvSpPr>
          <p:cNvPr id="46" name="Text 42"/>
          <p:cNvSpPr txBox="1"/>
          <p:nvPr/>
        </p:nvSpPr>
        <p:spPr>
          <a:xfrm>
            <a:off x="5298934" y="5382884"/>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story is cost per schooner at home against a pub schooner at $12 to $18.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Not sticker price on a keg.</a:t>
            </a:r>
            <a:endParaRPr lang="en-US" sz="810" dirty="0"/>
          </a:p>
        </p:txBody>
      </p:sp>
      <p:sp>
        <p:nvSpPr>
          <p:cNvPr id="47" name="Text 43"/>
          <p:cNvSpPr txBox="1"/>
          <p:nvPr/>
        </p:nvSpPr>
        <p:spPr>
          <a:xfrm>
            <a:off x="5298934" y="579593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63% of customers said they would host a demo at their own place.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is a distribution channel sitting unused, and it costs nothing but coordination.</a:t>
            </a:r>
            <a:endParaRPr lang="en-US" sz="810" dirty="0"/>
          </a:p>
        </p:txBody>
      </p:sp>
      <p:sp>
        <p:nvSpPr>
          <p:cNvPr id="48" name="Text 44"/>
          <p:cNvSpPr txBox="1"/>
          <p:nvPr/>
        </p:nvSpPr>
        <p:spPr>
          <a:xfrm>
            <a:off x="5298934" y="6208995"/>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membership programmes are running against one business.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If the room becomes a destination and refills lead, one of them is paying for a shape the business no longer has. Redesign both around the refill, or drop one.</a:t>
            </a:r>
            <a:endParaRPr lang="en-US" sz="810" dirty="0"/>
          </a:p>
        </p:txBody>
      </p:sp>
      <p:sp>
        <p:nvSpPr>
          <p:cNvPr id="49" name="Shape 45"/>
          <p:cNvSpPr/>
          <p:nvPr/>
        </p:nvSpPr>
        <p:spPr>
          <a:xfrm>
            <a:off x="5298934" y="6965732"/>
            <a:ext cx="4521737" cy="0"/>
          </a:xfrm>
          <a:prstGeom prst="line">
            <a:avLst/>
          </a:prstGeom>
          <a:noFill/>
          <a:ln w="7620">
            <a:solidFill>
              <a:srgbClr val="E3E7EC"/>
            </a:solidFill>
            <a:prstDash val="solid"/>
          </a:ln>
        </p:spPr>
      </p:sp>
      <p:sp>
        <p:nvSpPr>
          <p:cNvPr id="50" name="Text 46"/>
          <p:cNvSpPr txBox="1"/>
          <p:nvPr/>
        </p:nvSpPr>
        <p:spPr>
          <a:xfrm>
            <a:off x="5298934" y="7023332"/>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at-home per-schooner figure is not settled. Three different sets of maths are in circulation and one is on a live ad. Settle it before it goes in any collateral.</a:t>
            </a:r>
            <a:endParaRPr lang="en-US" sz="700" dirty="0"/>
          </a:p>
        </p:txBody>
      </p:sp>
      <p:sp>
        <p:nvSpPr>
          <p:cNvPr id="51" name="Shape 47"/>
          <p:cNvSpPr/>
          <p:nvPr/>
        </p:nvSpPr>
        <p:spPr>
          <a:xfrm>
            <a:off x="10043770" y="4271705"/>
            <a:ext cx="4752137" cy="3106858"/>
          </a:xfrm>
          <a:prstGeom prst="rect">
            <a:avLst/>
          </a:prstGeom>
          <a:solidFill>
            <a:srgbClr val="FFFFFF"/>
          </a:solidFill>
          <a:ln w="7620">
            <a:solidFill>
              <a:srgbClr val="E3E7EC"/>
            </a:solidFill>
            <a:prstDash val="solid"/>
          </a:ln>
        </p:spPr>
      </p:sp>
      <p:sp>
        <p:nvSpPr>
          <p:cNvPr id="52" name="Text 48"/>
          <p:cNvSpPr txBox="1"/>
          <p:nvPr/>
        </p:nvSpPr>
        <p:spPr>
          <a:xfrm>
            <a:off x="10158970"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CANNING QUESTION</a:t>
            </a:r>
            <a:endParaRPr lang="en-US" sz="680" dirty="0"/>
          </a:p>
        </p:txBody>
      </p:sp>
      <p:sp>
        <p:nvSpPr>
          <p:cNvPr id="53" name="Text 49"/>
          <p:cNvSpPr txBox="1"/>
          <p:nvPr/>
        </p:nvSpPr>
        <p:spPr>
          <a:xfrm>
            <a:off x="10158970" y="455677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Christy raised it. Tap That pushed back. No decision was taken.</a:t>
            </a:r>
            <a:endParaRPr lang="en-US" sz="920" dirty="0"/>
          </a:p>
        </p:txBody>
      </p:sp>
      <p:sp>
        <p:nvSpPr>
          <p:cNvPr id="54" name="Text 50"/>
          <p:cNvSpPr txBox="1"/>
          <p:nvPr/>
        </p:nvSpPr>
        <p:spPr>
          <a:xfrm>
            <a:off x="10158970" y="4883612"/>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For: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bottle shop is where people who drink beer find out the brand exists at all, which no amount of keg marketing reaches. It also opens bars and restaurants that will not give up a tap, and shipping cans goes further than shipping kegs.</a:t>
            </a:r>
            <a:endParaRPr lang="en-US" sz="810" dirty="0"/>
          </a:p>
        </p:txBody>
      </p:sp>
      <p:sp>
        <p:nvSpPr>
          <p:cNvPr id="55" name="Text 51"/>
          <p:cNvSpPr txBox="1"/>
          <p:nvPr/>
        </p:nvSpPr>
        <p:spPr>
          <a:xfrm>
            <a:off x="10158970" y="5512127"/>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Against: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low margin, high effort, and it competes directly with the refill model this plan is built on. Tap That has already priced a small line at eight cans a minute and parked it, on the grounds that it adds a thing to a business that is not yet nailing the things it has.</a:t>
            </a:r>
            <a:endParaRPr lang="en-US" sz="810" dirty="0"/>
          </a:p>
        </p:txBody>
      </p:sp>
      <p:sp>
        <p:nvSpPr>
          <p:cNvPr id="56" name="Text 52"/>
          <p:cNvSpPr txBox="1"/>
          <p:nvPr/>
        </p:nvSpPr>
        <p:spPr>
          <a:xfrm>
            <a:off x="10158970" y="6294947"/>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would settle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costed run through the cannery contact next door, priced against Earth Brew at about $36 a four-pack. Premium small batch, not a price fight.</a:t>
            </a:r>
            <a:endParaRPr lang="en-US" sz="810" dirty="0"/>
          </a:p>
        </p:txBody>
      </p:sp>
      <p:sp>
        <p:nvSpPr>
          <p:cNvPr id="57" name="Shape 53"/>
          <p:cNvSpPr/>
          <p:nvPr/>
        </p:nvSpPr>
        <p:spPr>
          <a:xfrm>
            <a:off x="10158970" y="7085747"/>
            <a:ext cx="4521737" cy="0"/>
          </a:xfrm>
          <a:prstGeom prst="line">
            <a:avLst/>
          </a:prstGeom>
          <a:noFill/>
          <a:ln w="7620">
            <a:solidFill>
              <a:srgbClr val="E3E7EC"/>
            </a:solidFill>
            <a:prstDash val="solid"/>
          </a:ln>
        </p:spPr>
      </p:sp>
      <p:sp>
        <p:nvSpPr>
          <p:cNvPr id="58" name="Text 54"/>
          <p:cNvSpPr txBox="1"/>
          <p:nvPr/>
        </p:nvSpPr>
        <p:spPr>
          <a:xfrm>
            <a:off x="10158970"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Worth revisiting if walk-in trade is wound back and a new awareness channel is needed.</a:t>
            </a:r>
            <a:endParaRPr lang="en-US" sz="700" dirty="0"/>
          </a:p>
        </p:txBody>
      </p:sp>
      <p:sp>
        <p:nvSpPr>
          <p:cNvPr id="59" name="Shape 55"/>
          <p:cNvSpPr/>
          <p:nvPr/>
        </p:nvSpPr>
        <p:spPr>
          <a:xfrm>
            <a:off x="323698" y="7486462"/>
            <a:ext cx="7182155" cy="2989618"/>
          </a:xfrm>
          <a:prstGeom prst="rect">
            <a:avLst/>
          </a:prstGeom>
          <a:solidFill>
            <a:srgbClr val="FFFFFF"/>
          </a:solidFill>
          <a:ln w="7620">
            <a:solidFill>
              <a:srgbClr val="E3E7EC"/>
            </a:solidFill>
            <a:prstDash val="solid"/>
          </a:ln>
        </p:spPr>
      </p:sp>
      <p:sp>
        <p:nvSpPr>
          <p:cNvPr id="60" name="Text 56"/>
          <p:cNvSpPr txBox="1"/>
          <p:nvPr/>
        </p:nvSpPr>
        <p:spPr>
          <a:xfrm>
            <a:off x="438898"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DECISIONS REQUIRED</a:t>
            </a:r>
            <a:endParaRPr lang="en-US" sz="680" dirty="0"/>
          </a:p>
        </p:txBody>
      </p:sp>
      <p:sp>
        <p:nvSpPr>
          <p:cNvPr id="61" name="Shape 57"/>
          <p:cNvSpPr/>
          <p:nvPr/>
        </p:nvSpPr>
        <p:spPr>
          <a:xfrm>
            <a:off x="438898" y="7816840"/>
            <a:ext cx="50400" cy="50400"/>
          </a:xfrm>
          <a:prstGeom prst="rect">
            <a:avLst/>
          </a:prstGeom>
          <a:solidFill>
            <a:srgbClr val="0066FF"/>
          </a:solidFill>
          <a:ln w="12700">
            <a:solidFill>
              <a:srgbClr val="333333"/>
            </a:solidFill>
            <a:prstDash val="solid"/>
          </a:ln>
        </p:spPr>
      </p:sp>
      <p:sp>
        <p:nvSpPr>
          <p:cNvPr id="62" name="Text 58"/>
          <p:cNvSpPr txBox="1"/>
          <p:nvPr/>
        </p:nvSpPr>
        <p:spPr>
          <a:xfrm>
            <a:off x="546898"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Pause walk-in trading?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Owner: Justin. The rest of the plan assumes yes.</a:t>
            </a:r>
            <a:endParaRPr lang="en-US" sz="800" dirty="0"/>
          </a:p>
        </p:txBody>
      </p:sp>
      <p:sp>
        <p:nvSpPr>
          <p:cNvPr id="63" name="Shape 59"/>
          <p:cNvSpPr/>
          <p:nvPr/>
        </p:nvSpPr>
        <p:spPr>
          <a:xfrm>
            <a:off x="438898" y="8427093"/>
            <a:ext cx="50400" cy="50400"/>
          </a:xfrm>
          <a:prstGeom prst="rect">
            <a:avLst/>
          </a:prstGeom>
          <a:solidFill>
            <a:srgbClr val="0066FF"/>
          </a:solidFill>
          <a:ln w="12700">
            <a:solidFill>
              <a:srgbClr val="333333"/>
            </a:solidFill>
            <a:prstDash val="solid"/>
          </a:ln>
        </p:spPr>
      </p:sp>
      <p:sp>
        <p:nvSpPr>
          <p:cNvPr id="64" name="Text 60"/>
          <p:cNvSpPr txBox="1"/>
          <p:nvPr/>
        </p:nvSpPr>
        <p:spPr>
          <a:xfrm>
            <a:off x="546898" y="838178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Fund a wholesale role?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Full-timer or commissioned agent, with KPIs either way.</a:t>
            </a:r>
            <a:endParaRPr lang="en-US" sz="800" dirty="0"/>
          </a:p>
        </p:txBody>
      </p:sp>
      <p:sp>
        <p:nvSpPr>
          <p:cNvPr id="65" name="Shape 61"/>
          <p:cNvSpPr/>
          <p:nvPr/>
        </p:nvSpPr>
        <p:spPr>
          <a:xfrm>
            <a:off x="438898" y="9037347"/>
            <a:ext cx="50400" cy="50400"/>
          </a:xfrm>
          <a:prstGeom prst="rect">
            <a:avLst/>
          </a:prstGeom>
          <a:solidFill>
            <a:srgbClr val="0066FF"/>
          </a:solidFill>
          <a:ln w="12700">
            <a:solidFill>
              <a:srgbClr val="333333"/>
            </a:solidFill>
            <a:prstDash val="solid"/>
          </a:ln>
        </p:spPr>
      </p:sp>
      <p:sp>
        <p:nvSpPr>
          <p:cNvPr id="66" name="Text 62"/>
          <p:cNvSpPr txBox="1"/>
          <p:nvPr/>
        </p:nvSpPr>
        <p:spPr>
          <a:xfrm>
            <a:off x="546898" y="8992036"/>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Attach membership to every system sale?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Retention maths says yes.</a:t>
            </a:r>
            <a:endParaRPr lang="en-US" sz="800" dirty="0"/>
          </a:p>
        </p:txBody>
      </p:sp>
      <p:sp>
        <p:nvSpPr>
          <p:cNvPr id="67" name="Shape 63"/>
          <p:cNvSpPr/>
          <p:nvPr/>
        </p:nvSpPr>
        <p:spPr>
          <a:xfrm>
            <a:off x="438898" y="9647600"/>
            <a:ext cx="50400" cy="50400"/>
          </a:xfrm>
          <a:prstGeom prst="rect">
            <a:avLst/>
          </a:prstGeom>
          <a:solidFill>
            <a:srgbClr val="0066FF"/>
          </a:solidFill>
          <a:ln w="12700">
            <a:solidFill>
              <a:srgbClr val="333333"/>
            </a:solidFill>
            <a:prstDash val="solid"/>
          </a:ln>
        </p:spPr>
      </p:sp>
      <p:sp>
        <p:nvSpPr>
          <p:cNvPr id="68" name="Text 64"/>
          <p:cNvSpPr txBox="1"/>
          <p:nvPr/>
        </p:nvSpPr>
        <p:spPr>
          <a:xfrm>
            <a:off x="546898" y="960229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Commission the canning feasibility?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A number, not an opinion.</a:t>
            </a:r>
            <a:endParaRPr lang="en-US" sz="800" dirty="0"/>
          </a:p>
        </p:txBody>
      </p:sp>
      <p:sp>
        <p:nvSpPr>
          <p:cNvPr id="69" name="Shape 65"/>
          <p:cNvSpPr/>
          <p:nvPr/>
        </p:nvSpPr>
        <p:spPr>
          <a:xfrm>
            <a:off x="438898" y="10257854"/>
            <a:ext cx="50400" cy="50400"/>
          </a:xfrm>
          <a:prstGeom prst="rect">
            <a:avLst/>
          </a:prstGeom>
          <a:solidFill>
            <a:srgbClr val="0066FF"/>
          </a:solidFill>
          <a:ln w="12700">
            <a:solidFill>
              <a:srgbClr val="333333"/>
            </a:solidFill>
            <a:prstDash val="solid"/>
          </a:ln>
        </p:spPr>
      </p:sp>
      <p:sp>
        <p:nvSpPr>
          <p:cNvPr id="70" name="Text 66"/>
          <p:cNvSpPr txBox="1"/>
          <p:nvPr/>
        </p:nvSpPr>
        <p:spPr>
          <a:xfrm>
            <a:off x="546898" y="1021254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Settle the per-schooner figure.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Then pull or correct the live ad.</a:t>
            </a:r>
            <a:endParaRPr lang="en-US" sz="800" dirty="0"/>
          </a:p>
        </p:txBody>
      </p:sp>
      <p:sp>
        <p:nvSpPr>
          <p:cNvPr id="71" name="Shape 67"/>
          <p:cNvSpPr/>
          <p:nvPr/>
        </p:nvSpPr>
        <p:spPr>
          <a:xfrm>
            <a:off x="7613752" y="7486462"/>
            <a:ext cx="7182155" cy="2989618"/>
          </a:xfrm>
          <a:prstGeom prst="rect">
            <a:avLst/>
          </a:prstGeom>
          <a:solidFill>
            <a:srgbClr val="FFFFFF"/>
          </a:solidFill>
          <a:ln w="7620">
            <a:solidFill>
              <a:srgbClr val="E3E7EC"/>
            </a:solidFill>
            <a:prstDash val="solid"/>
          </a:ln>
        </p:spPr>
      </p:sp>
      <p:sp>
        <p:nvSpPr>
          <p:cNvPr id="72" name="Text 68"/>
          <p:cNvSpPr txBox="1"/>
          <p:nvPr/>
        </p:nvSpPr>
        <p:spPr>
          <a:xfrm>
            <a:off x="7728952"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COULD GO WRONG</a:t>
            </a:r>
            <a:endParaRPr lang="en-US" sz="680" dirty="0"/>
          </a:p>
        </p:txBody>
      </p:sp>
      <p:sp>
        <p:nvSpPr>
          <p:cNvPr id="73" name="Shape 69"/>
          <p:cNvSpPr/>
          <p:nvPr/>
        </p:nvSpPr>
        <p:spPr>
          <a:xfrm>
            <a:off x="7728952" y="7816840"/>
            <a:ext cx="50400" cy="50400"/>
          </a:xfrm>
          <a:prstGeom prst="rect">
            <a:avLst/>
          </a:prstGeom>
          <a:solidFill>
            <a:srgbClr val="0066FF"/>
          </a:solidFill>
          <a:ln w="12700">
            <a:solidFill>
              <a:srgbClr val="333333"/>
            </a:solidFill>
            <a:prstDash val="solid"/>
          </a:ln>
        </p:spPr>
      </p:sp>
      <p:sp>
        <p:nvSpPr>
          <p:cNvPr id="74" name="Text 70"/>
          <p:cNvSpPr txBox="1"/>
          <p:nvPr/>
        </p:nvSpPr>
        <p:spPr>
          <a:xfrm>
            <a:off x="7836952"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Pausing walk-ins costs community.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room built the ambassadors. Replace it with systems before it goes, not after.</a:t>
            </a:r>
            <a:endParaRPr lang="en-US" sz="800" dirty="0"/>
          </a:p>
        </p:txBody>
      </p:sp>
      <p:sp>
        <p:nvSpPr>
          <p:cNvPr id="75" name="Shape 71"/>
          <p:cNvSpPr/>
          <p:nvPr/>
        </p:nvSpPr>
        <p:spPr>
          <a:xfrm>
            <a:off x="7728952" y="8549706"/>
            <a:ext cx="50400" cy="50400"/>
          </a:xfrm>
          <a:prstGeom prst="rect">
            <a:avLst/>
          </a:prstGeom>
          <a:solidFill>
            <a:srgbClr val="0066FF"/>
          </a:solidFill>
          <a:ln w="12700">
            <a:solidFill>
              <a:srgbClr val="333333"/>
            </a:solidFill>
            <a:prstDash val="solid"/>
          </a:ln>
        </p:spPr>
      </p:sp>
      <p:sp>
        <p:nvSpPr>
          <p:cNvPr id="76" name="Text 72"/>
          <p:cNvSpPr txBox="1"/>
          <p:nvPr/>
        </p:nvSpPr>
        <p:spPr>
          <a:xfrm>
            <a:off x="7836952" y="8504396"/>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Wholesale hire without a process.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A salesperson with no CRM behind them will fail the same way the founders did.</a:t>
            </a:r>
            <a:endParaRPr lang="en-US" sz="800" dirty="0"/>
          </a:p>
        </p:txBody>
      </p:sp>
      <p:sp>
        <p:nvSpPr>
          <p:cNvPr id="77" name="Shape 73"/>
          <p:cNvSpPr/>
          <p:nvPr/>
        </p:nvSpPr>
        <p:spPr>
          <a:xfrm>
            <a:off x="7728952" y="9282572"/>
            <a:ext cx="50400" cy="50400"/>
          </a:xfrm>
          <a:prstGeom prst="rect">
            <a:avLst/>
          </a:prstGeom>
          <a:solidFill>
            <a:srgbClr val="0066FF"/>
          </a:solidFill>
          <a:ln w="12700">
            <a:solidFill>
              <a:srgbClr val="333333"/>
            </a:solidFill>
            <a:prstDash val="solid"/>
          </a:ln>
        </p:spPr>
      </p:sp>
      <p:sp>
        <p:nvSpPr>
          <p:cNvPr id="78" name="Text 74"/>
          <p:cNvSpPr txBox="1"/>
          <p:nvPr/>
        </p:nvSpPr>
        <p:spPr>
          <a:xfrm>
            <a:off x="7836952" y="9237262"/>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Cutting the range too fast.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tail costs money, but some of it is why people come.</a:t>
            </a:r>
            <a:endParaRPr lang="en-US" sz="800" dirty="0"/>
          </a:p>
        </p:txBody>
      </p:sp>
      <p:sp>
        <p:nvSpPr>
          <p:cNvPr id="79" name="Shape 75"/>
          <p:cNvSpPr/>
          <p:nvPr/>
        </p:nvSpPr>
        <p:spPr>
          <a:xfrm>
            <a:off x="7728952" y="10015439"/>
            <a:ext cx="50400" cy="50400"/>
          </a:xfrm>
          <a:prstGeom prst="rect">
            <a:avLst/>
          </a:prstGeom>
          <a:solidFill>
            <a:srgbClr val="0066FF"/>
          </a:solidFill>
          <a:ln w="12700">
            <a:solidFill>
              <a:srgbClr val="333333"/>
            </a:solidFill>
            <a:prstDash val="solid"/>
          </a:ln>
        </p:spPr>
      </p:sp>
      <p:sp>
        <p:nvSpPr>
          <p:cNvPr id="80" name="Text 76"/>
          <p:cNvSpPr txBox="1"/>
          <p:nvPr/>
        </p:nvSpPr>
        <p:spPr>
          <a:xfrm>
            <a:off x="7836952" y="9970128"/>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Everything at once.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recurring failure has been starting things and moving on. Three moves finished beats ten started.</a:t>
            </a:r>
            <a:endParaRPr lang="en-US" sz="800" dirty="0"/>
          </a:p>
        </p:txBody>
      </p:sp>
      <p:sp>
        <p:nvSpPr>
          <p:cNvPr id="81" name="Shape 77"/>
          <p:cNvSpPr/>
          <p:nvPr/>
        </p:nvSpPr>
        <p:spPr>
          <a:xfrm>
            <a:off x="7728952" y="10183264"/>
            <a:ext cx="6951755" cy="0"/>
          </a:xfrm>
          <a:prstGeom prst="line">
            <a:avLst/>
          </a:prstGeom>
          <a:noFill/>
          <a:ln w="7620">
            <a:solidFill>
              <a:srgbClr val="E3E7EC"/>
            </a:solidFill>
            <a:prstDash val="solid"/>
          </a:ln>
        </p:spPr>
      </p:sp>
      <p:sp>
        <p:nvSpPr>
          <p:cNvPr id="82" name="Text 78"/>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point in the catch-up: as this scales, the personal connection cannot hold. It has to be replicated in systems.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Brand plan – on a page</a:t>
            </a:r>
            <a:endParaRPr lang="en-US" sz="2100" dirty="0"/>
          </a:p>
        </p:txBody>
      </p:sp>
      <p:sp>
        <p:nvSpPr>
          <p:cNvPr id="4" name="Shape 1"/>
          <p:cNvSpPr/>
          <p:nvPr/>
        </p:nvSpPr>
        <p:spPr>
          <a:xfrm>
            <a:off x="13650938" y="365760"/>
            <a:ext cx="1144969" cy="251460"/>
          </a:xfrm>
          <a:prstGeom prst="roundRect">
            <a:avLst>
              <a:gd name="adj" fmla="val 50000"/>
            </a:avLst>
          </a:prstGeom>
          <a:solidFill>
            <a:srgbClr val="0E171F"/>
          </a:solidFill>
          <a:ln w="9525">
            <a:solidFill>
              <a:srgbClr val="0E171F"/>
            </a:solidFill>
            <a:prstDash val="solid"/>
          </a:ln>
        </p:spPr>
      </p:sp>
      <p:sp>
        <p:nvSpPr>
          <p:cNvPr id="5" name="Text 2"/>
          <p:cNvSpPr txBox="1"/>
          <p:nvPr/>
        </p:nvSpPr>
        <p:spPr>
          <a:xfrm>
            <a:off x="13650938" y="365760"/>
            <a:ext cx="1144969" cy="251460"/>
          </a:xfrm>
          <a:prstGeom prst="rect">
            <a:avLst/>
          </a:prstGeom>
          <a:noFill/>
          <a:ln/>
        </p:spPr>
        <p:txBody>
          <a:bodyPr wrap="square" lIns="0" tIns="0" rIns="0" bIns="0" rtlCol="0" anchor="ctr"/>
          <a:lstStyle/>
          <a:p>
            <a:pPr algn="ctr" indent="0" marL="0">
              <a:buNone/>
            </a:pPr>
            <a:r>
              <a:rPr lang="en-US" sz="650" b="1" spc="78" kern="0" dirty="0">
                <a:solidFill>
                  <a:srgbClr val="FFFFFF"/>
                </a:solidFill>
                <a:latin typeface="Poppins" pitchFamily="34" charset="0"/>
                <a:ea typeface="Poppins" pitchFamily="34" charset="-122"/>
                <a:cs typeface="Poppins" pitchFamily="34" charset="-120"/>
              </a:rPr>
              <a:t>JEWELL PROJECTS</a:t>
            </a:r>
            <a:endParaRPr lang="en-US" sz="650" dirty="0"/>
          </a:p>
        </p:txBody>
      </p:sp>
      <p:sp>
        <p:nvSpPr>
          <p:cNvPr id="6" name="Shape 3"/>
          <p:cNvSpPr/>
          <p:nvPr/>
        </p:nvSpPr>
        <p:spPr>
          <a:xfrm>
            <a:off x="12410462" y="365760"/>
            <a:ext cx="1150475" cy="251460"/>
          </a:xfrm>
          <a:prstGeom prst="roundRect">
            <a:avLst>
              <a:gd name="adj" fmla="val 50000"/>
            </a:avLst>
          </a:prstGeom>
          <a:solidFill>
            <a:srgbClr val="FFFFFF"/>
          </a:solidFill>
          <a:ln w="9525">
            <a:solidFill>
              <a:srgbClr val="E3E7EC"/>
            </a:solidFill>
            <a:prstDash val="solid"/>
          </a:ln>
        </p:spPr>
      </p:sp>
      <p:sp>
        <p:nvSpPr>
          <p:cNvPr id="7" name="Text 4"/>
          <p:cNvSpPr txBox="1"/>
          <p:nvPr/>
        </p:nvSpPr>
        <p:spPr>
          <a:xfrm>
            <a:off x="12410462"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8" name="Shape 5"/>
          <p:cNvSpPr/>
          <p:nvPr/>
        </p:nvSpPr>
        <p:spPr>
          <a:xfrm>
            <a:off x="11102419" y="365760"/>
            <a:ext cx="1218043" cy="251460"/>
          </a:xfrm>
          <a:prstGeom prst="roundRect">
            <a:avLst>
              <a:gd name="adj" fmla="val 50000"/>
            </a:avLst>
          </a:prstGeom>
          <a:solidFill>
            <a:srgbClr val="FFFFFF"/>
          </a:solidFill>
          <a:ln w="9525">
            <a:solidFill>
              <a:srgbClr val="E3E7EC"/>
            </a:solidFill>
            <a:prstDash val="solid"/>
          </a:ln>
        </p:spPr>
      </p:sp>
      <p:sp>
        <p:nvSpPr>
          <p:cNvPr id="9" name="Text 6"/>
          <p:cNvSpPr txBox="1"/>
          <p:nvPr/>
        </p:nvSpPr>
        <p:spPr>
          <a:xfrm>
            <a:off x="11102419"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10" name="Shape 7"/>
          <p:cNvSpPr/>
          <p:nvPr/>
        </p:nvSpPr>
        <p:spPr>
          <a:xfrm>
            <a:off x="10045300" y="365760"/>
            <a:ext cx="967119" cy="251460"/>
          </a:xfrm>
          <a:prstGeom prst="roundRect">
            <a:avLst>
              <a:gd name="adj" fmla="val 50000"/>
            </a:avLst>
          </a:prstGeom>
          <a:solidFill>
            <a:srgbClr val="FFFFFF"/>
          </a:solidFill>
          <a:ln w="9525">
            <a:solidFill>
              <a:srgbClr val="E3E7EC"/>
            </a:solidFill>
            <a:prstDash val="solid"/>
          </a:ln>
        </p:spPr>
      </p:sp>
      <p:sp>
        <p:nvSpPr>
          <p:cNvPr id="11" name="Text 8"/>
          <p:cNvSpPr txBox="1"/>
          <p:nvPr/>
        </p:nvSpPr>
        <p:spPr>
          <a:xfrm>
            <a:off x="10045300" y="365760"/>
            <a:ext cx="967119"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PLAN 02 OF 04</a:t>
            </a:r>
            <a:endParaRPr lang="en-US" sz="650" dirty="0"/>
          </a:p>
        </p:txBody>
      </p:sp>
      <p:sp>
        <p:nvSpPr>
          <p:cNvPr id="12" name="Shape 9"/>
          <p:cNvSpPr/>
          <p:nvPr/>
        </p:nvSpPr>
        <p:spPr>
          <a:xfrm>
            <a:off x="323698" y="969264"/>
            <a:ext cx="14472209" cy="0"/>
          </a:xfrm>
          <a:prstGeom prst="line">
            <a:avLst/>
          </a:prstGeom>
          <a:noFill/>
          <a:ln w="25400">
            <a:solidFill>
              <a:srgbClr val="0E171F"/>
            </a:solidFill>
            <a:prstDash val="solid"/>
          </a:ln>
        </p:spPr>
      </p:sp>
      <p:sp>
        <p:nvSpPr>
          <p:cNvPr id="13" name="Shape 10"/>
          <p:cNvSpPr/>
          <p:nvPr/>
        </p:nvSpPr>
        <p:spPr>
          <a:xfrm>
            <a:off x="323698" y="1115568"/>
            <a:ext cx="5967146" cy="2637898"/>
          </a:xfrm>
          <a:prstGeom prst="rect">
            <a:avLst/>
          </a:prstGeom>
          <a:solidFill>
            <a:srgbClr val="FFFFFF"/>
          </a:solidFill>
          <a:ln w="7620">
            <a:solidFill>
              <a:srgbClr val="E3E7EC"/>
            </a:solidFill>
            <a:prstDash val="solid"/>
          </a:ln>
        </p:spPr>
      </p:sp>
      <p:sp>
        <p:nvSpPr>
          <p:cNvPr id="14" name="Shape 11"/>
          <p:cNvSpPr/>
          <p:nvPr/>
        </p:nvSpPr>
        <p:spPr>
          <a:xfrm>
            <a:off x="323698" y="1115568"/>
            <a:ext cx="5967146" cy="36000"/>
          </a:xfrm>
          <a:prstGeom prst="rect">
            <a:avLst/>
          </a:prstGeom>
          <a:solidFill>
            <a:srgbClr val="0066FF"/>
          </a:solidFill>
          <a:ln w="12700">
            <a:solidFill>
              <a:srgbClr val="333333"/>
            </a:solidFill>
            <a:prstDash val="solid"/>
          </a:ln>
        </p:spPr>
      </p:sp>
      <p:sp>
        <p:nvSpPr>
          <p:cNvPr id="15" name="Text 12"/>
          <p:cNvSpPr txBox="1"/>
          <p:nvPr/>
        </p:nvSpPr>
        <p:spPr>
          <a:xfrm>
            <a:off x="438898"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POSITION</a:t>
            </a:r>
            <a:endParaRPr lang="en-US" sz="680" dirty="0"/>
          </a:p>
        </p:txBody>
      </p:sp>
      <p:sp>
        <p:nvSpPr>
          <p:cNvPr id="16" name="Text 13"/>
          <p:cNvSpPr txBox="1"/>
          <p:nvPr/>
        </p:nvSpPr>
        <p:spPr>
          <a:xfrm>
            <a:off x="438898" y="1400636"/>
            <a:ext cx="5736746" cy="422046"/>
          </a:xfrm>
          <a:prstGeom prst="rect">
            <a:avLst/>
          </a:prstGeom>
          <a:noFill/>
          <a:ln/>
        </p:spPr>
        <p:txBody>
          <a:bodyPr wrap="square" lIns="0" tIns="0" rIns="0" bIns="0" rtlCol="0" anchor="t"/>
          <a:lstStyle/>
          <a:p>
            <a:pPr indent="0" marL="0">
              <a:lnSpc>
                <a:spcPts val="1662"/>
              </a:lnSpc>
              <a:buNone/>
            </a:pPr>
            <a:r>
              <a:rPr lang="en-US" sz="1340" b="1" dirty="0">
                <a:solidFill>
                  <a:srgbClr val="0E171F"/>
                </a:solidFill>
                <a:latin typeface="Poppins" pitchFamily="34" charset="0"/>
                <a:ea typeface="Poppins" pitchFamily="34" charset="-122"/>
                <a:cs typeface="Poppins" pitchFamily="34" charset="-120"/>
              </a:rPr>
              <a:t>The pub at your place. Fresher, cheaper by the schooner, and yours.</a:t>
            </a:r>
            <a:endParaRPr lang="en-US" sz="1340" dirty="0"/>
          </a:p>
        </p:txBody>
      </p:sp>
      <p:sp>
        <p:nvSpPr>
          <p:cNvPr id="17" name="Text 14"/>
          <p:cNvSpPr txBox="1"/>
          <p:nvPr/>
        </p:nvSpPr>
        <p:spPr>
          <a:xfrm>
            <a:off x="438898" y="1928317"/>
            <a:ext cx="5736746"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Tap That is not a brewery that also delivers. It is the way a household stops paying pub prices. That framing changes who the competitor is, what the range should be, and who the marketing is talking to.</a:t>
            </a:r>
            <a:endParaRPr lang="en-US" sz="810" dirty="0"/>
          </a:p>
        </p:txBody>
      </p:sp>
      <p:sp>
        <p:nvSpPr>
          <p:cNvPr id="18" name="Text 15"/>
          <p:cNvSpPr txBox="1"/>
          <p:nvPr/>
        </p:nvSpPr>
        <p:spPr>
          <a:xfrm>
            <a:off x="438898" y="2342562"/>
            <a:ext cx="5736746"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also settles what Tap That is not. Not a craft brewery competing on taps, not a bottle shop competing on price, and not a venue competing for a Friday night.</a:t>
            </a:r>
            <a:endParaRPr lang="en-US" sz="810" dirty="0"/>
          </a:p>
        </p:txBody>
      </p:sp>
      <p:sp>
        <p:nvSpPr>
          <p:cNvPr id="19" name="Text 16"/>
          <p:cNvSpPr txBox="1"/>
          <p:nvPr/>
        </p:nvSpPr>
        <p:spPr>
          <a:xfrm>
            <a:off x="438898" y="2756807"/>
            <a:ext cx="5736746"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Look for what the category does badly, not what it does well.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Christy's example was a New York restaurant that benchmarked where everyone else was weakest, found it was beer, and made beer the thing it celebrated. The pub does beer at home badly. That is the same gap.</a:t>
            </a:r>
            <a:endParaRPr lang="en-US" sz="810" dirty="0"/>
          </a:p>
        </p:txBody>
      </p:sp>
      <p:sp>
        <p:nvSpPr>
          <p:cNvPr id="20" name="Shape 17"/>
          <p:cNvSpPr/>
          <p:nvPr/>
        </p:nvSpPr>
        <p:spPr>
          <a:xfrm>
            <a:off x="438898" y="3460651"/>
            <a:ext cx="5736746" cy="0"/>
          </a:xfrm>
          <a:prstGeom prst="line">
            <a:avLst/>
          </a:prstGeom>
          <a:noFill/>
          <a:ln w="7620">
            <a:solidFill>
              <a:srgbClr val="E3E7EC"/>
            </a:solidFill>
            <a:prstDash val="solid"/>
          </a:ln>
        </p:spPr>
      </p:sp>
      <p:sp>
        <p:nvSpPr>
          <p:cNvPr id="21" name="Text 18"/>
          <p:cNvSpPr txBox="1"/>
          <p:nvPr/>
        </p:nvSpPr>
        <p:spPr>
          <a:xfrm>
            <a:off x="438898" y="3518251"/>
            <a:ext cx="5736746"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Nobody on the Gold Coast owns this category, in market or in search. That is the opening.</a:t>
            </a:r>
            <a:endParaRPr lang="en-US" sz="700" dirty="0"/>
          </a:p>
        </p:txBody>
      </p:sp>
      <p:sp>
        <p:nvSpPr>
          <p:cNvPr id="22" name="Shape 19"/>
          <p:cNvSpPr/>
          <p:nvPr/>
        </p:nvSpPr>
        <p:spPr>
          <a:xfrm>
            <a:off x="6398743" y="1115568"/>
            <a:ext cx="8397164" cy="2637898"/>
          </a:xfrm>
          <a:prstGeom prst="rect">
            <a:avLst/>
          </a:prstGeom>
          <a:solidFill>
            <a:srgbClr val="FFFFFF"/>
          </a:solidFill>
          <a:ln w="7620">
            <a:solidFill>
              <a:srgbClr val="E3E7EC"/>
            </a:solidFill>
            <a:prstDash val="solid"/>
          </a:ln>
        </p:spPr>
      </p:sp>
      <p:sp>
        <p:nvSpPr>
          <p:cNvPr id="23" name="Text 20"/>
          <p:cNvSpPr txBox="1"/>
          <p:nvPr/>
        </p:nvSpPr>
        <p:spPr>
          <a:xfrm>
            <a:off x="6513943"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THE ENEMY IS</a:t>
            </a:r>
            <a:endParaRPr lang="en-US" sz="680" dirty="0"/>
          </a:p>
        </p:txBody>
      </p:sp>
      <p:sp>
        <p:nvSpPr>
          <p:cNvPr id="24" name="Text 21"/>
          <p:cNvSpPr txBox="1"/>
          <p:nvPr/>
        </p:nvSpPr>
        <p:spPr>
          <a:xfrm>
            <a:off x="6513943" y="1400636"/>
            <a:ext cx="8166764"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Overpriced pubs. Not the duopoly, not A&amp;A, not the keg delivery operators.</a:t>
            </a:r>
            <a:endParaRPr lang="en-US" sz="920" dirty="0"/>
          </a:p>
        </p:txBody>
      </p:sp>
      <p:sp>
        <p:nvSpPr>
          <p:cNvPr id="25" name="Text 22"/>
          <p:cNvSpPr txBox="1"/>
          <p:nvPr/>
        </p:nvSpPr>
        <p:spPr>
          <a:xfrm>
            <a:off x="6513943" y="1727475"/>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Every price conversation should be unit economics against a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$12 to $18 pub schooner</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Being dearer than another keg supplier is defensible. Losing a sticker fight is not, and A&amp;A cannot be beaten on sticker without giving away the margin this business runs on.</a:t>
            </a:r>
            <a:endParaRPr lang="en-US" sz="810" dirty="0"/>
          </a:p>
        </p:txBody>
      </p:sp>
      <p:sp>
        <p:nvSpPr>
          <p:cNvPr id="26" name="Text 23"/>
          <p:cNvSpPr txBox="1"/>
          <p:nvPr/>
        </p:nvSpPr>
        <p:spPr>
          <a:xfrm>
            <a:off x="6513943" y="2201685"/>
            <a:ext cx="8166764"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Do not get pulled into a keg price war.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is the one fight where winning costs more than losing.</a:t>
            </a:r>
            <a:endParaRPr lang="en-US" sz="810" dirty="0"/>
          </a:p>
        </p:txBody>
      </p:sp>
      <p:sp>
        <p:nvSpPr>
          <p:cNvPr id="27" name="Text 24"/>
          <p:cNvSpPr txBox="1"/>
          <p:nvPr/>
        </p:nvSpPr>
        <p:spPr>
          <a:xfrm>
            <a:off x="6513943" y="2521590"/>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A&amp;A's domain is suspended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and they have merged with Burleigh Homebrew. The competitor that set the price anchor is not in good health, which makes following them down worse than pointless.</a:t>
            </a:r>
            <a:endParaRPr lang="en-US" sz="810" dirty="0"/>
          </a:p>
        </p:txBody>
      </p:sp>
      <p:sp>
        <p:nvSpPr>
          <p:cNvPr id="28" name="Shape 25"/>
          <p:cNvSpPr/>
          <p:nvPr/>
        </p:nvSpPr>
        <p:spPr>
          <a:xfrm>
            <a:off x="6513943" y="3460651"/>
            <a:ext cx="8166764" cy="0"/>
          </a:xfrm>
          <a:prstGeom prst="line">
            <a:avLst/>
          </a:prstGeom>
          <a:noFill/>
          <a:ln w="7620">
            <a:solidFill>
              <a:srgbClr val="E3E7EC"/>
            </a:solidFill>
            <a:prstDash val="solid"/>
          </a:ln>
        </p:spPr>
      </p:sp>
      <p:sp>
        <p:nvSpPr>
          <p:cNvPr id="29" name="Text 26"/>
          <p:cNvSpPr txBox="1"/>
          <p:nvPr/>
        </p:nvSpPr>
        <p:spPr>
          <a:xfrm>
            <a:off x="6513943" y="3518251"/>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at-home per-schooner figure still needs settling. Use the comparison, not a number, until it is.</a:t>
            </a:r>
            <a:endParaRPr lang="en-US" sz="700" dirty="0"/>
          </a:p>
        </p:txBody>
      </p:sp>
      <p:sp>
        <p:nvSpPr>
          <p:cNvPr id="30" name="Shape 27"/>
          <p:cNvSpPr/>
          <p:nvPr/>
        </p:nvSpPr>
        <p:spPr>
          <a:xfrm>
            <a:off x="323698" y="3861365"/>
            <a:ext cx="4752137" cy="3341337"/>
          </a:xfrm>
          <a:prstGeom prst="rect">
            <a:avLst/>
          </a:prstGeom>
          <a:solidFill>
            <a:srgbClr val="FFFFFF"/>
          </a:solidFill>
          <a:ln w="7620">
            <a:solidFill>
              <a:srgbClr val="E3E7EC"/>
            </a:solidFill>
            <a:prstDash val="solid"/>
          </a:ln>
        </p:spPr>
      </p:sp>
      <p:sp>
        <p:nvSpPr>
          <p:cNvPr id="31" name="Text 28"/>
          <p:cNvSpPr txBox="1"/>
          <p:nvPr/>
        </p:nvSpPr>
        <p:spPr>
          <a:xfrm>
            <a:off x="438898"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HEROES, NOT A TAIL</a:t>
            </a:r>
            <a:endParaRPr lang="en-US" sz="680" dirty="0"/>
          </a:p>
        </p:txBody>
      </p:sp>
      <p:sp>
        <p:nvSpPr>
          <p:cNvPr id="32" name="Text 29"/>
          <p:cNvSpPr txBox="1"/>
          <p:nvPr/>
        </p:nvSpPr>
        <p:spPr>
          <a:xfrm>
            <a:off x="438898" y="4146433"/>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About 19 brew choices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is costing twice: cost of goods on the tail, and choice paralysis at the point of sale. It also means no single beer gets enough marketing to become known.</a:t>
            </a:r>
            <a:endParaRPr lang="en-US" sz="810" dirty="0"/>
          </a:p>
        </p:txBody>
      </p:sp>
      <p:sp>
        <p:nvSpPr>
          <p:cNvPr id="33" name="Text 30"/>
          <p:cNvSpPr txBox="1"/>
          <p:nvPr/>
        </p:nvSpPr>
        <p:spPr>
          <a:xfrm>
            <a:off x="438898" y="477494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Cutting the tail is not the point.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point is putting the freed marketing energy behind the heroes that remain. Romance the beer, not the venue.</a:t>
            </a:r>
            <a:endParaRPr lang="en-US" sz="810" dirty="0"/>
          </a:p>
        </p:txBody>
      </p:sp>
      <p:sp>
        <p:nvSpPr>
          <p:cNvPr id="34" name="Text 31"/>
          <p:cNvSpPr txBox="1"/>
          <p:nvPr/>
        </p:nvSpPr>
        <p:spPr>
          <a:xfrm>
            <a:off x="438898" y="524915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Add social proof at the point of sale: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most popular, award winning, what to eat with it. Missing in the room and missing on the site.</a:t>
            </a:r>
            <a:endParaRPr lang="en-US" sz="810" dirty="0"/>
          </a:p>
        </p:txBody>
      </p:sp>
      <p:sp>
        <p:nvSpPr>
          <p:cNvPr id="35" name="Shape 32"/>
          <p:cNvSpPr/>
          <p:nvPr/>
        </p:nvSpPr>
        <p:spPr>
          <a:xfrm>
            <a:off x="438898" y="6789872"/>
            <a:ext cx="4521737" cy="0"/>
          </a:xfrm>
          <a:prstGeom prst="line">
            <a:avLst/>
          </a:prstGeom>
          <a:noFill/>
          <a:ln w="7620">
            <a:solidFill>
              <a:srgbClr val="E3E7EC"/>
            </a:solidFill>
            <a:prstDash val="solid"/>
          </a:ln>
        </p:spPr>
      </p:sp>
      <p:sp>
        <p:nvSpPr>
          <p:cNvPr id="36" name="Text 33"/>
          <p:cNvSpPr txBox="1"/>
          <p:nvPr/>
        </p:nvSpPr>
        <p:spPr>
          <a:xfrm>
            <a:off x="438898" y="6847472"/>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27 taps and roughly a third not beer is core identity, not clutter. Cut brews, not the breadth of drink types.</a:t>
            </a:r>
            <a:endParaRPr lang="en-US" sz="700" dirty="0"/>
          </a:p>
        </p:txBody>
      </p:sp>
      <p:sp>
        <p:nvSpPr>
          <p:cNvPr id="37" name="Shape 34"/>
          <p:cNvSpPr/>
          <p:nvPr/>
        </p:nvSpPr>
        <p:spPr>
          <a:xfrm>
            <a:off x="5183734" y="3861365"/>
            <a:ext cx="4752137" cy="3341337"/>
          </a:xfrm>
          <a:prstGeom prst="rect">
            <a:avLst/>
          </a:prstGeom>
          <a:solidFill>
            <a:srgbClr val="FFFFFF"/>
          </a:solidFill>
          <a:ln w="7620">
            <a:solidFill>
              <a:srgbClr val="E3E7EC"/>
            </a:solidFill>
            <a:prstDash val="solid"/>
          </a:ln>
        </p:spPr>
      </p:sp>
      <p:sp>
        <p:nvSpPr>
          <p:cNvPr id="38" name="Text 35"/>
          <p:cNvSpPr txBox="1"/>
          <p:nvPr/>
        </p:nvSpPr>
        <p:spPr>
          <a:xfrm>
            <a:off x="5298934"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DESIGN FOR HER</a:t>
            </a:r>
            <a:endParaRPr lang="en-US" sz="680" dirty="0"/>
          </a:p>
        </p:txBody>
      </p:sp>
      <p:sp>
        <p:nvSpPr>
          <p:cNvPr id="39" name="Text 36"/>
          <p:cNvSpPr txBox="1"/>
          <p:nvPr/>
        </p:nvSpPr>
        <p:spPr>
          <a:xfrm>
            <a:off x="5298934" y="414643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single largest unaddressed opportunity in the brand.</a:t>
            </a:r>
            <a:endParaRPr lang="en-US" sz="920" dirty="0"/>
          </a:p>
        </p:txBody>
      </p:sp>
      <p:sp>
        <p:nvSpPr>
          <p:cNvPr id="40" name="Text 37"/>
          <p:cNvSpPr txBox="1"/>
          <p:nvPr/>
        </p:nvSpPr>
        <p:spPr>
          <a:xfrm>
            <a:off x="5298934" y="4473272"/>
            <a:ext cx="4521737"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range, the marketing and the hardware all read masculine. Covered is not the same as catered for. Christy's argument is the blunt one: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women are not coming, men will not follow.</a:t>
            </a:r>
            <a:endParaRPr lang="en-US" sz="810" dirty="0"/>
          </a:p>
        </p:txBody>
      </p:sp>
      <p:sp>
        <p:nvSpPr>
          <p:cNvPr id="41" name="Text 38"/>
          <p:cNvSpPr txBox="1"/>
          <p:nvPr/>
        </p:nvSpPr>
        <p:spPr>
          <a:xfrm>
            <a:off x="5298934" y="5101787"/>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it means in practice: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romance the RTD properly, build the hydration and light range as a real story, make products she is proud to serve, and design a system she is willing to have in eyesight at home.</a:t>
            </a:r>
            <a:endParaRPr lang="en-US" sz="810" dirty="0"/>
          </a:p>
        </p:txBody>
      </p:sp>
      <p:sp>
        <p:nvSpPr>
          <p:cNvPr id="42" name="Text 39"/>
          <p:cNvSpPr txBox="1"/>
          <p:nvPr/>
        </p:nvSpPr>
        <p:spPr>
          <a:xfrm>
            <a:off x="5298934" y="5730302"/>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Where to start: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wellness influencer collaborations, and co-developing something with a local fitness brand. Christy's example was a protein beer. The point is a product she would choose, not a product she tolerates.</a:t>
            </a:r>
            <a:endParaRPr lang="en-US" sz="810" dirty="0"/>
          </a:p>
        </p:txBody>
      </p:sp>
      <p:sp>
        <p:nvSpPr>
          <p:cNvPr id="43" name="Shape 40"/>
          <p:cNvSpPr/>
          <p:nvPr/>
        </p:nvSpPr>
        <p:spPr>
          <a:xfrm>
            <a:off x="5298934" y="6909887"/>
            <a:ext cx="4521737" cy="0"/>
          </a:xfrm>
          <a:prstGeom prst="line">
            <a:avLst/>
          </a:prstGeom>
          <a:noFill/>
          <a:ln w="7620">
            <a:solidFill>
              <a:srgbClr val="E3E7EC"/>
            </a:solidFill>
            <a:prstDash val="solid"/>
          </a:ln>
        </p:spPr>
      </p:sp>
      <p:sp>
        <p:nvSpPr>
          <p:cNvPr id="44" name="Text 41"/>
          <p:cNvSpPr txBox="1"/>
          <p:nvPr/>
        </p:nvSpPr>
        <p:spPr>
          <a:xfrm>
            <a:off x="5298934" y="696748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a product and design brief, not a campaign. It will not be solved by a post.</a:t>
            </a:r>
            <a:endParaRPr lang="en-US" sz="700" dirty="0"/>
          </a:p>
        </p:txBody>
      </p:sp>
      <p:sp>
        <p:nvSpPr>
          <p:cNvPr id="45" name="Shape 42"/>
          <p:cNvSpPr/>
          <p:nvPr/>
        </p:nvSpPr>
        <p:spPr>
          <a:xfrm>
            <a:off x="10043770" y="3861365"/>
            <a:ext cx="4752137" cy="3341337"/>
          </a:xfrm>
          <a:prstGeom prst="rect">
            <a:avLst/>
          </a:prstGeom>
          <a:solidFill>
            <a:srgbClr val="FFFFFF"/>
          </a:solidFill>
          <a:ln w="7620">
            <a:solidFill>
              <a:srgbClr val="E3E7EC"/>
            </a:solidFill>
            <a:prstDash val="solid"/>
          </a:ln>
        </p:spPr>
      </p:sp>
      <p:sp>
        <p:nvSpPr>
          <p:cNvPr id="46" name="Text 43"/>
          <p:cNvSpPr txBox="1"/>
          <p:nvPr/>
        </p:nvSpPr>
        <p:spPr>
          <a:xfrm>
            <a:off x="10158970"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PROOF ALREADY OWNED AND BARELY USED</a:t>
            </a:r>
            <a:endParaRPr lang="en-US" sz="680" dirty="0"/>
          </a:p>
        </p:txBody>
      </p:sp>
      <p:sp>
        <p:nvSpPr>
          <p:cNvPr id="47" name="Shape 44"/>
          <p:cNvSpPr/>
          <p:nvPr/>
        </p:nvSpPr>
        <p:spPr>
          <a:xfrm>
            <a:off x="10158970" y="4181584"/>
            <a:ext cx="50400" cy="50400"/>
          </a:xfrm>
          <a:prstGeom prst="rect">
            <a:avLst/>
          </a:prstGeom>
          <a:solidFill>
            <a:srgbClr val="0066FF"/>
          </a:solidFill>
          <a:ln w="12700">
            <a:solidFill>
              <a:srgbClr val="333333"/>
            </a:solidFill>
            <a:prstDash val="solid"/>
          </a:ln>
        </p:spPr>
      </p:sp>
      <p:sp>
        <p:nvSpPr>
          <p:cNvPr id="48" name="Text 45"/>
          <p:cNvSpPr txBox="1"/>
          <p:nvPr/>
        </p:nvSpPr>
        <p:spPr>
          <a:xfrm>
            <a:off x="10266970" y="4146433"/>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Crafted Brewers' Choice award.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Won, and almost invisible. It belongs on the site, in the room, on the tap decals and in social.</a:t>
            </a:r>
            <a:endParaRPr lang="en-US" sz="720" dirty="0"/>
          </a:p>
        </p:txBody>
      </p:sp>
      <p:sp>
        <p:nvSpPr>
          <p:cNvPr id="49" name="Shape 46"/>
          <p:cNvSpPr/>
          <p:nvPr/>
        </p:nvSpPr>
        <p:spPr>
          <a:xfrm>
            <a:off x="10158970" y="4948855"/>
            <a:ext cx="50400" cy="50400"/>
          </a:xfrm>
          <a:prstGeom prst="rect">
            <a:avLst/>
          </a:prstGeom>
          <a:solidFill>
            <a:srgbClr val="0066FF"/>
          </a:solidFill>
          <a:ln w="12700">
            <a:solidFill>
              <a:srgbClr val="333333"/>
            </a:solidFill>
            <a:prstDash val="solid"/>
          </a:ln>
        </p:spPr>
      </p:sp>
      <p:sp>
        <p:nvSpPr>
          <p:cNvPr id="50" name="Text 47"/>
          <p:cNvSpPr txBox="1"/>
          <p:nvPr/>
        </p:nvSpPr>
        <p:spPr>
          <a:xfrm>
            <a:off x="10266970" y="4913704"/>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Fits any system.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A buying objection answered, currently below the fold.</a:t>
            </a:r>
            <a:endParaRPr lang="en-US" sz="720" dirty="0"/>
          </a:p>
        </p:txBody>
      </p:sp>
      <p:sp>
        <p:nvSpPr>
          <p:cNvPr id="51" name="Shape 48"/>
          <p:cNvSpPr/>
          <p:nvPr/>
        </p:nvSpPr>
        <p:spPr>
          <a:xfrm>
            <a:off x="10158970" y="5588110"/>
            <a:ext cx="50400" cy="50400"/>
          </a:xfrm>
          <a:prstGeom prst="rect">
            <a:avLst/>
          </a:prstGeom>
          <a:solidFill>
            <a:srgbClr val="0066FF"/>
          </a:solidFill>
          <a:ln w="12700">
            <a:solidFill>
              <a:srgbClr val="333333"/>
            </a:solidFill>
            <a:prstDash val="solid"/>
          </a:ln>
        </p:spPr>
      </p:sp>
      <p:sp>
        <p:nvSpPr>
          <p:cNvPr id="52" name="Text 49"/>
          <p:cNvSpPr txBox="1"/>
          <p:nvPr/>
        </p:nvSpPr>
        <p:spPr>
          <a:xfrm>
            <a:off x="10266970" y="5552960"/>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No CO2 with Talos kegs.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Gas bottle management is a real barrier for new owners and this removes it.</a:t>
            </a:r>
            <a:endParaRPr lang="en-US" sz="720" dirty="0"/>
          </a:p>
        </p:txBody>
      </p:sp>
      <p:sp>
        <p:nvSpPr>
          <p:cNvPr id="53" name="Shape 50"/>
          <p:cNvSpPr/>
          <p:nvPr/>
        </p:nvSpPr>
        <p:spPr>
          <a:xfrm>
            <a:off x="10158970" y="6355382"/>
            <a:ext cx="50400" cy="50400"/>
          </a:xfrm>
          <a:prstGeom prst="rect">
            <a:avLst/>
          </a:prstGeom>
          <a:solidFill>
            <a:srgbClr val="0066FF"/>
          </a:solidFill>
          <a:ln w="12700">
            <a:solidFill>
              <a:srgbClr val="333333"/>
            </a:solidFill>
            <a:prstDash val="solid"/>
          </a:ln>
        </p:spPr>
      </p:sp>
      <p:sp>
        <p:nvSpPr>
          <p:cNvPr id="54" name="Text 51"/>
          <p:cNvSpPr txBox="1"/>
          <p:nvPr/>
        </p:nvSpPr>
        <p:spPr>
          <a:xfrm>
            <a:off x="10266970" y="6320231"/>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1,000 giveaway entries.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Demand for the hardware is demonstrated, not assumed.</a:t>
            </a:r>
            <a:endParaRPr lang="en-US" sz="720" dirty="0"/>
          </a:p>
        </p:txBody>
      </p:sp>
      <p:sp>
        <p:nvSpPr>
          <p:cNvPr id="55" name="Shape 52"/>
          <p:cNvSpPr/>
          <p:nvPr/>
        </p:nvSpPr>
        <p:spPr>
          <a:xfrm>
            <a:off x="10158970" y="6994637"/>
            <a:ext cx="50400" cy="50400"/>
          </a:xfrm>
          <a:prstGeom prst="rect">
            <a:avLst/>
          </a:prstGeom>
          <a:solidFill>
            <a:srgbClr val="0066FF"/>
          </a:solidFill>
          <a:ln w="12700">
            <a:solidFill>
              <a:srgbClr val="333333"/>
            </a:solidFill>
            <a:prstDash val="solid"/>
          </a:ln>
        </p:spPr>
      </p:sp>
      <p:sp>
        <p:nvSpPr>
          <p:cNvPr id="56" name="Text 53"/>
          <p:cNvSpPr txBox="1"/>
          <p:nvPr/>
        </p:nvSpPr>
        <p:spPr>
          <a:xfrm>
            <a:off x="10266970" y="6959486"/>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Strong reviews.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Present, unpromoted, and invisible to AI search.</a:t>
            </a:r>
            <a:endParaRPr lang="en-US" sz="720" dirty="0"/>
          </a:p>
        </p:txBody>
      </p:sp>
      <p:sp>
        <p:nvSpPr>
          <p:cNvPr id="57" name="Shape 54"/>
          <p:cNvSpPr/>
          <p:nvPr/>
        </p:nvSpPr>
        <p:spPr>
          <a:xfrm>
            <a:off x="323698" y="7310602"/>
            <a:ext cx="7182155" cy="3165478"/>
          </a:xfrm>
          <a:prstGeom prst="rect">
            <a:avLst/>
          </a:prstGeom>
          <a:solidFill>
            <a:srgbClr val="FFFFFF"/>
          </a:solidFill>
          <a:ln w="7620">
            <a:solidFill>
              <a:srgbClr val="E3E7EC"/>
            </a:solidFill>
            <a:prstDash val="solid"/>
          </a:ln>
        </p:spPr>
      </p:sp>
      <p:sp>
        <p:nvSpPr>
          <p:cNvPr id="58" name="Text 55"/>
          <p:cNvSpPr txBox="1"/>
          <p:nvPr/>
        </p:nvSpPr>
        <p:spPr>
          <a:xfrm>
            <a:off x="438898" y="742580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IDENTITY HOUSEKEEPING, AND WHAT IS STILL OPEN</a:t>
            </a:r>
            <a:endParaRPr lang="en-US" sz="680" dirty="0"/>
          </a:p>
        </p:txBody>
      </p:sp>
      <p:sp>
        <p:nvSpPr>
          <p:cNvPr id="59" name="Shape 56"/>
          <p:cNvSpPr/>
          <p:nvPr/>
        </p:nvSpPr>
        <p:spPr>
          <a:xfrm>
            <a:off x="438898" y="7632636"/>
            <a:ext cx="50400" cy="50400"/>
          </a:xfrm>
          <a:prstGeom prst="rect">
            <a:avLst/>
          </a:prstGeom>
          <a:solidFill>
            <a:srgbClr val="0066FF"/>
          </a:solidFill>
          <a:ln w="12700">
            <a:solidFill>
              <a:srgbClr val="333333"/>
            </a:solidFill>
            <a:prstDash val="solid"/>
          </a:ln>
        </p:spPr>
      </p:sp>
      <p:sp>
        <p:nvSpPr>
          <p:cNvPr id="60" name="Text 57"/>
          <p:cNvSpPr txBox="1"/>
          <p:nvPr/>
        </p:nvSpPr>
        <p:spPr>
          <a:xfrm>
            <a:off x="546898" y="7595670"/>
            <a:ext cx="6843755" cy="263296"/>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The name on the mark.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Documents say Tap That Brewery, the badge says Brewery &amp; Keghouse. Founders' call. Until it is made, never crop the badge.</a:t>
            </a:r>
            <a:endParaRPr lang="en-US" sz="730" dirty="0"/>
          </a:p>
        </p:txBody>
      </p:sp>
      <p:sp>
        <p:nvSpPr>
          <p:cNvPr id="61" name="Shape 58"/>
          <p:cNvSpPr/>
          <p:nvPr/>
        </p:nvSpPr>
        <p:spPr>
          <a:xfrm>
            <a:off x="438898" y="8598255"/>
            <a:ext cx="50400" cy="50400"/>
          </a:xfrm>
          <a:prstGeom prst="rect">
            <a:avLst/>
          </a:prstGeom>
          <a:solidFill>
            <a:srgbClr val="0066FF"/>
          </a:solidFill>
          <a:ln w="12700">
            <a:solidFill>
              <a:srgbClr val="333333"/>
            </a:solidFill>
            <a:prstDash val="solid"/>
          </a:ln>
        </p:spPr>
      </p:sp>
      <p:sp>
        <p:nvSpPr>
          <p:cNvPr id="62" name="Text 59"/>
          <p:cNvSpPr txBox="1"/>
          <p:nvPr/>
        </p:nvSpPr>
        <p:spPr>
          <a:xfrm>
            <a:off x="546898" y="8561289"/>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Two live membership posters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quote different prices. One has to be withdrawn.</a:t>
            </a:r>
            <a:endParaRPr lang="en-US" sz="730" dirty="0"/>
          </a:p>
        </p:txBody>
      </p:sp>
      <p:sp>
        <p:nvSpPr>
          <p:cNvPr id="63" name="Shape 60"/>
          <p:cNvSpPr/>
          <p:nvPr/>
        </p:nvSpPr>
        <p:spPr>
          <a:xfrm>
            <a:off x="438898" y="9432226"/>
            <a:ext cx="50400" cy="50400"/>
          </a:xfrm>
          <a:prstGeom prst="rect">
            <a:avLst/>
          </a:prstGeom>
          <a:solidFill>
            <a:srgbClr val="0066FF"/>
          </a:solidFill>
          <a:ln w="12700">
            <a:solidFill>
              <a:srgbClr val="333333"/>
            </a:solidFill>
            <a:prstDash val="solid"/>
          </a:ln>
        </p:spPr>
      </p:sp>
      <p:sp>
        <p:nvSpPr>
          <p:cNvPr id="64" name="Text 61"/>
          <p:cNvSpPr txBox="1"/>
          <p:nvPr/>
        </p:nvSpPr>
        <p:spPr>
          <a:xfrm>
            <a:off x="546898" y="9395260"/>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Source files.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Vector logos and font names are still outstanding, so the colour and type calls in the guidelines stay provisional.</a:t>
            </a:r>
            <a:endParaRPr lang="en-US" sz="730" dirty="0"/>
          </a:p>
        </p:txBody>
      </p:sp>
      <p:sp>
        <p:nvSpPr>
          <p:cNvPr id="65" name="Shape 62"/>
          <p:cNvSpPr/>
          <p:nvPr/>
        </p:nvSpPr>
        <p:spPr>
          <a:xfrm>
            <a:off x="438898" y="10266198"/>
            <a:ext cx="50400" cy="50400"/>
          </a:xfrm>
          <a:prstGeom prst="rect">
            <a:avLst/>
          </a:prstGeom>
          <a:solidFill>
            <a:srgbClr val="0066FF"/>
          </a:solidFill>
          <a:ln w="12700">
            <a:solidFill>
              <a:srgbClr val="333333"/>
            </a:solidFill>
            <a:prstDash val="solid"/>
          </a:ln>
        </p:spPr>
      </p:sp>
      <p:sp>
        <p:nvSpPr>
          <p:cNvPr id="66" name="Text 63"/>
          <p:cNvSpPr txBox="1"/>
          <p:nvPr/>
        </p:nvSpPr>
        <p:spPr>
          <a:xfrm>
            <a:off x="546898" y="10229231"/>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Category language.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Commercial brewer invites mainstream price comparison. The category needs a name of its own.</a:t>
            </a:r>
            <a:endParaRPr lang="en-US" sz="730" dirty="0"/>
          </a:p>
        </p:txBody>
      </p:sp>
      <p:sp>
        <p:nvSpPr>
          <p:cNvPr id="67" name="Shape 64"/>
          <p:cNvSpPr/>
          <p:nvPr/>
        </p:nvSpPr>
        <p:spPr>
          <a:xfrm>
            <a:off x="7613752" y="7310602"/>
            <a:ext cx="7182155" cy="3165478"/>
          </a:xfrm>
          <a:prstGeom prst="rect">
            <a:avLst/>
          </a:prstGeom>
          <a:solidFill>
            <a:srgbClr val="FFFFFF"/>
          </a:solidFill>
          <a:ln w="7620">
            <a:solidFill>
              <a:srgbClr val="E3E7EC"/>
            </a:solidFill>
            <a:prstDash val="solid"/>
          </a:ln>
        </p:spPr>
      </p:sp>
      <p:sp>
        <p:nvSpPr>
          <p:cNvPr id="68" name="Text 65"/>
          <p:cNvSpPr txBox="1"/>
          <p:nvPr/>
        </p:nvSpPr>
        <p:spPr>
          <a:xfrm>
            <a:off x="7728952" y="742580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VOICE, AND THE RULE THAT GOVERNS IT</a:t>
            </a:r>
            <a:endParaRPr lang="en-US" sz="680" dirty="0"/>
          </a:p>
        </p:txBody>
      </p:sp>
      <p:sp>
        <p:nvSpPr>
          <p:cNvPr id="69" name="Text 66"/>
          <p:cNvSpPr txBox="1"/>
          <p:nvPr/>
        </p:nvSpPr>
        <p:spPr>
          <a:xfrm>
            <a:off x="7728952" y="7595670"/>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Green leads, gold accents, never the reverse.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Bold condensed caps for headlines, a plain workhorse sans for reading. No scripts, no serifs.</a:t>
            </a:r>
            <a:endParaRPr lang="en-US" sz="810" dirty="0"/>
          </a:p>
        </p:txBody>
      </p:sp>
      <p:sp>
        <p:nvSpPr>
          <p:cNvPr id="70" name="Text 67"/>
          <p:cNvSpPr txBox="1"/>
          <p:nvPr/>
        </p:nvSpPr>
        <p:spPr>
          <a:xfrm>
            <a:off x="7728952" y="8069880"/>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registers.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Cheeky for names and moments, at exactly the level the trading name sets. Plain and generous for money, service and responsibility. Never crude beyond the name's own wink, never beer-snob, never discount-shouty.</a:t>
            </a:r>
            <a:endParaRPr lang="en-US" sz="810" dirty="0"/>
          </a:p>
        </p:txBody>
      </p:sp>
      <p:sp>
        <p:nvSpPr>
          <p:cNvPr id="71" name="Text 68"/>
          <p:cNvSpPr txBox="1"/>
          <p:nvPr/>
        </p:nvSpPr>
        <p:spPr>
          <a:xfrm>
            <a:off x="7728952" y="8544090"/>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Photography: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real room, real customers, available light. Not stock, and not anything that could not have been taken at Burleigh Heads.</a:t>
            </a:r>
            <a:endParaRPr lang="en-US" sz="810" dirty="0"/>
          </a:p>
        </p:txBody>
      </p:sp>
      <p:sp>
        <p:nvSpPr>
          <p:cNvPr id="72" name="Shape 69"/>
          <p:cNvSpPr/>
          <p:nvPr/>
        </p:nvSpPr>
        <p:spPr>
          <a:xfrm>
            <a:off x="7728952" y="10183264"/>
            <a:ext cx="6951755" cy="0"/>
          </a:xfrm>
          <a:prstGeom prst="line">
            <a:avLst/>
          </a:prstGeom>
          <a:noFill/>
          <a:ln w="7620">
            <a:solidFill>
              <a:srgbClr val="E3E7EC"/>
            </a:solidFill>
            <a:prstDash val="solid"/>
          </a:ln>
        </p:spPr>
      </p:sp>
      <p:sp>
        <p:nvSpPr>
          <p:cNvPr id="73" name="Text 70"/>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event flyers already built follow this. They are the reference for anything new.</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Sales and marketing plan – on a page</a:t>
            </a:r>
            <a:endParaRPr lang="en-US" sz="2100" dirty="0"/>
          </a:p>
        </p:txBody>
      </p:sp>
      <p:sp>
        <p:nvSpPr>
          <p:cNvPr id="4" name="Shape 1"/>
          <p:cNvSpPr/>
          <p:nvPr/>
        </p:nvSpPr>
        <p:spPr>
          <a:xfrm>
            <a:off x="13650938" y="365760"/>
            <a:ext cx="1144969" cy="251460"/>
          </a:xfrm>
          <a:prstGeom prst="roundRect">
            <a:avLst>
              <a:gd name="adj" fmla="val 50000"/>
            </a:avLst>
          </a:prstGeom>
          <a:solidFill>
            <a:srgbClr val="0E171F"/>
          </a:solidFill>
          <a:ln w="9525">
            <a:solidFill>
              <a:srgbClr val="0E171F"/>
            </a:solidFill>
            <a:prstDash val="solid"/>
          </a:ln>
        </p:spPr>
      </p:sp>
      <p:sp>
        <p:nvSpPr>
          <p:cNvPr id="5" name="Text 2"/>
          <p:cNvSpPr txBox="1"/>
          <p:nvPr/>
        </p:nvSpPr>
        <p:spPr>
          <a:xfrm>
            <a:off x="13650938" y="365760"/>
            <a:ext cx="1144969" cy="251460"/>
          </a:xfrm>
          <a:prstGeom prst="rect">
            <a:avLst/>
          </a:prstGeom>
          <a:noFill/>
          <a:ln/>
        </p:spPr>
        <p:txBody>
          <a:bodyPr wrap="square" lIns="0" tIns="0" rIns="0" bIns="0" rtlCol="0" anchor="ctr"/>
          <a:lstStyle/>
          <a:p>
            <a:pPr algn="ctr" indent="0" marL="0">
              <a:buNone/>
            </a:pPr>
            <a:r>
              <a:rPr lang="en-US" sz="650" b="1" spc="78" kern="0" dirty="0">
                <a:solidFill>
                  <a:srgbClr val="FFFFFF"/>
                </a:solidFill>
                <a:latin typeface="Poppins" pitchFamily="34" charset="0"/>
                <a:ea typeface="Poppins" pitchFamily="34" charset="-122"/>
                <a:cs typeface="Poppins" pitchFamily="34" charset="-120"/>
              </a:rPr>
              <a:t>JEWELL PROJECTS</a:t>
            </a:r>
            <a:endParaRPr lang="en-US" sz="650" dirty="0"/>
          </a:p>
        </p:txBody>
      </p:sp>
      <p:sp>
        <p:nvSpPr>
          <p:cNvPr id="6" name="Shape 3"/>
          <p:cNvSpPr/>
          <p:nvPr/>
        </p:nvSpPr>
        <p:spPr>
          <a:xfrm>
            <a:off x="12410462" y="365760"/>
            <a:ext cx="1150475" cy="251460"/>
          </a:xfrm>
          <a:prstGeom prst="roundRect">
            <a:avLst>
              <a:gd name="adj" fmla="val 50000"/>
            </a:avLst>
          </a:prstGeom>
          <a:solidFill>
            <a:srgbClr val="FFFFFF"/>
          </a:solidFill>
          <a:ln w="9525">
            <a:solidFill>
              <a:srgbClr val="E3E7EC"/>
            </a:solidFill>
            <a:prstDash val="solid"/>
          </a:ln>
        </p:spPr>
      </p:sp>
      <p:sp>
        <p:nvSpPr>
          <p:cNvPr id="7" name="Text 4"/>
          <p:cNvSpPr txBox="1"/>
          <p:nvPr/>
        </p:nvSpPr>
        <p:spPr>
          <a:xfrm>
            <a:off x="12410462"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8" name="Shape 5"/>
          <p:cNvSpPr/>
          <p:nvPr/>
        </p:nvSpPr>
        <p:spPr>
          <a:xfrm>
            <a:off x="11102419" y="365760"/>
            <a:ext cx="1218043" cy="251460"/>
          </a:xfrm>
          <a:prstGeom prst="roundRect">
            <a:avLst>
              <a:gd name="adj" fmla="val 50000"/>
            </a:avLst>
          </a:prstGeom>
          <a:solidFill>
            <a:srgbClr val="FFFFFF"/>
          </a:solidFill>
          <a:ln w="9525">
            <a:solidFill>
              <a:srgbClr val="E3E7EC"/>
            </a:solidFill>
            <a:prstDash val="solid"/>
          </a:ln>
        </p:spPr>
      </p:sp>
      <p:sp>
        <p:nvSpPr>
          <p:cNvPr id="9" name="Text 6"/>
          <p:cNvSpPr txBox="1"/>
          <p:nvPr/>
        </p:nvSpPr>
        <p:spPr>
          <a:xfrm>
            <a:off x="11102419"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10" name="Shape 7"/>
          <p:cNvSpPr/>
          <p:nvPr/>
        </p:nvSpPr>
        <p:spPr>
          <a:xfrm>
            <a:off x="10042472" y="365760"/>
            <a:ext cx="969947" cy="251460"/>
          </a:xfrm>
          <a:prstGeom prst="roundRect">
            <a:avLst>
              <a:gd name="adj" fmla="val 50000"/>
            </a:avLst>
          </a:prstGeom>
          <a:solidFill>
            <a:srgbClr val="FFFFFF"/>
          </a:solidFill>
          <a:ln w="9525">
            <a:solidFill>
              <a:srgbClr val="E3E7EC"/>
            </a:solidFill>
            <a:prstDash val="solid"/>
          </a:ln>
        </p:spPr>
      </p:sp>
      <p:sp>
        <p:nvSpPr>
          <p:cNvPr id="11" name="Text 8"/>
          <p:cNvSpPr txBox="1"/>
          <p:nvPr/>
        </p:nvSpPr>
        <p:spPr>
          <a:xfrm>
            <a:off x="10042472" y="365760"/>
            <a:ext cx="969947"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PLAN 03 OF 04</a:t>
            </a:r>
            <a:endParaRPr lang="en-US" sz="650" dirty="0"/>
          </a:p>
        </p:txBody>
      </p:sp>
      <p:sp>
        <p:nvSpPr>
          <p:cNvPr id="12" name="Shape 9"/>
          <p:cNvSpPr/>
          <p:nvPr/>
        </p:nvSpPr>
        <p:spPr>
          <a:xfrm>
            <a:off x="323698" y="969264"/>
            <a:ext cx="14472209" cy="0"/>
          </a:xfrm>
          <a:prstGeom prst="line">
            <a:avLst/>
          </a:prstGeom>
          <a:noFill/>
          <a:ln w="25400">
            <a:solidFill>
              <a:srgbClr val="0E171F"/>
            </a:solidFill>
            <a:prstDash val="solid"/>
          </a:ln>
        </p:spPr>
      </p:sp>
      <p:sp>
        <p:nvSpPr>
          <p:cNvPr id="13" name="Shape 10"/>
          <p:cNvSpPr/>
          <p:nvPr/>
        </p:nvSpPr>
        <p:spPr>
          <a:xfrm>
            <a:off x="323698" y="1115568"/>
            <a:ext cx="14472209" cy="2743414"/>
          </a:xfrm>
          <a:prstGeom prst="rect">
            <a:avLst/>
          </a:prstGeom>
          <a:solidFill>
            <a:srgbClr val="FFFFFF"/>
          </a:solidFill>
          <a:ln w="7620">
            <a:solidFill>
              <a:srgbClr val="E3E7EC"/>
            </a:solidFill>
            <a:prstDash val="solid"/>
          </a:ln>
        </p:spPr>
      </p:sp>
      <p:sp>
        <p:nvSpPr>
          <p:cNvPr id="14" name="Shape 11"/>
          <p:cNvSpPr/>
          <p:nvPr/>
        </p:nvSpPr>
        <p:spPr>
          <a:xfrm>
            <a:off x="323698" y="1115568"/>
            <a:ext cx="14472209" cy="36000"/>
          </a:xfrm>
          <a:prstGeom prst="rect">
            <a:avLst/>
          </a:prstGeom>
          <a:solidFill>
            <a:srgbClr val="0066FF"/>
          </a:solidFill>
          <a:ln w="12700">
            <a:solidFill>
              <a:srgbClr val="333333"/>
            </a:solidFill>
            <a:prstDash val="solid"/>
          </a:ln>
        </p:spPr>
      </p:sp>
      <p:sp>
        <p:nvSpPr>
          <p:cNvPr id="15" name="Text 12"/>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BEFORE ANYTHING ELSE: CONNECT THE SYSTEM</a:t>
            </a:r>
            <a:endParaRPr lang="en-US" sz="680" dirty="0"/>
          </a:p>
        </p:txBody>
      </p:sp>
      <p:sp>
        <p:nvSpPr>
          <p:cNvPr id="16" name="Text 13"/>
          <p:cNvSpPr txBox="1"/>
          <p:nvPr/>
        </p:nvSpPr>
        <p:spPr>
          <a:xfrm>
            <a:off x="438898" y="1400636"/>
            <a:ext cx="14241809" cy="195275"/>
          </a:xfrm>
          <a:prstGeom prst="rect">
            <a:avLst/>
          </a:prstGeom>
          <a:noFill/>
          <a:ln/>
        </p:spPr>
        <p:txBody>
          <a:bodyPr wrap="square" lIns="0" tIns="0" rIns="0" bIns="0" rtlCol="0" anchor="t"/>
          <a:lstStyle/>
          <a:p>
            <a:pPr indent="0" marL="0">
              <a:lnSpc>
                <a:spcPts val="1538"/>
              </a:lnSpc>
              <a:buNone/>
            </a:pPr>
            <a:r>
              <a:rPr lang="en-US" sz="1240" b="1" dirty="0">
                <a:solidFill>
                  <a:srgbClr val="0E171F"/>
                </a:solidFill>
                <a:latin typeface="Poppins" pitchFamily="34" charset="0"/>
                <a:ea typeface="Poppins" pitchFamily="34" charset="-122"/>
                <a:cs typeface="Poppins" pitchFamily="34" charset="-120"/>
              </a:rPr>
              <a:t>Nothing talks to anything. Every campaign is set up to underperform before it launches.</a:t>
            </a:r>
            <a:endParaRPr lang="en-US" sz="1240" dirty="0"/>
          </a:p>
        </p:txBody>
      </p:sp>
      <p:sp>
        <p:nvSpPr>
          <p:cNvPr id="17" name="Shape 14"/>
          <p:cNvSpPr/>
          <p:nvPr/>
        </p:nvSpPr>
        <p:spPr>
          <a:xfrm>
            <a:off x="438898" y="1761511"/>
            <a:ext cx="2762042" cy="1739856"/>
          </a:xfrm>
          <a:prstGeom prst="rect">
            <a:avLst/>
          </a:prstGeom>
          <a:solidFill>
            <a:srgbClr val="F5F7FA"/>
          </a:solidFill>
          <a:ln w="7620">
            <a:solidFill>
              <a:srgbClr val="E3E7EC"/>
            </a:solidFill>
            <a:prstDash val="solid"/>
          </a:ln>
        </p:spPr>
      </p:sp>
      <p:sp>
        <p:nvSpPr>
          <p:cNvPr id="18" name="Shape 15"/>
          <p:cNvSpPr/>
          <p:nvPr/>
        </p:nvSpPr>
        <p:spPr>
          <a:xfrm>
            <a:off x="438898" y="1761511"/>
            <a:ext cx="2762042" cy="28800"/>
          </a:xfrm>
          <a:prstGeom prst="rect">
            <a:avLst/>
          </a:prstGeom>
          <a:solidFill>
            <a:srgbClr val="0066FF"/>
          </a:solidFill>
          <a:ln w="12700">
            <a:solidFill>
              <a:srgbClr val="333333"/>
            </a:solidFill>
            <a:prstDash val="solid"/>
          </a:ln>
        </p:spPr>
      </p:sp>
      <p:sp>
        <p:nvSpPr>
          <p:cNvPr id="19" name="Text 16"/>
          <p:cNvSpPr txBox="1"/>
          <p:nvPr/>
        </p:nvSpPr>
        <p:spPr>
          <a:xfrm>
            <a:off x="532498"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META ADS</a:t>
            </a:r>
            <a:endParaRPr lang="en-US" sz="660" dirty="0"/>
          </a:p>
        </p:txBody>
      </p:sp>
      <p:sp>
        <p:nvSpPr>
          <p:cNvPr id="20" name="Text 17"/>
          <p:cNvSpPr txBox="1"/>
          <p:nvPr/>
        </p:nvSpPr>
        <p:spPr>
          <a:xfrm>
            <a:off x="532498" y="2021677"/>
            <a:ext cx="2574842" cy="135331"/>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Working. Driving traffic and foot traffic already.</a:t>
            </a:r>
            <a:endParaRPr lang="en-US" sz="740" dirty="0"/>
          </a:p>
        </p:txBody>
      </p:sp>
      <p:sp>
        <p:nvSpPr>
          <p:cNvPr id="21" name="Text 18"/>
          <p:cNvSpPr txBox="1"/>
          <p:nvPr/>
        </p:nvSpPr>
        <p:spPr>
          <a:xfrm>
            <a:off x="532498" y="2221808"/>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somewhere to send the traffic.</a:t>
            </a:r>
            <a:endParaRPr lang="en-US" sz="740" dirty="0"/>
          </a:p>
        </p:txBody>
      </p:sp>
      <p:sp>
        <p:nvSpPr>
          <p:cNvPr id="22" name="Shape 19"/>
          <p:cNvSpPr/>
          <p:nvPr/>
        </p:nvSpPr>
        <p:spPr>
          <a:xfrm>
            <a:off x="3308839" y="1761511"/>
            <a:ext cx="2762042" cy="1739856"/>
          </a:xfrm>
          <a:prstGeom prst="rect">
            <a:avLst/>
          </a:prstGeom>
          <a:solidFill>
            <a:srgbClr val="F5F7FA"/>
          </a:solidFill>
          <a:ln w="7620">
            <a:solidFill>
              <a:srgbClr val="E3E7EC"/>
            </a:solidFill>
            <a:prstDash val="solid"/>
          </a:ln>
        </p:spPr>
      </p:sp>
      <p:sp>
        <p:nvSpPr>
          <p:cNvPr id="23" name="Shape 20"/>
          <p:cNvSpPr/>
          <p:nvPr/>
        </p:nvSpPr>
        <p:spPr>
          <a:xfrm>
            <a:off x="3308839" y="1761511"/>
            <a:ext cx="2762042" cy="28800"/>
          </a:xfrm>
          <a:prstGeom prst="rect">
            <a:avLst/>
          </a:prstGeom>
          <a:solidFill>
            <a:srgbClr val="0066FF"/>
          </a:solidFill>
          <a:ln w="12700">
            <a:solidFill>
              <a:srgbClr val="333333"/>
            </a:solidFill>
            <a:prstDash val="solid"/>
          </a:ln>
        </p:spPr>
      </p:sp>
      <p:sp>
        <p:nvSpPr>
          <p:cNvPr id="24" name="Text 21"/>
          <p:cNvSpPr txBox="1"/>
          <p:nvPr/>
        </p:nvSpPr>
        <p:spPr>
          <a:xfrm>
            <a:off x="3402439"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WEBSITE</a:t>
            </a:r>
            <a:endParaRPr lang="en-US" sz="660" dirty="0"/>
          </a:p>
        </p:txBody>
      </p:sp>
      <p:sp>
        <p:nvSpPr>
          <p:cNvPr id="25" name="Text 22"/>
          <p:cNvSpPr txBox="1"/>
          <p:nvPr/>
        </p:nvSpPr>
        <p:spPr>
          <a:xfrm>
            <a:off x="3402439"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A brochure, not a conversion tool. No path to a system or a refill.</a:t>
            </a:r>
            <a:endParaRPr lang="en-US" sz="740" dirty="0"/>
          </a:p>
        </p:txBody>
      </p:sp>
      <p:sp>
        <p:nvSpPr>
          <p:cNvPr id="26" name="Text 23"/>
          <p:cNvSpPr txBox="1"/>
          <p:nvPr/>
        </p:nvSpPr>
        <p:spPr>
          <a:xfrm>
            <a:off x="3402439"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a buy path, proof, and an FAQ.</a:t>
            </a:r>
            <a:endParaRPr lang="en-US" sz="740" dirty="0"/>
          </a:p>
        </p:txBody>
      </p:sp>
      <p:sp>
        <p:nvSpPr>
          <p:cNvPr id="27" name="Shape 24"/>
          <p:cNvSpPr/>
          <p:nvPr/>
        </p:nvSpPr>
        <p:spPr>
          <a:xfrm>
            <a:off x="6178781" y="1761511"/>
            <a:ext cx="2762042" cy="1739856"/>
          </a:xfrm>
          <a:prstGeom prst="rect">
            <a:avLst/>
          </a:prstGeom>
          <a:solidFill>
            <a:srgbClr val="F5F7FA"/>
          </a:solidFill>
          <a:ln w="7620">
            <a:solidFill>
              <a:srgbClr val="E3E7EC"/>
            </a:solidFill>
            <a:prstDash val="solid"/>
          </a:ln>
        </p:spPr>
      </p:sp>
      <p:sp>
        <p:nvSpPr>
          <p:cNvPr id="28" name="Shape 25"/>
          <p:cNvSpPr/>
          <p:nvPr/>
        </p:nvSpPr>
        <p:spPr>
          <a:xfrm>
            <a:off x="6178781" y="1761511"/>
            <a:ext cx="2762042" cy="28800"/>
          </a:xfrm>
          <a:prstGeom prst="rect">
            <a:avLst/>
          </a:prstGeom>
          <a:solidFill>
            <a:srgbClr val="0066FF"/>
          </a:solidFill>
          <a:ln w="12700">
            <a:solidFill>
              <a:srgbClr val="333333"/>
            </a:solidFill>
            <a:prstDash val="solid"/>
          </a:ln>
        </p:spPr>
      </p:sp>
      <p:sp>
        <p:nvSpPr>
          <p:cNvPr id="29" name="Text 26"/>
          <p:cNvSpPr txBox="1"/>
          <p:nvPr/>
        </p:nvSpPr>
        <p:spPr>
          <a:xfrm>
            <a:off x="6272381"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POS</a:t>
            </a:r>
            <a:endParaRPr lang="en-US" sz="660" dirty="0"/>
          </a:p>
        </p:txBody>
      </p:sp>
      <p:sp>
        <p:nvSpPr>
          <p:cNvPr id="30" name="Text 27"/>
          <p:cNvSpPr txBox="1"/>
          <p:nvPr/>
        </p:nvSpPr>
        <p:spPr>
          <a:xfrm>
            <a:off x="6272381"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Sales happen here and never reach the customer record.</a:t>
            </a:r>
            <a:endParaRPr lang="en-US" sz="740" dirty="0"/>
          </a:p>
        </p:txBody>
      </p:sp>
      <p:sp>
        <p:nvSpPr>
          <p:cNvPr id="31" name="Text 28"/>
          <p:cNvSpPr txBox="1"/>
          <p:nvPr/>
        </p:nvSpPr>
        <p:spPr>
          <a:xfrm>
            <a:off x="6272381"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to write back to the CRM.</a:t>
            </a:r>
            <a:endParaRPr lang="en-US" sz="740" dirty="0"/>
          </a:p>
        </p:txBody>
      </p:sp>
      <p:sp>
        <p:nvSpPr>
          <p:cNvPr id="32" name="Shape 29"/>
          <p:cNvSpPr/>
          <p:nvPr/>
        </p:nvSpPr>
        <p:spPr>
          <a:xfrm>
            <a:off x="9048722" y="1761511"/>
            <a:ext cx="2762042" cy="1739856"/>
          </a:xfrm>
          <a:prstGeom prst="rect">
            <a:avLst/>
          </a:prstGeom>
          <a:solidFill>
            <a:srgbClr val="F5F7FA"/>
          </a:solidFill>
          <a:ln w="7620">
            <a:solidFill>
              <a:srgbClr val="E3E7EC"/>
            </a:solidFill>
            <a:prstDash val="solid"/>
          </a:ln>
        </p:spPr>
      </p:sp>
      <p:sp>
        <p:nvSpPr>
          <p:cNvPr id="33" name="Shape 30"/>
          <p:cNvSpPr/>
          <p:nvPr/>
        </p:nvSpPr>
        <p:spPr>
          <a:xfrm>
            <a:off x="9048722" y="1761511"/>
            <a:ext cx="2762042" cy="28800"/>
          </a:xfrm>
          <a:prstGeom prst="rect">
            <a:avLst/>
          </a:prstGeom>
          <a:solidFill>
            <a:srgbClr val="0066FF"/>
          </a:solidFill>
          <a:ln w="12700">
            <a:solidFill>
              <a:srgbClr val="333333"/>
            </a:solidFill>
            <a:prstDash val="solid"/>
          </a:ln>
        </p:spPr>
      </p:sp>
      <p:sp>
        <p:nvSpPr>
          <p:cNvPr id="34" name="Text 31"/>
          <p:cNvSpPr txBox="1"/>
          <p:nvPr/>
        </p:nvSpPr>
        <p:spPr>
          <a:xfrm>
            <a:off x="9142322"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CRM</a:t>
            </a:r>
            <a:endParaRPr lang="en-US" sz="660" dirty="0"/>
          </a:p>
        </p:txBody>
      </p:sp>
      <p:sp>
        <p:nvSpPr>
          <p:cNvPr id="35" name="Text 32"/>
          <p:cNvSpPr txBox="1"/>
          <p:nvPr/>
        </p:nvSpPr>
        <p:spPr>
          <a:xfrm>
            <a:off x="9142322"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Blanket 90-day SMS is the only automation.</a:t>
            </a:r>
            <a:endParaRPr lang="en-US" sz="740" dirty="0"/>
          </a:p>
        </p:txBody>
      </p:sp>
      <p:sp>
        <p:nvSpPr>
          <p:cNvPr id="36" name="Text 33"/>
          <p:cNvSpPr txBox="1"/>
          <p:nvPr/>
        </p:nvSpPr>
        <p:spPr>
          <a:xfrm>
            <a:off x="9142322"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consumption triggers and segments.</a:t>
            </a:r>
            <a:endParaRPr lang="en-US" sz="740" dirty="0"/>
          </a:p>
        </p:txBody>
      </p:sp>
      <p:sp>
        <p:nvSpPr>
          <p:cNvPr id="37" name="Shape 34"/>
          <p:cNvSpPr/>
          <p:nvPr/>
        </p:nvSpPr>
        <p:spPr>
          <a:xfrm>
            <a:off x="11918664" y="1761511"/>
            <a:ext cx="2762042" cy="1739856"/>
          </a:xfrm>
          <a:prstGeom prst="rect">
            <a:avLst/>
          </a:prstGeom>
          <a:solidFill>
            <a:srgbClr val="F5F7FA"/>
          </a:solidFill>
          <a:ln w="7620">
            <a:solidFill>
              <a:srgbClr val="E3E7EC"/>
            </a:solidFill>
            <a:prstDash val="solid"/>
          </a:ln>
        </p:spPr>
      </p:sp>
      <p:sp>
        <p:nvSpPr>
          <p:cNvPr id="38" name="Shape 35"/>
          <p:cNvSpPr/>
          <p:nvPr/>
        </p:nvSpPr>
        <p:spPr>
          <a:xfrm>
            <a:off x="11918664" y="1761511"/>
            <a:ext cx="2762042" cy="28800"/>
          </a:xfrm>
          <a:prstGeom prst="rect">
            <a:avLst/>
          </a:prstGeom>
          <a:solidFill>
            <a:srgbClr val="0066FF"/>
          </a:solidFill>
          <a:ln w="12700">
            <a:solidFill>
              <a:srgbClr val="333333"/>
            </a:solidFill>
            <a:prstDash val="solid"/>
          </a:ln>
        </p:spPr>
      </p:sp>
      <p:sp>
        <p:nvSpPr>
          <p:cNvPr id="39" name="Text 36"/>
          <p:cNvSpPr txBox="1"/>
          <p:nvPr/>
        </p:nvSpPr>
        <p:spPr>
          <a:xfrm>
            <a:off x="12012264"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ONLINE STORE</a:t>
            </a:r>
            <a:endParaRPr lang="en-US" sz="660" dirty="0"/>
          </a:p>
        </p:txBody>
      </p:sp>
      <p:sp>
        <p:nvSpPr>
          <p:cNvPr id="40" name="Text 37"/>
          <p:cNvSpPr txBox="1"/>
          <p:nvPr/>
        </p:nvSpPr>
        <p:spPr>
          <a:xfrm>
            <a:off x="12012264"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Cannot support the offers this plan needs.</a:t>
            </a:r>
            <a:endParaRPr lang="en-US" sz="740" dirty="0"/>
          </a:p>
        </p:txBody>
      </p:sp>
      <p:sp>
        <p:nvSpPr>
          <p:cNvPr id="41" name="Text 38"/>
          <p:cNvSpPr txBox="1"/>
          <p:nvPr/>
        </p:nvSpPr>
        <p:spPr>
          <a:xfrm>
            <a:off x="12012264"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memberships, vouchers, delivery.</a:t>
            </a:r>
            <a:endParaRPr lang="en-US" sz="740" dirty="0"/>
          </a:p>
        </p:txBody>
      </p:sp>
      <p:sp>
        <p:nvSpPr>
          <p:cNvPr id="42" name="Shape 39"/>
          <p:cNvSpPr/>
          <p:nvPr/>
        </p:nvSpPr>
        <p:spPr>
          <a:xfrm>
            <a:off x="438898" y="3566167"/>
            <a:ext cx="14241809" cy="0"/>
          </a:xfrm>
          <a:prstGeom prst="line">
            <a:avLst/>
          </a:prstGeom>
          <a:noFill/>
          <a:ln w="7620">
            <a:solidFill>
              <a:srgbClr val="E3E7EC"/>
            </a:solidFill>
            <a:prstDash val="solid"/>
          </a:ln>
        </p:spPr>
      </p:sp>
      <p:sp>
        <p:nvSpPr>
          <p:cNvPr id="43" name="Text 40"/>
          <p:cNvSpPr txBox="1"/>
          <p:nvPr/>
        </p:nvSpPr>
        <p:spPr>
          <a:xfrm>
            <a:off x="438898" y="3623767"/>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the first unlock. Spending more on ads before it is fixed buys traffic the business cannot catch.</a:t>
            </a:r>
            <a:endParaRPr lang="en-US" sz="700" dirty="0"/>
          </a:p>
        </p:txBody>
      </p:sp>
      <p:sp>
        <p:nvSpPr>
          <p:cNvPr id="44" name="Shape 41"/>
          <p:cNvSpPr/>
          <p:nvPr/>
        </p:nvSpPr>
        <p:spPr>
          <a:xfrm>
            <a:off x="323698" y="3966881"/>
            <a:ext cx="7182155" cy="3429267"/>
          </a:xfrm>
          <a:prstGeom prst="rect">
            <a:avLst/>
          </a:prstGeom>
          <a:solidFill>
            <a:srgbClr val="FFFFFF"/>
          </a:solidFill>
          <a:ln w="7620">
            <a:solidFill>
              <a:srgbClr val="E3E7EC"/>
            </a:solidFill>
            <a:prstDash val="solid"/>
          </a:ln>
        </p:spPr>
      </p:sp>
      <p:sp>
        <p:nvSpPr>
          <p:cNvPr id="45" name="Text 42"/>
          <p:cNvSpPr txBox="1"/>
          <p:nvPr/>
        </p:nvSpPr>
        <p:spPr>
          <a:xfrm>
            <a:off x="438898" y="4082081"/>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WE ARE TALKING TO, AND WHAT CHANGES</a:t>
            </a:r>
            <a:endParaRPr lang="en-US" sz="6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38898" y="4251949"/>
          <a:ext cx="11339703" cy="914400"/>
        </p:xfrm>
        <a:graphic>
          <a:graphicData uri="http://schemas.openxmlformats.org/drawingml/2006/table">
            <a:tbl>
              <a:tblPr/>
              <a:tblGrid>
                <a:gridCol w="3011009"/>
                <a:gridCol w="3940746"/>
              </a:tblGrid>
              <a:tr h="399629">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Segment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message</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53610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Owns a system, bought elsewhere</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56% of refill customers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You already have the hardware. We are the beer. First keg on us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forgot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Consumption-triggered reminder, free delivery, one tap to reorder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cutting back</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Low, non-alcoholic, low-carb. A healthier option, not less beer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Never owned a system</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Cost per schooner against the pub. No CO2. Try it at a party first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Tour and event operators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Award-winning stop, parking for a bus, a tasting they can sell</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Venues and clubs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Margin, exclusivity, club-branded kegs, season guarantees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47" name="Shape 43"/>
          <p:cNvSpPr/>
          <p:nvPr/>
        </p:nvSpPr>
        <p:spPr>
          <a:xfrm>
            <a:off x="7613752" y="3966881"/>
            <a:ext cx="7182155" cy="3429267"/>
          </a:xfrm>
          <a:prstGeom prst="rect">
            <a:avLst/>
          </a:prstGeom>
          <a:solidFill>
            <a:srgbClr val="FFFFFF"/>
          </a:solidFill>
          <a:ln w="7620">
            <a:solidFill>
              <a:srgbClr val="E3E7EC"/>
            </a:solidFill>
            <a:prstDash val="solid"/>
          </a:ln>
        </p:spPr>
      </p:sp>
      <p:sp>
        <p:nvSpPr>
          <p:cNvPr id="48" name="Text 44"/>
          <p:cNvSpPr txBox="1"/>
          <p:nvPr/>
        </p:nvSpPr>
        <p:spPr>
          <a:xfrm>
            <a:off x="7728952" y="4082081"/>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TWO HIGHEST-RETURN MOVES</a:t>
            </a:r>
            <a:endParaRPr lang="en-US" sz="680" dirty="0"/>
          </a:p>
        </p:txBody>
      </p:sp>
      <p:sp>
        <p:nvSpPr>
          <p:cNvPr id="49" name="Text 45"/>
          <p:cNvSpPr txBox="1"/>
          <p:nvPr/>
        </p:nvSpPr>
        <p:spPr>
          <a:xfrm>
            <a:off x="7728952" y="4251949"/>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01 · Convert the owners who are already sold.</a:t>
            </a:r>
            <a:endParaRPr lang="en-US" sz="860" dirty="0"/>
          </a:p>
        </p:txBody>
      </p:sp>
      <p:sp>
        <p:nvSpPr>
          <p:cNvPr id="50" name="Text 46"/>
          <p:cNvSpPr txBox="1"/>
          <p:nvPr/>
        </p:nvSpPr>
        <p:spPr>
          <a:xfrm>
            <a:off x="7728952" y="4494774"/>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Gift with purchase or a first-keg-free voucher tied to Harvey Norman system sales. Buy the Kegland and corny keg owner databases. Pursue the Benchy partnership. The model is the one kitchen installers use with Bunnings: they sell the hardware, we are the named first call for what goes in it.</a:t>
            </a:r>
            <a:endParaRPr lang="en-US" sz="810" dirty="0"/>
          </a:p>
        </p:txBody>
      </p:sp>
      <p:sp>
        <p:nvSpPr>
          <p:cNvPr id="51" name="Text 47"/>
          <p:cNvSpPr txBox="1"/>
          <p:nvPr/>
        </p:nvSpPr>
        <p:spPr>
          <a:xfrm>
            <a:off x="7728952" y="5049790"/>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02 · Take the friction out of reordering.</a:t>
            </a:r>
            <a:endParaRPr lang="en-US" sz="860" dirty="0"/>
          </a:p>
        </p:txBody>
      </p:sp>
      <p:sp>
        <p:nvSpPr>
          <p:cNvPr id="52" name="Text 48"/>
          <p:cNvSpPr txBox="1"/>
          <p:nvPr/>
        </p:nvSpPr>
        <p:spPr>
          <a:xfrm>
            <a:off x="7728952" y="5292615"/>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Free delivery works and the margin comes back in dollars, not percent. Replace the blanket 90-day SMS with consumption-triggered reminders, because about 60% reorder within three months and 40% take longer, and one clock fails both. Lead on no CO2. Rethink party rental so a minimum keg guarantee covers the hire fee instead of a $75 barrier.</a:t>
            </a:r>
            <a:endParaRPr lang="en-US" sz="810" dirty="0"/>
          </a:p>
        </p:txBody>
      </p:sp>
      <p:sp>
        <p:nvSpPr>
          <p:cNvPr id="53" name="Text 49"/>
          <p:cNvSpPr txBox="1"/>
          <p:nvPr/>
        </p:nvSpPr>
        <p:spPr>
          <a:xfrm>
            <a:off x="7728952" y="5847632"/>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03 · Split the lapsed list in two.</a:t>
            </a:r>
            <a:endParaRPr lang="en-US" sz="860" dirty="0"/>
          </a:p>
        </p:txBody>
      </p:sp>
      <p:sp>
        <p:nvSpPr>
          <p:cNvPr id="54" name="Text 50"/>
          <p:cNvSpPr txBox="1"/>
          <p:nvPr/>
        </p:nvSpPr>
        <p:spPr>
          <a:xfrm>
            <a:off x="7728952" y="6090457"/>
            <a:ext cx="6951755" cy="61722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Two cohorts, and one message is currently going to both. Some are cutting back, which needs the low and non-alcoholic range. Some simply did not get around to it, which is friction and needs one tap to reorder.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split between them is not established.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deck puts 40% on cutting back; in the room Christy put 40% on the lapse rate itself and said what they report is not getting around to it. Read it off the CRM before either message is written.</a:t>
            </a:r>
            <a:endParaRPr lang="en-US" sz="810" dirty="0"/>
          </a:p>
        </p:txBody>
      </p:sp>
      <p:sp>
        <p:nvSpPr>
          <p:cNvPr id="55" name="Shape 51"/>
          <p:cNvSpPr/>
          <p:nvPr/>
        </p:nvSpPr>
        <p:spPr>
          <a:xfrm>
            <a:off x="7728952" y="6983318"/>
            <a:ext cx="6951755" cy="0"/>
          </a:xfrm>
          <a:prstGeom prst="line">
            <a:avLst/>
          </a:prstGeom>
          <a:noFill/>
          <a:ln w="7620">
            <a:solidFill>
              <a:srgbClr val="E3E7EC"/>
            </a:solidFill>
            <a:prstDash val="solid"/>
          </a:ln>
        </p:spPr>
      </p:sp>
      <p:sp>
        <p:nvSpPr>
          <p:cNvPr id="56" name="Text 52"/>
          <p:cNvSpPr txBox="1"/>
          <p:nvPr/>
        </p:nvSpPr>
        <p:spPr>
          <a:xfrm>
            <a:off x="7728952" y="7040918"/>
            <a:ext cx="6951755"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Jewell Projects holds Harvey Norman contacts at franchisee level, plus a contact who has done 20,000-plus installs for Harvey Norman, JB Hi-Fi and The Good Guys.</a:t>
            </a:r>
            <a:endParaRPr lang="en-US" sz="700" dirty="0"/>
          </a:p>
        </p:txBody>
      </p:sp>
      <p:sp>
        <p:nvSpPr>
          <p:cNvPr id="57" name="Shape 53"/>
          <p:cNvSpPr/>
          <p:nvPr/>
        </p:nvSpPr>
        <p:spPr>
          <a:xfrm>
            <a:off x="323698" y="7504048"/>
            <a:ext cx="4752137" cy="2972032"/>
          </a:xfrm>
          <a:prstGeom prst="rect">
            <a:avLst/>
          </a:prstGeom>
          <a:solidFill>
            <a:srgbClr val="FFFFFF"/>
          </a:solidFill>
          <a:ln w="7620">
            <a:solidFill>
              <a:srgbClr val="E3E7EC"/>
            </a:solidFill>
            <a:prstDash val="solid"/>
          </a:ln>
        </p:spPr>
      </p:sp>
      <p:sp>
        <p:nvSpPr>
          <p:cNvPr id="58" name="Text 54"/>
          <p:cNvSpPr txBox="1"/>
          <p:nvPr/>
        </p:nvSpPr>
        <p:spPr>
          <a:xfrm>
            <a:off x="438898"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WHOLESALE AS A FUNCTION</a:t>
            </a:r>
            <a:endParaRPr lang="en-US" sz="680" dirty="0"/>
          </a:p>
        </p:txBody>
      </p:sp>
      <p:sp>
        <p:nvSpPr>
          <p:cNvPr id="59" name="Text 55"/>
          <p:cNvSpPr txBox="1"/>
          <p:nvPr/>
        </p:nvSpPr>
        <p:spPr>
          <a:xfrm>
            <a:off x="438898" y="7789116"/>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Bars have approached Tap That and it still has not converted. That is not a demand problem, it is the absence of follow-up and sales experience.</a:t>
            </a:r>
            <a:endParaRPr lang="en-US" sz="810" dirty="0"/>
          </a:p>
        </p:txBody>
      </p:sp>
      <p:sp>
        <p:nvSpPr>
          <p:cNvPr id="60" name="Text 56"/>
          <p:cNvSpPr txBox="1"/>
          <p:nvPr/>
        </p:nvSpPr>
        <p:spPr>
          <a:xfrm>
            <a:off x="438898" y="8201059"/>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Stand it up properly: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full-timer or a commissioned agent, targets and KPIs, a pipeline in the CRM rather than in someone's head. The room put it at about twelve touch points before a venue buys beer, and Tap That has the first one and almost none of the eleven after it.</a:t>
            </a:r>
            <a:endParaRPr lang="en-US" sz="810" dirty="0"/>
          </a:p>
        </p:txBody>
      </p:sp>
      <p:sp>
        <p:nvSpPr>
          <p:cNvPr id="61" name="Text 57"/>
          <p:cNvSpPr txBox="1"/>
          <p:nvPr/>
        </p:nvSpPr>
        <p:spPr>
          <a:xfrm>
            <a:off x="438898" y="8921612"/>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go after the shape of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custom systems for sporting clubs, club-branded kegs, minimum guarantees per season, and moving rigs from footy to cricket so they earn year-round.</a:t>
            </a:r>
            <a:endParaRPr lang="en-US" sz="810" dirty="0"/>
          </a:p>
        </p:txBody>
      </p:sp>
      <p:sp>
        <p:nvSpPr>
          <p:cNvPr id="62" name="Text 58"/>
          <p:cNvSpPr txBox="1"/>
          <p:nvPr/>
        </p:nvSpPr>
        <p:spPr>
          <a:xfrm>
            <a:off x="438898" y="9487860"/>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work around the duopoly.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Lock-in is not satisfaction. Venues are already forming buying groups to get around it. Find the pain points and build an offer that fits alongside the contract.</a:t>
            </a:r>
            <a:endParaRPr lang="en-US" sz="810" dirty="0"/>
          </a:p>
        </p:txBody>
      </p:sp>
      <p:sp>
        <p:nvSpPr>
          <p:cNvPr id="63" name="Shape 59"/>
          <p:cNvSpPr/>
          <p:nvPr/>
        </p:nvSpPr>
        <p:spPr>
          <a:xfrm>
            <a:off x="438898" y="10183264"/>
            <a:ext cx="4521737" cy="0"/>
          </a:xfrm>
          <a:prstGeom prst="line">
            <a:avLst/>
          </a:prstGeom>
          <a:noFill/>
          <a:ln w="7620">
            <a:solidFill>
              <a:srgbClr val="E3E7EC"/>
            </a:solidFill>
            <a:prstDash val="solid"/>
          </a:ln>
        </p:spPr>
      </p:sp>
      <p:sp>
        <p:nvSpPr>
          <p:cNvPr id="64" name="Text 60"/>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One account is worth about ten households. This is where the leverage is.</a:t>
            </a:r>
            <a:endParaRPr lang="en-US" sz="700" dirty="0"/>
          </a:p>
        </p:txBody>
      </p:sp>
      <p:sp>
        <p:nvSpPr>
          <p:cNvPr id="65" name="Shape 61"/>
          <p:cNvSpPr/>
          <p:nvPr/>
        </p:nvSpPr>
        <p:spPr>
          <a:xfrm>
            <a:off x="5183734" y="7504048"/>
            <a:ext cx="4752137" cy="2972032"/>
          </a:xfrm>
          <a:prstGeom prst="rect">
            <a:avLst/>
          </a:prstGeom>
          <a:solidFill>
            <a:srgbClr val="FFFFFF"/>
          </a:solidFill>
          <a:ln w="7620">
            <a:solidFill>
              <a:srgbClr val="E3E7EC"/>
            </a:solidFill>
            <a:prstDash val="solid"/>
          </a:ln>
        </p:spPr>
      </p:sp>
      <p:sp>
        <p:nvSpPr>
          <p:cNvPr id="66" name="Text 62"/>
          <p:cNvSpPr txBox="1"/>
          <p:nvPr/>
        </p:nvSpPr>
        <p:spPr>
          <a:xfrm>
            <a:off x="5298934"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FOUND BY PEOPLE, AND BY MACHINES</a:t>
            </a:r>
            <a:endParaRPr lang="en-US" sz="680" dirty="0"/>
          </a:p>
        </p:txBody>
      </p:sp>
      <p:sp>
        <p:nvSpPr>
          <p:cNvPr id="67" name="Text 63"/>
          <p:cNvSpPr txBox="1"/>
          <p:nvPr/>
        </p:nvSpPr>
        <p:spPr>
          <a:xfrm>
            <a:off x="5298934" y="7789116"/>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Within six to twelve months a large share of web traffic will expect an answer from AI search rather than a list of links. The site has to be readable by both.</a:t>
            </a:r>
            <a:endParaRPr lang="en-US" sz="810" dirty="0"/>
          </a:p>
        </p:txBody>
      </p:sp>
      <p:sp>
        <p:nvSpPr>
          <p:cNvPr id="68" name="Text 64"/>
          <p:cNvSpPr txBox="1"/>
          <p:nvPr/>
        </p:nvSpPr>
        <p:spPr>
          <a:xfrm>
            <a:off x="5298934" y="8263326"/>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basics that are missing: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real About page, an FAQ that answers the buying objections, reviews on the site rather than off it, and the awards page the Crafted win deserves.</a:t>
            </a:r>
            <a:endParaRPr lang="en-US" sz="810" dirty="0"/>
          </a:p>
        </p:txBody>
      </p:sp>
      <p:sp>
        <p:nvSpPr>
          <p:cNvPr id="69" name="Text 65"/>
          <p:cNvSpPr txBox="1"/>
          <p:nvPr/>
        </p:nvSpPr>
        <p:spPr>
          <a:xfrm>
            <a:off x="5298934" y="889184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Reviews are the cheapest asset here.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They exist, they are strong, and they sit on platforms rather than on the site where a model can read them.</a:t>
            </a:r>
            <a:endParaRPr lang="en-US" sz="810" dirty="0"/>
          </a:p>
        </p:txBody>
      </p:sp>
      <p:sp>
        <p:nvSpPr>
          <p:cNvPr id="70" name="Text 66"/>
          <p:cNvSpPr txBox="1"/>
          <p:nvPr/>
        </p:nvSpPr>
        <p:spPr>
          <a:xfrm>
            <a:off x="5298934" y="936605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the category play: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nobody owns beer at home on the Gold Coast in search. Owning it is cheaper now than it will ever be again.</a:t>
            </a:r>
            <a:endParaRPr lang="en-US" sz="810" dirty="0"/>
          </a:p>
        </p:txBody>
      </p:sp>
      <p:sp>
        <p:nvSpPr>
          <p:cNvPr id="71" name="Shape 67"/>
          <p:cNvSpPr/>
          <p:nvPr/>
        </p:nvSpPr>
        <p:spPr>
          <a:xfrm>
            <a:off x="10043770" y="7504048"/>
            <a:ext cx="4752137" cy="2972032"/>
          </a:xfrm>
          <a:prstGeom prst="rect">
            <a:avLst/>
          </a:prstGeom>
          <a:solidFill>
            <a:srgbClr val="FFFFFF"/>
          </a:solidFill>
          <a:ln w="7620">
            <a:solidFill>
              <a:srgbClr val="E3E7EC"/>
            </a:solidFill>
            <a:prstDash val="solid"/>
          </a:ln>
        </p:spPr>
      </p:sp>
      <p:sp>
        <p:nvSpPr>
          <p:cNvPr id="72" name="Text 68"/>
          <p:cNvSpPr txBox="1"/>
          <p:nvPr/>
        </p:nvSpPr>
        <p:spPr>
          <a:xfrm>
            <a:off x="10158970"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WE MEASURE</a:t>
            </a:r>
            <a:endParaRPr lang="en-US" sz="680" dirty="0"/>
          </a:p>
        </p:txBody>
      </p:sp>
      <p:sp>
        <p:nvSpPr>
          <p:cNvPr id="73" name="Shape 69"/>
          <p:cNvSpPr/>
          <p:nvPr/>
        </p:nvSpPr>
        <p:spPr>
          <a:xfrm>
            <a:off x="10158970" y="7789116"/>
            <a:ext cx="2224868" cy="458111"/>
          </a:xfrm>
          <a:prstGeom prst="rect">
            <a:avLst/>
          </a:prstGeom>
          <a:solidFill>
            <a:srgbClr val="F5F7FA"/>
          </a:solidFill>
          <a:ln w="7620">
            <a:solidFill>
              <a:srgbClr val="E3E7EC"/>
            </a:solidFill>
            <a:prstDash val="solid"/>
          </a:ln>
        </p:spPr>
      </p:sp>
      <p:sp>
        <p:nvSpPr>
          <p:cNvPr id="74" name="Text 70"/>
          <p:cNvSpPr txBox="1"/>
          <p:nvPr/>
        </p:nvSpPr>
        <p:spPr>
          <a:xfrm>
            <a:off x="10266970" y="7875516"/>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Systems</a:t>
            </a:r>
            <a:endParaRPr lang="en-US" sz="1100" dirty="0"/>
          </a:p>
        </p:txBody>
      </p:sp>
      <p:sp>
        <p:nvSpPr>
          <p:cNvPr id="75" name="Text 71"/>
          <p:cNvSpPr txBox="1"/>
          <p:nvPr/>
        </p:nvSpPr>
        <p:spPr>
          <a:xfrm>
            <a:off x="10266970" y="8118536"/>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IN MARKET, AGAINST 1,000</a:t>
            </a:r>
            <a:endParaRPr lang="en-US" sz="550" dirty="0"/>
          </a:p>
        </p:txBody>
      </p:sp>
      <p:sp>
        <p:nvSpPr>
          <p:cNvPr id="76" name="Shape 72"/>
          <p:cNvSpPr/>
          <p:nvPr/>
        </p:nvSpPr>
        <p:spPr>
          <a:xfrm>
            <a:off x="12455838" y="7789116"/>
            <a:ext cx="2224868" cy="458111"/>
          </a:xfrm>
          <a:prstGeom prst="rect">
            <a:avLst/>
          </a:prstGeom>
          <a:solidFill>
            <a:srgbClr val="F5F7FA"/>
          </a:solidFill>
          <a:ln w="7620">
            <a:solidFill>
              <a:srgbClr val="E3E7EC"/>
            </a:solidFill>
            <a:prstDash val="solid"/>
          </a:ln>
        </p:spPr>
      </p:sp>
      <p:sp>
        <p:nvSpPr>
          <p:cNvPr id="77" name="Text 73"/>
          <p:cNvSpPr txBox="1"/>
          <p:nvPr/>
        </p:nvSpPr>
        <p:spPr>
          <a:xfrm>
            <a:off x="12563838" y="7875516"/>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Active</a:t>
            </a:r>
            <a:endParaRPr lang="en-US" sz="1100" dirty="0"/>
          </a:p>
        </p:txBody>
      </p:sp>
      <p:sp>
        <p:nvSpPr>
          <p:cNvPr id="78" name="Text 74"/>
          <p:cNvSpPr txBox="1"/>
          <p:nvPr/>
        </p:nvSpPr>
        <p:spPr>
          <a:xfrm>
            <a:off x="12563838" y="8118536"/>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REFILL CUSTOMERS, ONE DEFINITION</a:t>
            </a:r>
            <a:endParaRPr lang="en-US" sz="550" dirty="0"/>
          </a:p>
        </p:txBody>
      </p:sp>
      <p:sp>
        <p:nvSpPr>
          <p:cNvPr id="79" name="Shape 75"/>
          <p:cNvSpPr/>
          <p:nvPr/>
        </p:nvSpPr>
        <p:spPr>
          <a:xfrm>
            <a:off x="10158970" y="8319227"/>
            <a:ext cx="2224868" cy="458111"/>
          </a:xfrm>
          <a:prstGeom prst="rect">
            <a:avLst/>
          </a:prstGeom>
          <a:solidFill>
            <a:srgbClr val="F5F7FA"/>
          </a:solidFill>
          <a:ln w="7620">
            <a:solidFill>
              <a:srgbClr val="E3E7EC"/>
            </a:solidFill>
            <a:prstDash val="solid"/>
          </a:ln>
        </p:spPr>
      </p:sp>
      <p:sp>
        <p:nvSpPr>
          <p:cNvPr id="80" name="Text 76"/>
          <p:cNvSpPr txBox="1"/>
          <p:nvPr/>
        </p:nvSpPr>
        <p:spPr>
          <a:xfrm>
            <a:off x="10266970" y="8405627"/>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Leak</a:t>
            </a:r>
            <a:endParaRPr lang="en-US" sz="1100" dirty="0"/>
          </a:p>
        </p:txBody>
      </p:sp>
      <p:sp>
        <p:nvSpPr>
          <p:cNvPr id="81" name="Text 77"/>
          <p:cNvSpPr txBox="1"/>
          <p:nvPr/>
        </p:nvSpPr>
        <p:spPr>
          <a:xfrm>
            <a:off x="10266970" y="8648647"/>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LAPSE RATE, MEMBER VS NON-MEMBER</a:t>
            </a:r>
            <a:endParaRPr lang="en-US" sz="550" dirty="0"/>
          </a:p>
        </p:txBody>
      </p:sp>
      <p:sp>
        <p:nvSpPr>
          <p:cNvPr id="82" name="Shape 78"/>
          <p:cNvSpPr/>
          <p:nvPr/>
        </p:nvSpPr>
        <p:spPr>
          <a:xfrm>
            <a:off x="12455838" y="8319227"/>
            <a:ext cx="2224868" cy="458111"/>
          </a:xfrm>
          <a:prstGeom prst="rect">
            <a:avLst/>
          </a:prstGeom>
          <a:solidFill>
            <a:srgbClr val="F5F7FA"/>
          </a:solidFill>
          <a:ln w="7620">
            <a:solidFill>
              <a:srgbClr val="E3E7EC"/>
            </a:solidFill>
            <a:prstDash val="solid"/>
          </a:ln>
        </p:spPr>
      </p:sp>
      <p:sp>
        <p:nvSpPr>
          <p:cNvPr id="83" name="Text 79"/>
          <p:cNvSpPr txBox="1"/>
          <p:nvPr/>
        </p:nvSpPr>
        <p:spPr>
          <a:xfrm>
            <a:off x="12563838" y="8405627"/>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Accounts</a:t>
            </a:r>
            <a:endParaRPr lang="en-US" sz="1100" dirty="0"/>
          </a:p>
        </p:txBody>
      </p:sp>
      <p:sp>
        <p:nvSpPr>
          <p:cNvPr id="84" name="Text 80"/>
          <p:cNvSpPr txBox="1"/>
          <p:nvPr/>
        </p:nvSpPr>
        <p:spPr>
          <a:xfrm>
            <a:off x="12563838" y="8648647"/>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WHOLESALE, AND KEGS PER ACCOUNT</a:t>
            </a:r>
            <a:endParaRPr lang="en-US" sz="550" dirty="0"/>
          </a:p>
        </p:txBody>
      </p:sp>
      <p:sp>
        <p:nvSpPr>
          <p:cNvPr id="85" name="Text 81"/>
          <p:cNvSpPr txBox="1"/>
          <p:nvPr/>
        </p:nvSpPr>
        <p:spPr>
          <a:xfrm>
            <a:off x="10158970" y="8942938"/>
            <a:ext cx="4521737"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report, monthly, four numbers.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Not a dashboard nobody opens.</a:t>
            </a:r>
            <a:endParaRPr lang="en-US" sz="810" dirty="0"/>
          </a:p>
        </p:txBody>
      </p:sp>
      <p:sp>
        <p:nvSpPr>
          <p:cNvPr id="86" name="Text 82"/>
          <p:cNvSpPr txBox="1"/>
          <p:nvPr/>
        </p:nvSpPr>
        <p:spPr>
          <a:xfrm>
            <a:off x="10158970" y="926284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Active customer is currently defined three ways.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Pick one before the first report, or the number will be argued about instead of acted on.</a:t>
            </a:r>
            <a:endParaRPr lang="en-US" sz="8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Activation plan – on a page</a:t>
            </a:r>
            <a:endParaRPr lang="en-US" sz="2100" dirty="0"/>
          </a:p>
        </p:txBody>
      </p:sp>
      <p:sp>
        <p:nvSpPr>
          <p:cNvPr id="4" name="Shape 1"/>
          <p:cNvSpPr/>
          <p:nvPr/>
        </p:nvSpPr>
        <p:spPr>
          <a:xfrm>
            <a:off x="13650938" y="365760"/>
            <a:ext cx="1144969" cy="251460"/>
          </a:xfrm>
          <a:prstGeom prst="roundRect">
            <a:avLst>
              <a:gd name="adj" fmla="val 50000"/>
            </a:avLst>
          </a:prstGeom>
          <a:solidFill>
            <a:srgbClr val="0E171F"/>
          </a:solidFill>
          <a:ln w="9525">
            <a:solidFill>
              <a:srgbClr val="0E171F"/>
            </a:solidFill>
            <a:prstDash val="solid"/>
          </a:ln>
        </p:spPr>
      </p:sp>
      <p:sp>
        <p:nvSpPr>
          <p:cNvPr id="5" name="Text 2"/>
          <p:cNvSpPr txBox="1"/>
          <p:nvPr/>
        </p:nvSpPr>
        <p:spPr>
          <a:xfrm>
            <a:off x="13650938" y="365760"/>
            <a:ext cx="1144969" cy="251460"/>
          </a:xfrm>
          <a:prstGeom prst="rect">
            <a:avLst/>
          </a:prstGeom>
          <a:noFill/>
          <a:ln/>
        </p:spPr>
        <p:txBody>
          <a:bodyPr wrap="square" lIns="0" tIns="0" rIns="0" bIns="0" rtlCol="0" anchor="ctr"/>
          <a:lstStyle/>
          <a:p>
            <a:pPr algn="ctr" indent="0" marL="0">
              <a:buNone/>
            </a:pPr>
            <a:r>
              <a:rPr lang="en-US" sz="650" b="1" spc="78" kern="0" dirty="0">
                <a:solidFill>
                  <a:srgbClr val="FFFFFF"/>
                </a:solidFill>
                <a:latin typeface="Poppins" pitchFamily="34" charset="0"/>
                <a:ea typeface="Poppins" pitchFamily="34" charset="-122"/>
                <a:cs typeface="Poppins" pitchFamily="34" charset="-120"/>
              </a:rPr>
              <a:t>JEWELL PROJECTS</a:t>
            </a:r>
            <a:endParaRPr lang="en-US" sz="650" dirty="0"/>
          </a:p>
        </p:txBody>
      </p:sp>
      <p:sp>
        <p:nvSpPr>
          <p:cNvPr id="6" name="Shape 3"/>
          <p:cNvSpPr/>
          <p:nvPr/>
        </p:nvSpPr>
        <p:spPr>
          <a:xfrm>
            <a:off x="12410462" y="365760"/>
            <a:ext cx="1150475" cy="251460"/>
          </a:xfrm>
          <a:prstGeom prst="roundRect">
            <a:avLst>
              <a:gd name="adj" fmla="val 50000"/>
            </a:avLst>
          </a:prstGeom>
          <a:solidFill>
            <a:srgbClr val="FFFFFF"/>
          </a:solidFill>
          <a:ln w="9525">
            <a:solidFill>
              <a:srgbClr val="E3E7EC"/>
            </a:solidFill>
            <a:prstDash val="solid"/>
          </a:ln>
        </p:spPr>
      </p:sp>
      <p:sp>
        <p:nvSpPr>
          <p:cNvPr id="7" name="Text 4"/>
          <p:cNvSpPr txBox="1"/>
          <p:nvPr/>
        </p:nvSpPr>
        <p:spPr>
          <a:xfrm>
            <a:off x="12410462"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8" name="Shape 5"/>
          <p:cNvSpPr/>
          <p:nvPr/>
        </p:nvSpPr>
        <p:spPr>
          <a:xfrm>
            <a:off x="11102419" y="365760"/>
            <a:ext cx="1218043" cy="251460"/>
          </a:xfrm>
          <a:prstGeom prst="roundRect">
            <a:avLst>
              <a:gd name="adj" fmla="val 50000"/>
            </a:avLst>
          </a:prstGeom>
          <a:solidFill>
            <a:srgbClr val="FFFFFF"/>
          </a:solidFill>
          <a:ln w="9525">
            <a:solidFill>
              <a:srgbClr val="E3E7EC"/>
            </a:solidFill>
            <a:prstDash val="solid"/>
          </a:ln>
        </p:spPr>
      </p:sp>
      <p:sp>
        <p:nvSpPr>
          <p:cNvPr id="9" name="Text 6"/>
          <p:cNvSpPr txBox="1"/>
          <p:nvPr/>
        </p:nvSpPr>
        <p:spPr>
          <a:xfrm>
            <a:off x="11102419"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10" name="Shape 7"/>
          <p:cNvSpPr/>
          <p:nvPr/>
        </p:nvSpPr>
        <p:spPr>
          <a:xfrm>
            <a:off x="10036519" y="365760"/>
            <a:ext cx="975900" cy="251460"/>
          </a:xfrm>
          <a:prstGeom prst="roundRect">
            <a:avLst>
              <a:gd name="adj" fmla="val 50000"/>
            </a:avLst>
          </a:prstGeom>
          <a:solidFill>
            <a:srgbClr val="FFFFFF"/>
          </a:solidFill>
          <a:ln w="9525">
            <a:solidFill>
              <a:srgbClr val="E3E7EC"/>
            </a:solidFill>
            <a:prstDash val="solid"/>
          </a:ln>
        </p:spPr>
      </p:sp>
      <p:sp>
        <p:nvSpPr>
          <p:cNvPr id="11" name="Text 8"/>
          <p:cNvSpPr txBox="1"/>
          <p:nvPr/>
        </p:nvSpPr>
        <p:spPr>
          <a:xfrm>
            <a:off x="10036519" y="365760"/>
            <a:ext cx="975900"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PLAN 04 OF 04</a:t>
            </a:r>
            <a:endParaRPr lang="en-US" sz="650" dirty="0"/>
          </a:p>
        </p:txBody>
      </p:sp>
      <p:sp>
        <p:nvSpPr>
          <p:cNvPr id="12" name="Shape 9"/>
          <p:cNvSpPr/>
          <p:nvPr/>
        </p:nvSpPr>
        <p:spPr>
          <a:xfrm>
            <a:off x="323698" y="969264"/>
            <a:ext cx="14472209" cy="0"/>
          </a:xfrm>
          <a:prstGeom prst="line">
            <a:avLst/>
          </a:prstGeom>
          <a:noFill/>
          <a:ln w="25400">
            <a:solidFill>
              <a:srgbClr val="0E171F"/>
            </a:solidFill>
            <a:prstDash val="solid"/>
          </a:ln>
        </p:spPr>
      </p:sp>
      <p:sp>
        <p:nvSpPr>
          <p:cNvPr id="13" name="Shape 10"/>
          <p:cNvSpPr/>
          <p:nvPr/>
        </p:nvSpPr>
        <p:spPr>
          <a:xfrm>
            <a:off x="323698" y="1115568"/>
            <a:ext cx="14472209" cy="3087069"/>
          </a:xfrm>
          <a:prstGeom prst="rect">
            <a:avLst/>
          </a:prstGeom>
          <a:solidFill>
            <a:srgbClr val="FFFFFF"/>
          </a:solidFill>
          <a:ln w="7620">
            <a:solidFill>
              <a:srgbClr val="E3E7EC"/>
            </a:solidFill>
            <a:prstDash val="solid"/>
          </a:ln>
        </p:spPr>
      </p:sp>
      <p:sp>
        <p:nvSpPr>
          <p:cNvPr id="14" name="Shape 11"/>
          <p:cNvSpPr/>
          <p:nvPr/>
        </p:nvSpPr>
        <p:spPr>
          <a:xfrm>
            <a:off x="323698" y="1115568"/>
            <a:ext cx="14472209" cy="36000"/>
          </a:xfrm>
          <a:prstGeom prst="rect">
            <a:avLst/>
          </a:prstGeom>
          <a:solidFill>
            <a:srgbClr val="0066FF"/>
          </a:solidFill>
          <a:ln w="12700">
            <a:solidFill>
              <a:srgbClr val="333333"/>
            </a:solidFill>
            <a:prstDash val="solid"/>
          </a:ln>
        </p:spPr>
      </p:sp>
      <p:sp>
        <p:nvSpPr>
          <p:cNvPr id="15" name="Text 12"/>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NINETY DAYS</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proposed, and dated off the 15 September catch-up</a:t>
            </a:r>
            <a:endParaRPr lang="en-US" sz="680" dirty="0"/>
          </a:p>
        </p:txBody>
      </p:sp>
      <p:sp>
        <p:nvSpPr>
          <p:cNvPr id="16" name="Shape 13"/>
          <p:cNvSpPr/>
          <p:nvPr/>
        </p:nvSpPr>
        <p:spPr>
          <a:xfrm>
            <a:off x="438898" y="1400636"/>
            <a:ext cx="3479528" cy="2444386"/>
          </a:xfrm>
          <a:prstGeom prst="rect">
            <a:avLst/>
          </a:prstGeom>
          <a:solidFill>
            <a:srgbClr val="F5F7FA"/>
          </a:solidFill>
          <a:ln w="7620">
            <a:solidFill>
              <a:srgbClr val="E3E7EC"/>
            </a:solidFill>
            <a:prstDash val="solid"/>
          </a:ln>
        </p:spPr>
      </p:sp>
      <p:sp>
        <p:nvSpPr>
          <p:cNvPr id="17" name="Shape 14"/>
          <p:cNvSpPr/>
          <p:nvPr/>
        </p:nvSpPr>
        <p:spPr>
          <a:xfrm>
            <a:off x="438898" y="1400636"/>
            <a:ext cx="3479528" cy="28800"/>
          </a:xfrm>
          <a:prstGeom prst="rect">
            <a:avLst/>
          </a:prstGeom>
          <a:solidFill>
            <a:srgbClr val="0066FF"/>
          </a:solidFill>
          <a:ln w="12700">
            <a:solidFill>
              <a:srgbClr val="333333"/>
            </a:solidFill>
            <a:prstDash val="solid"/>
          </a:ln>
        </p:spPr>
      </p:sp>
      <p:sp>
        <p:nvSpPr>
          <p:cNvPr id="18" name="Text 15"/>
          <p:cNvSpPr txBox="1"/>
          <p:nvPr/>
        </p:nvSpPr>
        <p:spPr>
          <a:xfrm>
            <a:off x="532498"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NOW · TO FRI 18 SEPT</a:t>
            </a:r>
            <a:endParaRPr lang="en-US" sz="650" dirty="0"/>
          </a:p>
        </p:txBody>
      </p:sp>
      <p:sp>
        <p:nvSpPr>
          <p:cNvPr id="19" name="Shape 16"/>
          <p:cNvSpPr/>
          <p:nvPr/>
        </p:nvSpPr>
        <p:spPr>
          <a:xfrm>
            <a:off x="532498" y="1697019"/>
            <a:ext cx="50400" cy="50400"/>
          </a:xfrm>
          <a:prstGeom prst="rect">
            <a:avLst/>
          </a:prstGeom>
          <a:solidFill>
            <a:srgbClr val="0066FF"/>
          </a:solidFill>
          <a:ln w="12700">
            <a:solidFill>
              <a:srgbClr val="333333"/>
            </a:solidFill>
            <a:prstDash val="solid"/>
          </a:ln>
        </p:spPr>
      </p:sp>
      <p:sp>
        <p:nvSpPr>
          <p:cNvPr id="20" name="Text 17"/>
          <p:cNvSpPr txBox="1"/>
          <p:nvPr/>
        </p:nvSpPr>
        <p:spPr>
          <a:xfrm>
            <a:off x="626098"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Justin returns the committed moves</a:t>
            </a:r>
            <a:endParaRPr lang="en-US" sz="740" dirty="0"/>
          </a:p>
        </p:txBody>
      </p:sp>
      <p:sp>
        <p:nvSpPr>
          <p:cNvPr id="21" name="Shape 18"/>
          <p:cNvSpPr/>
          <p:nvPr/>
        </p:nvSpPr>
        <p:spPr>
          <a:xfrm>
            <a:off x="532498" y="1873671"/>
            <a:ext cx="50400" cy="50400"/>
          </a:xfrm>
          <a:prstGeom prst="rect">
            <a:avLst/>
          </a:prstGeom>
          <a:solidFill>
            <a:srgbClr val="0066FF"/>
          </a:solidFill>
          <a:ln w="12700">
            <a:solidFill>
              <a:srgbClr val="333333"/>
            </a:solidFill>
            <a:prstDash val="solid"/>
          </a:ln>
        </p:spPr>
      </p:sp>
      <p:sp>
        <p:nvSpPr>
          <p:cNvPr id="22" name="Text 19"/>
          <p:cNvSpPr txBox="1"/>
          <p:nvPr/>
        </p:nvSpPr>
        <p:spPr>
          <a:xfrm>
            <a:off x="626098"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Clent and Christy regroup after Thu 17th</a:t>
            </a:r>
            <a:endParaRPr lang="en-US" sz="740" dirty="0"/>
          </a:p>
        </p:txBody>
      </p:sp>
      <p:sp>
        <p:nvSpPr>
          <p:cNvPr id="23" name="Shape 20"/>
          <p:cNvSpPr/>
          <p:nvPr/>
        </p:nvSpPr>
        <p:spPr>
          <a:xfrm>
            <a:off x="532498" y="2050322"/>
            <a:ext cx="50400" cy="50400"/>
          </a:xfrm>
          <a:prstGeom prst="rect">
            <a:avLst/>
          </a:prstGeom>
          <a:solidFill>
            <a:srgbClr val="0066FF"/>
          </a:solidFill>
          <a:ln w="12700">
            <a:solidFill>
              <a:srgbClr val="333333"/>
            </a:solidFill>
            <a:prstDash val="solid"/>
          </a:ln>
        </p:spPr>
      </p:sp>
      <p:sp>
        <p:nvSpPr>
          <p:cNvPr id="24" name="Text 21"/>
          <p:cNvSpPr txBox="1"/>
          <p:nvPr/>
        </p:nvSpPr>
        <p:spPr>
          <a:xfrm>
            <a:off x="626098"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Settle the per-schooner figure, pull or fix the live ad</a:t>
            </a:r>
            <a:endParaRPr lang="en-US" sz="740" dirty="0"/>
          </a:p>
        </p:txBody>
      </p:sp>
      <p:sp>
        <p:nvSpPr>
          <p:cNvPr id="25" name="Shape 22"/>
          <p:cNvSpPr/>
          <p:nvPr/>
        </p:nvSpPr>
        <p:spPr>
          <a:xfrm>
            <a:off x="532498" y="2226974"/>
            <a:ext cx="50400" cy="50400"/>
          </a:xfrm>
          <a:prstGeom prst="rect">
            <a:avLst/>
          </a:prstGeom>
          <a:solidFill>
            <a:srgbClr val="0066FF"/>
          </a:solidFill>
          <a:ln w="12700">
            <a:solidFill>
              <a:srgbClr val="333333"/>
            </a:solidFill>
            <a:prstDash val="solid"/>
          </a:ln>
        </p:spPr>
      </p:sp>
      <p:sp>
        <p:nvSpPr>
          <p:cNvPr id="26" name="Text 23"/>
          <p:cNvSpPr txBox="1"/>
          <p:nvPr/>
        </p:nvSpPr>
        <p:spPr>
          <a:xfrm>
            <a:off x="626098"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Pick one definition of an active customer</a:t>
            </a:r>
            <a:endParaRPr lang="en-US" sz="740" dirty="0"/>
          </a:p>
        </p:txBody>
      </p:sp>
      <p:sp>
        <p:nvSpPr>
          <p:cNvPr id="27" name="Shape 24"/>
          <p:cNvSpPr/>
          <p:nvPr/>
        </p:nvSpPr>
        <p:spPr>
          <a:xfrm>
            <a:off x="4026325" y="1400636"/>
            <a:ext cx="3479528" cy="2444386"/>
          </a:xfrm>
          <a:prstGeom prst="rect">
            <a:avLst/>
          </a:prstGeom>
          <a:solidFill>
            <a:srgbClr val="F5F7FA"/>
          </a:solidFill>
          <a:ln w="7620">
            <a:solidFill>
              <a:srgbClr val="E3E7EC"/>
            </a:solidFill>
            <a:prstDash val="solid"/>
          </a:ln>
        </p:spPr>
      </p:sp>
      <p:sp>
        <p:nvSpPr>
          <p:cNvPr id="28" name="Shape 25"/>
          <p:cNvSpPr/>
          <p:nvPr/>
        </p:nvSpPr>
        <p:spPr>
          <a:xfrm>
            <a:off x="4026325" y="1400636"/>
            <a:ext cx="3479528" cy="28800"/>
          </a:xfrm>
          <a:prstGeom prst="rect">
            <a:avLst/>
          </a:prstGeom>
          <a:solidFill>
            <a:srgbClr val="0066FF"/>
          </a:solidFill>
          <a:ln w="12700">
            <a:solidFill>
              <a:srgbClr val="333333"/>
            </a:solidFill>
            <a:prstDash val="solid"/>
          </a:ln>
        </p:spPr>
      </p:sp>
      <p:sp>
        <p:nvSpPr>
          <p:cNvPr id="29" name="Text 26"/>
          <p:cNvSpPr txBox="1"/>
          <p:nvPr/>
        </p:nvSpPr>
        <p:spPr>
          <a:xfrm>
            <a:off x="4119925"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SPRINT 1 · 22 SEPT TO 17 OCT</a:t>
            </a:r>
            <a:endParaRPr lang="en-US" sz="650" dirty="0"/>
          </a:p>
        </p:txBody>
      </p:sp>
      <p:sp>
        <p:nvSpPr>
          <p:cNvPr id="30" name="Shape 27"/>
          <p:cNvSpPr/>
          <p:nvPr/>
        </p:nvSpPr>
        <p:spPr>
          <a:xfrm>
            <a:off x="4119925" y="1697019"/>
            <a:ext cx="50400" cy="50400"/>
          </a:xfrm>
          <a:prstGeom prst="rect">
            <a:avLst/>
          </a:prstGeom>
          <a:solidFill>
            <a:srgbClr val="0066FF"/>
          </a:solidFill>
          <a:ln w="12700">
            <a:solidFill>
              <a:srgbClr val="333333"/>
            </a:solidFill>
            <a:prstDash val="solid"/>
          </a:ln>
        </p:spPr>
      </p:sp>
      <p:sp>
        <p:nvSpPr>
          <p:cNvPr id="31" name="Text 28"/>
          <p:cNvSpPr txBox="1"/>
          <p:nvPr/>
        </p:nvSpPr>
        <p:spPr>
          <a:xfrm>
            <a:off x="4213525"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Connect website, POS and CRM</a:t>
            </a:r>
            <a:endParaRPr lang="en-US" sz="740" dirty="0"/>
          </a:p>
        </p:txBody>
      </p:sp>
      <p:sp>
        <p:nvSpPr>
          <p:cNvPr id="32" name="Shape 29"/>
          <p:cNvSpPr/>
          <p:nvPr/>
        </p:nvSpPr>
        <p:spPr>
          <a:xfrm>
            <a:off x="4119925" y="1873671"/>
            <a:ext cx="50400" cy="50400"/>
          </a:xfrm>
          <a:prstGeom prst="rect">
            <a:avLst/>
          </a:prstGeom>
          <a:solidFill>
            <a:srgbClr val="0066FF"/>
          </a:solidFill>
          <a:ln w="12700">
            <a:solidFill>
              <a:srgbClr val="333333"/>
            </a:solidFill>
            <a:prstDash val="solid"/>
          </a:ln>
        </p:spPr>
      </p:sp>
      <p:sp>
        <p:nvSpPr>
          <p:cNvPr id="33" name="Text 30"/>
          <p:cNvSpPr txBox="1"/>
          <p:nvPr/>
        </p:nvSpPr>
        <p:spPr>
          <a:xfrm>
            <a:off x="4213525"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Consumption-triggered reminders replace the 90-day SMS</a:t>
            </a:r>
            <a:endParaRPr lang="en-US" sz="740" dirty="0"/>
          </a:p>
        </p:txBody>
      </p:sp>
      <p:sp>
        <p:nvSpPr>
          <p:cNvPr id="34" name="Shape 31"/>
          <p:cNvSpPr/>
          <p:nvPr/>
        </p:nvSpPr>
        <p:spPr>
          <a:xfrm>
            <a:off x="4119925" y="2050322"/>
            <a:ext cx="50400" cy="50400"/>
          </a:xfrm>
          <a:prstGeom prst="rect">
            <a:avLst/>
          </a:prstGeom>
          <a:solidFill>
            <a:srgbClr val="0066FF"/>
          </a:solidFill>
          <a:ln w="12700">
            <a:solidFill>
              <a:srgbClr val="333333"/>
            </a:solidFill>
            <a:prstDash val="solid"/>
          </a:ln>
        </p:spPr>
      </p:sp>
      <p:sp>
        <p:nvSpPr>
          <p:cNvPr id="35" name="Text 32"/>
          <p:cNvSpPr txBox="1"/>
          <p:nvPr/>
        </p:nvSpPr>
        <p:spPr>
          <a:xfrm>
            <a:off x="4213525"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Destination offer live: tours, weddings, functions</a:t>
            </a:r>
            <a:endParaRPr lang="en-US" sz="740" dirty="0"/>
          </a:p>
        </p:txBody>
      </p:sp>
      <p:sp>
        <p:nvSpPr>
          <p:cNvPr id="36" name="Shape 33"/>
          <p:cNvSpPr/>
          <p:nvPr/>
        </p:nvSpPr>
        <p:spPr>
          <a:xfrm>
            <a:off x="4119925" y="2226974"/>
            <a:ext cx="50400" cy="50400"/>
          </a:xfrm>
          <a:prstGeom prst="rect">
            <a:avLst/>
          </a:prstGeom>
          <a:solidFill>
            <a:srgbClr val="0066FF"/>
          </a:solidFill>
          <a:ln w="12700">
            <a:solidFill>
              <a:srgbClr val="333333"/>
            </a:solidFill>
            <a:prstDash val="solid"/>
          </a:ln>
        </p:spPr>
      </p:sp>
      <p:sp>
        <p:nvSpPr>
          <p:cNvPr id="37" name="Text 34"/>
          <p:cNvSpPr txBox="1"/>
          <p:nvPr/>
        </p:nvSpPr>
        <p:spPr>
          <a:xfrm>
            <a:off x="4213525"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Harvey Norman and Kegland conversations opened</a:t>
            </a:r>
            <a:endParaRPr lang="en-US" sz="740" dirty="0"/>
          </a:p>
        </p:txBody>
      </p:sp>
      <p:sp>
        <p:nvSpPr>
          <p:cNvPr id="38" name="Shape 35"/>
          <p:cNvSpPr/>
          <p:nvPr/>
        </p:nvSpPr>
        <p:spPr>
          <a:xfrm>
            <a:off x="7613752" y="1400636"/>
            <a:ext cx="3479528" cy="2444386"/>
          </a:xfrm>
          <a:prstGeom prst="rect">
            <a:avLst/>
          </a:prstGeom>
          <a:solidFill>
            <a:srgbClr val="F5F7FA"/>
          </a:solidFill>
          <a:ln w="7620">
            <a:solidFill>
              <a:srgbClr val="E3E7EC"/>
            </a:solidFill>
            <a:prstDash val="solid"/>
          </a:ln>
        </p:spPr>
      </p:sp>
      <p:sp>
        <p:nvSpPr>
          <p:cNvPr id="39" name="Shape 36"/>
          <p:cNvSpPr/>
          <p:nvPr/>
        </p:nvSpPr>
        <p:spPr>
          <a:xfrm>
            <a:off x="7613752" y="1400636"/>
            <a:ext cx="3479528" cy="28800"/>
          </a:xfrm>
          <a:prstGeom prst="rect">
            <a:avLst/>
          </a:prstGeom>
          <a:solidFill>
            <a:srgbClr val="0066FF"/>
          </a:solidFill>
          <a:ln w="12700">
            <a:solidFill>
              <a:srgbClr val="333333"/>
            </a:solidFill>
            <a:prstDash val="solid"/>
          </a:ln>
        </p:spPr>
      </p:sp>
      <p:sp>
        <p:nvSpPr>
          <p:cNvPr id="40" name="Text 37"/>
          <p:cNvSpPr txBox="1"/>
          <p:nvPr/>
        </p:nvSpPr>
        <p:spPr>
          <a:xfrm>
            <a:off x="7707352"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SPRINT 2 · 20 OCT TO 14 NOV</a:t>
            </a:r>
            <a:endParaRPr lang="en-US" sz="650" dirty="0"/>
          </a:p>
        </p:txBody>
      </p:sp>
      <p:sp>
        <p:nvSpPr>
          <p:cNvPr id="41" name="Shape 38"/>
          <p:cNvSpPr/>
          <p:nvPr/>
        </p:nvSpPr>
        <p:spPr>
          <a:xfrm>
            <a:off x="7707352" y="1697019"/>
            <a:ext cx="50400" cy="50400"/>
          </a:xfrm>
          <a:prstGeom prst="rect">
            <a:avLst/>
          </a:prstGeom>
          <a:solidFill>
            <a:srgbClr val="0066FF"/>
          </a:solidFill>
          <a:ln w="12700">
            <a:solidFill>
              <a:srgbClr val="333333"/>
            </a:solidFill>
            <a:prstDash val="solid"/>
          </a:ln>
        </p:spPr>
      </p:sp>
      <p:sp>
        <p:nvSpPr>
          <p:cNvPr id="42" name="Text 39"/>
          <p:cNvSpPr txBox="1"/>
          <p:nvPr/>
        </p:nvSpPr>
        <p:spPr>
          <a:xfrm>
            <a:off x="7800952"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Wholesale role starts, with targets</a:t>
            </a:r>
            <a:endParaRPr lang="en-US" sz="740" dirty="0"/>
          </a:p>
        </p:txBody>
      </p:sp>
      <p:sp>
        <p:nvSpPr>
          <p:cNvPr id="43" name="Shape 40"/>
          <p:cNvSpPr/>
          <p:nvPr/>
        </p:nvSpPr>
        <p:spPr>
          <a:xfrm>
            <a:off x="7707352" y="1873671"/>
            <a:ext cx="50400" cy="50400"/>
          </a:xfrm>
          <a:prstGeom prst="rect">
            <a:avLst/>
          </a:prstGeom>
          <a:solidFill>
            <a:srgbClr val="0066FF"/>
          </a:solidFill>
          <a:ln w="12700">
            <a:solidFill>
              <a:srgbClr val="333333"/>
            </a:solidFill>
            <a:prstDash val="solid"/>
          </a:ln>
        </p:spPr>
      </p:sp>
      <p:sp>
        <p:nvSpPr>
          <p:cNvPr id="44" name="Text 41"/>
          <p:cNvSpPr txBox="1"/>
          <p:nvPr/>
        </p:nvSpPr>
        <p:spPr>
          <a:xfrm>
            <a:off x="7800952"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Membership attached to every system sale</a:t>
            </a:r>
            <a:endParaRPr lang="en-US" sz="740" dirty="0"/>
          </a:p>
        </p:txBody>
      </p:sp>
      <p:sp>
        <p:nvSpPr>
          <p:cNvPr id="45" name="Shape 42"/>
          <p:cNvSpPr/>
          <p:nvPr/>
        </p:nvSpPr>
        <p:spPr>
          <a:xfrm>
            <a:off x="7707352" y="2050322"/>
            <a:ext cx="50400" cy="50400"/>
          </a:xfrm>
          <a:prstGeom prst="rect">
            <a:avLst/>
          </a:prstGeom>
          <a:solidFill>
            <a:srgbClr val="0066FF"/>
          </a:solidFill>
          <a:ln w="12700">
            <a:solidFill>
              <a:srgbClr val="333333"/>
            </a:solidFill>
            <a:prstDash val="solid"/>
          </a:ln>
        </p:spPr>
      </p:sp>
      <p:sp>
        <p:nvSpPr>
          <p:cNvPr id="46" name="Text 43"/>
          <p:cNvSpPr txBox="1"/>
          <p:nvPr/>
        </p:nvSpPr>
        <p:spPr>
          <a:xfrm>
            <a:off x="7800952"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Award and proof assets across site and venue</a:t>
            </a:r>
            <a:endParaRPr lang="en-US" sz="740" dirty="0"/>
          </a:p>
        </p:txBody>
      </p:sp>
      <p:sp>
        <p:nvSpPr>
          <p:cNvPr id="47" name="Shape 44"/>
          <p:cNvSpPr/>
          <p:nvPr/>
        </p:nvSpPr>
        <p:spPr>
          <a:xfrm>
            <a:off x="7707352" y="2226974"/>
            <a:ext cx="50400" cy="50400"/>
          </a:xfrm>
          <a:prstGeom prst="rect">
            <a:avLst/>
          </a:prstGeom>
          <a:solidFill>
            <a:srgbClr val="0066FF"/>
          </a:solidFill>
          <a:ln w="12700">
            <a:solidFill>
              <a:srgbClr val="333333"/>
            </a:solidFill>
            <a:prstDash val="solid"/>
          </a:ln>
        </p:spPr>
      </p:sp>
      <p:sp>
        <p:nvSpPr>
          <p:cNvPr id="48" name="Text 45"/>
          <p:cNvSpPr txBox="1"/>
          <p:nvPr/>
        </p:nvSpPr>
        <p:spPr>
          <a:xfrm>
            <a:off x="7800952"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Lapsed split into forgot and cutting back</a:t>
            </a:r>
            <a:endParaRPr lang="en-US" sz="740" dirty="0"/>
          </a:p>
        </p:txBody>
      </p:sp>
      <p:sp>
        <p:nvSpPr>
          <p:cNvPr id="49" name="Shape 46"/>
          <p:cNvSpPr/>
          <p:nvPr/>
        </p:nvSpPr>
        <p:spPr>
          <a:xfrm>
            <a:off x="11201179" y="1400636"/>
            <a:ext cx="3479528" cy="2444386"/>
          </a:xfrm>
          <a:prstGeom prst="rect">
            <a:avLst/>
          </a:prstGeom>
          <a:solidFill>
            <a:srgbClr val="F5F7FA"/>
          </a:solidFill>
          <a:ln w="7620">
            <a:solidFill>
              <a:srgbClr val="E3E7EC"/>
            </a:solidFill>
            <a:prstDash val="solid"/>
          </a:ln>
        </p:spPr>
      </p:sp>
      <p:sp>
        <p:nvSpPr>
          <p:cNvPr id="50" name="Shape 47"/>
          <p:cNvSpPr/>
          <p:nvPr/>
        </p:nvSpPr>
        <p:spPr>
          <a:xfrm>
            <a:off x="11201179" y="1400636"/>
            <a:ext cx="3479528" cy="28800"/>
          </a:xfrm>
          <a:prstGeom prst="rect">
            <a:avLst/>
          </a:prstGeom>
          <a:solidFill>
            <a:srgbClr val="0066FF"/>
          </a:solidFill>
          <a:ln w="12700">
            <a:solidFill>
              <a:srgbClr val="333333"/>
            </a:solidFill>
            <a:prstDash val="solid"/>
          </a:ln>
        </p:spPr>
      </p:sp>
      <p:sp>
        <p:nvSpPr>
          <p:cNvPr id="51" name="Text 48"/>
          <p:cNvSpPr txBox="1"/>
          <p:nvPr/>
        </p:nvSpPr>
        <p:spPr>
          <a:xfrm>
            <a:off x="11294779"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SPRINT 3 · 17 NOV TO 12 DEC</a:t>
            </a:r>
            <a:endParaRPr lang="en-US" sz="650" dirty="0"/>
          </a:p>
        </p:txBody>
      </p:sp>
      <p:sp>
        <p:nvSpPr>
          <p:cNvPr id="52" name="Shape 49"/>
          <p:cNvSpPr/>
          <p:nvPr/>
        </p:nvSpPr>
        <p:spPr>
          <a:xfrm>
            <a:off x="11294779" y="1697019"/>
            <a:ext cx="50400" cy="50400"/>
          </a:xfrm>
          <a:prstGeom prst="rect">
            <a:avLst/>
          </a:prstGeom>
          <a:solidFill>
            <a:srgbClr val="0066FF"/>
          </a:solidFill>
          <a:ln w="12700">
            <a:solidFill>
              <a:srgbClr val="333333"/>
            </a:solidFill>
            <a:prstDash val="solid"/>
          </a:ln>
        </p:spPr>
      </p:sp>
      <p:sp>
        <p:nvSpPr>
          <p:cNvPr id="53" name="Text 50"/>
          <p:cNvSpPr txBox="1"/>
          <p:nvPr/>
        </p:nvSpPr>
        <p:spPr>
          <a:xfrm>
            <a:off x="11388379"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Range cut to heroes, with the marketing behind them</a:t>
            </a:r>
            <a:endParaRPr lang="en-US" sz="740" dirty="0"/>
          </a:p>
        </p:txBody>
      </p:sp>
      <p:sp>
        <p:nvSpPr>
          <p:cNvPr id="54" name="Shape 51"/>
          <p:cNvSpPr/>
          <p:nvPr/>
        </p:nvSpPr>
        <p:spPr>
          <a:xfrm>
            <a:off x="11294779" y="1873671"/>
            <a:ext cx="50400" cy="50400"/>
          </a:xfrm>
          <a:prstGeom prst="rect">
            <a:avLst/>
          </a:prstGeom>
          <a:solidFill>
            <a:srgbClr val="0066FF"/>
          </a:solidFill>
          <a:ln w="12700">
            <a:solidFill>
              <a:srgbClr val="333333"/>
            </a:solidFill>
            <a:prstDash val="solid"/>
          </a:ln>
        </p:spPr>
      </p:sp>
      <p:sp>
        <p:nvSpPr>
          <p:cNvPr id="55" name="Text 52"/>
          <p:cNvSpPr txBox="1"/>
          <p:nvPr/>
        </p:nvSpPr>
        <p:spPr>
          <a:xfrm>
            <a:off x="11388379"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Wellness and light range briefed</a:t>
            </a:r>
            <a:endParaRPr lang="en-US" sz="740" dirty="0"/>
          </a:p>
        </p:txBody>
      </p:sp>
      <p:sp>
        <p:nvSpPr>
          <p:cNvPr id="56" name="Shape 53"/>
          <p:cNvSpPr/>
          <p:nvPr/>
        </p:nvSpPr>
        <p:spPr>
          <a:xfrm>
            <a:off x="11294779" y="2050322"/>
            <a:ext cx="50400" cy="50400"/>
          </a:xfrm>
          <a:prstGeom prst="rect">
            <a:avLst/>
          </a:prstGeom>
          <a:solidFill>
            <a:srgbClr val="0066FF"/>
          </a:solidFill>
          <a:ln w="12700">
            <a:solidFill>
              <a:srgbClr val="333333"/>
            </a:solidFill>
            <a:prstDash val="solid"/>
          </a:ln>
        </p:spPr>
      </p:sp>
      <p:sp>
        <p:nvSpPr>
          <p:cNvPr id="57" name="Text 54"/>
          <p:cNvSpPr txBox="1"/>
          <p:nvPr/>
        </p:nvSpPr>
        <p:spPr>
          <a:xfrm>
            <a:off x="11388379"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Designing for her, as a product brief</a:t>
            </a:r>
            <a:endParaRPr lang="en-US" sz="740" dirty="0"/>
          </a:p>
        </p:txBody>
      </p:sp>
      <p:sp>
        <p:nvSpPr>
          <p:cNvPr id="58" name="Shape 55"/>
          <p:cNvSpPr/>
          <p:nvPr/>
        </p:nvSpPr>
        <p:spPr>
          <a:xfrm>
            <a:off x="11294779" y="2226974"/>
            <a:ext cx="50400" cy="50400"/>
          </a:xfrm>
          <a:prstGeom prst="rect">
            <a:avLst/>
          </a:prstGeom>
          <a:solidFill>
            <a:srgbClr val="0066FF"/>
          </a:solidFill>
          <a:ln w="12700">
            <a:solidFill>
              <a:srgbClr val="333333"/>
            </a:solidFill>
            <a:prstDash val="solid"/>
          </a:ln>
        </p:spPr>
      </p:sp>
      <p:sp>
        <p:nvSpPr>
          <p:cNvPr id="59" name="Text 56"/>
          <p:cNvSpPr txBox="1"/>
          <p:nvPr/>
        </p:nvSpPr>
        <p:spPr>
          <a:xfrm>
            <a:off x="11388379"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Canning decision taken on costed numbers</a:t>
            </a:r>
            <a:endParaRPr lang="en-US" sz="740" dirty="0"/>
          </a:p>
        </p:txBody>
      </p:sp>
      <p:sp>
        <p:nvSpPr>
          <p:cNvPr id="60" name="Shape 57"/>
          <p:cNvSpPr/>
          <p:nvPr/>
        </p:nvSpPr>
        <p:spPr>
          <a:xfrm>
            <a:off x="438898" y="3909822"/>
            <a:ext cx="14241809" cy="0"/>
          </a:xfrm>
          <a:prstGeom prst="line">
            <a:avLst/>
          </a:prstGeom>
          <a:noFill/>
          <a:ln w="7620">
            <a:solidFill>
              <a:srgbClr val="E3E7EC"/>
            </a:solidFill>
            <a:prstDash val="solid"/>
          </a:ln>
        </p:spPr>
      </p:sp>
      <p:sp>
        <p:nvSpPr>
          <p:cNvPr id="61" name="Text 58"/>
          <p:cNvSpPr txBox="1"/>
          <p:nvPr/>
        </p:nvSpPr>
        <p:spPr>
          <a:xfrm>
            <a:off x="438898" y="3967422"/>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Clent is overseas from the end of September. Sprint 1 ownership needs to survive that.</a:t>
            </a:r>
            <a:endParaRPr lang="en-US" sz="700" dirty="0"/>
          </a:p>
        </p:txBody>
      </p:sp>
      <p:sp>
        <p:nvSpPr>
          <p:cNvPr id="62" name="Shape 59"/>
          <p:cNvSpPr/>
          <p:nvPr/>
        </p:nvSpPr>
        <p:spPr>
          <a:xfrm>
            <a:off x="323698" y="4310536"/>
            <a:ext cx="4752137" cy="3087069"/>
          </a:xfrm>
          <a:prstGeom prst="rect">
            <a:avLst/>
          </a:prstGeom>
          <a:solidFill>
            <a:srgbClr val="FFFFFF"/>
          </a:solidFill>
          <a:ln w="7620">
            <a:solidFill>
              <a:srgbClr val="E3E7EC"/>
            </a:solidFill>
            <a:prstDash val="solid"/>
          </a:ln>
        </p:spPr>
      </p:sp>
      <p:sp>
        <p:nvSpPr>
          <p:cNvPr id="63" name="Text 60"/>
          <p:cNvSpPr txBox="1"/>
          <p:nvPr/>
        </p:nvSpPr>
        <p:spPr>
          <a:xfrm>
            <a:off x="438898"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DESTINATION PROGRAMME</a:t>
            </a:r>
            <a:endParaRPr lang="en-US" sz="680" dirty="0"/>
          </a:p>
        </p:txBody>
      </p:sp>
      <p:sp>
        <p:nvSpPr>
          <p:cNvPr id="64" name="Text 61"/>
          <p:cNvSpPr txBox="1"/>
          <p:nvPr/>
        </p:nvSpPr>
        <p:spPr>
          <a:xfrm>
            <a:off x="438898" y="4595604"/>
            <a:ext cx="4521737" cy="322478"/>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room already makes money on events. This is about selling them deliberately.</a:t>
            </a:r>
            <a:endParaRPr lang="en-US" sz="920" dirty="0"/>
          </a:p>
        </p:txBody>
      </p:sp>
      <p:sp>
        <p:nvSpPr>
          <p:cNvPr id="65" name="Text 62"/>
          <p:cNvSpPr txBox="1"/>
          <p:nvPr/>
        </p:nvSpPr>
        <p:spPr>
          <a:xfrm>
            <a:off x="438898" y="503610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Tours.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Get onto the circuit. The bus parking is an asset, not a liability. Build the Urban Legends booking widget so operators stop coordinating venue by venue.</a:t>
            </a:r>
            <a:endParaRPr lang="en-US" sz="810" dirty="0"/>
          </a:p>
        </p:txBody>
      </p:sp>
      <p:sp>
        <p:nvSpPr>
          <p:cNvPr id="66" name="Text 63"/>
          <p:cNvSpPr txBox="1"/>
          <p:nvPr/>
        </p:nvSpPr>
        <p:spPr>
          <a:xfrm>
            <a:off x="438898" y="5462729"/>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Weddings and functions.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PR to tourism operators, event and wedding planners. The signature wedding brew turns one booking into reception volume and a take-home sample for every guest.</a:t>
            </a:r>
            <a:endParaRPr lang="en-US" sz="810" dirty="0"/>
          </a:p>
        </p:txBody>
      </p:sp>
      <p:sp>
        <p:nvSpPr>
          <p:cNvPr id="67" name="Text 64"/>
          <p:cNvSpPr txBox="1"/>
          <p:nvPr/>
        </p:nvSpPr>
        <p:spPr>
          <a:xfrm>
            <a:off x="438898" y="6043662"/>
            <a:ext cx="4521737"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Ticketed events and collabs.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Own the calendar rather than waiting for walk-ins.</a:t>
            </a:r>
            <a:endParaRPr lang="en-US" sz="810" dirty="0"/>
          </a:p>
        </p:txBody>
      </p:sp>
      <p:sp>
        <p:nvSpPr>
          <p:cNvPr id="68" name="Text 65"/>
          <p:cNvSpPr txBox="1"/>
          <p:nvPr/>
        </p:nvSpPr>
        <p:spPr>
          <a:xfrm>
            <a:off x="438898" y="6315986"/>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Party rental is the quiet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system in a house for a weekend is a demo that the host runs for you, in front of exactly the people who might buy one.</a:t>
            </a:r>
            <a:endParaRPr lang="en-US" sz="810" dirty="0"/>
          </a:p>
        </p:txBody>
      </p:sp>
      <p:sp>
        <p:nvSpPr>
          <p:cNvPr id="69" name="Shape 66"/>
          <p:cNvSpPr/>
          <p:nvPr/>
        </p:nvSpPr>
        <p:spPr>
          <a:xfrm>
            <a:off x="438898" y="6984775"/>
            <a:ext cx="4521737" cy="0"/>
          </a:xfrm>
          <a:prstGeom prst="line">
            <a:avLst/>
          </a:prstGeom>
          <a:noFill/>
          <a:ln w="7620">
            <a:solidFill>
              <a:srgbClr val="E3E7EC"/>
            </a:solidFill>
            <a:prstDash val="solid"/>
          </a:ln>
        </p:spPr>
      </p:sp>
      <p:sp>
        <p:nvSpPr>
          <p:cNvPr id="70" name="Text 67"/>
          <p:cNvSpPr txBox="1"/>
          <p:nvPr/>
        </p:nvSpPr>
        <p:spPr>
          <a:xfrm>
            <a:off x="438898" y="7042375"/>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Romance the Crafted Brewers' Choice award everywhere in this. It is the reason a tour operator picks this stop.</a:t>
            </a:r>
            <a:endParaRPr lang="en-US" sz="700" dirty="0"/>
          </a:p>
        </p:txBody>
      </p:sp>
      <p:sp>
        <p:nvSpPr>
          <p:cNvPr id="71" name="Shape 68"/>
          <p:cNvSpPr/>
          <p:nvPr/>
        </p:nvSpPr>
        <p:spPr>
          <a:xfrm>
            <a:off x="5183734" y="4310536"/>
            <a:ext cx="4752137" cy="3087069"/>
          </a:xfrm>
          <a:prstGeom prst="rect">
            <a:avLst/>
          </a:prstGeom>
          <a:solidFill>
            <a:srgbClr val="FFFFFF"/>
          </a:solidFill>
          <a:ln w="7620">
            <a:solidFill>
              <a:srgbClr val="E3E7EC"/>
            </a:solidFill>
            <a:prstDash val="solid"/>
          </a:ln>
        </p:spPr>
      </p:sp>
      <p:sp>
        <p:nvSpPr>
          <p:cNvPr id="72" name="Text 69"/>
          <p:cNvSpPr txBox="1"/>
          <p:nvPr/>
        </p:nvSpPr>
        <p:spPr>
          <a:xfrm>
            <a:off x="5298934"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PARTNERSHIPS TO OPEN</a:t>
            </a:r>
            <a:endParaRPr lang="en-US" sz="68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298934" y="4595604"/>
          <a:ext cx="11339703" cy="914400"/>
        </p:xfrm>
        <a:graphic>
          <a:graphicData uri="http://schemas.openxmlformats.org/drawingml/2006/table">
            <a:tbl>
              <a:tblPr/>
              <a:tblGrid>
                <a:gridCol w="1227824"/>
                <a:gridCol w="2702456"/>
                <a:gridCol w="591456"/>
              </a:tblGrid>
              <a:tr h="303282">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Who</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play</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Lead</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432847">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Harvey Norman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GWP or first keg free at point of sale, plus the buyer database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Kegland / corny keg</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Buy the owner databases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Benchy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Official partnership and database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Mark's venues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About 300 weddings a year across two venues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Zip water contacts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About 1,000 distribution points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32847">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Cannery contact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Clent's neighbour, former head of the country's largest cannery. Costed feasibility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74" name="Shape 70"/>
          <p:cNvSpPr/>
          <p:nvPr/>
        </p:nvSpPr>
        <p:spPr>
          <a:xfrm>
            <a:off x="5298934" y="7104790"/>
            <a:ext cx="4521737" cy="0"/>
          </a:xfrm>
          <a:prstGeom prst="line">
            <a:avLst/>
          </a:prstGeom>
          <a:noFill/>
          <a:ln w="7620">
            <a:solidFill>
              <a:srgbClr val="E3E7EC"/>
            </a:solidFill>
            <a:prstDash val="solid"/>
          </a:ln>
        </p:spPr>
      </p:sp>
      <p:sp>
        <p:nvSpPr>
          <p:cNvPr id="75" name="Text 71"/>
          <p:cNvSpPr txBox="1"/>
          <p:nvPr/>
        </p:nvSpPr>
        <p:spPr>
          <a:xfrm>
            <a:off x="5298934" y="7162390"/>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Named in the catch-up. None has been approached yet.</a:t>
            </a:r>
            <a:endParaRPr lang="en-US" sz="700" dirty="0"/>
          </a:p>
        </p:txBody>
      </p:sp>
      <p:sp>
        <p:nvSpPr>
          <p:cNvPr id="76" name="Shape 72"/>
          <p:cNvSpPr/>
          <p:nvPr/>
        </p:nvSpPr>
        <p:spPr>
          <a:xfrm>
            <a:off x="10043770" y="4310536"/>
            <a:ext cx="4752137" cy="3087069"/>
          </a:xfrm>
          <a:prstGeom prst="rect">
            <a:avLst/>
          </a:prstGeom>
          <a:solidFill>
            <a:srgbClr val="FFFFFF"/>
          </a:solidFill>
          <a:ln w="7620">
            <a:solidFill>
              <a:srgbClr val="E3E7EC"/>
            </a:solidFill>
            <a:prstDash val="solid"/>
          </a:ln>
        </p:spPr>
      </p:sp>
      <p:sp>
        <p:nvSpPr>
          <p:cNvPr id="77" name="Text 73"/>
          <p:cNvSpPr txBox="1"/>
          <p:nvPr/>
        </p:nvSpPr>
        <p:spPr>
          <a:xfrm>
            <a:off x="10158970"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ARTWORK, ALREADY BUILT</a:t>
            </a:r>
            <a:endParaRPr lang="en-US" sz="680" dirty="0"/>
          </a:p>
        </p:txBody>
      </p:sp>
      <p:sp>
        <p:nvSpPr>
          <p:cNvPr id="78" name="Text 74"/>
          <p:cNvSpPr txBox="1"/>
          <p:nvPr/>
        </p:nvSpPr>
        <p:spPr>
          <a:xfrm>
            <a:off x="10158970" y="4595604"/>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Four A4 event flyers are print-ready in Tap That's own format: weddings, bucks and hens, work functions, tours and tastings. Copy is a first pass and expects an edit.</a:t>
            </a:r>
            <a:endParaRPr lang="en-US" sz="810" dirty="0"/>
          </a:p>
        </p:txBody>
      </p:sp>
      <p:sp>
        <p:nvSpPr>
          <p:cNvPr id="79" name="Text 75"/>
          <p:cNvSpPr txBox="1"/>
          <p:nvPr/>
        </p:nvSpPr>
        <p:spPr>
          <a:xfrm>
            <a:off x="10158970" y="5069814"/>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image sets exist.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One on commissioned concept photography, one on August site-visit photography. The concept set looks better and is right for a pitch. Anything going out as real venue marketing runs the venue set, or the four frames get shot properly.</a:t>
            </a:r>
            <a:endParaRPr lang="en-US" sz="810" dirty="0"/>
          </a:p>
        </p:txBody>
      </p:sp>
      <p:sp>
        <p:nvSpPr>
          <p:cNvPr id="80" name="Text 76"/>
          <p:cNvSpPr txBox="1"/>
          <p:nvPr/>
        </p:nvSpPr>
        <p:spPr>
          <a:xfrm>
            <a:off x="10158970" y="5852634"/>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is still needed: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wording pass from Christy, the per-schooner figure settled before any price goes on a flyer, and a decision on whether these print or stay digital.</a:t>
            </a:r>
            <a:endParaRPr lang="en-US" sz="810" dirty="0"/>
          </a:p>
        </p:txBody>
      </p:sp>
      <p:sp>
        <p:nvSpPr>
          <p:cNvPr id="81" name="Shape 77"/>
          <p:cNvSpPr/>
          <p:nvPr/>
        </p:nvSpPr>
        <p:spPr>
          <a:xfrm>
            <a:off x="10158970" y="6984775"/>
            <a:ext cx="4521737" cy="0"/>
          </a:xfrm>
          <a:prstGeom prst="line">
            <a:avLst/>
          </a:prstGeom>
          <a:noFill/>
          <a:ln w="7620">
            <a:solidFill>
              <a:srgbClr val="E3E7EC"/>
            </a:solidFill>
            <a:prstDash val="solid"/>
          </a:ln>
        </p:spPr>
      </p:sp>
      <p:sp>
        <p:nvSpPr>
          <p:cNvPr id="82" name="Text 78"/>
          <p:cNvSpPr txBox="1"/>
          <p:nvPr/>
        </p:nvSpPr>
        <p:spPr>
          <a:xfrm>
            <a:off x="10158970" y="7042375"/>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Tap That's guidelines rule out anything that could not have been taken at Burleigh Heads. That is the test.</a:t>
            </a:r>
            <a:endParaRPr lang="en-US" sz="700" dirty="0"/>
          </a:p>
        </p:txBody>
      </p:sp>
      <p:sp>
        <p:nvSpPr>
          <p:cNvPr id="83" name="Shape 79"/>
          <p:cNvSpPr/>
          <p:nvPr/>
        </p:nvSpPr>
        <p:spPr>
          <a:xfrm>
            <a:off x="323698" y="7505504"/>
            <a:ext cx="9612173" cy="2970575"/>
          </a:xfrm>
          <a:prstGeom prst="rect">
            <a:avLst/>
          </a:prstGeom>
          <a:solidFill>
            <a:srgbClr val="FFFFFF"/>
          </a:solidFill>
          <a:ln w="7620">
            <a:solidFill>
              <a:srgbClr val="E3E7EC"/>
            </a:solidFill>
            <a:prstDash val="solid"/>
          </a:ln>
        </p:spPr>
      </p:sp>
      <p:sp>
        <p:nvSpPr>
          <p:cNvPr id="84" name="Text 80"/>
          <p:cNvSpPr txBox="1"/>
          <p:nvPr/>
        </p:nvSpPr>
        <p:spPr>
          <a:xfrm>
            <a:off x="438898" y="7620704"/>
            <a:ext cx="9381773"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DOES WHAT</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R responsible · A accountable · C consulted</a:t>
            </a:r>
            <a:endParaRPr lang="en-US" sz="68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898" y="7790572"/>
          <a:ext cx="11339703" cy="914400"/>
        </p:xfrm>
        <a:graphic>
          <a:graphicData uri="http://schemas.openxmlformats.org/drawingml/2006/table">
            <a:tbl>
              <a:tblPr/>
              <a:tblGrid>
                <a:gridCol w="3112742"/>
                <a:gridCol w="1036641"/>
                <a:gridCol w="1215982"/>
                <a:gridCol w="993326"/>
                <a:gridCol w="951910"/>
                <a:gridCol w="1206863"/>
                <a:gridCol w="864307"/>
              </a:tblGrid>
              <a:tr h="275851">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Justin</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Chrissy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Harry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Clent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Christy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JP</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The shape decision</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Connected data, CRM, site</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Wholesale build</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Destination programme</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Partnerships</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Brand, range, proof</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Campaign artwork</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86" name="Shape 81"/>
          <p:cNvSpPr/>
          <p:nvPr/>
        </p:nvSpPr>
        <p:spPr>
          <a:xfrm>
            <a:off x="438898" y="10183264"/>
            <a:ext cx="9381773" cy="0"/>
          </a:xfrm>
          <a:prstGeom prst="line">
            <a:avLst/>
          </a:prstGeom>
          <a:noFill/>
          <a:ln w="7620">
            <a:solidFill>
              <a:srgbClr val="E3E7EC"/>
            </a:solidFill>
            <a:prstDash val="solid"/>
          </a:ln>
        </p:spPr>
      </p:sp>
      <p:sp>
        <p:nvSpPr>
          <p:cNvPr id="87" name="Text 82"/>
          <p:cNvSpPr txBox="1"/>
          <p:nvPr/>
        </p:nvSpPr>
        <p:spPr>
          <a:xfrm>
            <a:off x="438898" y="10240864"/>
            <a:ext cx="9381773"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Draft for the next conversation. Wholesale has no R on purpose: that is the hire. Harry carries activation, as agreed in the catch-up.</a:t>
            </a:r>
            <a:endParaRPr lang="en-US" sz="700" dirty="0"/>
          </a:p>
        </p:txBody>
      </p:sp>
      <p:sp>
        <p:nvSpPr>
          <p:cNvPr id="88" name="Shape 83"/>
          <p:cNvSpPr/>
          <p:nvPr/>
        </p:nvSpPr>
        <p:spPr>
          <a:xfrm>
            <a:off x="10043770" y="7505504"/>
            <a:ext cx="4752137" cy="2970575"/>
          </a:xfrm>
          <a:prstGeom prst="rect">
            <a:avLst/>
          </a:prstGeom>
          <a:solidFill>
            <a:srgbClr val="FFFFFF"/>
          </a:solidFill>
          <a:ln w="7620">
            <a:solidFill>
              <a:srgbClr val="E3E7EC"/>
            </a:solidFill>
            <a:prstDash val="solid"/>
          </a:ln>
        </p:spPr>
      </p:sp>
      <p:sp>
        <p:nvSpPr>
          <p:cNvPr id="89" name="Text 84"/>
          <p:cNvSpPr txBox="1"/>
          <p:nvPr/>
        </p:nvSpPr>
        <p:spPr>
          <a:xfrm>
            <a:off x="10158970" y="762070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CHECKPOINTS</a:t>
            </a:r>
            <a:endParaRPr lang="en-US" sz="680" dirty="0"/>
          </a:p>
        </p:txBody>
      </p:sp>
      <p:sp>
        <p:nvSpPr>
          <p:cNvPr id="90" name="Shape 85"/>
          <p:cNvSpPr/>
          <p:nvPr/>
        </p:nvSpPr>
        <p:spPr>
          <a:xfrm>
            <a:off x="10158970" y="7826611"/>
            <a:ext cx="50400" cy="50400"/>
          </a:xfrm>
          <a:prstGeom prst="rect">
            <a:avLst/>
          </a:prstGeom>
          <a:solidFill>
            <a:srgbClr val="0066FF"/>
          </a:solidFill>
          <a:ln w="12700">
            <a:solidFill>
              <a:srgbClr val="333333"/>
            </a:solidFill>
            <a:prstDash val="solid"/>
          </a:ln>
        </p:spPr>
      </p:sp>
      <p:sp>
        <p:nvSpPr>
          <p:cNvPr id="91" name="Text 86"/>
          <p:cNvSpPr txBox="1"/>
          <p:nvPr/>
        </p:nvSpPr>
        <p:spPr>
          <a:xfrm>
            <a:off x="10266970" y="779057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Thu 17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Justin's commitments back.</a:t>
            </a:r>
            <a:endParaRPr lang="en-US" sz="730" dirty="0"/>
          </a:p>
        </p:txBody>
      </p:sp>
      <p:sp>
        <p:nvSpPr>
          <p:cNvPr id="92" name="Shape 87"/>
          <p:cNvSpPr/>
          <p:nvPr/>
        </p:nvSpPr>
        <p:spPr>
          <a:xfrm>
            <a:off x="10158970" y="8376136"/>
            <a:ext cx="50400" cy="50400"/>
          </a:xfrm>
          <a:prstGeom prst="rect">
            <a:avLst/>
          </a:prstGeom>
          <a:solidFill>
            <a:srgbClr val="0066FF"/>
          </a:solidFill>
          <a:ln w="12700">
            <a:solidFill>
              <a:srgbClr val="333333"/>
            </a:solidFill>
            <a:prstDash val="solid"/>
          </a:ln>
        </p:spPr>
      </p:sp>
      <p:sp>
        <p:nvSpPr>
          <p:cNvPr id="93" name="Text 88"/>
          <p:cNvSpPr txBox="1"/>
          <p:nvPr/>
        </p:nvSpPr>
        <p:spPr>
          <a:xfrm>
            <a:off x="10266970" y="8340096"/>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w/c 21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Clent and Christy regroup, plan confirmed, owners named.</a:t>
            </a:r>
            <a:endParaRPr lang="en-US" sz="730" dirty="0"/>
          </a:p>
        </p:txBody>
      </p:sp>
      <p:sp>
        <p:nvSpPr>
          <p:cNvPr id="94" name="Shape 89"/>
          <p:cNvSpPr/>
          <p:nvPr/>
        </p:nvSpPr>
        <p:spPr>
          <a:xfrm>
            <a:off x="10158970" y="8925660"/>
            <a:ext cx="50400" cy="50400"/>
          </a:xfrm>
          <a:prstGeom prst="rect">
            <a:avLst/>
          </a:prstGeom>
          <a:solidFill>
            <a:srgbClr val="0066FF"/>
          </a:solidFill>
          <a:ln w="12700">
            <a:solidFill>
              <a:srgbClr val="333333"/>
            </a:solidFill>
            <a:prstDash val="solid"/>
          </a:ln>
        </p:spPr>
      </p:sp>
      <p:sp>
        <p:nvSpPr>
          <p:cNvPr id="95" name="Text 90"/>
          <p:cNvSpPr txBox="1"/>
          <p:nvPr/>
        </p:nvSpPr>
        <p:spPr>
          <a:xfrm>
            <a:off x="10266970" y="8889621"/>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17 Oct.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Sprint 1 review. Is the data connected and are reminders live?</a:t>
            </a:r>
            <a:endParaRPr lang="en-US" sz="730" dirty="0"/>
          </a:p>
        </p:txBody>
      </p:sp>
      <p:sp>
        <p:nvSpPr>
          <p:cNvPr id="96" name="Shape 91"/>
          <p:cNvSpPr/>
          <p:nvPr/>
        </p:nvSpPr>
        <p:spPr>
          <a:xfrm>
            <a:off x="10158970" y="9475185"/>
            <a:ext cx="50400" cy="50400"/>
          </a:xfrm>
          <a:prstGeom prst="rect">
            <a:avLst/>
          </a:prstGeom>
          <a:solidFill>
            <a:srgbClr val="0066FF"/>
          </a:solidFill>
          <a:ln w="12700">
            <a:solidFill>
              <a:srgbClr val="333333"/>
            </a:solidFill>
            <a:prstDash val="solid"/>
          </a:ln>
        </p:spPr>
      </p:sp>
      <p:sp>
        <p:nvSpPr>
          <p:cNvPr id="97" name="Text 92"/>
          <p:cNvSpPr txBox="1"/>
          <p:nvPr/>
        </p:nvSpPr>
        <p:spPr>
          <a:xfrm>
            <a:off x="10266970" y="9439146"/>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14 Nov.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Sprint 2 review. Wholesale pipeline and membership attach rate.</a:t>
            </a:r>
            <a:endParaRPr lang="en-US" sz="730" dirty="0"/>
          </a:p>
        </p:txBody>
      </p:sp>
      <p:sp>
        <p:nvSpPr>
          <p:cNvPr id="98" name="Shape 93"/>
          <p:cNvSpPr/>
          <p:nvPr/>
        </p:nvSpPr>
        <p:spPr>
          <a:xfrm>
            <a:off x="10158970" y="10024710"/>
            <a:ext cx="50400" cy="50400"/>
          </a:xfrm>
          <a:prstGeom prst="rect">
            <a:avLst/>
          </a:prstGeom>
          <a:solidFill>
            <a:srgbClr val="0066FF"/>
          </a:solidFill>
          <a:ln w="12700">
            <a:solidFill>
              <a:srgbClr val="333333"/>
            </a:solidFill>
            <a:prstDash val="solid"/>
          </a:ln>
        </p:spPr>
      </p:sp>
      <p:sp>
        <p:nvSpPr>
          <p:cNvPr id="99" name="Text 94"/>
          <p:cNvSpPr txBox="1"/>
          <p:nvPr/>
        </p:nvSpPr>
        <p:spPr>
          <a:xfrm>
            <a:off x="10266970" y="998867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12 Dec.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Ninety-day review against the 1,000 systems north star.</a:t>
            </a:r>
            <a:endParaRPr lang="en-US" sz="730" dirty="0"/>
          </a:p>
        </p:txBody>
      </p:sp>
      <p:sp>
        <p:nvSpPr>
          <p:cNvPr id="100" name="Shape 95"/>
          <p:cNvSpPr/>
          <p:nvPr/>
        </p:nvSpPr>
        <p:spPr>
          <a:xfrm>
            <a:off x="10158970" y="10183264"/>
            <a:ext cx="4521737" cy="0"/>
          </a:xfrm>
          <a:prstGeom prst="line">
            <a:avLst/>
          </a:prstGeom>
          <a:noFill/>
          <a:ln w="7620">
            <a:solidFill>
              <a:srgbClr val="E3E7EC"/>
            </a:solidFill>
            <a:prstDash val="solid"/>
          </a:ln>
        </p:spPr>
      </p:sp>
      <p:sp>
        <p:nvSpPr>
          <p:cNvPr id="101" name="Text 96"/>
          <p:cNvSpPr txBox="1"/>
          <p:nvPr/>
        </p:nvSpPr>
        <p:spPr>
          <a:xfrm>
            <a:off x="10158970"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Every review asks one question first: did the number of systems in market move?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Brewery - the plan on a page</dc:title>
  <dc:subject>PptxGenJS Presentation</dc:subject>
  <dc:creator>Jewell Projects</dc:creator>
  <cp:lastModifiedBy>Jewell Projects</cp:lastModifiedBy>
  <cp:revision>1</cp:revision>
  <dcterms:created xsi:type="dcterms:W3CDTF">2026-09-15T07:31:57Z</dcterms:created>
  <dcterms:modified xsi:type="dcterms:W3CDTF">2026-09-15T07:31:57Z</dcterms:modified>
</cp:coreProperties>
</file>