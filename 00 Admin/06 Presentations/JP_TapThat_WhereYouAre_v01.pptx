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36576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JP · TAP THAT BREWERY · WHERE YOU ARE</a:t>
            </a:r>
          </a:p>
        </p:txBody>
      </p:sp>
      <p:sp>
        <p:nvSpPr>
          <p:cNvPr id="3" name="TextBox 2"/>
          <p:cNvSpPr txBox="1"/>
          <p:nvPr/>
        </p:nvSpPr>
        <p:spPr>
          <a:xfrm>
            <a:off x="914400" y="3566160"/>
            <a:ext cx="10332720" cy="1828800"/>
          </a:xfrm>
          <a:prstGeom prst="rect">
            <a:avLst/>
          </a:prstGeom>
          <a:noFill/>
        </p:spPr>
        <p:txBody>
          <a:bodyPr wrap="square" lIns="0" rIns="0" tIns="0" bIns="0" anchor="b">
            <a:spAutoFit/>
          </a:bodyPr>
          <a:lstStyle/>
          <a:p>
            <a:pPr algn="l">
              <a:lnSpc>
                <a:spcPct val="105000"/>
              </a:lnSpc>
            </a:pPr>
            <a:r>
              <a:rPr sz="6000" b="1">
                <a:solidFill>
                  <a:srgbClr val="111111"/>
                </a:solidFill>
                <a:latin typeface="Poppins"/>
              </a:rPr>
              <a:t>Where you are, and the</a:t>
            </a:r>
          </a:p>
          <a:p>
            <a:pPr algn="l">
              <a:lnSpc>
                <a:spcPct val="105000"/>
              </a:lnSpc>
            </a:pPr>
            <a:r>
              <a:rPr sz="6000" b="1">
                <a:solidFill>
                  <a:srgbClr val="111111"/>
                </a:solidFill>
                <a:latin typeface="Poppins"/>
              </a:rPr>
              <a:t>three things to do about it.</a:t>
            </a:r>
          </a:p>
        </p:txBody>
      </p:sp>
      <p:sp>
        <p:nvSpPr>
          <p:cNvPr id="4" name="TextBox 3"/>
          <p:cNvSpPr txBox="1"/>
          <p:nvPr/>
        </p:nvSpPr>
        <p:spPr>
          <a:xfrm>
            <a:off x="914400" y="5623560"/>
            <a:ext cx="10332720" cy="548640"/>
          </a:xfrm>
          <a:prstGeom prst="rect">
            <a:avLst/>
          </a:prstGeom>
          <a:noFill/>
        </p:spPr>
        <p:txBody>
          <a:bodyPr wrap="square" lIns="0" rIns="0" tIns="0" bIns="0" anchor="t">
            <a:spAutoFit/>
          </a:bodyPr>
          <a:lstStyle/>
          <a:p>
            <a:pPr algn="l">
              <a:lnSpc>
                <a:spcPct val="150000"/>
              </a:lnSpc>
            </a:pPr>
            <a:r>
              <a:rPr sz="2000" b="0">
                <a:solidFill>
                  <a:srgbClr val="111111"/>
                </a:solidFill>
                <a:latin typeface="Poppins"/>
              </a:rPr>
              <a:t>Prepared for Justin Mistry and Harry. The detail sits behind every slide.</a:t>
            </a:r>
          </a:p>
        </p:txBody>
      </p:sp>
      <p:sp>
        <p:nvSpPr>
          <p:cNvPr id="5" name="TextBox 4"/>
          <p:cNvSpPr txBox="1"/>
          <p:nvPr/>
        </p:nvSpPr>
        <p:spPr>
          <a:xfrm>
            <a:off x="8229600" y="6309360"/>
            <a:ext cx="3017520" cy="274320"/>
          </a:xfrm>
          <a:prstGeom prst="rect">
            <a:avLst/>
          </a:prstGeom>
          <a:noFill/>
        </p:spPr>
        <p:txBody>
          <a:bodyPr wrap="square" lIns="0" rIns="0" tIns="0" bIns="0" anchor="t">
            <a:spAutoFit/>
          </a:bodyPr>
          <a:lstStyle/>
          <a:p>
            <a:pPr algn="r">
              <a:lnSpc>
                <a:spcPct val="150000"/>
              </a:lnSpc>
            </a:pPr>
            <a:r>
              <a:rPr sz="1100" b="0">
                <a:solidFill>
                  <a:srgbClr val="666666"/>
                </a:solidFill>
                <a:latin typeface="Poppins"/>
              </a:rPr>
              <a:t>28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1200" b="0" spc="200">
                <a:solidFill>
                  <a:srgbClr val="FAF8F4"/>
                </a:solidFill>
                <a:latin typeface="Poppins"/>
              </a:rPr>
              <a:t>PART 01</a:t>
            </a:r>
          </a:p>
        </p:txBody>
      </p:sp>
      <p:sp>
        <p:nvSpPr>
          <p:cNvPr id="3" name="TextBox 2"/>
          <p:cNvSpPr txBox="1"/>
          <p:nvPr/>
        </p:nvSpPr>
        <p:spPr>
          <a:xfrm>
            <a:off x="914400" y="2103120"/>
            <a:ext cx="10332720" cy="274320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Where you are</a:t>
            </a:r>
          </a:p>
        </p:txBody>
      </p:sp>
      <p:sp>
        <p:nvSpPr>
          <p:cNvPr id="4" name="TextBox 3"/>
          <p:cNvSpPr txBox="1"/>
          <p:nvPr/>
        </p:nvSpPr>
        <p:spPr>
          <a:xfrm>
            <a:off x="914400" y="5394960"/>
            <a:ext cx="10332720" cy="548640"/>
          </a:xfrm>
          <a:prstGeom prst="rect">
            <a:avLst/>
          </a:prstGeom>
          <a:noFill/>
        </p:spPr>
        <p:txBody>
          <a:bodyPr wrap="square" lIns="0" rIns="0" tIns="0" bIns="0" anchor="t">
            <a:spAutoFit/>
          </a:bodyPr>
          <a:lstStyle/>
          <a:p>
            <a:pPr algn="l">
              <a:lnSpc>
                <a:spcPct val="150000"/>
              </a:lnSpc>
            </a:pPr>
            <a:r>
              <a:rPr sz="1600" b="0">
                <a:solidFill>
                  <a:srgbClr val="FAF8F4"/>
                </a:solidFill>
                <a:latin typeface="Poppins"/>
              </a:rPr>
              <a:t>We have looked at this properly. This is the read.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THE READ</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600" b="0">
                <a:solidFill>
                  <a:srgbClr val="111111"/>
                </a:solidFill>
                <a:latin typeface="Poppins"/>
              </a:rPr>
              <a:t>A refill business is being run with a</a:t>
            </a:r>
          </a:p>
          <a:p>
            <a:pPr algn="l">
              <a:lnSpc>
                <a:spcPct val="112000"/>
              </a:lnSpc>
            </a:pPr>
            <a:r>
              <a:rPr sz="3600" b="0">
                <a:solidFill>
                  <a:srgbClr val="111111"/>
                </a:solidFill>
                <a:latin typeface="Poppins"/>
              </a:rPr>
              <a:t>hospitality venue's attention. And it is</a:t>
            </a:r>
          </a:p>
          <a:p>
            <a:pPr algn="l">
              <a:lnSpc>
                <a:spcPct val="112000"/>
              </a:lnSpc>
            </a:pPr>
            <a:r>
              <a:rPr sz="3600" b="0">
                <a:solidFill>
                  <a:srgbClr val="111111"/>
                </a:solidFill>
                <a:latin typeface="Poppins"/>
              </a:rPr>
              <a:t>losing money.</a:t>
            </a:r>
          </a:p>
        </p:txBody>
      </p:sp>
      <p:cxnSp>
        <p:nvCxnSpPr>
          <p:cNvPr id="4" name="Connector 3"/>
          <p:cNvCxnSpPr/>
          <p:nvPr/>
        </p:nvCxnSpPr>
        <p:spPr>
          <a:xfrm>
            <a:off x="91440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206</a:t>
            </a:r>
          </a:p>
        </p:txBody>
      </p:sp>
      <p:sp>
        <p:nvSpPr>
          <p:cNvPr id="6" name="TextBox 5"/>
          <p:cNvSpPr txBox="1"/>
          <p:nvPr/>
        </p:nvSpPr>
        <p:spPr>
          <a:xfrm>
            <a:off x="91440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Systems in your database</a:t>
            </a:r>
          </a:p>
        </p:txBody>
      </p:sp>
      <p:cxnSp>
        <p:nvCxnSpPr>
          <p:cNvPr id="7" name="Connector 6"/>
          <p:cNvCxnSpPr/>
          <p:nvPr/>
        </p:nvCxnSpPr>
        <p:spPr>
          <a:xfrm>
            <a:off x="349758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9758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96 to 113</a:t>
            </a:r>
          </a:p>
        </p:txBody>
      </p:sp>
      <p:sp>
        <p:nvSpPr>
          <p:cNvPr id="9" name="TextBox 8"/>
          <p:cNvSpPr txBox="1"/>
          <p:nvPr/>
        </p:nvSpPr>
        <p:spPr>
          <a:xfrm>
            <a:off x="349758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Active customers. Your own documents define active three ways</a:t>
            </a:r>
          </a:p>
        </p:txBody>
      </p:sp>
      <p:cxnSp>
        <p:nvCxnSpPr>
          <p:cNvPr id="10" name="Connector 9"/>
          <p:cNvCxnSpPr/>
          <p:nvPr/>
        </p:nvCxnSpPr>
        <p:spPr>
          <a:xfrm>
            <a:off x="608076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8076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56%</a:t>
            </a:r>
          </a:p>
        </p:txBody>
      </p:sp>
      <p:sp>
        <p:nvSpPr>
          <p:cNvPr id="12" name="TextBox 11"/>
          <p:cNvSpPr txBox="1"/>
          <p:nvPr/>
        </p:nvSpPr>
        <p:spPr>
          <a:xfrm>
            <a:off x="608076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Bought their system somewhere else and refill with you anyway</a:t>
            </a:r>
          </a:p>
        </p:txBody>
      </p:sp>
      <p:cxnSp>
        <p:nvCxnSpPr>
          <p:cNvPr id="13" name="Connector 12"/>
          <p:cNvCxnSpPr/>
          <p:nvPr/>
        </p:nvCxnSpPr>
        <p:spPr>
          <a:xfrm>
            <a:off x="866394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66394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~9x</a:t>
            </a:r>
          </a:p>
        </p:txBody>
      </p:sp>
      <p:sp>
        <p:nvSpPr>
          <p:cNvPr id="15" name="TextBox 14"/>
          <p:cNvSpPr txBox="1"/>
          <p:nvPr/>
        </p:nvSpPr>
        <p:spPr>
          <a:xfrm>
            <a:off x="866394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The climb to 1,000 from where you actually are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THE PROBLEM UNDERNEATH</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The taproom and the refill model</a:t>
            </a:r>
          </a:p>
          <a:p>
            <a:pPr algn="l">
              <a:lnSpc>
                <a:spcPct val="112000"/>
              </a:lnSpc>
            </a:pPr>
            <a:r>
              <a:rPr sz="3800" b="0">
                <a:solidFill>
                  <a:srgbClr val="111111"/>
                </a:solidFill>
                <a:latin typeface="Poppins"/>
              </a:rPr>
              <a:t>work against each other.</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The refill business is built on people not coming in. So every campaign that fills the taproom fills the half that loses money. We had the taproom down as a funnel. It is at least as much a cost, and nobody has priced what carrying 27 taps actually costs you.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BEFORE ANYTHING ELSE</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What we got wrong.</a:t>
            </a:r>
          </a:p>
        </p:txBody>
      </p:sp>
      <p:cxnSp>
        <p:nvCxnSpPr>
          <p:cNvPr id="4" name="Connector 3"/>
          <p:cNvCxnSpPr/>
          <p:nvPr/>
        </p:nvCxnSpPr>
        <p:spPr>
          <a:xfrm>
            <a:off x="914400" y="2834640"/>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2962656"/>
            <a:ext cx="283464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We never said it</a:t>
            </a:r>
          </a:p>
        </p:txBody>
      </p:sp>
      <p:sp>
        <p:nvSpPr>
          <p:cNvPr id="6" name="TextBox 5"/>
          <p:cNvSpPr txBox="1"/>
          <p:nvPr/>
        </p:nvSpPr>
        <p:spPr>
          <a:xfrm>
            <a:off x="4023360" y="2962656"/>
            <a:ext cx="722376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Nothing in seventy nine documents said the business is losing money.</a:t>
            </a:r>
          </a:p>
        </p:txBody>
      </p:sp>
      <p:cxnSp>
        <p:nvCxnSpPr>
          <p:cNvPr id="7" name="Connector 6"/>
          <p:cNvCxnSpPr/>
          <p:nvPr/>
        </p:nvCxnSpPr>
        <p:spPr>
          <a:xfrm>
            <a:off x="914400" y="3547872"/>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3675887"/>
            <a:ext cx="283464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The taproom</a:t>
            </a:r>
          </a:p>
        </p:txBody>
      </p:sp>
      <p:sp>
        <p:nvSpPr>
          <p:cNvPr id="9" name="TextBox 8"/>
          <p:cNvSpPr txBox="1"/>
          <p:nvPr/>
        </p:nvSpPr>
        <p:spPr>
          <a:xfrm>
            <a:off x="4023360" y="3675887"/>
            <a:ext cx="722376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We treated it as a funnel when it is also a cost.</a:t>
            </a:r>
          </a:p>
        </p:txBody>
      </p:sp>
      <p:cxnSp>
        <p:nvCxnSpPr>
          <p:cNvPr id="10" name="Connector 9"/>
          <p:cNvCxnSpPr/>
          <p:nvPr/>
        </p:nvCxnSpPr>
        <p:spPr>
          <a:xfrm>
            <a:off x="914400" y="4261104"/>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4400" y="4389120"/>
            <a:ext cx="283464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A number we used</a:t>
            </a:r>
          </a:p>
        </p:txBody>
      </p:sp>
      <p:sp>
        <p:nvSpPr>
          <p:cNvPr id="12" name="TextBox 11"/>
          <p:cNvSpPr txBox="1"/>
          <p:nvPr/>
        </p:nvSpPr>
        <p:spPr>
          <a:xfrm>
            <a:off x="4023360" y="4389120"/>
            <a:ext cx="722376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The 20 to 30 per cent taproom conversion has never been measured.</a:t>
            </a:r>
          </a:p>
        </p:txBody>
      </p:sp>
      <p:cxnSp>
        <p:nvCxnSpPr>
          <p:cNvPr id="13" name="Connector 12"/>
          <p:cNvCxnSpPr/>
          <p:nvPr/>
        </p:nvCxnSpPr>
        <p:spPr>
          <a:xfrm>
            <a:off x="914400" y="4974336"/>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5102352"/>
            <a:ext cx="283464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The census</a:t>
            </a:r>
          </a:p>
        </p:txBody>
      </p:sp>
      <p:sp>
        <p:nvSpPr>
          <p:cNvPr id="15" name="TextBox 14"/>
          <p:cNvSpPr txBox="1"/>
          <p:nvPr/>
        </p:nvSpPr>
        <p:spPr>
          <a:xfrm>
            <a:off x="4023360" y="5102352"/>
            <a:ext cx="722376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Fifty self selected people cannot carry a strategy on their own.</a:t>
            </a:r>
          </a:p>
        </p:txBody>
      </p:sp>
      <p:cxnSp>
        <p:nvCxnSpPr>
          <p:cNvPr id="16" name="Connector 15"/>
          <p:cNvCxnSpPr/>
          <p:nvPr/>
        </p:nvCxnSpPr>
        <p:spPr>
          <a:xfrm>
            <a:off x="914400" y="5687568"/>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400" y="5815584"/>
            <a:ext cx="283464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Your marketing lead</a:t>
            </a:r>
          </a:p>
        </p:txBody>
      </p:sp>
      <p:sp>
        <p:nvSpPr>
          <p:cNvPr id="18" name="TextBox 17"/>
          <p:cNvSpPr txBox="1"/>
          <p:nvPr/>
        </p:nvSpPr>
        <p:spPr>
          <a:xfrm>
            <a:off x="4023360" y="5815584"/>
            <a:ext cx="722376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We called Harry by the wrong name in a hundred and sixty places.</a:t>
            </a:r>
          </a:p>
        </p:txBody>
      </p:sp>
      <p:cxnSp>
        <p:nvCxnSpPr>
          <p:cNvPr id="19" name="Connector 18"/>
          <p:cNvCxnSpPr/>
          <p:nvPr/>
        </p:nvCxnSpPr>
        <p:spPr>
          <a:xfrm>
            <a:off x="914400" y="6400800"/>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1200" b="0" spc="200">
                <a:solidFill>
                  <a:srgbClr val="FAF8F4"/>
                </a:solidFill>
                <a:latin typeface="Poppins"/>
              </a:rPr>
              <a:t>PART 02</a:t>
            </a:r>
          </a:p>
        </p:txBody>
      </p:sp>
      <p:sp>
        <p:nvSpPr>
          <p:cNvPr id="3" name="TextBox 2"/>
          <p:cNvSpPr txBox="1"/>
          <p:nvPr/>
        </p:nvSpPr>
        <p:spPr>
          <a:xfrm>
            <a:off x="914400" y="2103120"/>
            <a:ext cx="10332720" cy="274320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What to do</a:t>
            </a:r>
          </a:p>
        </p:txBody>
      </p:sp>
      <p:sp>
        <p:nvSpPr>
          <p:cNvPr id="4" name="TextBox 3"/>
          <p:cNvSpPr txBox="1"/>
          <p:nvPr/>
        </p:nvSpPr>
        <p:spPr>
          <a:xfrm>
            <a:off x="914400" y="5394960"/>
            <a:ext cx="10332720" cy="548640"/>
          </a:xfrm>
          <a:prstGeom prst="rect">
            <a:avLst/>
          </a:prstGeom>
          <a:noFill/>
        </p:spPr>
        <p:txBody>
          <a:bodyPr wrap="square" lIns="0" rIns="0" tIns="0" bIns="0" anchor="t">
            <a:spAutoFit/>
          </a:bodyPr>
          <a:lstStyle/>
          <a:p>
            <a:pPr algn="l">
              <a:lnSpc>
                <a:spcPct val="150000"/>
              </a:lnSpc>
            </a:pPr>
            <a:r>
              <a:rPr sz="1600" b="0">
                <a:solidFill>
                  <a:srgbClr val="FAF8F4"/>
                </a:solidFill>
                <a:latin typeface="Poppins"/>
              </a:rPr>
              <a:t>Three moves, ranked. And one we have ranked below them.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MOVE 01</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Buy the databases of people who</a:t>
            </a:r>
          </a:p>
          <a:p>
            <a:pPr algn="l">
              <a:lnSpc>
                <a:spcPct val="112000"/>
              </a:lnSpc>
            </a:pPr>
            <a:r>
              <a:rPr sz="3800" b="0">
                <a:solidFill>
                  <a:srgbClr val="111111"/>
                </a:solidFill>
                <a:latin typeface="Poppins"/>
              </a:rPr>
              <a:t>already own a system.</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Harvey Norman lists six kegerator models plus a tap unit. Keg Land, Kegmaster and BenchTop hold buyer lists of their own. Every name on those lists owns hardware, so the price of the system, the most expensive objection your marketing fights, is already cleared. At about seventy dollars gross a keg, the data pays for itself quickly.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MOVE 02</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Do a deal with Harvey Norman</a:t>
            </a:r>
          </a:p>
          <a:p>
            <a:pPr algn="l">
              <a:lnSpc>
                <a:spcPct val="112000"/>
              </a:lnSpc>
            </a:pPr>
            <a:r>
              <a:rPr sz="3800" b="0">
                <a:solidFill>
                  <a:srgbClr val="111111"/>
                </a:solidFill>
                <a:latin typeface="Poppins"/>
              </a:rPr>
              <a:t>directly.</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A QR code at the point of sale. A referral rebate on each keg. Or a free keg with purchase if the liquor rules allow it. Monk is one of their closest allies and holds point contacts. This is a conversation, not a campaign, and it is worth having before any budget moves.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MOVE 03</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Go at the tour operators, and run</a:t>
            </a:r>
          </a:p>
          <a:p>
            <a:pPr algn="l">
              <a:lnSpc>
                <a:spcPct val="112000"/>
              </a:lnSpc>
            </a:pPr>
            <a:r>
              <a:rPr sz="3800" b="0">
                <a:solidFill>
                  <a:srgbClr val="111111"/>
                </a:solidFill>
                <a:latin typeface="Poppins"/>
              </a:rPr>
              <a:t>wholesale properly.</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Hop On, Urban Legends and Pineapple Tours all let the customer choose which breweries to visit. So your write up decides whether you get picked, and yours does not mention Midnight in Tokyo while Balter gets the imagery. On wholesale, one commercial account is worth about ten households, and it currently has no structure, no targets and nobody carrying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AND ONE WE HAVE RANKED BELOW THEM</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Pulling people into the taproom</a:t>
            </a:r>
          </a:p>
          <a:p>
            <a:pPr algn="l">
              <a:lnSpc>
                <a:spcPct val="112000"/>
              </a:lnSpc>
            </a:pPr>
            <a:r>
              <a:rPr sz="3800" b="0">
                <a:solidFill>
                  <a:srgbClr val="111111"/>
                </a:solidFill>
                <a:latin typeface="Poppins"/>
              </a:rPr>
              <a:t>through social media.</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That was close to the centre of the plan we wrote for you. On this read it should not be. If the taproom is the half that loses money, spending the marketing budget filling it is the wrong instinct, however good the content 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WHAT WE NEED FROM YOU</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Six decisions. None of them need research.</a:t>
            </a:r>
          </a:p>
        </p:txBody>
      </p:sp>
      <p:cxnSp>
        <p:nvCxnSpPr>
          <p:cNvPr id="4" name="Connector 3"/>
          <p:cNvCxnSpPr/>
          <p:nvPr/>
        </p:nvCxnSpPr>
        <p:spPr>
          <a:xfrm>
            <a:off x="914400" y="2514600"/>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2642616"/>
            <a:ext cx="2834640" cy="56692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The taproom</a:t>
            </a:r>
          </a:p>
        </p:txBody>
      </p:sp>
      <p:sp>
        <p:nvSpPr>
          <p:cNvPr id="6" name="TextBox 5"/>
          <p:cNvSpPr txBox="1"/>
          <p:nvPr/>
        </p:nvSpPr>
        <p:spPr>
          <a:xfrm>
            <a:off x="4023360" y="2642616"/>
            <a:ext cx="7223760" cy="56692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Tasting and event venue, or keep paying for a drop in.</a:t>
            </a:r>
          </a:p>
        </p:txBody>
      </p:sp>
      <p:cxnSp>
        <p:nvCxnSpPr>
          <p:cNvPr id="7" name="Connector 6"/>
          <p:cNvCxnSpPr/>
          <p:nvPr/>
        </p:nvCxnSpPr>
        <p:spPr>
          <a:xfrm>
            <a:off x="914400" y="3136392"/>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3264408"/>
            <a:ext cx="2834640" cy="56692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The range</a:t>
            </a:r>
          </a:p>
        </p:txBody>
      </p:sp>
      <p:sp>
        <p:nvSpPr>
          <p:cNvPr id="9" name="TextBox 8"/>
          <p:cNvSpPr txBox="1"/>
          <p:nvPr/>
        </p:nvSpPr>
        <p:spPr>
          <a:xfrm>
            <a:off x="4023360" y="3264408"/>
            <a:ext cx="7223760" cy="56692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Six core beers, or twenty seven taps.</a:t>
            </a:r>
          </a:p>
        </p:txBody>
      </p:sp>
      <p:cxnSp>
        <p:nvCxnSpPr>
          <p:cNvPr id="10" name="Connector 9"/>
          <p:cNvCxnSpPr/>
          <p:nvPr/>
        </p:nvCxnSpPr>
        <p:spPr>
          <a:xfrm>
            <a:off x="914400" y="3758184"/>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4400" y="3886200"/>
            <a:ext cx="2834640" cy="56692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Membership price</a:t>
            </a:r>
          </a:p>
        </p:txBody>
      </p:sp>
      <p:sp>
        <p:nvSpPr>
          <p:cNvPr id="12" name="TextBox 11"/>
          <p:cNvSpPr txBox="1"/>
          <p:nvPr/>
        </p:nvSpPr>
        <p:spPr>
          <a:xfrm>
            <a:off x="4023360" y="3886200"/>
            <a:ext cx="7223760" cy="56692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Two posters, two prices, both live in your venue today.</a:t>
            </a:r>
          </a:p>
        </p:txBody>
      </p:sp>
      <p:cxnSp>
        <p:nvCxnSpPr>
          <p:cNvPr id="13" name="Connector 12"/>
          <p:cNvCxnSpPr/>
          <p:nvPr/>
        </p:nvCxnSpPr>
        <p:spPr>
          <a:xfrm>
            <a:off x="914400" y="4379976"/>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4507992"/>
            <a:ext cx="2834640" cy="56692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Active customer</a:t>
            </a:r>
          </a:p>
        </p:txBody>
      </p:sp>
      <p:sp>
        <p:nvSpPr>
          <p:cNvPr id="15" name="TextBox 14"/>
          <p:cNvSpPr txBox="1"/>
          <p:nvPr/>
        </p:nvSpPr>
        <p:spPr>
          <a:xfrm>
            <a:off x="4023360" y="4507992"/>
            <a:ext cx="7223760" cy="56692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Forty five, seventy five or ninety days. It decides every number we report.</a:t>
            </a:r>
          </a:p>
        </p:txBody>
      </p:sp>
      <p:cxnSp>
        <p:nvCxnSpPr>
          <p:cNvPr id="16" name="Connector 15"/>
          <p:cNvCxnSpPr/>
          <p:nvPr/>
        </p:nvCxnSpPr>
        <p:spPr>
          <a:xfrm>
            <a:off x="914400" y="5001768"/>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400" y="5129783"/>
            <a:ext cx="2834640" cy="56692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Which plan is live</a:t>
            </a:r>
          </a:p>
        </p:txBody>
      </p:sp>
      <p:sp>
        <p:nvSpPr>
          <p:cNvPr id="18" name="TextBox 17"/>
          <p:cNvSpPr txBox="1"/>
          <p:nvPr/>
        </p:nvSpPr>
        <p:spPr>
          <a:xfrm>
            <a:off x="4023360" y="5129783"/>
            <a:ext cx="7223760" cy="56692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Three of your documents name three different core metrics.</a:t>
            </a:r>
          </a:p>
        </p:txBody>
      </p:sp>
      <p:cxnSp>
        <p:nvCxnSpPr>
          <p:cNvPr id="19" name="Connector 18"/>
          <p:cNvCxnSpPr/>
          <p:nvPr/>
        </p:nvCxnSpPr>
        <p:spPr>
          <a:xfrm>
            <a:off x="914400" y="5623559"/>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14400" y="5751575"/>
            <a:ext cx="2834640" cy="56692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Model A or B</a:t>
            </a:r>
          </a:p>
        </p:txBody>
      </p:sp>
      <p:sp>
        <p:nvSpPr>
          <p:cNvPr id="21" name="TextBox 20"/>
          <p:cNvSpPr txBox="1"/>
          <p:nvPr/>
        </p:nvSpPr>
        <p:spPr>
          <a:xfrm>
            <a:off x="4023360" y="5751575"/>
            <a:ext cx="7223760" cy="56692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Sell more systems, or convert the 116 who bought elsewhere.</a:t>
            </a:r>
          </a:p>
        </p:txBody>
      </p:sp>
      <p:cxnSp>
        <p:nvCxnSpPr>
          <p:cNvPr id="22" name="Connector 21"/>
          <p:cNvCxnSpPr/>
          <p:nvPr/>
        </p:nvCxnSpPr>
        <p:spPr>
          <a:xfrm>
            <a:off x="914400" y="6245351"/>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HOW THIS SPLITS</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Harry takes these. We would do these for you.</a:t>
            </a:r>
          </a:p>
        </p:txBody>
      </p:sp>
      <p:cxnSp>
        <p:nvCxnSpPr>
          <p:cNvPr id="4" name="Connector 3"/>
          <p:cNvCxnSpPr/>
          <p:nvPr/>
        </p:nvCxnSpPr>
        <p:spPr>
          <a:xfrm>
            <a:off x="914400" y="2926080"/>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3054096"/>
            <a:ext cx="210312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Harry</a:t>
            </a:r>
          </a:p>
        </p:txBody>
      </p:sp>
      <p:sp>
        <p:nvSpPr>
          <p:cNvPr id="6" name="TextBox 5"/>
          <p:cNvSpPr txBox="1"/>
          <p:nvPr/>
        </p:nvSpPr>
        <p:spPr>
          <a:xfrm>
            <a:off x="3291840" y="3054096"/>
            <a:ext cx="795528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Tour operator outreach. Fresh copy, photos, reviews and the award to each operator. The referral reward nobody knows about.</a:t>
            </a:r>
          </a:p>
        </p:txBody>
      </p:sp>
      <p:cxnSp>
        <p:nvCxnSpPr>
          <p:cNvPr id="7" name="Connector 6"/>
          <p:cNvCxnSpPr/>
          <p:nvPr/>
        </p:nvCxnSpPr>
        <p:spPr>
          <a:xfrm>
            <a:off x="914400" y="3639312"/>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3767328"/>
            <a:ext cx="210312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Justin</a:t>
            </a:r>
          </a:p>
        </p:txBody>
      </p:sp>
      <p:sp>
        <p:nvSpPr>
          <p:cNvPr id="9" name="TextBox 8"/>
          <p:cNvSpPr txBox="1"/>
          <p:nvPr/>
        </p:nvSpPr>
        <p:spPr>
          <a:xfrm>
            <a:off x="3291840" y="3767328"/>
            <a:ext cx="795528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The Harvey Norman conversation. Wholesale structure and targets. The six decisions above.</a:t>
            </a:r>
          </a:p>
        </p:txBody>
      </p:sp>
      <p:cxnSp>
        <p:nvCxnSpPr>
          <p:cNvPr id="10" name="Connector 9"/>
          <p:cNvCxnSpPr/>
          <p:nvPr/>
        </p:nvCxnSpPr>
        <p:spPr>
          <a:xfrm>
            <a:off x="914400" y="4352544"/>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4400" y="4480560"/>
            <a:ext cx="210312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Jewell</a:t>
            </a:r>
          </a:p>
        </p:txBody>
      </p:sp>
      <p:sp>
        <p:nvSpPr>
          <p:cNvPr id="12" name="TextBox 11"/>
          <p:cNvSpPr txBox="1"/>
          <p:nvPr/>
        </p:nvSpPr>
        <p:spPr>
          <a:xfrm>
            <a:off x="3291840" y="4480560"/>
            <a:ext cx="795528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Database acquisition and the campaign against it. The Urban Legends booking tool. Tracking, so you can see what any of it did.</a:t>
            </a:r>
          </a:p>
        </p:txBody>
      </p:sp>
      <p:cxnSp>
        <p:nvCxnSpPr>
          <p:cNvPr id="13" name="Connector 12"/>
          <p:cNvCxnSpPr/>
          <p:nvPr/>
        </p:nvCxnSpPr>
        <p:spPr>
          <a:xfrm>
            <a:off x="914400" y="5065776"/>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1828800"/>
            <a:ext cx="10332720" cy="1828800"/>
          </a:xfrm>
          <a:prstGeom prst="rect">
            <a:avLst/>
          </a:prstGeom>
          <a:noFill/>
        </p:spPr>
        <p:txBody>
          <a:bodyPr wrap="square" lIns="0" rIns="0" tIns="0" bIns="0" anchor="t">
            <a:spAutoFit/>
          </a:bodyPr>
          <a:lstStyle/>
          <a:p>
            <a:pPr algn="l">
              <a:lnSpc>
                <a:spcPct val="100000"/>
              </a:lnSpc>
            </a:pPr>
            <a:r>
              <a:rPr sz="9600" b="1">
                <a:solidFill>
                  <a:srgbClr val="111111"/>
                </a:solidFill>
                <a:latin typeface="Poppins"/>
              </a:rPr>
              <a:t>Next.</a:t>
            </a:r>
          </a:p>
        </p:txBody>
      </p:sp>
      <p:sp>
        <p:nvSpPr>
          <p:cNvPr id="3" name="TextBox 2"/>
          <p:cNvSpPr txBox="1"/>
          <p:nvPr/>
        </p:nvSpPr>
        <p:spPr>
          <a:xfrm>
            <a:off x="914400" y="4114800"/>
            <a:ext cx="10332720" cy="457200"/>
          </a:xfrm>
          <a:prstGeom prst="rect">
            <a:avLst/>
          </a:prstGeom>
          <a:noFill/>
        </p:spPr>
        <p:txBody>
          <a:bodyPr wrap="square" lIns="0" rIns="0" tIns="0" bIns="0" anchor="t">
            <a:spAutoFit/>
          </a:bodyPr>
          <a:lstStyle/>
          <a:p>
            <a:pPr algn="l">
              <a:lnSpc>
                <a:spcPct val="150000"/>
              </a:lnSpc>
            </a:pPr>
            <a:r>
              <a:rPr sz="1400" b="0">
                <a:solidFill>
                  <a:srgbClr val="111111"/>
                </a:solidFill>
                <a:latin typeface="Poppins"/>
              </a:rPr>
              <a:t>Decisions back by Friday 4 September. We will scope the three moves against them.</a:t>
            </a:r>
          </a:p>
        </p:txBody>
      </p:sp>
      <p:sp>
        <p:nvSpPr>
          <p:cNvPr id="4" name="TextBox 3"/>
          <p:cNvSpPr txBox="1"/>
          <p:nvPr/>
        </p:nvSpPr>
        <p:spPr>
          <a:xfrm>
            <a:off x="914400" y="4572000"/>
            <a:ext cx="10332720" cy="457200"/>
          </a:xfrm>
          <a:prstGeom prst="rect">
            <a:avLst/>
          </a:prstGeom>
          <a:noFill/>
        </p:spPr>
        <p:txBody>
          <a:bodyPr wrap="square" lIns="0" rIns="0" tIns="0" bIns="0" anchor="t">
            <a:spAutoFit/>
          </a:bodyPr>
          <a:lstStyle/>
          <a:p>
            <a:pPr algn="l">
              <a:lnSpc>
                <a:spcPct val="150000"/>
              </a:lnSpc>
            </a:pPr>
            <a:r>
              <a:rPr sz="1400" b="0">
                <a:solidFill>
                  <a:srgbClr val="111111"/>
                </a:solidFill>
                <a:latin typeface="Poppins"/>
              </a:rPr>
              <a:t>Clent Jewell · clent@jewellprojects.com · Jewell Projects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