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36576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JP · TAP THAT BREWERY · WHERE YOU ARE</a:t>
            </a:r>
          </a:p>
        </p:txBody>
      </p:sp>
      <p:sp>
        <p:nvSpPr>
          <p:cNvPr id="3" name="TextBox 2"/>
          <p:cNvSpPr txBox="1"/>
          <p:nvPr/>
        </p:nvSpPr>
        <p:spPr>
          <a:xfrm>
            <a:off x="914400" y="3566160"/>
            <a:ext cx="10332720" cy="1828800"/>
          </a:xfrm>
          <a:prstGeom prst="rect">
            <a:avLst/>
          </a:prstGeom>
          <a:noFill/>
        </p:spPr>
        <p:txBody>
          <a:bodyPr wrap="square" lIns="0" rIns="0" tIns="0" bIns="0" anchor="b">
            <a:spAutoFit/>
          </a:bodyPr>
          <a:lstStyle/>
          <a:p>
            <a:pPr algn="l">
              <a:lnSpc>
                <a:spcPct val="105000"/>
              </a:lnSpc>
            </a:pPr>
            <a:r>
              <a:rPr sz="6000" b="1">
                <a:solidFill>
                  <a:srgbClr val="111111"/>
                </a:solidFill>
                <a:latin typeface="Poppins"/>
              </a:rPr>
              <a:t>Where you are, and the</a:t>
            </a:r>
          </a:p>
          <a:p>
            <a:pPr algn="l">
              <a:lnSpc>
                <a:spcPct val="105000"/>
              </a:lnSpc>
            </a:pPr>
            <a:r>
              <a:rPr sz="6000" b="1">
                <a:solidFill>
                  <a:srgbClr val="111111"/>
                </a:solidFill>
                <a:latin typeface="Poppins"/>
              </a:rPr>
              <a:t>three things to do about it.</a:t>
            </a:r>
          </a:p>
        </p:txBody>
      </p:sp>
      <p:sp>
        <p:nvSpPr>
          <p:cNvPr id="4" name="TextBox 3"/>
          <p:cNvSpPr txBox="1"/>
          <p:nvPr/>
        </p:nvSpPr>
        <p:spPr>
          <a:xfrm>
            <a:off x="914400" y="5623560"/>
            <a:ext cx="10332720" cy="548640"/>
          </a:xfrm>
          <a:prstGeom prst="rect">
            <a:avLst/>
          </a:prstGeom>
          <a:noFill/>
        </p:spPr>
        <p:txBody>
          <a:bodyPr wrap="square" lIns="0" rIns="0" tIns="0" bIns="0" anchor="t">
            <a:spAutoFit/>
          </a:bodyPr>
          <a:lstStyle/>
          <a:p>
            <a:pPr algn="l">
              <a:lnSpc>
                <a:spcPct val="150000"/>
              </a:lnSpc>
            </a:pPr>
            <a:r>
              <a:rPr sz="2000" b="0">
                <a:solidFill>
                  <a:srgbClr val="111111"/>
                </a:solidFill>
                <a:latin typeface="Poppins"/>
              </a:rPr>
              <a:t>Prepared for Justin Mistry and Harry. The detail sits behind every slide.</a:t>
            </a:r>
          </a:p>
        </p:txBody>
      </p:sp>
      <p:sp>
        <p:nvSpPr>
          <p:cNvPr id="5" name="TextBox 4"/>
          <p:cNvSpPr txBox="1"/>
          <p:nvPr/>
        </p:nvSpPr>
        <p:spPr>
          <a:xfrm>
            <a:off x="8229600" y="6309360"/>
            <a:ext cx="3017520" cy="274320"/>
          </a:xfrm>
          <a:prstGeom prst="rect">
            <a:avLst/>
          </a:prstGeom>
          <a:noFill/>
        </p:spPr>
        <p:txBody>
          <a:bodyPr wrap="square" lIns="0" rIns="0" tIns="0" bIns="0" anchor="t">
            <a:spAutoFit/>
          </a:bodyPr>
          <a:lstStyle/>
          <a:p>
            <a:pPr algn="r">
              <a:lnSpc>
                <a:spcPct val="150000"/>
              </a:lnSpc>
            </a:pPr>
            <a:r>
              <a:rPr sz="1100" b="0">
                <a:solidFill>
                  <a:srgbClr val="666666"/>
                </a:solidFill>
                <a:latin typeface="Poppins"/>
              </a:rPr>
              <a:t>28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01</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We have looked at this properly. This is the read.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READ</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600" b="0">
                <a:solidFill>
                  <a:srgbClr val="111111"/>
                </a:solidFill>
                <a:latin typeface="Poppins"/>
              </a:rPr>
              <a:t>You are running two businesses that</a:t>
            </a:r>
          </a:p>
          <a:p>
            <a:pPr algn="l">
              <a:lnSpc>
                <a:spcPct val="112000"/>
              </a:lnSpc>
            </a:pPr>
            <a:r>
              <a:rPr sz="3600" b="0">
                <a:solidFill>
                  <a:srgbClr val="111111"/>
                </a:solidFill>
                <a:latin typeface="Poppins"/>
              </a:rPr>
              <a:t>cancel each other out.</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Two of those numbers need settling before they can carry a plan. Which definition of active is the live one, and what the business actually costs to run.</a:t>
            </a:r>
          </a:p>
        </p:txBody>
      </p:sp>
      <p:cxnSp>
        <p:nvCxnSpPr>
          <p:cNvPr id="5" name="Connector 4"/>
          <p:cNvCxnSpPr/>
          <p:nvPr/>
        </p:nvCxnSpPr>
        <p:spPr>
          <a:xfrm>
            <a:off x="91440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206</a:t>
            </a:r>
          </a:p>
        </p:txBody>
      </p:sp>
      <p:sp>
        <p:nvSpPr>
          <p:cNvPr id="7" name="TextBox 6"/>
          <p:cNvSpPr txBox="1"/>
          <p:nvPr/>
        </p:nvSpPr>
        <p:spPr>
          <a:xfrm>
            <a:off x="91440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Systems in your database</a:t>
            </a:r>
          </a:p>
        </p:txBody>
      </p:sp>
      <p:cxnSp>
        <p:nvCxnSpPr>
          <p:cNvPr id="8" name="Connector 7"/>
          <p:cNvCxnSpPr/>
          <p:nvPr/>
        </p:nvCxnSpPr>
        <p:spPr>
          <a:xfrm>
            <a:off x="349758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49758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96 to 113</a:t>
            </a:r>
          </a:p>
        </p:txBody>
      </p:sp>
      <p:sp>
        <p:nvSpPr>
          <p:cNvPr id="10" name="TextBox 9"/>
          <p:cNvSpPr txBox="1"/>
          <p:nvPr/>
        </p:nvSpPr>
        <p:spPr>
          <a:xfrm>
            <a:off x="349758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Active customers. Your own documents define active three ways</a:t>
            </a:r>
          </a:p>
        </p:txBody>
      </p:sp>
      <p:cxnSp>
        <p:nvCxnSpPr>
          <p:cNvPr id="11" name="Connector 10"/>
          <p:cNvCxnSpPr/>
          <p:nvPr/>
        </p:nvCxnSpPr>
        <p:spPr>
          <a:xfrm>
            <a:off x="608076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8076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56%</a:t>
            </a:r>
          </a:p>
        </p:txBody>
      </p:sp>
      <p:sp>
        <p:nvSpPr>
          <p:cNvPr id="13" name="TextBox 12"/>
          <p:cNvSpPr txBox="1"/>
          <p:nvPr/>
        </p:nvSpPr>
        <p:spPr>
          <a:xfrm>
            <a:off x="608076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Bought their system somewhere else and refill with you anyway</a:t>
            </a:r>
          </a:p>
        </p:txBody>
      </p:sp>
      <p:cxnSp>
        <p:nvCxnSpPr>
          <p:cNvPr id="14" name="Connector 13"/>
          <p:cNvCxnSpPr/>
          <p:nvPr/>
        </p:nvCxnSpPr>
        <p:spPr>
          <a:xfrm>
            <a:off x="866394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6394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~9x</a:t>
            </a:r>
          </a:p>
        </p:txBody>
      </p:sp>
      <p:sp>
        <p:nvSpPr>
          <p:cNvPr id="16" name="TextBox 15"/>
          <p:cNvSpPr txBox="1"/>
          <p:nvPr/>
        </p:nvSpPr>
        <p:spPr>
          <a:xfrm>
            <a:off x="866394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The climb to 1,000 from where you actually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PROBLEM UNDERNEATH</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The taproom and the refill model</a:t>
            </a:r>
          </a:p>
          <a:p>
            <a:pPr algn="l">
              <a:lnSpc>
                <a:spcPct val="112000"/>
              </a:lnSpc>
            </a:pPr>
            <a:r>
              <a:rPr sz="3800" b="0">
                <a:solidFill>
                  <a:srgbClr val="111111"/>
                </a:solidFill>
                <a:latin typeface="Poppins"/>
              </a:rPr>
              <a:t>work against each other.</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Refills are a subscription business. It works when people stay home and the keg runs out. The taproom is a hospitality business. It works when people come in. For eighteen months the attention went to the taproom, because a venue is visible and always urgent, and it is the half that loses money. This is not a marketing problem. It is a decision about what the taproom is for.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GAP UNDERNEATH EVERYTHING</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Nobody has priced any of it.</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There is no cost of goods, no figure for what carrying twenty seven taps costs in ingredients, kegs, storage and refrigeration, and no number for what the taproom loses each month. Until those land, everything we have written for you is a revenue plan. We would rather say that than dress it up as a business case.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02</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What to do</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Three moves, ranked. And one we have ranked below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01</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Buy the databases of people who</a:t>
            </a:r>
          </a:p>
          <a:p>
            <a:pPr algn="l">
              <a:lnSpc>
                <a:spcPct val="112000"/>
              </a:lnSpc>
            </a:pPr>
            <a:r>
              <a:rPr sz="3800" b="0">
                <a:solidFill>
                  <a:srgbClr val="111111"/>
                </a:solidFill>
                <a:latin typeface="Poppins"/>
              </a:rPr>
              <a:t>already own a system.</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Harvey Norman lists six kegerator models plus a tap unit. Keg Land, Kegmaster and BenchTop hold buyer lists of their own. Every name on those lists owns hardware, so the price of the system, the most expensive objection your marketing fights, is already cleared. At about seventy dollars gross a keg, the data pays for itself quickly.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02</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Do a deal with Harvey Norman</a:t>
            </a:r>
          </a:p>
          <a:p>
            <a:pPr algn="l">
              <a:lnSpc>
                <a:spcPct val="112000"/>
              </a:lnSpc>
            </a:pPr>
            <a:r>
              <a:rPr sz="3800" b="0">
                <a:solidFill>
                  <a:srgbClr val="111111"/>
                </a:solidFill>
                <a:latin typeface="Poppins"/>
              </a:rPr>
              <a:t>directly.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A QR code at the point of sale. A referral rebate on each keg. Or a free keg with purchase if the liquor rules allow it. Monk is one of their closest allies and holds point contacts. This is a conversation, not a campaign, and it is worth having before any budget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03</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Go at the tour operators, and run</a:t>
            </a:r>
          </a:p>
          <a:p>
            <a:pPr algn="l">
              <a:lnSpc>
                <a:spcPct val="112000"/>
              </a:lnSpc>
            </a:pPr>
            <a:r>
              <a:rPr sz="3800" b="0">
                <a:solidFill>
                  <a:srgbClr val="111111"/>
                </a:solidFill>
                <a:latin typeface="Poppins"/>
              </a:rPr>
              <a:t>wholesale properly.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Hop On, Urban Legends and Pineapple Tours all let the customer choose which breweries to visit. So your write up decides whether you get picked, and yours does not mention Midnight in Tokyo while Balter gets the imagery. On wholesale, one commercial account is worth about ten households, and it currently has no structure, no targets and nobody carrying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AND ONE THAT SITS BELOW ALL THREE</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Filling the taproom through social</a:t>
            </a:r>
          </a:p>
          <a:p>
            <a:pPr algn="l">
              <a:lnSpc>
                <a:spcPct val="112000"/>
              </a:lnSpc>
            </a:pPr>
            <a:r>
              <a:rPr sz="3800" b="0">
                <a:solidFill>
                  <a:srgbClr val="111111"/>
                </a:solidFill>
                <a:latin typeface="Poppins"/>
              </a:rPr>
              <a:t>media is not the lead move.</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It is the obvious thing to do and it is the wrong thing to do first. The taproom is the half of the business that loses money, and the refill model works when people stay home. Spending the marketing budget filling the room means paying twice: once for the campaign, and again for the trade it brings through the door.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OPPORTUNITY NOBODY HAS WORKED</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Four in ten of your customers have</a:t>
            </a:r>
          </a:p>
          <a:p>
            <a:pPr algn="l">
              <a:lnSpc>
                <a:spcPct val="112000"/>
              </a:lnSpc>
            </a:pPr>
            <a:r>
              <a:rPr sz="3800" b="0">
                <a:solidFill>
                  <a:srgbClr val="111111"/>
                </a:solidFill>
                <a:latin typeface="Poppins"/>
              </a:rPr>
              <a:t>quietly slowed down.</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They have cut back on beer, not on thirst. A lighter or lower alcohol line puts something back in their taps without asking anyone to drink more. Where they are also members, they are paying for something they have stopped using.</a:t>
            </a:r>
          </a:p>
        </p:txBody>
      </p:sp>
      <p:cxnSp>
        <p:nvCxnSpPr>
          <p:cNvPr id="5" name="Connector 4"/>
          <p:cNvCxnSpPr/>
          <p:nvPr/>
        </p:nvCxnSpPr>
        <p:spPr>
          <a:xfrm>
            <a:off x="91440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10%</a:t>
            </a:r>
          </a:p>
        </p:txBody>
      </p:sp>
      <p:sp>
        <p:nvSpPr>
          <p:cNvPr id="7" name="TextBox 6"/>
          <p:cNvSpPr txBox="1"/>
          <p:nvPr/>
        </p:nvSpPr>
        <p:spPr>
          <a:xfrm>
            <a:off x="91440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Buy about every month. Already at their ceiling</a:t>
            </a:r>
          </a:p>
        </p:txBody>
      </p:sp>
      <p:cxnSp>
        <p:nvCxnSpPr>
          <p:cNvPr id="8" name="Connector 7"/>
          <p:cNvCxnSpPr/>
          <p:nvPr/>
        </p:nvCxnSpPr>
        <p:spPr>
          <a:xfrm>
            <a:off x="349758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49758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60%</a:t>
            </a:r>
          </a:p>
        </p:txBody>
      </p:sp>
      <p:sp>
        <p:nvSpPr>
          <p:cNvPr id="10" name="TextBox 9"/>
          <p:cNvSpPr txBox="1"/>
          <p:nvPr/>
        </p:nvSpPr>
        <p:spPr>
          <a:xfrm>
            <a:off x="349758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Buy about every three months. This is the core</a:t>
            </a:r>
          </a:p>
        </p:txBody>
      </p:sp>
      <p:cxnSp>
        <p:nvCxnSpPr>
          <p:cNvPr id="11" name="Connector 10"/>
          <p:cNvCxnSpPr/>
          <p:nvPr/>
        </p:nvCxnSpPr>
        <p:spPr>
          <a:xfrm>
            <a:off x="608076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8076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40%</a:t>
            </a:r>
          </a:p>
        </p:txBody>
      </p:sp>
      <p:sp>
        <p:nvSpPr>
          <p:cNvPr id="13" name="TextBox 12"/>
          <p:cNvSpPr txBox="1"/>
          <p:nvPr/>
        </p:nvSpPr>
        <p:spPr>
          <a:xfrm>
            <a:off x="608076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Take longer than that. The system is still in the backyard</a:t>
            </a:r>
          </a:p>
        </p:txBody>
      </p:sp>
      <p:cxnSp>
        <p:nvCxnSpPr>
          <p:cNvPr id="14" name="Connector 13"/>
          <p:cNvCxnSpPr/>
          <p:nvPr/>
        </p:nvCxnSpPr>
        <p:spPr>
          <a:xfrm>
            <a:off x="866394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6394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1 in 3</a:t>
            </a:r>
          </a:p>
        </p:txBody>
      </p:sp>
      <p:sp>
        <p:nvSpPr>
          <p:cNvPr id="16" name="TextBox 15"/>
          <p:cNvSpPr txBox="1"/>
          <p:nvPr/>
        </p:nvSpPr>
        <p:spPr>
          <a:xfrm>
            <a:off x="866394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Of your taps are not beer, which is the answer to this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YOUR WEBSITE</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Four business units, given equal</a:t>
            </a:r>
          </a:p>
          <a:p>
            <a:pPr algn="l">
              <a:lnSpc>
                <a:spcPct val="112000"/>
              </a:lnSpc>
            </a:pPr>
            <a:r>
              <a:rPr sz="3800" b="0">
                <a:solidFill>
                  <a:srgbClr val="111111"/>
                </a:solidFill>
                <a:latin typeface="Poppins"/>
              </a:rPr>
              <a:t>billing, and the award is buried.</a:t>
            </a:r>
          </a:p>
        </p:txBody>
      </p:sp>
      <p:cxnSp>
        <p:nvCxnSpPr>
          <p:cNvPr id="4" name="Connector 3"/>
          <p:cNvCxnSpPr/>
          <p:nvPr/>
        </p:nvCxnSpPr>
        <p:spPr>
          <a:xfrm>
            <a:off x="914400" y="265176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779776"/>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Above the fold</a:t>
            </a:r>
          </a:p>
        </p:txBody>
      </p:sp>
      <p:sp>
        <p:nvSpPr>
          <p:cNvPr id="6" name="TextBox 5"/>
          <p:cNvSpPr txBox="1"/>
          <p:nvPr/>
        </p:nvSpPr>
        <p:spPr>
          <a:xfrm>
            <a:off x="3657600" y="2779776"/>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Nothing arresting. The film cuts too fast to read the message under it.</a:t>
            </a:r>
          </a:p>
        </p:txBody>
      </p:sp>
      <p:cxnSp>
        <p:nvCxnSpPr>
          <p:cNvPr id="7" name="Connector 6"/>
          <p:cNvCxnSpPr/>
          <p:nvPr/>
        </p:nvCxnSpPr>
        <p:spPr>
          <a:xfrm>
            <a:off x="914400" y="331012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438144"/>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award</a:t>
            </a:r>
          </a:p>
        </p:txBody>
      </p:sp>
      <p:sp>
        <p:nvSpPr>
          <p:cNvPr id="9" name="TextBox 8"/>
          <p:cNvSpPr txBox="1"/>
          <p:nvPr/>
        </p:nvSpPr>
        <p:spPr>
          <a:xfrm>
            <a:off x="3657600" y="3438144"/>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Brewer's Choice at Crafted is not the first thing a visitor sees. It should be.</a:t>
            </a:r>
          </a:p>
        </p:txBody>
      </p:sp>
      <p:cxnSp>
        <p:nvCxnSpPr>
          <p:cNvPr id="10" name="Connector 9"/>
          <p:cNvCxnSpPr/>
          <p:nvPr/>
        </p:nvCxnSpPr>
        <p:spPr>
          <a:xfrm>
            <a:off x="914400" y="396849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096511"/>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Fits any system</a:t>
            </a:r>
          </a:p>
        </p:txBody>
      </p:sp>
      <p:sp>
        <p:nvSpPr>
          <p:cNvPr id="12" name="TextBox 11"/>
          <p:cNvSpPr txBox="1"/>
          <p:nvPr/>
        </p:nvSpPr>
        <p:spPr>
          <a:xfrm>
            <a:off x="3657600" y="4096511"/>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Your cheapest source of customers, and the site does not say it on arrival.</a:t>
            </a:r>
          </a:p>
        </p:txBody>
      </p:sp>
      <p:cxnSp>
        <p:nvCxnSpPr>
          <p:cNvPr id="13" name="Connector 12"/>
          <p:cNvCxnSpPr/>
          <p:nvPr/>
        </p:nvCxnSpPr>
        <p:spPr>
          <a:xfrm>
            <a:off x="914400" y="462686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4754879"/>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Reviews</a:t>
            </a:r>
          </a:p>
        </p:txBody>
      </p:sp>
      <p:sp>
        <p:nvSpPr>
          <p:cNvPr id="15" name="TextBox 14"/>
          <p:cNvSpPr txBox="1"/>
          <p:nvPr/>
        </p:nvSpPr>
        <p:spPr>
          <a:xfrm>
            <a:off x="3657600" y="4754879"/>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Behind click dots that do not scroll, so nobody reaches them.</a:t>
            </a:r>
          </a:p>
        </p:txBody>
      </p:sp>
      <p:cxnSp>
        <p:nvCxnSpPr>
          <p:cNvPr id="16" name="Connector 15"/>
          <p:cNvCxnSpPr/>
          <p:nvPr/>
        </p:nvCxnSpPr>
        <p:spPr>
          <a:xfrm>
            <a:off x="914400" y="5285231"/>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413247"/>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Wholesale</a:t>
            </a:r>
          </a:p>
        </p:txBody>
      </p:sp>
      <p:sp>
        <p:nvSpPr>
          <p:cNvPr id="18" name="TextBox 17"/>
          <p:cNvSpPr txBox="1"/>
          <p:nvPr/>
        </p:nvSpPr>
        <p:spPr>
          <a:xfrm>
            <a:off x="3657600" y="5413247"/>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No margin argument, no white label, no cuisine matching. Nothing to say yes to.</a:t>
            </a:r>
          </a:p>
        </p:txBody>
      </p:sp>
      <p:cxnSp>
        <p:nvCxnSpPr>
          <p:cNvPr id="19" name="Connector 18"/>
          <p:cNvCxnSpPr/>
          <p:nvPr/>
        </p:nvCxnSpPr>
        <p:spPr>
          <a:xfrm>
            <a:off x="914400" y="5943599"/>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WHAT WE NEED FROM YOU · SIX OF EIGHT DECISIONS</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The six decisions that most change the plan.</a:t>
            </a:r>
          </a:p>
        </p:txBody>
      </p:sp>
      <p:cxnSp>
        <p:nvCxnSpPr>
          <p:cNvPr id="4" name="Connector 3"/>
          <p:cNvCxnSpPr/>
          <p:nvPr/>
        </p:nvCxnSpPr>
        <p:spPr>
          <a:xfrm>
            <a:off x="914400" y="228600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414016"/>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taproom</a:t>
            </a:r>
          </a:p>
        </p:txBody>
      </p:sp>
      <p:sp>
        <p:nvSpPr>
          <p:cNvPr id="6" name="TextBox 5"/>
          <p:cNvSpPr txBox="1"/>
          <p:nvPr/>
        </p:nvSpPr>
        <p:spPr>
          <a:xfrm>
            <a:off x="4023360" y="2414016"/>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Tasting and event venue, or keep paying for a drop in.</a:t>
            </a:r>
          </a:p>
        </p:txBody>
      </p:sp>
      <p:cxnSp>
        <p:nvCxnSpPr>
          <p:cNvPr id="7" name="Connector 6"/>
          <p:cNvCxnSpPr/>
          <p:nvPr/>
        </p:nvCxnSpPr>
        <p:spPr>
          <a:xfrm>
            <a:off x="914400" y="287121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2999232"/>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range</a:t>
            </a:r>
          </a:p>
        </p:txBody>
      </p:sp>
      <p:sp>
        <p:nvSpPr>
          <p:cNvPr id="9" name="TextBox 8"/>
          <p:cNvSpPr txBox="1"/>
          <p:nvPr/>
        </p:nvSpPr>
        <p:spPr>
          <a:xfrm>
            <a:off x="4023360" y="2999232"/>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Six core beers, or twenty seven taps.</a:t>
            </a:r>
          </a:p>
        </p:txBody>
      </p:sp>
      <p:cxnSp>
        <p:nvCxnSpPr>
          <p:cNvPr id="10" name="Connector 9"/>
          <p:cNvCxnSpPr/>
          <p:nvPr/>
        </p:nvCxnSpPr>
        <p:spPr>
          <a:xfrm>
            <a:off x="914400" y="345643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3584448"/>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Membership price</a:t>
            </a:r>
          </a:p>
        </p:txBody>
      </p:sp>
      <p:sp>
        <p:nvSpPr>
          <p:cNvPr id="12" name="TextBox 11"/>
          <p:cNvSpPr txBox="1"/>
          <p:nvPr/>
        </p:nvSpPr>
        <p:spPr>
          <a:xfrm>
            <a:off x="4023360" y="3584448"/>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Two posters, two prices, both live in your venue today.</a:t>
            </a:r>
          </a:p>
        </p:txBody>
      </p:sp>
      <p:cxnSp>
        <p:nvCxnSpPr>
          <p:cNvPr id="13" name="Connector 12"/>
          <p:cNvCxnSpPr/>
          <p:nvPr/>
        </p:nvCxnSpPr>
        <p:spPr>
          <a:xfrm>
            <a:off x="914400" y="404164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4169663"/>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Active customer</a:t>
            </a:r>
          </a:p>
        </p:txBody>
      </p:sp>
      <p:sp>
        <p:nvSpPr>
          <p:cNvPr id="15" name="TextBox 14"/>
          <p:cNvSpPr txBox="1"/>
          <p:nvPr/>
        </p:nvSpPr>
        <p:spPr>
          <a:xfrm>
            <a:off x="4023360" y="4169663"/>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Forty five, seventy five or ninety days. It decides every number we report.</a:t>
            </a:r>
          </a:p>
        </p:txBody>
      </p:sp>
      <p:cxnSp>
        <p:nvCxnSpPr>
          <p:cNvPr id="16" name="Connector 15"/>
          <p:cNvCxnSpPr/>
          <p:nvPr/>
        </p:nvCxnSpPr>
        <p:spPr>
          <a:xfrm>
            <a:off x="914400" y="462686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4754879"/>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Which plan is live</a:t>
            </a:r>
          </a:p>
        </p:txBody>
      </p:sp>
      <p:sp>
        <p:nvSpPr>
          <p:cNvPr id="18" name="TextBox 17"/>
          <p:cNvSpPr txBox="1"/>
          <p:nvPr/>
        </p:nvSpPr>
        <p:spPr>
          <a:xfrm>
            <a:off x="4023360" y="4754879"/>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Three of your documents name three different core metrics.</a:t>
            </a:r>
          </a:p>
        </p:txBody>
      </p:sp>
      <p:cxnSp>
        <p:nvCxnSpPr>
          <p:cNvPr id="19" name="Connector 18"/>
          <p:cNvCxnSpPr/>
          <p:nvPr/>
        </p:nvCxnSpPr>
        <p:spPr>
          <a:xfrm>
            <a:off x="914400" y="5212079"/>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5340095"/>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Model A or B</a:t>
            </a:r>
          </a:p>
        </p:txBody>
      </p:sp>
      <p:sp>
        <p:nvSpPr>
          <p:cNvPr id="21" name="TextBox 20"/>
          <p:cNvSpPr txBox="1"/>
          <p:nvPr/>
        </p:nvSpPr>
        <p:spPr>
          <a:xfrm>
            <a:off x="4023360" y="5340095"/>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Sell more systems, or convert the 116 who bought elsewhere.</a:t>
            </a:r>
          </a:p>
        </p:txBody>
      </p:sp>
      <p:cxnSp>
        <p:nvCxnSpPr>
          <p:cNvPr id="22" name="Connector 21"/>
          <p:cNvCxnSpPr/>
          <p:nvPr/>
        </p:nvCxnSpPr>
        <p:spPr>
          <a:xfrm>
            <a:off x="914400" y="5797295"/>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14400" y="5925311"/>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Two more behind these</a:t>
            </a:r>
          </a:p>
        </p:txBody>
      </p:sp>
      <p:sp>
        <p:nvSpPr>
          <p:cNvPr id="24" name="TextBox 23"/>
          <p:cNvSpPr txBox="1"/>
          <p:nvPr/>
        </p:nvSpPr>
        <p:spPr>
          <a:xfrm>
            <a:off x="4023360" y="5925311"/>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Whether cost is on the table at all, and the name against the signage.</a:t>
            </a:r>
          </a:p>
        </p:txBody>
      </p:sp>
      <p:cxnSp>
        <p:nvCxnSpPr>
          <p:cNvPr id="25" name="Connector 24"/>
          <p:cNvCxnSpPr/>
          <p:nvPr/>
        </p:nvCxnSpPr>
        <p:spPr>
          <a:xfrm>
            <a:off x="914400" y="6382511"/>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HOW THIS SPLITS</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Harry takes these. We would do these for you.</a:t>
            </a:r>
          </a:p>
        </p:txBody>
      </p:sp>
      <p:cxnSp>
        <p:nvCxnSpPr>
          <p:cNvPr id="4" name="Connector 3"/>
          <p:cNvCxnSpPr/>
          <p:nvPr/>
        </p:nvCxnSpPr>
        <p:spPr>
          <a:xfrm>
            <a:off x="914400" y="292608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054096"/>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Harry</a:t>
            </a:r>
          </a:p>
        </p:txBody>
      </p:sp>
      <p:sp>
        <p:nvSpPr>
          <p:cNvPr id="6" name="TextBox 5"/>
          <p:cNvSpPr txBox="1"/>
          <p:nvPr/>
        </p:nvSpPr>
        <p:spPr>
          <a:xfrm>
            <a:off x="3291840" y="3054096"/>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Tour operator outreach. Fresh copy, photos, reviews and the award to each operator. The referral reward nobody knows about.</a:t>
            </a:r>
          </a:p>
        </p:txBody>
      </p:sp>
      <p:cxnSp>
        <p:nvCxnSpPr>
          <p:cNvPr id="7" name="Connector 6"/>
          <p:cNvCxnSpPr/>
          <p:nvPr/>
        </p:nvCxnSpPr>
        <p:spPr>
          <a:xfrm>
            <a:off x="914400" y="363931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767328"/>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Justin</a:t>
            </a:r>
          </a:p>
        </p:txBody>
      </p:sp>
      <p:sp>
        <p:nvSpPr>
          <p:cNvPr id="9" name="TextBox 8"/>
          <p:cNvSpPr txBox="1"/>
          <p:nvPr/>
        </p:nvSpPr>
        <p:spPr>
          <a:xfrm>
            <a:off x="3291840" y="3767328"/>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The Harvey Norman conversation. Wholesale structure and targets. The six decisions above.</a:t>
            </a:r>
          </a:p>
        </p:txBody>
      </p:sp>
      <p:cxnSp>
        <p:nvCxnSpPr>
          <p:cNvPr id="10" name="Connector 9"/>
          <p:cNvCxnSpPr/>
          <p:nvPr/>
        </p:nvCxnSpPr>
        <p:spPr>
          <a:xfrm>
            <a:off x="914400" y="435254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480560"/>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Jewell</a:t>
            </a:r>
          </a:p>
        </p:txBody>
      </p:sp>
      <p:sp>
        <p:nvSpPr>
          <p:cNvPr id="12" name="TextBox 11"/>
          <p:cNvSpPr txBox="1"/>
          <p:nvPr/>
        </p:nvSpPr>
        <p:spPr>
          <a:xfrm>
            <a:off x="3291840" y="4480560"/>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Database acquisition and the campaign against it. The Urban Legends booking tool. Tracking, so you can see what any of it did.</a:t>
            </a:r>
          </a:p>
        </p:txBody>
      </p:sp>
      <p:cxnSp>
        <p:nvCxnSpPr>
          <p:cNvPr id="13" name="Connector 12"/>
          <p:cNvCxnSpPr/>
          <p:nvPr/>
        </p:nvCxnSpPr>
        <p:spPr>
          <a:xfrm>
            <a:off x="914400" y="506577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1828800"/>
            <a:ext cx="10332720" cy="1828800"/>
          </a:xfrm>
          <a:prstGeom prst="rect">
            <a:avLst/>
          </a:prstGeom>
          <a:noFill/>
        </p:spPr>
        <p:txBody>
          <a:bodyPr wrap="square" lIns="0" rIns="0" tIns="0" bIns="0" anchor="t">
            <a:spAutoFit/>
          </a:bodyPr>
          <a:lstStyle/>
          <a:p>
            <a:pPr algn="l">
              <a:lnSpc>
                <a:spcPct val="100000"/>
              </a:lnSpc>
            </a:pPr>
            <a:r>
              <a:rPr sz="9600" b="1">
                <a:solidFill>
                  <a:srgbClr val="111111"/>
                </a:solidFill>
                <a:latin typeface="Poppins"/>
              </a:rPr>
              <a:t>Next.</a:t>
            </a:r>
          </a:p>
        </p:txBody>
      </p:sp>
      <p:sp>
        <p:nvSpPr>
          <p:cNvPr id="3" name="TextBox 2"/>
          <p:cNvSpPr txBox="1"/>
          <p:nvPr/>
        </p:nvSpPr>
        <p:spPr>
          <a:xfrm>
            <a:off x="914400" y="41148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Decisions back by Friday 4 September. We will scope the three moves against them.</a:t>
            </a:r>
          </a:p>
        </p:txBody>
      </p:sp>
      <p:sp>
        <p:nvSpPr>
          <p:cNvPr id="4" name="TextBox 3"/>
          <p:cNvSpPr txBox="1"/>
          <p:nvPr/>
        </p:nvSpPr>
        <p:spPr>
          <a:xfrm>
            <a:off x="914400" y="45720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Clent Jewell · clent@jewellprojects.com · Jewell Projects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