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AF8F4"/>
        </a:solidFill>
        <a:effectLst/>
      </p:bgPr>
    </p:bg>
    <p:spTree>
      <p:nvGrpSpPr>
        <p:cNvPr id="1" name=""/>
        <p:cNvGrpSpPr/>
        <p:nvPr/>
      </p:nvGrpSpPr>
      <p:grpSpPr/>
      <p:sp>
        <p:nvSpPr>
          <p:cNvPr id="2" name="TextBox 1"/>
          <p:cNvSpPr txBox="1"/>
          <p:nvPr/>
        </p:nvSpPr>
        <p:spPr>
          <a:xfrm>
            <a:off x="914400" y="365760"/>
            <a:ext cx="10332720" cy="274320"/>
          </a:xfrm>
          <a:prstGeom prst="rect">
            <a:avLst/>
          </a:prstGeom>
          <a:noFill/>
        </p:spPr>
        <p:txBody>
          <a:bodyPr wrap="square" lIns="0" rIns="0" tIns="0" bIns="0" anchor="t">
            <a:spAutoFit/>
          </a:bodyPr>
          <a:lstStyle/>
          <a:p>
            <a:pPr algn="l">
              <a:lnSpc>
                <a:spcPct val="150000"/>
              </a:lnSpc>
            </a:pPr>
            <a:r>
              <a:rPr sz="900" b="0" spc="200">
                <a:solidFill>
                  <a:srgbClr val="111111"/>
                </a:solidFill>
                <a:latin typeface="Poppins"/>
              </a:rPr>
              <a:t>JP · TAP THAT BREWERY · WHERE YOU ARE</a:t>
            </a:r>
          </a:p>
        </p:txBody>
      </p:sp>
      <p:sp>
        <p:nvSpPr>
          <p:cNvPr id="3" name="TextBox 2"/>
          <p:cNvSpPr txBox="1"/>
          <p:nvPr/>
        </p:nvSpPr>
        <p:spPr>
          <a:xfrm>
            <a:off x="914400" y="3566160"/>
            <a:ext cx="10332720" cy="1828800"/>
          </a:xfrm>
          <a:prstGeom prst="rect">
            <a:avLst/>
          </a:prstGeom>
          <a:noFill/>
        </p:spPr>
        <p:txBody>
          <a:bodyPr wrap="square" lIns="0" rIns="0" tIns="0" bIns="0" anchor="b">
            <a:spAutoFit/>
          </a:bodyPr>
          <a:lstStyle/>
          <a:p>
            <a:pPr algn="l">
              <a:lnSpc>
                <a:spcPct val="105000"/>
              </a:lnSpc>
            </a:pPr>
            <a:r>
              <a:rPr sz="6000" b="1">
                <a:solidFill>
                  <a:srgbClr val="111111"/>
                </a:solidFill>
                <a:latin typeface="Poppins"/>
              </a:rPr>
              <a:t>Where you are, and the</a:t>
            </a:r>
          </a:p>
          <a:p>
            <a:pPr algn="l">
              <a:lnSpc>
                <a:spcPct val="105000"/>
              </a:lnSpc>
            </a:pPr>
            <a:r>
              <a:rPr sz="6000" b="1">
                <a:solidFill>
                  <a:srgbClr val="111111"/>
                </a:solidFill>
                <a:latin typeface="Poppins"/>
              </a:rPr>
              <a:t>three things to do about it.</a:t>
            </a:r>
          </a:p>
        </p:txBody>
      </p:sp>
      <p:sp>
        <p:nvSpPr>
          <p:cNvPr id="4" name="TextBox 3"/>
          <p:cNvSpPr txBox="1"/>
          <p:nvPr/>
        </p:nvSpPr>
        <p:spPr>
          <a:xfrm>
            <a:off x="914400" y="5623560"/>
            <a:ext cx="10332720" cy="548640"/>
          </a:xfrm>
          <a:prstGeom prst="rect">
            <a:avLst/>
          </a:prstGeom>
          <a:noFill/>
        </p:spPr>
        <p:txBody>
          <a:bodyPr wrap="square" lIns="0" rIns="0" tIns="0" bIns="0" anchor="t">
            <a:spAutoFit/>
          </a:bodyPr>
          <a:lstStyle/>
          <a:p>
            <a:pPr algn="l">
              <a:lnSpc>
                <a:spcPct val="150000"/>
              </a:lnSpc>
            </a:pPr>
            <a:r>
              <a:rPr sz="2000" b="0">
                <a:solidFill>
                  <a:srgbClr val="111111"/>
                </a:solidFill>
                <a:latin typeface="Poppins"/>
              </a:rPr>
              <a:t>Prepared for Justin Mistry and Harry. The detail sits behind every slide.</a:t>
            </a:r>
          </a:p>
        </p:txBody>
      </p:sp>
      <p:sp>
        <p:nvSpPr>
          <p:cNvPr id="5" name="TextBox 4"/>
          <p:cNvSpPr txBox="1"/>
          <p:nvPr/>
        </p:nvSpPr>
        <p:spPr>
          <a:xfrm>
            <a:off x="8229600" y="6309360"/>
            <a:ext cx="3017520" cy="274320"/>
          </a:xfrm>
          <a:prstGeom prst="rect">
            <a:avLst/>
          </a:prstGeom>
          <a:noFill/>
        </p:spPr>
        <p:txBody>
          <a:bodyPr wrap="square" lIns="0" rIns="0" tIns="0" bIns="0" anchor="t">
            <a:spAutoFit/>
          </a:bodyPr>
          <a:lstStyle/>
          <a:p>
            <a:pPr algn="r">
              <a:lnSpc>
                <a:spcPct val="150000"/>
              </a:lnSpc>
            </a:pPr>
            <a:r>
              <a:rPr sz="1100" b="0">
                <a:solidFill>
                  <a:srgbClr val="666666"/>
                </a:solidFill>
                <a:latin typeface="Poppins"/>
              </a:rPr>
              <a:t>28 August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11111"/>
        </a:solidFill>
        <a:effectLst/>
      </p:bgPr>
    </p:bg>
    <p:spTree>
      <p:nvGrpSpPr>
        <p:cNvPr id="1" name=""/>
        <p:cNvGrpSpPr/>
        <p:nvPr/>
      </p:nvGrpSpPr>
      <p:grpSpPr/>
      <p:sp>
        <p:nvSpPr>
          <p:cNvPr id="2" name="TextBox 1"/>
          <p:cNvSpPr txBox="1"/>
          <p:nvPr/>
        </p:nvSpPr>
        <p:spPr>
          <a:xfrm>
            <a:off x="914400" y="914400"/>
            <a:ext cx="10332720" cy="274320"/>
          </a:xfrm>
          <a:prstGeom prst="rect">
            <a:avLst/>
          </a:prstGeom>
          <a:noFill/>
        </p:spPr>
        <p:txBody>
          <a:bodyPr wrap="square" lIns="0" rIns="0" tIns="0" bIns="0" anchor="t">
            <a:spAutoFit/>
          </a:bodyPr>
          <a:lstStyle/>
          <a:p>
            <a:pPr algn="l">
              <a:lnSpc>
                <a:spcPct val="150000"/>
              </a:lnSpc>
            </a:pPr>
            <a:r>
              <a:rPr sz="1200" b="0" spc="200">
                <a:solidFill>
                  <a:srgbClr val="FAF8F4"/>
                </a:solidFill>
                <a:latin typeface="Poppins"/>
              </a:rPr>
              <a:t>PART 01</a:t>
            </a:r>
          </a:p>
        </p:txBody>
      </p:sp>
      <p:sp>
        <p:nvSpPr>
          <p:cNvPr id="3" name="TextBox 2"/>
          <p:cNvSpPr txBox="1"/>
          <p:nvPr/>
        </p:nvSpPr>
        <p:spPr>
          <a:xfrm>
            <a:off x="914400" y="2103120"/>
            <a:ext cx="10332720" cy="2743200"/>
          </a:xfrm>
          <a:prstGeom prst="rect">
            <a:avLst/>
          </a:prstGeom>
          <a:noFill/>
        </p:spPr>
        <p:txBody>
          <a:bodyPr wrap="square" lIns="0" rIns="0" tIns="0" bIns="0" anchor="ctr">
            <a:spAutoFit/>
          </a:bodyPr>
          <a:lstStyle/>
          <a:p>
            <a:pPr algn="l">
              <a:lnSpc>
                <a:spcPct val="100000"/>
              </a:lnSpc>
            </a:pPr>
            <a:r>
              <a:rPr sz="9600" b="0">
                <a:solidFill>
                  <a:srgbClr val="FAF8F4"/>
                </a:solidFill>
                <a:latin typeface="Poppins"/>
              </a:rPr>
              <a:t>Where you are</a:t>
            </a:r>
          </a:p>
        </p:txBody>
      </p:sp>
      <p:sp>
        <p:nvSpPr>
          <p:cNvPr id="4" name="TextBox 3"/>
          <p:cNvSpPr txBox="1"/>
          <p:nvPr/>
        </p:nvSpPr>
        <p:spPr>
          <a:xfrm>
            <a:off x="914400" y="5394960"/>
            <a:ext cx="10332720" cy="548640"/>
          </a:xfrm>
          <a:prstGeom prst="rect">
            <a:avLst/>
          </a:prstGeom>
          <a:noFill/>
        </p:spPr>
        <p:txBody>
          <a:bodyPr wrap="square" lIns="0" rIns="0" tIns="0" bIns="0" anchor="t">
            <a:spAutoFit/>
          </a:bodyPr>
          <a:lstStyle/>
          <a:p>
            <a:pPr algn="l">
              <a:lnSpc>
                <a:spcPct val="150000"/>
              </a:lnSpc>
            </a:pPr>
            <a:r>
              <a:rPr sz="1600" b="0">
                <a:solidFill>
                  <a:srgbClr val="FAF8F4"/>
                </a:solidFill>
                <a:latin typeface="Poppins"/>
              </a:rPr>
              <a:t>We have looked at this properly. This is the read.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AF8F4"/>
        </a:solidFill>
        <a:effectLst/>
      </p:bgPr>
    </p:bg>
    <p:spTree>
      <p:nvGrpSpPr>
        <p:cNvPr id="1" name=""/>
        <p:cNvGrpSpPr/>
        <p:nvPr/>
      </p:nvGrpSpPr>
      <p:grpSpPr/>
      <p:sp>
        <p:nvSpPr>
          <p:cNvPr id="2" name="TextBox 1"/>
          <p:cNvSpPr txBox="1"/>
          <p:nvPr/>
        </p:nvSpPr>
        <p:spPr>
          <a:xfrm>
            <a:off x="914400" y="914400"/>
            <a:ext cx="10332720" cy="274320"/>
          </a:xfrm>
          <a:prstGeom prst="rect">
            <a:avLst/>
          </a:prstGeom>
          <a:noFill/>
        </p:spPr>
        <p:txBody>
          <a:bodyPr wrap="square" lIns="0" rIns="0" tIns="0" bIns="0" anchor="t">
            <a:spAutoFit/>
          </a:bodyPr>
          <a:lstStyle/>
          <a:p>
            <a:pPr algn="l">
              <a:lnSpc>
                <a:spcPct val="150000"/>
              </a:lnSpc>
            </a:pPr>
            <a:r>
              <a:rPr sz="900" b="0" spc="200">
                <a:solidFill>
                  <a:srgbClr val="111111"/>
                </a:solidFill>
                <a:latin typeface="Poppins"/>
              </a:rPr>
              <a:t>THE READ</a:t>
            </a:r>
          </a:p>
        </p:txBody>
      </p:sp>
      <p:sp>
        <p:nvSpPr>
          <p:cNvPr id="3" name="TextBox 2"/>
          <p:cNvSpPr txBox="1"/>
          <p:nvPr/>
        </p:nvSpPr>
        <p:spPr>
          <a:xfrm>
            <a:off x="914400" y="1737360"/>
            <a:ext cx="10332720" cy="2103120"/>
          </a:xfrm>
          <a:prstGeom prst="rect">
            <a:avLst/>
          </a:prstGeom>
          <a:noFill/>
        </p:spPr>
        <p:txBody>
          <a:bodyPr wrap="square" lIns="0" rIns="0" tIns="0" bIns="0" anchor="t">
            <a:spAutoFit/>
          </a:bodyPr>
          <a:lstStyle/>
          <a:p>
            <a:pPr algn="l">
              <a:lnSpc>
                <a:spcPct val="112000"/>
              </a:lnSpc>
            </a:pPr>
            <a:r>
              <a:rPr sz="3600" b="0">
                <a:solidFill>
                  <a:srgbClr val="111111"/>
                </a:solidFill>
                <a:latin typeface="Poppins"/>
              </a:rPr>
              <a:t>A refill business is being run with a</a:t>
            </a:r>
          </a:p>
          <a:p>
            <a:pPr algn="l">
              <a:lnSpc>
                <a:spcPct val="112000"/>
              </a:lnSpc>
            </a:pPr>
            <a:r>
              <a:rPr sz="3600" b="0">
                <a:solidFill>
                  <a:srgbClr val="111111"/>
                </a:solidFill>
                <a:latin typeface="Poppins"/>
              </a:rPr>
              <a:t>hospitality venue's attention. And it is</a:t>
            </a:r>
          </a:p>
          <a:p>
            <a:pPr algn="l">
              <a:lnSpc>
                <a:spcPct val="112000"/>
              </a:lnSpc>
            </a:pPr>
            <a:r>
              <a:rPr sz="3600" b="0">
                <a:solidFill>
                  <a:srgbClr val="111111"/>
                </a:solidFill>
                <a:latin typeface="Poppins"/>
              </a:rPr>
              <a:t>losing money.</a:t>
            </a:r>
          </a:p>
        </p:txBody>
      </p:sp>
      <p:cxnSp>
        <p:nvCxnSpPr>
          <p:cNvPr id="4" name="Connector 3"/>
          <p:cNvCxnSpPr/>
          <p:nvPr/>
        </p:nvCxnSpPr>
        <p:spPr>
          <a:xfrm>
            <a:off x="914400" y="4023360"/>
            <a:ext cx="2217420" cy="0"/>
          </a:xfrm>
          <a:prstGeom prst="line">
            <a:avLst/>
          </a:prstGeom>
          <a:ln w="9525">
            <a:solidFill>
              <a:srgbClr val="EDEBEA"/>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914400" y="4187952"/>
            <a:ext cx="2217420" cy="640080"/>
          </a:xfrm>
          <a:prstGeom prst="rect">
            <a:avLst/>
          </a:prstGeom>
          <a:noFill/>
        </p:spPr>
        <p:txBody>
          <a:bodyPr wrap="square" lIns="0" rIns="0" tIns="0" bIns="0" anchor="t">
            <a:spAutoFit/>
          </a:bodyPr>
          <a:lstStyle/>
          <a:p>
            <a:pPr algn="l">
              <a:lnSpc>
                <a:spcPct val="100000"/>
              </a:lnSpc>
            </a:pPr>
            <a:r>
              <a:rPr sz="3200" b="1">
                <a:solidFill>
                  <a:srgbClr val="111111"/>
                </a:solidFill>
                <a:latin typeface="Poppins"/>
              </a:rPr>
              <a:t>206</a:t>
            </a:r>
          </a:p>
        </p:txBody>
      </p:sp>
      <p:sp>
        <p:nvSpPr>
          <p:cNvPr id="6" name="TextBox 5"/>
          <p:cNvSpPr txBox="1"/>
          <p:nvPr/>
        </p:nvSpPr>
        <p:spPr>
          <a:xfrm>
            <a:off x="914400" y="4892040"/>
            <a:ext cx="2125980" cy="822960"/>
          </a:xfrm>
          <a:prstGeom prst="rect">
            <a:avLst/>
          </a:prstGeom>
          <a:noFill/>
        </p:spPr>
        <p:txBody>
          <a:bodyPr wrap="square" lIns="0" rIns="0" tIns="0" bIns="0" anchor="t">
            <a:spAutoFit/>
          </a:bodyPr>
          <a:lstStyle/>
          <a:p>
            <a:pPr algn="l">
              <a:lnSpc>
                <a:spcPct val="135000"/>
              </a:lnSpc>
            </a:pPr>
            <a:r>
              <a:rPr sz="1100" b="0">
                <a:solidFill>
                  <a:srgbClr val="666666"/>
                </a:solidFill>
                <a:latin typeface="Poppins"/>
              </a:rPr>
              <a:t>Systems in your database</a:t>
            </a:r>
          </a:p>
        </p:txBody>
      </p:sp>
      <p:cxnSp>
        <p:nvCxnSpPr>
          <p:cNvPr id="7" name="Connector 6"/>
          <p:cNvCxnSpPr/>
          <p:nvPr/>
        </p:nvCxnSpPr>
        <p:spPr>
          <a:xfrm>
            <a:off x="3497580" y="4023360"/>
            <a:ext cx="2217420" cy="0"/>
          </a:xfrm>
          <a:prstGeom prst="line">
            <a:avLst/>
          </a:prstGeom>
          <a:ln w="9525">
            <a:solidFill>
              <a:srgbClr val="EDEBEA"/>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3497580" y="4187952"/>
            <a:ext cx="2217420" cy="640080"/>
          </a:xfrm>
          <a:prstGeom prst="rect">
            <a:avLst/>
          </a:prstGeom>
          <a:noFill/>
        </p:spPr>
        <p:txBody>
          <a:bodyPr wrap="square" lIns="0" rIns="0" tIns="0" bIns="0" anchor="t">
            <a:spAutoFit/>
          </a:bodyPr>
          <a:lstStyle/>
          <a:p>
            <a:pPr algn="l">
              <a:lnSpc>
                <a:spcPct val="100000"/>
              </a:lnSpc>
            </a:pPr>
            <a:r>
              <a:rPr sz="3200" b="1">
                <a:solidFill>
                  <a:srgbClr val="111111"/>
                </a:solidFill>
                <a:latin typeface="Poppins"/>
              </a:rPr>
              <a:t>96 to 113</a:t>
            </a:r>
          </a:p>
        </p:txBody>
      </p:sp>
      <p:sp>
        <p:nvSpPr>
          <p:cNvPr id="9" name="TextBox 8"/>
          <p:cNvSpPr txBox="1"/>
          <p:nvPr/>
        </p:nvSpPr>
        <p:spPr>
          <a:xfrm>
            <a:off x="3497580" y="4892040"/>
            <a:ext cx="2125980" cy="822960"/>
          </a:xfrm>
          <a:prstGeom prst="rect">
            <a:avLst/>
          </a:prstGeom>
          <a:noFill/>
        </p:spPr>
        <p:txBody>
          <a:bodyPr wrap="square" lIns="0" rIns="0" tIns="0" bIns="0" anchor="t">
            <a:spAutoFit/>
          </a:bodyPr>
          <a:lstStyle/>
          <a:p>
            <a:pPr algn="l">
              <a:lnSpc>
                <a:spcPct val="135000"/>
              </a:lnSpc>
            </a:pPr>
            <a:r>
              <a:rPr sz="1100" b="0">
                <a:solidFill>
                  <a:srgbClr val="666666"/>
                </a:solidFill>
                <a:latin typeface="Poppins"/>
              </a:rPr>
              <a:t>Active customers. Your own documents define active three ways</a:t>
            </a:r>
          </a:p>
        </p:txBody>
      </p:sp>
      <p:cxnSp>
        <p:nvCxnSpPr>
          <p:cNvPr id="10" name="Connector 9"/>
          <p:cNvCxnSpPr/>
          <p:nvPr/>
        </p:nvCxnSpPr>
        <p:spPr>
          <a:xfrm>
            <a:off x="6080760" y="4023360"/>
            <a:ext cx="2217420" cy="0"/>
          </a:xfrm>
          <a:prstGeom prst="line">
            <a:avLst/>
          </a:prstGeom>
          <a:ln w="9525">
            <a:solidFill>
              <a:srgbClr val="EDEBEA"/>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6080760" y="4187952"/>
            <a:ext cx="2217420" cy="640080"/>
          </a:xfrm>
          <a:prstGeom prst="rect">
            <a:avLst/>
          </a:prstGeom>
          <a:noFill/>
        </p:spPr>
        <p:txBody>
          <a:bodyPr wrap="square" lIns="0" rIns="0" tIns="0" bIns="0" anchor="t">
            <a:spAutoFit/>
          </a:bodyPr>
          <a:lstStyle/>
          <a:p>
            <a:pPr algn="l">
              <a:lnSpc>
                <a:spcPct val="100000"/>
              </a:lnSpc>
            </a:pPr>
            <a:r>
              <a:rPr sz="3200" b="1">
                <a:solidFill>
                  <a:srgbClr val="111111"/>
                </a:solidFill>
                <a:latin typeface="Poppins"/>
              </a:rPr>
              <a:t>56%</a:t>
            </a:r>
          </a:p>
        </p:txBody>
      </p:sp>
      <p:sp>
        <p:nvSpPr>
          <p:cNvPr id="12" name="TextBox 11"/>
          <p:cNvSpPr txBox="1"/>
          <p:nvPr/>
        </p:nvSpPr>
        <p:spPr>
          <a:xfrm>
            <a:off x="6080760" y="4892040"/>
            <a:ext cx="2125980" cy="822960"/>
          </a:xfrm>
          <a:prstGeom prst="rect">
            <a:avLst/>
          </a:prstGeom>
          <a:noFill/>
        </p:spPr>
        <p:txBody>
          <a:bodyPr wrap="square" lIns="0" rIns="0" tIns="0" bIns="0" anchor="t">
            <a:spAutoFit/>
          </a:bodyPr>
          <a:lstStyle/>
          <a:p>
            <a:pPr algn="l">
              <a:lnSpc>
                <a:spcPct val="135000"/>
              </a:lnSpc>
            </a:pPr>
            <a:r>
              <a:rPr sz="1100" b="0">
                <a:solidFill>
                  <a:srgbClr val="666666"/>
                </a:solidFill>
                <a:latin typeface="Poppins"/>
              </a:rPr>
              <a:t>Bought their system somewhere else and refill with you anyway</a:t>
            </a:r>
          </a:p>
        </p:txBody>
      </p:sp>
      <p:cxnSp>
        <p:nvCxnSpPr>
          <p:cNvPr id="13" name="Connector 12"/>
          <p:cNvCxnSpPr/>
          <p:nvPr/>
        </p:nvCxnSpPr>
        <p:spPr>
          <a:xfrm>
            <a:off x="8663940" y="4023360"/>
            <a:ext cx="2217420" cy="0"/>
          </a:xfrm>
          <a:prstGeom prst="line">
            <a:avLst/>
          </a:prstGeom>
          <a:ln w="9525">
            <a:solidFill>
              <a:srgbClr val="EDEBEA"/>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8663940" y="4187952"/>
            <a:ext cx="2217420" cy="640080"/>
          </a:xfrm>
          <a:prstGeom prst="rect">
            <a:avLst/>
          </a:prstGeom>
          <a:noFill/>
        </p:spPr>
        <p:txBody>
          <a:bodyPr wrap="square" lIns="0" rIns="0" tIns="0" bIns="0" anchor="t">
            <a:spAutoFit/>
          </a:bodyPr>
          <a:lstStyle/>
          <a:p>
            <a:pPr algn="l">
              <a:lnSpc>
                <a:spcPct val="100000"/>
              </a:lnSpc>
            </a:pPr>
            <a:r>
              <a:rPr sz="3200" b="1">
                <a:solidFill>
                  <a:srgbClr val="111111"/>
                </a:solidFill>
                <a:latin typeface="Poppins"/>
              </a:rPr>
              <a:t>~9x</a:t>
            </a:r>
          </a:p>
        </p:txBody>
      </p:sp>
      <p:sp>
        <p:nvSpPr>
          <p:cNvPr id="15" name="TextBox 14"/>
          <p:cNvSpPr txBox="1"/>
          <p:nvPr/>
        </p:nvSpPr>
        <p:spPr>
          <a:xfrm>
            <a:off x="8663940" y="4892040"/>
            <a:ext cx="2125980" cy="822960"/>
          </a:xfrm>
          <a:prstGeom prst="rect">
            <a:avLst/>
          </a:prstGeom>
          <a:noFill/>
        </p:spPr>
        <p:txBody>
          <a:bodyPr wrap="square" lIns="0" rIns="0" tIns="0" bIns="0" anchor="t">
            <a:spAutoFit/>
          </a:bodyPr>
          <a:lstStyle/>
          <a:p>
            <a:pPr algn="l">
              <a:lnSpc>
                <a:spcPct val="135000"/>
              </a:lnSpc>
            </a:pPr>
            <a:r>
              <a:rPr sz="1100" b="0">
                <a:solidFill>
                  <a:srgbClr val="666666"/>
                </a:solidFill>
                <a:latin typeface="Poppins"/>
              </a:rPr>
              <a:t>The climb to 1,000 from where you actually are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AF8F4"/>
        </a:solidFill>
        <a:effectLst/>
      </p:bgPr>
    </p:bg>
    <p:spTree>
      <p:nvGrpSpPr>
        <p:cNvPr id="1" name=""/>
        <p:cNvGrpSpPr/>
        <p:nvPr/>
      </p:nvGrpSpPr>
      <p:grpSpPr/>
      <p:sp>
        <p:nvSpPr>
          <p:cNvPr id="2" name="TextBox 1"/>
          <p:cNvSpPr txBox="1"/>
          <p:nvPr/>
        </p:nvSpPr>
        <p:spPr>
          <a:xfrm>
            <a:off x="914400" y="914400"/>
            <a:ext cx="10332720" cy="274320"/>
          </a:xfrm>
          <a:prstGeom prst="rect">
            <a:avLst/>
          </a:prstGeom>
          <a:noFill/>
        </p:spPr>
        <p:txBody>
          <a:bodyPr wrap="square" lIns="0" rIns="0" tIns="0" bIns="0" anchor="t">
            <a:spAutoFit/>
          </a:bodyPr>
          <a:lstStyle/>
          <a:p>
            <a:pPr algn="l">
              <a:lnSpc>
                <a:spcPct val="150000"/>
              </a:lnSpc>
            </a:pPr>
            <a:r>
              <a:rPr sz="900" b="0" spc="200">
                <a:solidFill>
                  <a:srgbClr val="111111"/>
                </a:solidFill>
                <a:latin typeface="Poppins"/>
              </a:rPr>
              <a:t>THE PROBLEM UNDERNEATH</a:t>
            </a:r>
          </a:p>
        </p:txBody>
      </p:sp>
      <p:sp>
        <p:nvSpPr>
          <p:cNvPr id="3" name="TextBox 2"/>
          <p:cNvSpPr txBox="1"/>
          <p:nvPr/>
        </p:nvSpPr>
        <p:spPr>
          <a:xfrm>
            <a:off x="914400" y="1737360"/>
            <a:ext cx="10332720" cy="2103120"/>
          </a:xfrm>
          <a:prstGeom prst="rect">
            <a:avLst/>
          </a:prstGeom>
          <a:noFill/>
        </p:spPr>
        <p:txBody>
          <a:bodyPr wrap="square" lIns="0" rIns="0" tIns="0" bIns="0" anchor="t">
            <a:spAutoFit/>
          </a:bodyPr>
          <a:lstStyle/>
          <a:p>
            <a:pPr algn="l">
              <a:lnSpc>
                <a:spcPct val="112000"/>
              </a:lnSpc>
            </a:pPr>
            <a:r>
              <a:rPr sz="3800" b="0">
                <a:solidFill>
                  <a:srgbClr val="111111"/>
                </a:solidFill>
                <a:latin typeface="Poppins"/>
              </a:rPr>
              <a:t>The taproom and the refill model</a:t>
            </a:r>
          </a:p>
          <a:p>
            <a:pPr algn="l">
              <a:lnSpc>
                <a:spcPct val="112000"/>
              </a:lnSpc>
            </a:pPr>
            <a:r>
              <a:rPr sz="3800" b="0">
                <a:solidFill>
                  <a:srgbClr val="111111"/>
                </a:solidFill>
                <a:latin typeface="Poppins"/>
              </a:rPr>
              <a:t>work against each other.</a:t>
            </a:r>
          </a:p>
        </p:txBody>
      </p:sp>
      <p:sp>
        <p:nvSpPr>
          <p:cNvPr id="4" name="TextBox 3"/>
          <p:cNvSpPr txBox="1"/>
          <p:nvPr/>
        </p:nvSpPr>
        <p:spPr>
          <a:xfrm>
            <a:off x="914400" y="4114800"/>
            <a:ext cx="9144000" cy="2194560"/>
          </a:xfrm>
          <a:prstGeom prst="rect">
            <a:avLst/>
          </a:prstGeom>
          <a:noFill/>
        </p:spPr>
        <p:txBody>
          <a:bodyPr wrap="square" lIns="0" rIns="0" tIns="0" bIns="0" anchor="t">
            <a:spAutoFit/>
          </a:bodyPr>
          <a:lstStyle/>
          <a:p>
            <a:pPr algn="l">
              <a:lnSpc>
                <a:spcPct val="155000"/>
              </a:lnSpc>
            </a:pPr>
            <a:r>
              <a:rPr sz="1400" b="0">
                <a:solidFill>
                  <a:srgbClr val="111111"/>
                </a:solidFill>
                <a:latin typeface="Poppins"/>
              </a:rPr>
              <a:t>The refill business is built on people not coming in. So every campaign that fills the taproom fills the half that loses money. We had the taproom down as a funnel. It is at least as much a cost, and nobody has priced what carrying 27 taps actually costs you.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AF8F4"/>
        </a:solidFill>
        <a:effectLst/>
      </p:bgPr>
    </p:bg>
    <p:spTree>
      <p:nvGrpSpPr>
        <p:cNvPr id="1" name=""/>
        <p:cNvGrpSpPr/>
        <p:nvPr/>
      </p:nvGrpSpPr>
      <p:grpSpPr/>
      <p:sp>
        <p:nvSpPr>
          <p:cNvPr id="2" name="TextBox 1"/>
          <p:cNvSpPr txBox="1"/>
          <p:nvPr/>
        </p:nvSpPr>
        <p:spPr>
          <a:xfrm>
            <a:off x="914400" y="914400"/>
            <a:ext cx="10332720" cy="274320"/>
          </a:xfrm>
          <a:prstGeom prst="rect">
            <a:avLst/>
          </a:prstGeom>
          <a:noFill/>
        </p:spPr>
        <p:txBody>
          <a:bodyPr wrap="square" lIns="0" rIns="0" tIns="0" bIns="0" anchor="t">
            <a:spAutoFit/>
          </a:bodyPr>
          <a:lstStyle/>
          <a:p>
            <a:pPr algn="l">
              <a:lnSpc>
                <a:spcPct val="150000"/>
              </a:lnSpc>
            </a:pPr>
            <a:r>
              <a:rPr sz="900" b="0" spc="200">
                <a:solidFill>
                  <a:srgbClr val="111111"/>
                </a:solidFill>
                <a:latin typeface="Poppins"/>
              </a:rPr>
              <a:t>BEFORE ANYTHING ELSE</a:t>
            </a:r>
          </a:p>
        </p:txBody>
      </p:sp>
      <p:sp>
        <p:nvSpPr>
          <p:cNvPr id="3" name="TextBox 2"/>
          <p:cNvSpPr txBox="1"/>
          <p:nvPr/>
        </p:nvSpPr>
        <p:spPr>
          <a:xfrm>
            <a:off x="914400" y="1737360"/>
            <a:ext cx="10332720" cy="2103120"/>
          </a:xfrm>
          <a:prstGeom prst="rect">
            <a:avLst/>
          </a:prstGeom>
          <a:noFill/>
        </p:spPr>
        <p:txBody>
          <a:bodyPr wrap="square" lIns="0" rIns="0" tIns="0" bIns="0" anchor="t">
            <a:spAutoFit/>
          </a:bodyPr>
          <a:lstStyle/>
          <a:p>
            <a:pPr algn="l">
              <a:lnSpc>
                <a:spcPct val="112000"/>
              </a:lnSpc>
            </a:pPr>
            <a:r>
              <a:rPr sz="3800" b="0">
                <a:solidFill>
                  <a:srgbClr val="111111"/>
                </a:solidFill>
                <a:latin typeface="Poppins"/>
              </a:rPr>
              <a:t>What we got wrong.</a:t>
            </a:r>
          </a:p>
        </p:txBody>
      </p:sp>
      <p:cxnSp>
        <p:nvCxnSpPr>
          <p:cNvPr id="4" name="Connector 3"/>
          <p:cNvCxnSpPr/>
          <p:nvPr/>
        </p:nvCxnSpPr>
        <p:spPr>
          <a:xfrm>
            <a:off x="914400" y="2834640"/>
            <a:ext cx="10332720" cy="0"/>
          </a:xfrm>
          <a:prstGeom prst="line">
            <a:avLst/>
          </a:prstGeom>
          <a:ln w="9525">
            <a:solidFill>
              <a:srgbClr val="EDEBEA"/>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914400" y="2962656"/>
            <a:ext cx="2834640" cy="658368"/>
          </a:xfrm>
          <a:prstGeom prst="rect">
            <a:avLst/>
          </a:prstGeom>
          <a:noFill/>
        </p:spPr>
        <p:txBody>
          <a:bodyPr wrap="square" lIns="0" rIns="0" tIns="0" bIns="0" anchor="t">
            <a:spAutoFit/>
          </a:bodyPr>
          <a:lstStyle/>
          <a:p>
            <a:pPr algn="l">
              <a:lnSpc>
                <a:spcPct val="130000"/>
              </a:lnSpc>
            </a:pPr>
            <a:r>
              <a:rPr sz="1300" b="1">
                <a:solidFill>
                  <a:srgbClr val="111111"/>
                </a:solidFill>
                <a:latin typeface="Poppins"/>
              </a:rPr>
              <a:t>We never said it</a:t>
            </a:r>
          </a:p>
        </p:txBody>
      </p:sp>
      <p:sp>
        <p:nvSpPr>
          <p:cNvPr id="6" name="TextBox 5"/>
          <p:cNvSpPr txBox="1"/>
          <p:nvPr/>
        </p:nvSpPr>
        <p:spPr>
          <a:xfrm>
            <a:off x="4023360" y="2962656"/>
            <a:ext cx="7223760" cy="658368"/>
          </a:xfrm>
          <a:prstGeom prst="rect">
            <a:avLst/>
          </a:prstGeom>
          <a:noFill/>
        </p:spPr>
        <p:txBody>
          <a:bodyPr wrap="square" lIns="0" rIns="0" tIns="0" bIns="0" anchor="t">
            <a:spAutoFit/>
          </a:bodyPr>
          <a:lstStyle/>
          <a:p>
            <a:pPr algn="l">
              <a:lnSpc>
                <a:spcPct val="138000"/>
              </a:lnSpc>
            </a:pPr>
            <a:r>
              <a:rPr sz="1300" b="0">
                <a:solidFill>
                  <a:srgbClr val="666666"/>
                </a:solidFill>
                <a:latin typeface="Poppins"/>
              </a:rPr>
              <a:t>Nothing in seventy nine documents said the business is losing money.</a:t>
            </a:r>
          </a:p>
        </p:txBody>
      </p:sp>
      <p:cxnSp>
        <p:nvCxnSpPr>
          <p:cNvPr id="7" name="Connector 6"/>
          <p:cNvCxnSpPr/>
          <p:nvPr/>
        </p:nvCxnSpPr>
        <p:spPr>
          <a:xfrm>
            <a:off x="914400" y="3547872"/>
            <a:ext cx="10332720" cy="0"/>
          </a:xfrm>
          <a:prstGeom prst="line">
            <a:avLst/>
          </a:prstGeom>
          <a:ln w="9525">
            <a:solidFill>
              <a:srgbClr val="EDEBEA"/>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914400" y="3675887"/>
            <a:ext cx="2834640" cy="658368"/>
          </a:xfrm>
          <a:prstGeom prst="rect">
            <a:avLst/>
          </a:prstGeom>
          <a:noFill/>
        </p:spPr>
        <p:txBody>
          <a:bodyPr wrap="square" lIns="0" rIns="0" tIns="0" bIns="0" anchor="t">
            <a:spAutoFit/>
          </a:bodyPr>
          <a:lstStyle/>
          <a:p>
            <a:pPr algn="l">
              <a:lnSpc>
                <a:spcPct val="130000"/>
              </a:lnSpc>
            </a:pPr>
            <a:r>
              <a:rPr sz="1300" b="1">
                <a:solidFill>
                  <a:srgbClr val="111111"/>
                </a:solidFill>
                <a:latin typeface="Poppins"/>
              </a:rPr>
              <a:t>The taproom</a:t>
            </a:r>
          </a:p>
        </p:txBody>
      </p:sp>
      <p:sp>
        <p:nvSpPr>
          <p:cNvPr id="9" name="TextBox 8"/>
          <p:cNvSpPr txBox="1"/>
          <p:nvPr/>
        </p:nvSpPr>
        <p:spPr>
          <a:xfrm>
            <a:off x="4023360" y="3675887"/>
            <a:ext cx="7223760" cy="658368"/>
          </a:xfrm>
          <a:prstGeom prst="rect">
            <a:avLst/>
          </a:prstGeom>
          <a:noFill/>
        </p:spPr>
        <p:txBody>
          <a:bodyPr wrap="square" lIns="0" rIns="0" tIns="0" bIns="0" anchor="t">
            <a:spAutoFit/>
          </a:bodyPr>
          <a:lstStyle/>
          <a:p>
            <a:pPr algn="l">
              <a:lnSpc>
                <a:spcPct val="138000"/>
              </a:lnSpc>
            </a:pPr>
            <a:r>
              <a:rPr sz="1300" b="0">
                <a:solidFill>
                  <a:srgbClr val="666666"/>
                </a:solidFill>
                <a:latin typeface="Poppins"/>
              </a:rPr>
              <a:t>We treated it as a funnel when it is also a cost.</a:t>
            </a:r>
          </a:p>
        </p:txBody>
      </p:sp>
      <p:cxnSp>
        <p:nvCxnSpPr>
          <p:cNvPr id="10" name="Connector 9"/>
          <p:cNvCxnSpPr/>
          <p:nvPr/>
        </p:nvCxnSpPr>
        <p:spPr>
          <a:xfrm>
            <a:off x="914400" y="4261104"/>
            <a:ext cx="10332720" cy="0"/>
          </a:xfrm>
          <a:prstGeom prst="line">
            <a:avLst/>
          </a:prstGeom>
          <a:ln w="9525">
            <a:solidFill>
              <a:srgbClr val="EDEBEA"/>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914400" y="4389120"/>
            <a:ext cx="2834640" cy="658368"/>
          </a:xfrm>
          <a:prstGeom prst="rect">
            <a:avLst/>
          </a:prstGeom>
          <a:noFill/>
        </p:spPr>
        <p:txBody>
          <a:bodyPr wrap="square" lIns="0" rIns="0" tIns="0" bIns="0" anchor="t">
            <a:spAutoFit/>
          </a:bodyPr>
          <a:lstStyle/>
          <a:p>
            <a:pPr algn="l">
              <a:lnSpc>
                <a:spcPct val="130000"/>
              </a:lnSpc>
            </a:pPr>
            <a:r>
              <a:rPr sz="1300" b="1">
                <a:solidFill>
                  <a:srgbClr val="111111"/>
                </a:solidFill>
                <a:latin typeface="Poppins"/>
              </a:rPr>
              <a:t>A number we used</a:t>
            </a:r>
          </a:p>
        </p:txBody>
      </p:sp>
      <p:sp>
        <p:nvSpPr>
          <p:cNvPr id="12" name="TextBox 11"/>
          <p:cNvSpPr txBox="1"/>
          <p:nvPr/>
        </p:nvSpPr>
        <p:spPr>
          <a:xfrm>
            <a:off x="4023360" y="4389120"/>
            <a:ext cx="7223760" cy="658368"/>
          </a:xfrm>
          <a:prstGeom prst="rect">
            <a:avLst/>
          </a:prstGeom>
          <a:noFill/>
        </p:spPr>
        <p:txBody>
          <a:bodyPr wrap="square" lIns="0" rIns="0" tIns="0" bIns="0" anchor="t">
            <a:spAutoFit/>
          </a:bodyPr>
          <a:lstStyle/>
          <a:p>
            <a:pPr algn="l">
              <a:lnSpc>
                <a:spcPct val="138000"/>
              </a:lnSpc>
            </a:pPr>
            <a:r>
              <a:rPr sz="1300" b="0">
                <a:solidFill>
                  <a:srgbClr val="666666"/>
                </a:solidFill>
                <a:latin typeface="Poppins"/>
              </a:rPr>
              <a:t>The 20 to 30 per cent taproom conversion has never been measured.</a:t>
            </a:r>
          </a:p>
        </p:txBody>
      </p:sp>
      <p:cxnSp>
        <p:nvCxnSpPr>
          <p:cNvPr id="13" name="Connector 12"/>
          <p:cNvCxnSpPr/>
          <p:nvPr/>
        </p:nvCxnSpPr>
        <p:spPr>
          <a:xfrm>
            <a:off x="914400" y="4974336"/>
            <a:ext cx="10332720" cy="0"/>
          </a:xfrm>
          <a:prstGeom prst="line">
            <a:avLst/>
          </a:prstGeom>
          <a:ln w="9525">
            <a:solidFill>
              <a:srgbClr val="EDEBEA"/>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914400" y="5102352"/>
            <a:ext cx="2834640" cy="658368"/>
          </a:xfrm>
          <a:prstGeom prst="rect">
            <a:avLst/>
          </a:prstGeom>
          <a:noFill/>
        </p:spPr>
        <p:txBody>
          <a:bodyPr wrap="square" lIns="0" rIns="0" tIns="0" bIns="0" anchor="t">
            <a:spAutoFit/>
          </a:bodyPr>
          <a:lstStyle/>
          <a:p>
            <a:pPr algn="l">
              <a:lnSpc>
                <a:spcPct val="130000"/>
              </a:lnSpc>
            </a:pPr>
            <a:r>
              <a:rPr sz="1300" b="1">
                <a:solidFill>
                  <a:srgbClr val="111111"/>
                </a:solidFill>
                <a:latin typeface="Poppins"/>
              </a:rPr>
              <a:t>The census</a:t>
            </a:r>
          </a:p>
        </p:txBody>
      </p:sp>
      <p:sp>
        <p:nvSpPr>
          <p:cNvPr id="15" name="TextBox 14"/>
          <p:cNvSpPr txBox="1"/>
          <p:nvPr/>
        </p:nvSpPr>
        <p:spPr>
          <a:xfrm>
            <a:off x="4023360" y="5102352"/>
            <a:ext cx="7223760" cy="658368"/>
          </a:xfrm>
          <a:prstGeom prst="rect">
            <a:avLst/>
          </a:prstGeom>
          <a:noFill/>
        </p:spPr>
        <p:txBody>
          <a:bodyPr wrap="square" lIns="0" rIns="0" tIns="0" bIns="0" anchor="t">
            <a:spAutoFit/>
          </a:bodyPr>
          <a:lstStyle/>
          <a:p>
            <a:pPr algn="l">
              <a:lnSpc>
                <a:spcPct val="138000"/>
              </a:lnSpc>
            </a:pPr>
            <a:r>
              <a:rPr sz="1300" b="0">
                <a:solidFill>
                  <a:srgbClr val="666666"/>
                </a:solidFill>
                <a:latin typeface="Poppins"/>
              </a:rPr>
              <a:t>Fifty self selected people cannot carry a strategy on their own.</a:t>
            </a:r>
          </a:p>
        </p:txBody>
      </p:sp>
      <p:cxnSp>
        <p:nvCxnSpPr>
          <p:cNvPr id="16" name="Connector 15"/>
          <p:cNvCxnSpPr/>
          <p:nvPr/>
        </p:nvCxnSpPr>
        <p:spPr>
          <a:xfrm>
            <a:off x="914400" y="5687568"/>
            <a:ext cx="10332720" cy="0"/>
          </a:xfrm>
          <a:prstGeom prst="line">
            <a:avLst/>
          </a:prstGeom>
          <a:ln w="9525">
            <a:solidFill>
              <a:srgbClr val="EDEBEA"/>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914400" y="5815584"/>
            <a:ext cx="2834640" cy="658368"/>
          </a:xfrm>
          <a:prstGeom prst="rect">
            <a:avLst/>
          </a:prstGeom>
          <a:noFill/>
        </p:spPr>
        <p:txBody>
          <a:bodyPr wrap="square" lIns="0" rIns="0" tIns="0" bIns="0" anchor="t">
            <a:spAutoFit/>
          </a:bodyPr>
          <a:lstStyle/>
          <a:p>
            <a:pPr algn="l">
              <a:lnSpc>
                <a:spcPct val="130000"/>
              </a:lnSpc>
            </a:pPr>
            <a:r>
              <a:rPr sz="1300" b="1">
                <a:solidFill>
                  <a:srgbClr val="111111"/>
                </a:solidFill>
                <a:latin typeface="Poppins"/>
              </a:rPr>
              <a:t>Your marketing lead</a:t>
            </a:r>
          </a:p>
        </p:txBody>
      </p:sp>
      <p:sp>
        <p:nvSpPr>
          <p:cNvPr id="18" name="TextBox 17"/>
          <p:cNvSpPr txBox="1"/>
          <p:nvPr/>
        </p:nvSpPr>
        <p:spPr>
          <a:xfrm>
            <a:off x="4023360" y="5815584"/>
            <a:ext cx="7223760" cy="658368"/>
          </a:xfrm>
          <a:prstGeom prst="rect">
            <a:avLst/>
          </a:prstGeom>
          <a:noFill/>
        </p:spPr>
        <p:txBody>
          <a:bodyPr wrap="square" lIns="0" rIns="0" tIns="0" bIns="0" anchor="t">
            <a:spAutoFit/>
          </a:bodyPr>
          <a:lstStyle/>
          <a:p>
            <a:pPr algn="l">
              <a:lnSpc>
                <a:spcPct val="138000"/>
              </a:lnSpc>
            </a:pPr>
            <a:r>
              <a:rPr sz="1300" b="0">
                <a:solidFill>
                  <a:srgbClr val="666666"/>
                </a:solidFill>
                <a:latin typeface="Poppins"/>
              </a:rPr>
              <a:t>We called Harry by the wrong name in a hundred and sixty places.</a:t>
            </a:r>
          </a:p>
        </p:txBody>
      </p:sp>
      <p:cxnSp>
        <p:nvCxnSpPr>
          <p:cNvPr id="19" name="Connector 18"/>
          <p:cNvCxnSpPr/>
          <p:nvPr/>
        </p:nvCxnSpPr>
        <p:spPr>
          <a:xfrm>
            <a:off x="914400" y="6400800"/>
            <a:ext cx="10332720" cy="0"/>
          </a:xfrm>
          <a:prstGeom prst="line">
            <a:avLst/>
          </a:prstGeom>
          <a:ln w="9525">
            <a:solidFill>
              <a:srgbClr val="EDEBEA"/>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111111"/>
        </a:solidFill>
        <a:effectLst/>
      </p:bgPr>
    </p:bg>
    <p:spTree>
      <p:nvGrpSpPr>
        <p:cNvPr id="1" name=""/>
        <p:cNvGrpSpPr/>
        <p:nvPr/>
      </p:nvGrpSpPr>
      <p:grpSpPr/>
      <p:sp>
        <p:nvSpPr>
          <p:cNvPr id="2" name="TextBox 1"/>
          <p:cNvSpPr txBox="1"/>
          <p:nvPr/>
        </p:nvSpPr>
        <p:spPr>
          <a:xfrm>
            <a:off x="914400" y="914400"/>
            <a:ext cx="10332720" cy="274320"/>
          </a:xfrm>
          <a:prstGeom prst="rect">
            <a:avLst/>
          </a:prstGeom>
          <a:noFill/>
        </p:spPr>
        <p:txBody>
          <a:bodyPr wrap="square" lIns="0" rIns="0" tIns="0" bIns="0" anchor="t">
            <a:spAutoFit/>
          </a:bodyPr>
          <a:lstStyle/>
          <a:p>
            <a:pPr algn="l">
              <a:lnSpc>
                <a:spcPct val="150000"/>
              </a:lnSpc>
            </a:pPr>
            <a:r>
              <a:rPr sz="1200" b="0" spc="200">
                <a:solidFill>
                  <a:srgbClr val="FAF8F4"/>
                </a:solidFill>
                <a:latin typeface="Poppins"/>
              </a:rPr>
              <a:t>PART 02</a:t>
            </a:r>
          </a:p>
        </p:txBody>
      </p:sp>
      <p:sp>
        <p:nvSpPr>
          <p:cNvPr id="3" name="TextBox 2"/>
          <p:cNvSpPr txBox="1"/>
          <p:nvPr/>
        </p:nvSpPr>
        <p:spPr>
          <a:xfrm>
            <a:off x="914400" y="2103120"/>
            <a:ext cx="10332720" cy="2743200"/>
          </a:xfrm>
          <a:prstGeom prst="rect">
            <a:avLst/>
          </a:prstGeom>
          <a:noFill/>
        </p:spPr>
        <p:txBody>
          <a:bodyPr wrap="square" lIns="0" rIns="0" tIns="0" bIns="0" anchor="ctr">
            <a:spAutoFit/>
          </a:bodyPr>
          <a:lstStyle/>
          <a:p>
            <a:pPr algn="l">
              <a:lnSpc>
                <a:spcPct val="100000"/>
              </a:lnSpc>
            </a:pPr>
            <a:r>
              <a:rPr sz="9600" b="0">
                <a:solidFill>
                  <a:srgbClr val="FAF8F4"/>
                </a:solidFill>
                <a:latin typeface="Poppins"/>
              </a:rPr>
              <a:t>What to do</a:t>
            </a:r>
          </a:p>
        </p:txBody>
      </p:sp>
      <p:sp>
        <p:nvSpPr>
          <p:cNvPr id="4" name="TextBox 3"/>
          <p:cNvSpPr txBox="1"/>
          <p:nvPr/>
        </p:nvSpPr>
        <p:spPr>
          <a:xfrm>
            <a:off x="914400" y="5394960"/>
            <a:ext cx="10332720" cy="548640"/>
          </a:xfrm>
          <a:prstGeom prst="rect">
            <a:avLst/>
          </a:prstGeom>
          <a:noFill/>
        </p:spPr>
        <p:txBody>
          <a:bodyPr wrap="square" lIns="0" rIns="0" tIns="0" bIns="0" anchor="t">
            <a:spAutoFit/>
          </a:bodyPr>
          <a:lstStyle/>
          <a:p>
            <a:pPr algn="l">
              <a:lnSpc>
                <a:spcPct val="150000"/>
              </a:lnSpc>
            </a:pPr>
            <a:r>
              <a:rPr sz="1600" b="0">
                <a:solidFill>
                  <a:srgbClr val="FAF8F4"/>
                </a:solidFill>
                <a:latin typeface="Poppins"/>
              </a:rPr>
              <a:t>Three moves, ranked. And one we have ranked below them.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AF8F4"/>
        </a:solidFill>
        <a:effectLst/>
      </p:bgPr>
    </p:bg>
    <p:spTree>
      <p:nvGrpSpPr>
        <p:cNvPr id="1" name=""/>
        <p:cNvGrpSpPr/>
        <p:nvPr/>
      </p:nvGrpSpPr>
      <p:grpSpPr/>
      <p:sp>
        <p:nvSpPr>
          <p:cNvPr id="2" name="TextBox 1"/>
          <p:cNvSpPr txBox="1"/>
          <p:nvPr/>
        </p:nvSpPr>
        <p:spPr>
          <a:xfrm>
            <a:off x="914400" y="914400"/>
            <a:ext cx="10332720" cy="274320"/>
          </a:xfrm>
          <a:prstGeom prst="rect">
            <a:avLst/>
          </a:prstGeom>
          <a:noFill/>
        </p:spPr>
        <p:txBody>
          <a:bodyPr wrap="square" lIns="0" rIns="0" tIns="0" bIns="0" anchor="t">
            <a:spAutoFit/>
          </a:bodyPr>
          <a:lstStyle/>
          <a:p>
            <a:pPr algn="l">
              <a:lnSpc>
                <a:spcPct val="150000"/>
              </a:lnSpc>
            </a:pPr>
            <a:r>
              <a:rPr sz="900" b="0" spc="200">
                <a:solidFill>
                  <a:srgbClr val="111111"/>
                </a:solidFill>
                <a:latin typeface="Poppins"/>
              </a:rPr>
              <a:t>MOVE 01</a:t>
            </a:r>
          </a:p>
        </p:txBody>
      </p:sp>
      <p:sp>
        <p:nvSpPr>
          <p:cNvPr id="3" name="TextBox 2"/>
          <p:cNvSpPr txBox="1"/>
          <p:nvPr/>
        </p:nvSpPr>
        <p:spPr>
          <a:xfrm>
            <a:off x="914400" y="1737360"/>
            <a:ext cx="10332720" cy="2103120"/>
          </a:xfrm>
          <a:prstGeom prst="rect">
            <a:avLst/>
          </a:prstGeom>
          <a:noFill/>
        </p:spPr>
        <p:txBody>
          <a:bodyPr wrap="square" lIns="0" rIns="0" tIns="0" bIns="0" anchor="t">
            <a:spAutoFit/>
          </a:bodyPr>
          <a:lstStyle/>
          <a:p>
            <a:pPr algn="l">
              <a:lnSpc>
                <a:spcPct val="112000"/>
              </a:lnSpc>
            </a:pPr>
            <a:r>
              <a:rPr sz="3800" b="0">
                <a:solidFill>
                  <a:srgbClr val="111111"/>
                </a:solidFill>
                <a:latin typeface="Poppins"/>
              </a:rPr>
              <a:t>Buy the databases of people who</a:t>
            </a:r>
          </a:p>
          <a:p>
            <a:pPr algn="l">
              <a:lnSpc>
                <a:spcPct val="112000"/>
              </a:lnSpc>
            </a:pPr>
            <a:r>
              <a:rPr sz="3800" b="0">
                <a:solidFill>
                  <a:srgbClr val="111111"/>
                </a:solidFill>
                <a:latin typeface="Poppins"/>
              </a:rPr>
              <a:t>already own a system.</a:t>
            </a:r>
          </a:p>
        </p:txBody>
      </p:sp>
      <p:sp>
        <p:nvSpPr>
          <p:cNvPr id="4" name="TextBox 3"/>
          <p:cNvSpPr txBox="1"/>
          <p:nvPr/>
        </p:nvSpPr>
        <p:spPr>
          <a:xfrm>
            <a:off x="914400" y="4114800"/>
            <a:ext cx="9144000" cy="2194560"/>
          </a:xfrm>
          <a:prstGeom prst="rect">
            <a:avLst/>
          </a:prstGeom>
          <a:noFill/>
        </p:spPr>
        <p:txBody>
          <a:bodyPr wrap="square" lIns="0" rIns="0" tIns="0" bIns="0" anchor="t">
            <a:spAutoFit/>
          </a:bodyPr>
          <a:lstStyle/>
          <a:p>
            <a:pPr algn="l">
              <a:lnSpc>
                <a:spcPct val="155000"/>
              </a:lnSpc>
            </a:pPr>
            <a:r>
              <a:rPr sz="1400" b="0">
                <a:solidFill>
                  <a:srgbClr val="111111"/>
                </a:solidFill>
                <a:latin typeface="Poppins"/>
              </a:rPr>
              <a:t>Harvey Norman lists six kegerator models plus a tap unit. Keg Land, Kegmaster and BenchTop hold buyer lists of their own. Every name on those lists owns hardware, so the price of the system, the most expensive objection your marketing fights, is already cleared. At about seventy dollars gross a keg, the data pays for itself quickly.</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AF8F4"/>
        </a:solidFill>
        <a:effectLst/>
      </p:bgPr>
    </p:bg>
    <p:spTree>
      <p:nvGrpSpPr>
        <p:cNvPr id="1" name=""/>
        <p:cNvGrpSpPr/>
        <p:nvPr/>
      </p:nvGrpSpPr>
      <p:grpSpPr/>
      <p:sp>
        <p:nvSpPr>
          <p:cNvPr id="2" name="TextBox 1"/>
          <p:cNvSpPr txBox="1"/>
          <p:nvPr/>
        </p:nvSpPr>
        <p:spPr>
          <a:xfrm>
            <a:off x="914400" y="914400"/>
            <a:ext cx="10332720" cy="274320"/>
          </a:xfrm>
          <a:prstGeom prst="rect">
            <a:avLst/>
          </a:prstGeom>
          <a:noFill/>
        </p:spPr>
        <p:txBody>
          <a:bodyPr wrap="square" lIns="0" rIns="0" tIns="0" bIns="0" anchor="t">
            <a:spAutoFit/>
          </a:bodyPr>
          <a:lstStyle/>
          <a:p>
            <a:pPr algn="l">
              <a:lnSpc>
                <a:spcPct val="150000"/>
              </a:lnSpc>
            </a:pPr>
            <a:r>
              <a:rPr sz="900" b="0" spc="200">
                <a:solidFill>
                  <a:srgbClr val="111111"/>
                </a:solidFill>
                <a:latin typeface="Poppins"/>
              </a:rPr>
              <a:t>MOVE 02</a:t>
            </a:r>
          </a:p>
        </p:txBody>
      </p:sp>
      <p:sp>
        <p:nvSpPr>
          <p:cNvPr id="3" name="TextBox 2"/>
          <p:cNvSpPr txBox="1"/>
          <p:nvPr/>
        </p:nvSpPr>
        <p:spPr>
          <a:xfrm>
            <a:off x="914400" y="1737360"/>
            <a:ext cx="10332720" cy="2103120"/>
          </a:xfrm>
          <a:prstGeom prst="rect">
            <a:avLst/>
          </a:prstGeom>
          <a:noFill/>
        </p:spPr>
        <p:txBody>
          <a:bodyPr wrap="square" lIns="0" rIns="0" tIns="0" bIns="0" anchor="t">
            <a:spAutoFit/>
          </a:bodyPr>
          <a:lstStyle/>
          <a:p>
            <a:pPr algn="l">
              <a:lnSpc>
                <a:spcPct val="112000"/>
              </a:lnSpc>
            </a:pPr>
            <a:r>
              <a:rPr sz="3800" b="0">
                <a:solidFill>
                  <a:srgbClr val="111111"/>
                </a:solidFill>
                <a:latin typeface="Poppins"/>
              </a:rPr>
              <a:t>Do a deal with Harvey Norman</a:t>
            </a:r>
          </a:p>
          <a:p>
            <a:pPr algn="l">
              <a:lnSpc>
                <a:spcPct val="112000"/>
              </a:lnSpc>
            </a:pPr>
            <a:r>
              <a:rPr sz="3800" b="0">
                <a:solidFill>
                  <a:srgbClr val="111111"/>
                </a:solidFill>
                <a:latin typeface="Poppins"/>
              </a:rPr>
              <a:t>directly.</a:t>
            </a:r>
          </a:p>
        </p:txBody>
      </p:sp>
      <p:sp>
        <p:nvSpPr>
          <p:cNvPr id="4" name="TextBox 3"/>
          <p:cNvSpPr txBox="1"/>
          <p:nvPr/>
        </p:nvSpPr>
        <p:spPr>
          <a:xfrm>
            <a:off x="914400" y="4114800"/>
            <a:ext cx="9144000" cy="2194560"/>
          </a:xfrm>
          <a:prstGeom prst="rect">
            <a:avLst/>
          </a:prstGeom>
          <a:noFill/>
        </p:spPr>
        <p:txBody>
          <a:bodyPr wrap="square" lIns="0" rIns="0" tIns="0" bIns="0" anchor="t">
            <a:spAutoFit/>
          </a:bodyPr>
          <a:lstStyle/>
          <a:p>
            <a:pPr algn="l">
              <a:lnSpc>
                <a:spcPct val="155000"/>
              </a:lnSpc>
            </a:pPr>
            <a:r>
              <a:rPr sz="1400" b="0">
                <a:solidFill>
                  <a:srgbClr val="111111"/>
                </a:solidFill>
                <a:latin typeface="Poppins"/>
              </a:rPr>
              <a:t>A QR code at the point of sale. A referral rebate on each keg. Or a free keg with purchase if the liquor rules allow it. Monk is one of their closest allies and holds point contacts. This is a conversation, not a campaign, and it is worth having before any budget moves.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AF8F4"/>
        </a:solidFill>
        <a:effectLst/>
      </p:bgPr>
    </p:bg>
    <p:spTree>
      <p:nvGrpSpPr>
        <p:cNvPr id="1" name=""/>
        <p:cNvGrpSpPr/>
        <p:nvPr/>
      </p:nvGrpSpPr>
      <p:grpSpPr/>
      <p:sp>
        <p:nvSpPr>
          <p:cNvPr id="2" name="TextBox 1"/>
          <p:cNvSpPr txBox="1"/>
          <p:nvPr/>
        </p:nvSpPr>
        <p:spPr>
          <a:xfrm>
            <a:off x="914400" y="914400"/>
            <a:ext cx="10332720" cy="274320"/>
          </a:xfrm>
          <a:prstGeom prst="rect">
            <a:avLst/>
          </a:prstGeom>
          <a:noFill/>
        </p:spPr>
        <p:txBody>
          <a:bodyPr wrap="square" lIns="0" rIns="0" tIns="0" bIns="0" anchor="t">
            <a:spAutoFit/>
          </a:bodyPr>
          <a:lstStyle/>
          <a:p>
            <a:pPr algn="l">
              <a:lnSpc>
                <a:spcPct val="150000"/>
              </a:lnSpc>
            </a:pPr>
            <a:r>
              <a:rPr sz="900" b="0" spc="200">
                <a:solidFill>
                  <a:srgbClr val="111111"/>
                </a:solidFill>
                <a:latin typeface="Poppins"/>
              </a:rPr>
              <a:t>MOVE 03</a:t>
            </a:r>
          </a:p>
        </p:txBody>
      </p:sp>
      <p:sp>
        <p:nvSpPr>
          <p:cNvPr id="3" name="TextBox 2"/>
          <p:cNvSpPr txBox="1"/>
          <p:nvPr/>
        </p:nvSpPr>
        <p:spPr>
          <a:xfrm>
            <a:off x="914400" y="1737360"/>
            <a:ext cx="10332720" cy="2103120"/>
          </a:xfrm>
          <a:prstGeom prst="rect">
            <a:avLst/>
          </a:prstGeom>
          <a:noFill/>
        </p:spPr>
        <p:txBody>
          <a:bodyPr wrap="square" lIns="0" rIns="0" tIns="0" bIns="0" anchor="t">
            <a:spAutoFit/>
          </a:bodyPr>
          <a:lstStyle/>
          <a:p>
            <a:pPr algn="l">
              <a:lnSpc>
                <a:spcPct val="112000"/>
              </a:lnSpc>
            </a:pPr>
            <a:r>
              <a:rPr sz="3800" b="0">
                <a:solidFill>
                  <a:srgbClr val="111111"/>
                </a:solidFill>
                <a:latin typeface="Poppins"/>
              </a:rPr>
              <a:t>Go at the tour operators, and run</a:t>
            </a:r>
          </a:p>
          <a:p>
            <a:pPr algn="l">
              <a:lnSpc>
                <a:spcPct val="112000"/>
              </a:lnSpc>
            </a:pPr>
            <a:r>
              <a:rPr sz="3800" b="0">
                <a:solidFill>
                  <a:srgbClr val="111111"/>
                </a:solidFill>
                <a:latin typeface="Poppins"/>
              </a:rPr>
              <a:t>wholesale properly.</a:t>
            </a:r>
          </a:p>
        </p:txBody>
      </p:sp>
      <p:sp>
        <p:nvSpPr>
          <p:cNvPr id="4" name="TextBox 3"/>
          <p:cNvSpPr txBox="1"/>
          <p:nvPr/>
        </p:nvSpPr>
        <p:spPr>
          <a:xfrm>
            <a:off x="914400" y="4114800"/>
            <a:ext cx="9144000" cy="2194560"/>
          </a:xfrm>
          <a:prstGeom prst="rect">
            <a:avLst/>
          </a:prstGeom>
          <a:noFill/>
        </p:spPr>
        <p:txBody>
          <a:bodyPr wrap="square" lIns="0" rIns="0" tIns="0" bIns="0" anchor="t">
            <a:spAutoFit/>
          </a:bodyPr>
          <a:lstStyle/>
          <a:p>
            <a:pPr algn="l">
              <a:lnSpc>
                <a:spcPct val="155000"/>
              </a:lnSpc>
            </a:pPr>
            <a:r>
              <a:rPr sz="1400" b="0">
                <a:solidFill>
                  <a:srgbClr val="111111"/>
                </a:solidFill>
                <a:latin typeface="Poppins"/>
              </a:rPr>
              <a:t>Hop On, Urban Legends and Pineapple Tours all let the customer choose which breweries to visit. So your write up decides whether you get picked, and yours does not mention Midnight in Tokyo while Balter gets the imagery. On wholesale, one commercial account is worth about ten households, and it currently has no structure, no targets and nobody carrying it.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AF8F4"/>
        </a:solidFill>
        <a:effectLst/>
      </p:bgPr>
    </p:bg>
    <p:spTree>
      <p:nvGrpSpPr>
        <p:cNvPr id="1" name=""/>
        <p:cNvGrpSpPr/>
        <p:nvPr/>
      </p:nvGrpSpPr>
      <p:grpSpPr/>
      <p:sp>
        <p:nvSpPr>
          <p:cNvPr id="2" name="TextBox 1"/>
          <p:cNvSpPr txBox="1"/>
          <p:nvPr/>
        </p:nvSpPr>
        <p:spPr>
          <a:xfrm>
            <a:off x="914400" y="914400"/>
            <a:ext cx="10332720" cy="274320"/>
          </a:xfrm>
          <a:prstGeom prst="rect">
            <a:avLst/>
          </a:prstGeom>
          <a:noFill/>
        </p:spPr>
        <p:txBody>
          <a:bodyPr wrap="square" lIns="0" rIns="0" tIns="0" bIns="0" anchor="t">
            <a:spAutoFit/>
          </a:bodyPr>
          <a:lstStyle/>
          <a:p>
            <a:pPr algn="l">
              <a:lnSpc>
                <a:spcPct val="150000"/>
              </a:lnSpc>
            </a:pPr>
            <a:r>
              <a:rPr sz="900" b="0" spc="200">
                <a:solidFill>
                  <a:srgbClr val="111111"/>
                </a:solidFill>
                <a:latin typeface="Poppins"/>
              </a:rPr>
              <a:t>AND ONE WE HAVE RANKED BELOW THEM</a:t>
            </a:r>
          </a:p>
        </p:txBody>
      </p:sp>
      <p:sp>
        <p:nvSpPr>
          <p:cNvPr id="3" name="TextBox 2"/>
          <p:cNvSpPr txBox="1"/>
          <p:nvPr/>
        </p:nvSpPr>
        <p:spPr>
          <a:xfrm>
            <a:off x="914400" y="1737360"/>
            <a:ext cx="10332720" cy="2103120"/>
          </a:xfrm>
          <a:prstGeom prst="rect">
            <a:avLst/>
          </a:prstGeom>
          <a:noFill/>
        </p:spPr>
        <p:txBody>
          <a:bodyPr wrap="square" lIns="0" rIns="0" tIns="0" bIns="0" anchor="t">
            <a:spAutoFit/>
          </a:bodyPr>
          <a:lstStyle/>
          <a:p>
            <a:pPr algn="l">
              <a:lnSpc>
                <a:spcPct val="112000"/>
              </a:lnSpc>
            </a:pPr>
            <a:r>
              <a:rPr sz="3800" b="0">
                <a:solidFill>
                  <a:srgbClr val="111111"/>
                </a:solidFill>
                <a:latin typeface="Poppins"/>
              </a:rPr>
              <a:t>Pulling people into the taproom</a:t>
            </a:r>
          </a:p>
          <a:p>
            <a:pPr algn="l">
              <a:lnSpc>
                <a:spcPct val="112000"/>
              </a:lnSpc>
            </a:pPr>
            <a:r>
              <a:rPr sz="3800" b="0">
                <a:solidFill>
                  <a:srgbClr val="111111"/>
                </a:solidFill>
                <a:latin typeface="Poppins"/>
              </a:rPr>
              <a:t>through social media.</a:t>
            </a:r>
          </a:p>
        </p:txBody>
      </p:sp>
      <p:sp>
        <p:nvSpPr>
          <p:cNvPr id="4" name="TextBox 3"/>
          <p:cNvSpPr txBox="1"/>
          <p:nvPr/>
        </p:nvSpPr>
        <p:spPr>
          <a:xfrm>
            <a:off x="914400" y="4114800"/>
            <a:ext cx="9144000" cy="2194560"/>
          </a:xfrm>
          <a:prstGeom prst="rect">
            <a:avLst/>
          </a:prstGeom>
          <a:noFill/>
        </p:spPr>
        <p:txBody>
          <a:bodyPr wrap="square" lIns="0" rIns="0" tIns="0" bIns="0" anchor="t">
            <a:spAutoFit/>
          </a:bodyPr>
          <a:lstStyle/>
          <a:p>
            <a:pPr algn="l">
              <a:lnSpc>
                <a:spcPct val="155000"/>
              </a:lnSpc>
            </a:pPr>
            <a:r>
              <a:rPr sz="1400" b="0">
                <a:solidFill>
                  <a:srgbClr val="111111"/>
                </a:solidFill>
                <a:latin typeface="Poppins"/>
              </a:rPr>
              <a:t>That was close to the centre of the plan we wrote for you. On this read it should not be. If the taproom is the half that loses money, spending the marketing budget filling it is the wrong instinct, however good the content is.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AF8F4"/>
        </a:solidFill>
        <a:effectLst/>
      </p:bgPr>
    </p:bg>
    <p:spTree>
      <p:nvGrpSpPr>
        <p:cNvPr id="1" name=""/>
        <p:cNvGrpSpPr/>
        <p:nvPr/>
      </p:nvGrpSpPr>
      <p:grpSpPr/>
      <p:sp>
        <p:nvSpPr>
          <p:cNvPr id="2" name="TextBox 1"/>
          <p:cNvSpPr txBox="1"/>
          <p:nvPr/>
        </p:nvSpPr>
        <p:spPr>
          <a:xfrm>
            <a:off x="914400" y="914400"/>
            <a:ext cx="10332720" cy="274320"/>
          </a:xfrm>
          <a:prstGeom prst="rect">
            <a:avLst/>
          </a:prstGeom>
          <a:noFill/>
        </p:spPr>
        <p:txBody>
          <a:bodyPr wrap="square" lIns="0" rIns="0" tIns="0" bIns="0" anchor="t">
            <a:spAutoFit/>
          </a:bodyPr>
          <a:lstStyle/>
          <a:p>
            <a:pPr algn="l">
              <a:lnSpc>
                <a:spcPct val="150000"/>
              </a:lnSpc>
            </a:pPr>
            <a:r>
              <a:rPr sz="900" b="0" spc="200">
                <a:solidFill>
                  <a:srgbClr val="111111"/>
                </a:solidFill>
                <a:latin typeface="Poppins"/>
              </a:rPr>
              <a:t>WHAT WE NEED FROM YOU</a:t>
            </a:r>
          </a:p>
        </p:txBody>
      </p:sp>
      <p:sp>
        <p:nvSpPr>
          <p:cNvPr id="3" name="TextBox 2"/>
          <p:cNvSpPr txBox="1"/>
          <p:nvPr/>
        </p:nvSpPr>
        <p:spPr>
          <a:xfrm>
            <a:off x="914400" y="1737360"/>
            <a:ext cx="10332720" cy="2103120"/>
          </a:xfrm>
          <a:prstGeom prst="rect">
            <a:avLst/>
          </a:prstGeom>
          <a:noFill/>
        </p:spPr>
        <p:txBody>
          <a:bodyPr wrap="square" lIns="0" rIns="0" tIns="0" bIns="0" anchor="t">
            <a:spAutoFit/>
          </a:bodyPr>
          <a:lstStyle/>
          <a:p>
            <a:pPr algn="l">
              <a:lnSpc>
                <a:spcPct val="112000"/>
              </a:lnSpc>
            </a:pPr>
            <a:r>
              <a:rPr sz="3800" b="0">
                <a:solidFill>
                  <a:srgbClr val="111111"/>
                </a:solidFill>
                <a:latin typeface="Poppins"/>
              </a:rPr>
              <a:t>Six decisions. None of them need research.</a:t>
            </a:r>
          </a:p>
        </p:txBody>
      </p:sp>
      <p:cxnSp>
        <p:nvCxnSpPr>
          <p:cNvPr id="4" name="Connector 3"/>
          <p:cNvCxnSpPr/>
          <p:nvPr/>
        </p:nvCxnSpPr>
        <p:spPr>
          <a:xfrm>
            <a:off x="914400" y="2514600"/>
            <a:ext cx="10332720" cy="0"/>
          </a:xfrm>
          <a:prstGeom prst="line">
            <a:avLst/>
          </a:prstGeom>
          <a:ln w="9525">
            <a:solidFill>
              <a:srgbClr val="EDEBEA"/>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914400" y="2642616"/>
            <a:ext cx="2834640" cy="566928"/>
          </a:xfrm>
          <a:prstGeom prst="rect">
            <a:avLst/>
          </a:prstGeom>
          <a:noFill/>
        </p:spPr>
        <p:txBody>
          <a:bodyPr wrap="square" lIns="0" rIns="0" tIns="0" bIns="0" anchor="t">
            <a:spAutoFit/>
          </a:bodyPr>
          <a:lstStyle/>
          <a:p>
            <a:pPr algn="l">
              <a:lnSpc>
                <a:spcPct val="130000"/>
              </a:lnSpc>
            </a:pPr>
            <a:r>
              <a:rPr sz="1300" b="1">
                <a:solidFill>
                  <a:srgbClr val="111111"/>
                </a:solidFill>
                <a:latin typeface="Poppins"/>
              </a:rPr>
              <a:t>The taproom</a:t>
            </a:r>
          </a:p>
        </p:txBody>
      </p:sp>
      <p:sp>
        <p:nvSpPr>
          <p:cNvPr id="6" name="TextBox 5"/>
          <p:cNvSpPr txBox="1"/>
          <p:nvPr/>
        </p:nvSpPr>
        <p:spPr>
          <a:xfrm>
            <a:off x="4023360" y="2642616"/>
            <a:ext cx="7223760" cy="566928"/>
          </a:xfrm>
          <a:prstGeom prst="rect">
            <a:avLst/>
          </a:prstGeom>
          <a:noFill/>
        </p:spPr>
        <p:txBody>
          <a:bodyPr wrap="square" lIns="0" rIns="0" tIns="0" bIns="0" anchor="t">
            <a:spAutoFit/>
          </a:bodyPr>
          <a:lstStyle/>
          <a:p>
            <a:pPr algn="l">
              <a:lnSpc>
                <a:spcPct val="138000"/>
              </a:lnSpc>
            </a:pPr>
            <a:r>
              <a:rPr sz="1300" b="0">
                <a:solidFill>
                  <a:srgbClr val="666666"/>
                </a:solidFill>
                <a:latin typeface="Poppins"/>
              </a:rPr>
              <a:t>Tasting and event venue, or keep paying for a drop in.</a:t>
            </a:r>
          </a:p>
        </p:txBody>
      </p:sp>
      <p:cxnSp>
        <p:nvCxnSpPr>
          <p:cNvPr id="7" name="Connector 6"/>
          <p:cNvCxnSpPr/>
          <p:nvPr/>
        </p:nvCxnSpPr>
        <p:spPr>
          <a:xfrm>
            <a:off x="914400" y="3136392"/>
            <a:ext cx="10332720" cy="0"/>
          </a:xfrm>
          <a:prstGeom prst="line">
            <a:avLst/>
          </a:prstGeom>
          <a:ln w="9525">
            <a:solidFill>
              <a:srgbClr val="EDEBEA"/>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914400" y="3264408"/>
            <a:ext cx="2834640" cy="566928"/>
          </a:xfrm>
          <a:prstGeom prst="rect">
            <a:avLst/>
          </a:prstGeom>
          <a:noFill/>
        </p:spPr>
        <p:txBody>
          <a:bodyPr wrap="square" lIns="0" rIns="0" tIns="0" bIns="0" anchor="t">
            <a:spAutoFit/>
          </a:bodyPr>
          <a:lstStyle/>
          <a:p>
            <a:pPr algn="l">
              <a:lnSpc>
                <a:spcPct val="130000"/>
              </a:lnSpc>
            </a:pPr>
            <a:r>
              <a:rPr sz="1300" b="1">
                <a:solidFill>
                  <a:srgbClr val="111111"/>
                </a:solidFill>
                <a:latin typeface="Poppins"/>
              </a:rPr>
              <a:t>The range</a:t>
            </a:r>
          </a:p>
        </p:txBody>
      </p:sp>
      <p:sp>
        <p:nvSpPr>
          <p:cNvPr id="9" name="TextBox 8"/>
          <p:cNvSpPr txBox="1"/>
          <p:nvPr/>
        </p:nvSpPr>
        <p:spPr>
          <a:xfrm>
            <a:off x="4023360" y="3264408"/>
            <a:ext cx="7223760" cy="566928"/>
          </a:xfrm>
          <a:prstGeom prst="rect">
            <a:avLst/>
          </a:prstGeom>
          <a:noFill/>
        </p:spPr>
        <p:txBody>
          <a:bodyPr wrap="square" lIns="0" rIns="0" tIns="0" bIns="0" anchor="t">
            <a:spAutoFit/>
          </a:bodyPr>
          <a:lstStyle/>
          <a:p>
            <a:pPr algn="l">
              <a:lnSpc>
                <a:spcPct val="138000"/>
              </a:lnSpc>
            </a:pPr>
            <a:r>
              <a:rPr sz="1300" b="0">
                <a:solidFill>
                  <a:srgbClr val="666666"/>
                </a:solidFill>
                <a:latin typeface="Poppins"/>
              </a:rPr>
              <a:t>Six core beers, or twenty seven taps.</a:t>
            </a:r>
          </a:p>
        </p:txBody>
      </p:sp>
      <p:cxnSp>
        <p:nvCxnSpPr>
          <p:cNvPr id="10" name="Connector 9"/>
          <p:cNvCxnSpPr/>
          <p:nvPr/>
        </p:nvCxnSpPr>
        <p:spPr>
          <a:xfrm>
            <a:off x="914400" y="3758184"/>
            <a:ext cx="10332720" cy="0"/>
          </a:xfrm>
          <a:prstGeom prst="line">
            <a:avLst/>
          </a:prstGeom>
          <a:ln w="9525">
            <a:solidFill>
              <a:srgbClr val="EDEBEA"/>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914400" y="3886200"/>
            <a:ext cx="2834640" cy="566928"/>
          </a:xfrm>
          <a:prstGeom prst="rect">
            <a:avLst/>
          </a:prstGeom>
          <a:noFill/>
        </p:spPr>
        <p:txBody>
          <a:bodyPr wrap="square" lIns="0" rIns="0" tIns="0" bIns="0" anchor="t">
            <a:spAutoFit/>
          </a:bodyPr>
          <a:lstStyle/>
          <a:p>
            <a:pPr algn="l">
              <a:lnSpc>
                <a:spcPct val="130000"/>
              </a:lnSpc>
            </a:pPr>
            <a:r>
              <a:rPr sz="1300" b="1">
                <a:solidFill>
                  <a:srgbClr val="111111"/>
                </a:solidFill>
                <a:latin typeface="Poppins"/>
              </a:rPr>
              <a:t>Membership price</a:t>
            </a:r>
          </a:p>
        </p:txBody>
      </p:sp>
      <p:sp>
        <p:nvSpPr>
          <p:cNvPr id="12" name="TextBox 11"/>
          <p:cNvSpPr txBox="1"/>
          <p:nvPr/>
        </p:nvSpPr>
        <p:spPr>
          <a:xfrm>
            <a:off x="4023360" y="3886200"/>
            <a:ext cx="7223760" cy="566928"/>
          </a:xfrm>
          <a:prstGeom prst="rect">
            <a:avLst/>
          </a:prstGeom>
          <a:noFill/>
        </p:spPr>
        <p:txBody>
          <a:bodyPr wrap="square" lIns="0" rIns="0" tIns="0" bIns="0" anchor="t">
            <a:spAutoFit/>
          </a:bodyPr>
          <a:lstStyle/>
          <a:p>
            <a:pPr algn="l">
              <a:lnSpc>
                <a:spcPct val="138000"/>
              </a:lnSpc>
            </a:pPr>
            <a:r>
              <a:rPr sz="1300" b="0">
                <a:solidFill>
                  <a:srgbClr val="666666"/>
                </a:solidFill>
                <a:latin typeface="Poppins"/>
              </a:rPr>
              <a:t>Two posters, two prices, both live in your venue today.</a:t>
            </a:r>
          </a:p>
        </p:txBody>
      </p:sp>
      <p:cxnSp>
        <p:nvCxnSpPr>
          <p:cNvPr id="13" name="Connector 12"/>
          <p:cNvCxnSpPr/>
          <p:nvPr/>
        </p:nvCxnSpPr>
        <p:spPr>
          <a:xfrm>
            <a:off x="914400" y="4379976"/>
            <a:ext cx="10332720" cy="0"/>
          </a:xfrm>
          <a:prstGeom prst="line">
            <a:avLst/>
          </a:prstGeom>
          <a:ln w="9525">
            <a:solidFill>
              <a:srgbClr val="EDEBEA"/>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914400" y="4507992"/>
            <a:ext cx="2834640" cy="566928"/>
          </a:xfrm>
          <a:prstGeom prst="rect">
            <a:avLst/>
          </a:prstGeom>
          <a:noFill/>
        </p:spPr>
        <p:txBody>
          <a:bodyPr wrap="square" lIns="0" rIns="0" tIns="0" bIns="0" anchor="t">
            <a:spAutoFit/>
          </a:bodyPr>
          <a:lstStyle/>
          <a:p>
            <a:pPr algn="l">
              <a:lnSpc>
                <a:spcPct val="130000"/>
              </a:lnSpc>
            </a:pPr>
            <a:r>
              <a:rPr sz="1300" b="1">
                <a:solidFill>
                  <a:srgbClr val="111111"/>
                </a:solidFill>
                <a:latin typeface="Poppins"/>
              </a:rPr>
              <a:t>Active customer</a:t>
            </a:r>
          </a:p>
        </p:txBody>
      </p:sp>
      <p:sp>
        <p:nvSpPr>
          <p:cNvPr id="15" name="TextBox 14"/>
          <p:cNvSpPr txBox="1"/>
          <p:nvPr/>
        </p:nvSpPr>
        <p:spPr>
          <a:xfrm>
            <a:off x="4023360" y="4507992"/>
            <a:ext cx="7223760" cy="566928"/>
          </a:xfrm>
          <a:prstGeom prst="rect">
            <a:avLst/>
          </a:prstGeom>
          <a:noFill/>
        </p:spPr>
        <p:txBody>
          <a:bodyPr wrap="square" lIns="0" rIns="0" tIns="0" bIns="0" anchor="t">
            <a:spAutoFit/>
          </a:bodyPr>
          <a:lstStyle/>
          <a:p>
            <a:pPr algn="l">
              <a:lnSpc>
                <a:spcPct val="138000"/>
              </a:lnSpc>
            </a:pPr>
            <a:r>
              <a:rPr sz="1300" b="0">
                <a:solidFill>
                  <a:srgbClr val="666666"/>
                </a:solidFill>
                <a:latin typeface="Poppins"/>
              </a:rPr>
              <a:t>Forty five, seventy five or ninety days. It decides every number we report.</a:t>
            </a:r>
          </a:p>
        </p:txBody>
      </p:sp>
      <p:cxnSp>
        <p:nvCxnSpPr>
          <p:cNvPr id="16" name="Connector 15"/>
          <p:cNvCxnSpPr/>
          <p:nvPr/>
        </p:nvCxnSpPr>
        <p:spPr>
          <a:xfrm>
            <a:off x="914400" y="5001768"/>
            <a:ext cx="10332720" cy="0"/>
          </a:xfrm>
          <a:prstGeom prst="line">
            <a:avLst/>
          </a:prstGeom>
          <a:ln w="9525">
            <a:solidFill>
              <a:srgbClr val="EDEBEA"/>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914400" y="5129783"/>
            <a:ext cx="2834640" cy="566928"/>
          </a:xfrm>
          <a:prstGeom prst="rect">
            <a:avLst/>
          </a:prstGeom>
          <a:noFill/>
        </p:spPr>
        <p:txBody>
          <a:bodyPr wrap="square" lIns="0" rIns="0" tIns="0" bIns="0" anchor="t">
            <a:spAutoFit/>
          </a:bodyPr>
          <a:lstStyle/>
          <a:p>
            <a:pPr algn="l">
              <a:lnSpc>
                <a:spcPct val="130000"/>
              </a:lnSpc>
            </a:pPr>
            <a:r>
              <a:rPr sz="1300" b="1">
                <a:solidFill>
                  <a:srgbClr val="111111"/>
                </a:solidFill>
                <a:latin typeface="Poppins"/>
              </a:rPr>
              <a:t>Which plan is live</a:t>
            </a:r>
          </a:p>
        </p:txBody>
      </p:sp>
      <p:sp>
        <p:nvSpPr>
          <p:cNvPr id="18" name="TextBox 17"/>
          <p:cNvSpPr txBox="1"/>
          <p:nvPr/>
        </p:nvSpPr>
        <p:spPr>
          <a:xfrm>
            <a:off x="4023360" y="5129783"/>
            <a:ext cx="7223760" cy="566928"/>
          </a:xfrm>
          <a:prstGeom prst="rect">
            <a:avLst/>
          </a:prstGeom>
          <a:noFill/>
        </p:spPr>
        <p:txBody>
          <a:bodyPr wrap="square" lIns="0" rIns="0" tIns="0" bIns="0" anchor="t">
            <a:spAutoFit/>
          </a:bodyPr>
          <a:lstStyle/>
          <a:p>
            <a:pPr algn="l">
              <a:lnSpc>
                <a:spcPct val="138000"/>
              </a:lnSpc>
            </a:pPr>
            <a:r>
              <a:rPr sz="1300" b="0">
                <a:solidFill>
                  <a:srgbClr val="666666"/>
                </a:solidFill>
                <a:latin typeface="Poppins"/>
              </a:rPr>
              <a:t>Three of your documents name three different core metrics.</a:t>
            </a:r>
          </a:p>
        </p:txBody>
      </p:sp>
      <p:cxnSp>
        <p:nvCxnSpPr>
          <p:cNvPr id="19" name="Connector 18"/>
          <p:cNvCxnSpPr/>
          <p:nvPr/>
        </p:nvCxnSpPr>
        <p:spPr>
          <a:xfrm>
            <a:off x="914400" y="5623559"/>
            <a:ext cx="10332720" cy="0"/>
          </a:xfrm>
          <a:prstGeom prst="line">
            <a:avLst/>
          </a:prstGeom>
          <a:ln w="9525">
            <a:solidFill>
              <a:srgbClr val="EDEBEA"/>
            </a:solidFill>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914400" y="5751575"/>
            <a:ext cx="2834640" cy="566928"/>
          </a:xfrm>
          <a:prstGeom prst="rect">
            <a:avLst/>
          </a:prstGeom>
          <a:noFill/>
        </p:spPr>
        <p:txBody>
          <a:bodyPr wrap="square" lIns="0" rIns="0" tIns="0" bIns="0" anchor="t">
            <a:spAutoFit/>
          </a:bodyPr>
          <a:lstStyle/>
          <a:p>
            <a:pPr algn="l">
              <a:lnSpc>
                <a:spcPct val="130000"/>
              </a:lnSpc>
            </a:pPr>
            <a:r>
              <a:rPr sz="1300" b="1">
                <a:solidFill>
                  <a:srgbClr val="111111"/>
                </a:solidFill>
                <a:latin typeface="Poppins"/>
              </a:rPr>
              <a:t>Model A or B</a:t>
            </a:r>
          </a:p>
        </p:txBody>
      </p:sp>
      <p:sp>
        <p:nvSpPr>
          <p:cNvPr id="21" name="TextBox 20"/>
          <p:cNvSpPr txBox="1"/>
          <p:nvPr/>
        </p:nvSpPr>
        <p:spPr>
          <a:xfrm>
            <a:off x="4023360" y="5751575"/>
            <a:ext cx="7223760" cy="566928"/>
          </a:xfrm>
          <a:prstGeom prst="rect">
            <a:avLst/>
          </a:prstGeom>
          <a:noFill/>
        </p:spPr>
        <p:txBody>
          <a:bodyPr wrap="square" lIns="0" rIns="0" tIns="0" bIns="0" anchor="t">
            <a:spAutoFit/>
          </a:bodyPr>
          <a:lstStyle/>
          <a:p>
            <a:pPr algn="l">
              <a:lnSpc>
                <a:spcPct val="138000"/>
              </a:lnSpc>
            </a:pPr>
            <a:r>
              <a:rPr sz="1300" b="0">
                <a:solidFill>
                  <a:srgbClr val="666666"/>
                </a:solidFill>
                <a:latin typeface="Poppins"/>
              </a:rPr>
              <a:t>Sell more systems, or convert the 116 who bought elsewhere.</a:t>
            </a:r>
          </a:p>
        </p:txBody>
      </p:sp>
      <p:cxnSp>
        <p:nvCxnSpPr>
          <p:cNvPr id="22" name="Connector 21"/>
          <p:cNvCxnSpPr/>
          <p:nvPr/>
        </p:nvCxnSpPr>
        <p:spPr>
          <a:xfrm>
            <a:off x="914400" y="6245351"/>
            <a:ext cx="10332720" cy="0"/>
          </a:xfrm>
          <a:prstGeom prst="line">
            <a:avLst/>
          </a:prstGeom>
          <a:ln w="9525">
            <a:solidFill>
              <a:srgbClr val="EDEBEA"/>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AF8F4"/>
        </a:solidFill>
        <a:effectLst/>
      </p:bgPr>
    </p:bg>
    <p:spTree>
      <p:nvGrpSpPr>
        <p:cNvPr id="1" name=""/>
        <p:cNvGrpSpPr/>
        <p:nvPr/>
      </p:nvGrpSpPr>
      <p:grpSpPr/>
      <p:sp>
        <p:nvSpPr>
          <p:cNvPr id="2" name="TextBox 1"/>
          <p:cNvSpPr txBox="1"/>
          <p:nvPr/>
        </p:nvSpPr>
        <p:spPr>
          <a:xfrm>
            <a:off x="914400" y="914400"/>
            <a:ext cx="10332720" cy="274320"/>
          </a:xfrm>
          <a:prstGeom prst="rect">
            <a:avLst/>
          </a:prstGeom>
          <a:noFill/>
        </p:spPr>
        <p:txBody>
          <a:bodyPr wrap="square" lIns="0" rIns="0" tIns="0" bIns="0" anchor="t">
            <a:spAutoFit/>
          </a:bodyPr>
          <a:lstStyle/>
          <a:p>
            <a:pPr algn="l">
              <a:lnSpc>
                <a:spcPct val="150000"/>
              </a:lnSpc>
            </a:pPr>
            <a:r>
              <a:rPr sz="900" b="0" spc="200">
                <a:solidFill>
                  <a:srgbClr val="111111"/>
                </a:solidFill>
                <a:latin typeface="Poppins"/>
              </a:rPr>
              <a:t>HOW THIS SPLITS</a:t>
            </a:r>
          </a:p>
        </p:txBody>
      </p:sp>
      <p:sp>
        <p:nvSpPr>
          <p:cNvPr id="3" name="TextBox 2"/>
          <p:cNvSpPr txBox="1"/>
          <p:nvPr/>
        </p:nvSpPr>
        <p:spPr>
          <a:xfrm>
            <a:off x="914400" y="1737360"/>
            <a:ext cx="10332720" cy="2103120"/>
          </a:xfrm>
          <a:prstGeom prst="rect">
            <a:avLst/>
          </a:prstGeom>
          <a:noFill/>
        </p:spPr>
        <p:txBody>
          <a:bodyPr wrap="square" lIns="0" rIns="0" tIns="0" bIns="0" anchor="t">
            <a:spAutoFit/>
          </a:bodyPr>
          <a:lstStyle/>
          <a:p>
            <a:pPr algn="l">
              <a:lnSpc>
                <a:spcPct val="112000"/>
              </a:lnSpc>
            </a:pPr>
            <a:r>
              <a:rPr sz="3800" b="0">
                <a:solidFill>
                  <a:srgbClr val="111111"/>
                </a:solidFill>
                <a:latin typeface="Poppins"/>
              </a:rPr>
              <a:t>Harry takes these. We would do these for you.</a:t>
            </a:r>
          </a:p>
        </p:txBody>
      </p:sp>
      <p:cxnSp>
        <p:nvCxnSpPr>
          <p:cNvPr id="4" name="Connector 3"/>
          <p:cNvCxnSpPr/>
          <p:nvPr/>
        </p:nvCxnSpPr>
        <p:spPr>
          <a:xfrm>
            <a:off x="914400" y="2926080"/>
            <a:ext cx="10332720" cy="0"/>
          </a:xfrm>
          <a:prstGeom prst="line">
            <a:avLst/>
          </a:prstGeom>
          <a:ln w="9525">
            <a:solidFill>
              <a:srgbClr val="EDEBEA"/>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914400" y="3054096"/>
            <a:ext cx="2103120" cy="658368"/>
          </a:xfrm>
          <a:prstGeom prst="rect">
            <a:avLst/>
          </a:prstGeom>
          <a:noFill/>
        </p:spPr>
        <p:txBody>
          <a:bodyPr wrap="square" lIns="0" rIns="0" tIns="0" bIns="0" anchor="t">
            <a:spAutoFit/>
          </a:bodyPr>
          <a:lstStyle/>
          <a:p>
            <a:pPr algn="l">
              <a:lnSpc>
                <a:spcPct val="130000"/>
              </a:lnSpc>
            </a:pPr>
            <a:r>
              <a:rPr sz="1300" b="1">
                <a:solidFill>
                  <a:srgbClr val="111111"/>
                </a:solidFill>
                <a:latin typeface="Poppins"/>
              </a:rPr>
              <a:t>Harry</a:t>
            </a:r>
          </a:p>
        </p:txBody>
      </p:sp>
      <p:sp>
        <p:nvSpPr>
          <p:cNvPr id="6" name="TextBox 5"/>
          <p:cNvSpPr txBox="1"/>
          <p:nvPr/>
        </p:nvSpPr>
        <p:spPr>
          <a:xfrm>
            <a:off x="3291840" y="3054096"/>
            <a:ext cx="7955280" cy="658368"/>
          </a:xfrm>
          <a:prstGeom prst="rect">
            <a:avLst/>
          </a:prstGeom>
          <a:noFill/>
        </p:spPr>
        <p:txBody>
          <a:bodyPr wrap="square" lIns="0" rIns="0" tIns="0" bIns="0" anchor="t">
            <a:spAutoFit/>
          </a:bodyPr>
          <a:lstStyle/>
          <a:p>
            <a:pPr algn="l">
              <a:lnSpc>
                <a:spcPct val="138000"/>
              </a:lnSpc>
            </a:pPr>
            <a:r>
              <a:rPr sz="1300" b="0">
                <a:solidFill>
                  <a:srgbClr val="666666"/>
                </a:solidFill>
                <a:latin typeface="Poppins"/>
              </a:rPr>
              <a:t>Tour operator outreach. Fresh copy, photos, reviews and the award to each operator. The referral reward nobody knows about.</a:t>
            </a:r>
          </a:p>
        </p:txBody>
      </p:sp>
      <p:cxnSp>
        <p:nvCxnSpPr>
          <p:cNvPr id="7" name="Connector 6"/>
          <p:cNvCxnSpPr/>
          <p:nvPr/>
        </p:nvCxnSpPr>
        <p:spPr>
          <a:xfrm>
            <a:off x="914400" y="3639312"/>
            <a:ext cx="10332720" cy="0"/>
          </a:xfrm>
          <a:prstGeom prst="line">
            <a:avLst/>
          </a:prstGeom>
          <a:ln w="9525">
            <a:solidFill>
              <a:srgbClr val="EDEBEA"/>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914400" y="3767328"/>
            <a:ext cx="2103120" cy="658368"/>
          </a:xfrm>
          <a:prstGeom prst="rect">
            <a:avLst/>
          </a:prstGeom>
          <a:noFill/>
        </p:spPr>
        <p:txBody>
          <a:bodyPr wrap="square" lIns="0" rIns="0" tIns="0" bIns="0" anchor="t">
            <a:spAutoFit/>
          </a:bodyPr>
          <a:lstStyle/>
          <a:p>
            <a:pPr algn="l">
              <a:lnSpc>
                <a:spcPct val="130000"/>
              </a:lnSpc>
            </a:pPr>
            <a:r>
              <a:rPr sz="1300" b="1">
                <a:solidFill>
                  <a:srgbClr val="111111"/>
                </a:solidFill>
                <a:latin typeface="Poppins"/>
              </a:rPr>
              <a:t>Justin</a:t>
            </a:r>
          </a:p>
        </p:txBody>
      </p:sp>
      <p:sp>
        <p:nvSpPr>
          <p:cNvPr id="9" name="TextBox 8"/>
          <p:cNvSpPr txBox="1"/>
          <p:nvPr/>
        </p:nvSpPr>
        <p:spPr>
          <a:xfrm>
            <a:off x="3291840" y="3767328"/>
            <a:ext cx="7955280" cy="658368"/>
          </a:xfrm>
          <a:prstGeom prst="rect">
            <a:avLst/>
          </a:prstGeom>
          <a:noFill/>
        </p:spPr>
        <p:txBody>
          <a:bodyPr wrap="square" lIns="0" rIns="0" tIns="0" bIns="0" anchor="t">
            <a:spAutoFit/>
          </a:bodyPr>
          <a:lstStyle/>
          <a:p>
            <a:pPr algn="l">
              <a:lnSpc>
                <a:spcPct val="138000"/>
              </a:lnSpc>
            </a:pPr>
            <a:r>
              <a:rPr sz="1300" b="0">
                <a:solidFill>
                  <a:srgbClr val="666666"/>
                </a:solidFill>
                <a:latin typeface="Poppins"/>
              </a:rPr>
              <a:t>The Harvey Norman conversation. Wholesale structure and targets. The six decisions above.</a:t>
            </a:r>
          </a:p>
        </p:txBody>
      </p:sp>
      <p:cxnSp>
        <p:nvCxnSpPr>
          <p:cNvPr id="10" name="Connector 9"/>
          <p:cNvCxnSpPr/>
          <p:nvPr/>
        </p:nvCxnSpPr>
        <p:spPr>
          <a:xfrm>
            <a:off x="914400" y="4352544"/>
            <a:ext cx="10332720" cy="0"/>
          </a:xfrm>
          <a:prstGeom prst="line">
            <a:avLst/>
          </a:prstGeom>
          <a:ln w="9525">
            <a:solidFill>
              <a:srgbClr val="EDEBEA"/>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914400" y="4480560"/>
            <a:ext cx="2103120" cy="658368"/>
          </a:xfrm>
          <a:prstGeom prst="rect">
            <a:avLst/>
          </a:prstGeom>
          <a:noFill/>
        </p:spPr>
        <p:txBody>
          <a:bodyPr wrap="square" lIns="0" rIns="0" tIns="0" bIns="0" anchor="t">
            <a:spAutoFit/>
          </a:bodyPr>
          <a:lstStyle/>
          <a:p>
            <a:pPr algn="l">
              <a:lnSpc>
                <a:spcPct val="130000"/>
              </a:lnSpc>
            </a:pPr>
            <a:r>
              <a:rPr sz="1300" b="1">
                <a:solidFill>
                  <a:srgbClr val="111111"/>
                </a:solidFill>
                <a:latin typeface="Poppins"/>
              </a:rPr>
              <a:t>Jewell</a:t>
            </a:r>
          </a:p>
        </p:txBody>
      </p:sp>
      <p:sp>
        <p:nvSpPr>
          <p:cNvPr id="12" name="TextBox 11"/>
          <p:cNvSpPr txBox="1"/>
          <p:nvPr/>
        </p:nvSpPr>
        <p:spPr>
          <a:xfrm>
            <a:off x="3291840" y="4480560"/>
            <a:ext cx="7955280" cy="658368"/>
          </a:xfrm>
          <a:prstGeom prst="rect">
            <a:avLst/>
          </a:prstGeom>
          <a:noFill/>
        </p:spPr>
        <p:txBody>
          <a:bodyPr wrap="square" lIns="0" rIns="0" tIns="0" bIns="0" anchor="t">
            <a:spAutoFit/>
          </a:bodyPr>
          <a:lstStyle/>
          <a:p>
            <a:pPr algn="l">
              <a:lnSpc>
                <a:spcPct val="138000"/>
              </a:lnSpc>
            </a:pPr>
            <a:r>
              <a:rPr sz="1300" b="0">
                <a:solidFill>
                  <a:srgbClr val="666666"/>
                </a:solidFill>
                <a:latin typeface="Poppins"/>
              </a:rPr>
              <a:t>Database acquisition and the campaign against it. The Urban Legends booking tool. Tracking, so you can see what any of it did.</a:t>
            </a:r>
          </a:p>
        </p:txBody>
      </p:sp>
      <p:cxnSp>
        <p:nvCxnSpPr>
          <p:cNvPr id="13" name="Connector 12"/>
          <p:cNvCxnSpPr/>
          <p:nvPr/>
        </p:nvCxnSpPr>
        <p:spPr>
          <a:xfrm>
            <a:off x="914400" y="5065776"/>
            <a:ext cx="10332720" cy="0"/>
          </a:xfrm>
          <a:prstGeom prst="line">
            <a:avLst/>
          </a:prstGeom>
          <a:ln w="9525">
            <a:solidFill>
              <a:srgbClr val="EDEBEA"/>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AF8F4"/>
        </a:solidFill>
        <a:effectLst/>
      </p:bgPr>
    </p:bg>
    <p:spTree>
      <p:nvGrpSpPr>
        <p:cNvPr id="1" name=""/>
        <p:cNvGrpSpPr/>
        <p:nvPr/>
      </p:nvGrpSpPr>
      <p:grpSpPr/>
      <p:sp>
        <p:nvSpPr>
          <p:cNvPr id="2" name="TextBox 1"/>
          <p:cNvSpPr txBox="1"/>
          <p:nvPr/>
        </p:nvSpPr>
        <p:spPr>
          <a:xfrm>
            <a:off x="914400" y="1828800"/>
            <a:ext cx="10332720" cy="1828800"/>
          </a:xfrm>
          <a:prstGeom prst="rect">
            <a:avLst/>
          </a:prstGeom>
          <a:noFill/>
        </p:spPr>
        <p:txBody>
          <a:bodyPr wrap="square" lIns="0" rIns="0" tIns="0" bIns="0" anchor="t">
            <a:spAutoFit/>
          </a:bodyPr>
          <a:lstStyle/>
          <a:p>
            <a:pPr algn="l">
              <a:lnSpc>
                <a:spcPct val="100000"/>
              </a:lnSpc>
            </a:pPr>
            <a:r>
              <a:rPr sz="9600" b="1">
                <a:solidFill>
                  <a:srgbClr val="111111"/>
                </a:solidFill>
                <a:latin typeface="Poppins"/>
              </a:rPr>
              <a:t>Next.</a:t>
            </a:r>
          </a:p>
        </p:txBody>
      </p:sp>
      <p:sp>
        <p:nvSpPr>
          <p:cNvPr id="3" name="TextBox 2"/>
          <p:cNvSpPr txBox="1"/>
          <p:nvPr/>
        </p:nvSpPr>
        <p:spPr>
          <a:xfrm>
            <a:off x="914400" y="4114800"/>
            <a:ext cx="10332720" cy="457200"/>
          </a:xfrm>
          <a:prstGeom prst="rect">
            <a:avLst/>
          </a:prstGeom>
          <a:noFill/>
        </p:spPr>
        <p:txBody>
          <a:bodyPr wrap="square" lIns="0" rIns="0" tIns="0" bIns="0" anchor="t">
            <a:spAutoFit/>
          </a:bodyPr>
          <a:lstStyle/>
          <a:p>
            <a:pPr algn="l">
              <a:lnSpc>
                <a:spcPct val="150000"/>
              </a:lnSpc>
            </a:pPr>
            <a:r>
              <a:rPr sz="1400" b="0">
                <a:solidFill>
                  <a:srgbClr val="111111"/>
                </a:solidFill>
                <a:latin typeface="Poppins"/>
              </a:rPr>
              <a:t>Decisions back by Friday 4 September. We will scope the three moves against them.</a:t>
            </a:r>
          </a:p>
        </p:txBody>
      </p:sp>
      <p:sp>
        <p:nvSpPr>
          <p:cNvPr id="4" name="TextBox 3"/>
          <p:cNvSpPr txBox="1"/>
          <p:nvPr/>
        </p:nvSpPr>
        <p:spPr>
          <a:xfrm>
            <a:off x="914400" y="4572000"/>
            <a:ext cx="10332720" cy="457200"/>
          </a:xfrm>
          <a:prstGeom prst="rect">
            <a:avLst/>
          </a:prstGeom>
          <a:noFill/>
        </p:spPr>
        <p:txBody>
          <a:bodyPr wrap="square" lIns="0" rIns="0" tIns="0" bIns="0" anchor="t">
            <a:spAutoFit/>
          </a:bodyPr>
          <a:lstStyle/>
          <a:p>
            <a:pPr algn="l">
              <a:lnSpc>
                <a:spcPct val="150000"/>
              </a:lnSpc>
            </a:pPr>
            <a:r>
              <a:rPr sz="1400" b="0">
                <a:solidFill>
                  <a:srgbClr val="111111"/>
                </a:solidFill>
                <a:latin typeface="Poppins"/>
              </a:rPr>
              <a:t>Clent Jewell · clent@jewellprojects.com · Jewell Projects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