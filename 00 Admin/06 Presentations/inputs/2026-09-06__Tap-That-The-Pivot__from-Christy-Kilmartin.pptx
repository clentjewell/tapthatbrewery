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6" r:id="rId7"/>
    <p:sldId id="268" r:id="rId8"/>
    <p:sldId id="267" r:id="rId9"/>
    <p:sldId id="261" r:id="rId10"/>
    <p:sldId id="262" r:id="rId11"/>
    <p:sldId id="263"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79"/>
  </p:normalViewPr>
  <p:slideViewPr>
    <p:cSldViewPr snapToGrid="0" snapToObjects="1">
      <p:cViewPr varScale="1">
        <p:scale>
          <a:sx n="96" d="100"/>
          <a:sy n="96" d="100"/>
        </p:scale>
        <p:origin x="6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6178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HK" sz="1800" kern="100" dirty="0">
                <a:effectLst/>
                <a:latin typeface="Aptos" panose="020B0004020202020204" pitchFamily="34" charset="0"/>
                <a:ea typeface="PMingLiU" panose="02020500000000000000" pitchFamily="18" charset="-120"/>
                <a:cs typeface="Times New Roman" panose="02020603050405020304" pitchFamily="18" charset="0"/>
              </a:rPr>
              <a:t>The recurring issue is focus and prioritisation. The strategy (AI-driven) is broad. Too many beer options for consumer (more of a product-centric approach) which means a lack of focus in the product assortment. Marketing trying lots of different things and giving up when they don't initially work and moving on to next. Owner and marketing team spending time propping up the failing business unit at the expense of the profitable ones. </a:t>
            </a:r>
          </a:p>
          <a:p>
            <a:pPr>
              <a:lnSpc>
                <a:spcPct val="115000"/>
              </a:lnSpc>
              <a:spcAft>
                <a:spcPts val="800"/>
              </a:spcAft>
            </a:pPr>
            <a:r>
              <a:rPr lang="en-HK" sz="1800" kern="100" dirty="0">
                <a:effectLst/>
                <a:latin typeface="Aptos" panose="020B0004020202020204" pitchFamily="34" charset="0"/>
                <a:ea typeface="PMingLiU" panose="02020500000000000000" pitchFamily="18" charset="-120"/>
                <a:cs typeface="Times New Roman" panose="02020603050405020304" pitchFamily="18" charset="0"/>
              </a:rPr>
              <a:t> </a:t>
            </a:r>
          </a:p>
          <a:p>
            <a:pPr>
              <a:lnSpc>
                <a:spcPct val="115000"/>
              </a:lnSpc>
              <a:spcAft>
                <a:spcPts val="800"/>
              </a:spcAft>
            </a:pPr>
            <a:r>
              <a:rPr lang="en-HK" sz="1800" kern="100" dirty="0">
                <a:effectLst/>
                <a:latin typeface="Aptos" panose="020B0004020202020204" pitchFamily="34" charset="0"/>
                <a:ea typeface="PMingLiU" panose="02020500000000000000" pitchFamily="18" charset="-120"/>
                <a:cs typeface="Times New Roman" panose="02020603050405020304" pitchFamily="18" charset="0"/>
              </a:rPr>
              <a:t>I get it, Tap Room is ego driven. A beauty contest. To pivot is difficult because owner is anchored to the sexy part of the business. But what Tap That is doing is akin to the girl who spends all her money on makeup so there's no money left to join a gym to get healthy. </a:t>
            </a:r>
          </a:p>
          <a:p>
            <a:pPr>
              <a:lnSpc>
                <a:spcPct val="115000"/>
              </a:lnSpc>
              <a:spcAft>
                <a:spcPts val="800"/>
              </a:spcAft>
            </a:pPr>
            <a:r>
              <a:rPr lang="en-HK" sz="1800" kern="100" dirty="0">
                <a:effectLst/>
                <a:latin typeface="Aptos" panose="020B0004020202020204" pitchFamily="34" charset="0"/>
                <a:ea typeface="PMingLiU" panose="02020500000000000000" pitchFamily="18" charset="-120"/>
                <a:cs typeface="Times New Roman" panose="02020603050405020304" pitchFamily="18" charset="0"/>
              </a:rPr>
              <a:t> </a:t>
            </a:r>
          </a:p>
          <a:p>
            <a:pPr>
              <a:lnSpc>
                <a:spcPct val="115000"/>
              </a:lnSpc>
              <a:spcAft>
                <a:spcPts val="800"/>
              </a:spcAft>
            </a:pPr>
            <a:r>
              <a:rPr lang="en-HK" sz="1800" kern="100" dirty="0">
                <a:effectLst/>
                <a:latin typeface="Aptos" panose="020B0004020202020204" pitchFamily="34" charset="0"/>
                <a:ea typeface="PMingLiU" panose="02020500000000000000" pitchFamily="18" charset="-120"/>
                <a:cs typeface="Times New Roman" panose="02020603050405020304" pitchFamily="18" charset="0"/>
              </a:rPr>
              <a:t>My role is not as someone who has built a small business previously, but as someone who has built consumer brands with the discipline of the best in the business. My objective is to give the owner the permission and structure to pivot.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will be new news. You know it already – the value is in having an impartial third party confirm it for you and give you permission to evolve.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HK" dirty="0"/>
              <a:t>"</a:t>
            </a:r>
            <a:r>
              <a:rPr lang="en-HK" dirty="0" err="1"/>
              <a:t>Pilslates</a:t>
            </a:r>
            <a:r>
              <a:rPr lang="en-HK" dirty="0"/>
              <a:t>" works exceptionally well because the weight, shape, and stability challenges of a keg (or mini-keg/growler) mirror classic Pilates apparatus like the </a:t>
            </a:r>
            <a:r>
              <a:rPr lang="en-HK" dirty="0" err="1"/>
              <a:t>Wunda</a:t>
            </a:r>
            <a:r>
              <a:rPr lang="en-HK" dirty="0"/>
              <a:t> Chair or Barrel. Using kegs for resistance and balance tests core stability, control, and breath without the high cardiac impact of traditional HIIT movements.</a:t>
            </a:r>
          </a:p>
          <a:p>
            <a:pPr>
              <a:buFont typeface="Arial" panose="020B0604020202020204" pitchFamily="34" charset="0"/>
              <a:buChar char="•"/>
            </a:pPr>
            <a:r>
              <a:rPr lang="en-HK" b="1" dirty="0"/>
              <a:t>Keg Rollouts (Abdominal &amp; Lats)</a:t>
            </a:r>
            <a:endParaRPr lang="en-HK" dirty="0"/>
          </a:p>
          <a:p>
            <a:pPr marL="742950" lvl="1" indent="-285750">
              <a:buFont typeface="Arial" panose="020B0604020202020204" pitchFamily="34" charset="0"/>
              <a:buChar char="•"/>
            </a:pPr>
            <a:r>
              <a:rPr lang="en-HK" b="1" dirty="0"/>
              <a:t>Setup:</a:t>
            </a:r>
            <a:r>
              <a:rPr lang="en-HK" dirty="0"/>
              <a:t> Kneel on a mat or pad facing a empty or light mini-keg placed horizontally on the floor. Hands placed on top of the keg.</a:t>
            </a:r>
          </a:p>
          <a:p>
            <a:pPr marL="742950" lvl="1" indent="-285750">
              <a:buFont typeface="Arial" panose="020B0604020202020204" pitchFamily="34" charset="0"/>
              <a:buChar char="•"/>
            </a:pPr>
            <a:r>
              <a:rPr lang="en-HK" b="1" dirty="0"/>
              <a:t>Movement:</a:t>
            </a:r>
            <a:r>
              <a:rPr lang="en-HK" dirty="0"/>
              <a:t> Keeping the core zipped up and hips forward, roll the keg forward away from the body, extending into a long plank position, then use the lower abdominals and lats to roll the keg back to the starting position.</a:t>
            </a:r>
          </a:p>
          <a:p>
            <a:pPr marL="742950" lvl="1" indent="-285750">
              <a:buFont typeface="Arial" panose="020B0604020202020204" pitchFamily="34" charset="0"/>
              <a:buChar char="•"/>
            </a:pPr>
            <a:r>
              <a:rPr lang="en-HK" b="1" dirty="0"/>
              <a:t>Pilates Concept:</a:t>
            </a:r>
            <a:r>
              <a:rPr lang="en-HK" dirty="0"/>
              <a:t> Mirrors the </a:t>
            </a:r>
            <a:r>
              <a:rPr lang="en-HK" i="1" dirty="0"/>
              <a:t>Ab Wheel / Reformer Elephant Rollout</a:t>
            </a:r>
            <a:r>
              <a:rPr lang="en-HK" dirty="0"/>
              <a:t>, demanding deep pelvic stability and spine extension control.</a:t>
            </a:r>
          </a:p>
          <a:p>
            <a:pPr>
              <a:buFont typeface="Arial" panose="020B0604020202020204" pitchFamily="34" charset="0"/>
              <a:buChar char="•"/>
            </a:pPr>
            <a:r>
              <a:rPr lang="en-HK" b="1" dirty="0"/>
              <a:t>Keg Teaser with Oblique Twist</a:t>
            </a:r>
            <a:endParaRPr lang="en-HK" dirty="0"/>
          </a:p>
          <a:p>
            <a:pPr marL="742950" lvl="1" indent="-285750">
              <a:buFont typeface="Arial" panose="020B0604020202020204" pitchFamily="34" charset="0"/>
              <a:buChar char="•"/>
            </a:pPr>
            <a:r>
              <a:rPr lang="en-HK" b="1" dirty="0"/>
              <a:t>Setup:</a:t>
            </a:r>
            <a:r>
              <a:rPr lang="en-HK" dirty="0"/>
              <a:t> Seated on the floor in a "V" sit posture, holding a light mini-keg or empty growler at chest height.</a:t>
            </a:r>
          </a:p>
          <a:p>
            <a:pPr marL="742950" lvl="1" indent="-285750">
              <a:buFont typeface="Arial" panose="020B0604020202020204" pitchFamily="34" charset="0"/>
              <a:buChar char="•"/>
            </a:pPr>
            <a:r>
              <a:rPr lang="en-HK" b="1" dirty="0"/>
              <a:t>Movement:</a:t>
            </a:r>
            <a:r>
              <a:rPr lang="en-HK" dirty="0"/>
              <a:t> Balance on the sit bones with legs lifted (or knees bent in tabletop). Rotate the torso to tap the keg to the right hip, return to </a:t>
            </a:r>
            <a:r>
              <a:rPr lang="en-HK" dirty="0" err="1"/>
              <a:t>center</a:t>
            </a:r>
            <a:r>
              <a:rPr lang="en-HK" dirty="0"/>
              <a:t>, and tap to the left hip.</a:t>
            </a:r>
          </a:p>
          <a:p>
            <a:pPr marL="742950" lvl="1" indent="-285750">
              <a:buFont typeface="Arial" panose="020B0604020202020204" pitchFamily="34" charset="0"/>
              <a:buChar char="•"/>
            </a:pPr>
            <a:r>
              <a:rPr lang="en-HK" b="1" dirty="0"/>
              <a:t>Pilates Concept:</a:t>
            </a:r>
            <a:r>
              <a:rPr lang="en-HK" dirty="0"/>
              <a:t> A direct variation of the classic </a:t>
            </a:r>
            <a:r>
              <a:rPr lang="en-HK" i="1" dirty="0"/>
              <a:t>Pilates Teaser</a:t>
            </a:r>
            <a:r>
              <a:rPr lang="en-HK" dirty="0"/>
              <a:t>, targeting the transverse abdominis and obliques while maintaining balance.</a:t>
            </a:r>
          </a:p>
          <a:p>
            <a:pPr>
              <a:buFont typeface="Arial" panose="020B0604020202020204" pitchFamily="34" charset="0"/>
              <a:buChar char="•"/>
            </a:pPr>
            <a:r>
              <a:rPr lang="en-HK" b="1" dirty="0"/>
              <a:t>Single-Leg Keg Bridges</a:t>
            </a:r>
            <a:endParaRPr lang="en-HK" dirty="0"/>
          </a:p>
          <a:p>
            <a:pPr marL="742950" lvl="1" indent="-285750">
              <a:buFont typeface="Arial" panose="020B0604020202020204" pitchFamily="34" charset="0"/>
              <a:buChar char="•"/>
            </a:pPr>
            <a:r>
              <a:rPr lang="en-HK" b="1" dirty="0"/>
              <a:t>Setup:</a:t>
            </a:r>
            <a:r>
              <a:rPr lang="en-HK" dirty="0"/>
              <a:t> Lie on your back with arms relaxed at the sides. Place one foot flat on top of a stationary flat keg (or sturdy wooden barrel), with the other leg extended straight up toward the ceiling.</a:t>
            </a:r>
          </a:p>
          <a:p>
            <a:pPr marL="742950" lvl="1" indent="-285750">
              <a:buFont typeface="Arial" panose="020B0604020202020204" pitchFamily="34" charset="0"/>
              <a:buChar char="•"/>
            </a:pPr>
            <a:r>
              <a:rPr lang="en-HK" b="1" dirty="0"/>
              <a:t>Movement:</a:t>
            </a:r>
            <a:r>
              <a:rPr lang="en-HK" dirty="0"/>
              <a:t> Press down through the foot on the keg to articulate the spine up into a bridge position, pausing at the top to squeeze the glute and hamstring, then roll down vertebra by vertebra.</a:t>
            </a:r>
          </a:p>
          <a:p>
            <a:pPr marL="742950" lvl="1" indent="-285750">
              <a:buFont typeface="Arial" panose="020B0604020202020204" pitchFamily="34" charset="0"/>
              <a:buChar char="•"/>
            </a:pPr>
            <a:r>
              <a:rPr lang="en-HK" b="1" dirty="0"/>
              <a:t>Pilates Concept:</a:t>
            </a:r>
            <a:r>
              <a:rPr lang="en-HK" dirty="0"/>
              <a:t> Replicates the </a:t>
            </a:r>
            <a:r>
              <a:rPr lang="en-HK" i="1" dirty="0"/>
              <a:t>Pelvic Curl / Bridging</a:t>
            </a:r>
            <a:r>
              <a:rPr lang="en-HK" dirty="0"/>
              <a:t> on the Pilates Chair, testing hamstrings and core symmetry on an elevated surface.</a:t>
            </a:r>
          </a:p>
          <a:p>
            <a:pPr>
              <a:buFont typeface="Arial" panose="020B0604020202020204" pitchFamily="34" charset="0"/>
              <a:buChar char="•"/>
            </a:pPr>
            <a:r>
              <a:rPr lang="en-HK" b="1" dirty="0"/>
              <a:t>Keg Mermaid Side Bend</a:t>
            </a:r>
            <a:endParaRPr lang="en-HK" dirty="0"/>
          </a:p>
          <a:p>
            <a:pPr marL="742950" lvl="1" indent="-285750">
              <a:buFont typeface="Arial" panose="020B0604020202020204" pitchFamily="34" charset="0"/>
              <a:buChar char="•"/>
            </a:pPr>
            <a:r>
              <a:rPr lang="en-HK" b="1" dirty="0"/>
              <a:t>Setup:</a:t>
            </a:r>
            <a:r>
              <a:rPr lang="en-HK" dirty="0"/>
              <a:t> Sit in a side Z-sit (mermaid position) with one hand resting on top of an upright full/heavy keg to the side.</a:t>
            </a:r>
          </a:p>
          <a:p>
            <a:pPr marL="742950" lvl="1" indent="-285750">
              <a:buFont typeface="Arial" panose="020B0604020202020204" pitchFamily="34" charset="0"/>
              <a:buChar char="•"/>
            </a:pPr>
            <a:r>
              <a:rPr lang="en-HK" b="1" dirty="0"/>
              <a:t>Movement:</a:t>
            </a:r>
            <a:r>
              <a:rPr lang="en-HK" dirty="0"/>
              <a:t> Reach the opposite arm overhead, inhaling to side-bend toward the keg while using the keg for light support and resistance. Exhale to engage the side waist and pull back to </a:t>
            </a:r>
            <a:r>
              <a:rPr lang="en-HK" dirty="0" err="1"/>
              <a:t>center</a:t>
            </a:r>
            <a:r>
              <a:rPr lang="en-HK" dirty="0"/>
              <a:t>.</a:t>
            </a:r>
          </a:p>
          <a:p>
            <a:pPr marL="742950" lvl="1" indent="-285750">
              <a:buFont typeface="Arial" panose="020B0604020202020204" pitchFamily="34" charset="0"/>
              <a:buChar char="•"/>
            </a:pPr>
            <a:r>
              <a:rPr lang="en-HK" b="1" dirty="0"/>
              <a:t>Pilates Concept:</a:t>
            </a:r>
            <a:r>
              <a:rPr lang="en-HK" dirty="0"/>
              <a:t> Classic </a:t>
            </a:r>
            <a:r>
              <a:rPr lang="en-HK" i="1" dirty="0"/>
              <a:t>Mermaid</a:t>
            </a:r>
            <a:r>
              <a:rPr lang="en-HK" dirty="0"/>
              <a:t> side stretch and lateral spine articulation using the keg as a stable anchor point.</a:t>
            </a:r>
          </a:p>
          <a:p>
            <a:pPr>
              <a:buFont typeface="Arial" panose="020B0604020202020204" pitchFamily="34" charset="0"/>
              <a:buChar char="•"/>
            </a:pPr>
            <a:r>
              <a:rPr lang="en-HK" b="1" dirty="0"/>
              <a:t>Keg Single-Leg Deadlift to Plié Squat</a:t>
            </a:r>
            <a:endParaRPr lang="en-HK" dirty="0"/>
          </a:p>
          <a:p>
            <a:pPr marL="742950" lvl="1" indent="-285750">
              <a:buFont typeface="Arial" panose="020B0604020202020204" pitchFamily="34" charset="0"/>
              <a:buChar char="•"/>
            </a:pPr>
            <a:r>
              <a:rPr lang="en-HK" b="1" dirty="0"/>
              <a:t>Setup:</a:t>
            </a:r>
            <a:r>
              <a:rPr lang="en-HK" dirty="0"/>
              <a:t> Stand tall holding a mini-keg or empty keg by the handles at hip level.</a:t>
            </a:r>
          </a:p>
          <a:p>
            <a:pPr marL="742950" lvl="1" indent="-285750">
              <a:buFont typeface="Arial" panose="020B0604020202020204" pitchFamily="34" charset="0"/>
              <a:buChar char="•"/>
            </a:pPr>
            <a:r>
              <a:rPr lang="en-HK" b="1" dirty="0"/>
              <a:t>Movement:</a:t>
            </a:r>
            <a:r>
              <a:rPr lang="en-HK" dirty="0"/>
              <a:t> Hinge forward on one leg into a single-leg deadlift (Warrior III balance), bringing the keg toward the floor. Return to standing, step wide into a </a:t>
            </a:r>
            <a:r>
              <a:rPr lang="en-HK" dirty="0" err="1"/>
              <a:t>sumoplié</a:t>
            </a:r>
            <a:r>
              <a:rPr lang="en-HK" dirty="0"/>
              <a:t> squat, and lower into a deep wide squat holding the keg at chest level.</a:t>
            </a:r>
          </a:p>
          <a:p>
            <a:pPr marL="742950" lvl="1" indent="-285750">
              <a:buFont typeface="Arial" panose="020B0604020202020204" pitchFamily="34" charset="0"/>
              <a:buChar char="•"/>
            </a:pPr>
            <a:r>
              <a:rPr lang="en-HK" b="1" dirty="0"/>
              <a:t>Pilates Concept:</a:t>
            </a:r>
            <a:r>
              <a:rPr lang="en-HK" dirty="0"/>
              <a:t> Low-impact isometric leg work focusing on alignment, balance, and inner thigh/glute activation.</a:t>
            </a:r>
          </a:p>
          <a:p>
            <a:endParaRPr lang="en-US" dirty="0"/>
          </a:p>
        </p:txBody>
      </p:sp>
    </p:spTree>
    <p:extLst>
      <p:ext uri="{BB962C8B-B14F-4D97-AF65-F5344CB8AC3E}">
        <p14:creationId xmlns:p14="http://schemas.microsoft.com/office/powerpoint/2010/main" val="327313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F1C"/>
        </a:solidFill>
        <a:effectLst/>
      </p:bgPr>
    </p:bg>
    <p:spTree>
      <p:nvGrpSpPr>
        <p:cNvPr id="1" name=""/>
        <p:cNvGrpSpPr/>
        <p:nvPr/>
      </p:nvGrpSpPr>
      <p:grpSpPr>
        <a:xfrm>
          <a:off x="0" y="0"/>
          <a:ext cx="0" cy="0"/>
          <a:chOff x="0" y="0"/>
          <a:chExt cx="0" cy="0"/>
        </a:xfrm>
      </p:grpSpPr>
      <p:sp>
        <p:nvSpPr>
          <p:cNvPr id="2" name="Text 0"/>
          <p:cNvSpPr/>
          <p:nvPr/>
        </p:nvSpPr>
        <p:spPr>
          <a:xfrm>
            <a:off x="822960" y="2148840"/>
            <a:ext cx="10515600" cy="914400"/>
          </a:xfrm>
          <a:prstGeom prst="rect">
            <a:avLst/>
          </a:prstGeom>
          <a:noFill/>
          <a:ln/>
        </p:spPr>
        <p:txBody>
          <a:bodyPr wrap="square" lIns="0" tIns="0" rIns="0" bIns="0" rtlCol="0" anchor="ctr"/>
          <a:lstStyle/>
          <a:p>
            <a:pPr marL="0" indent="0" algn="l">
              <a:buNone/>
            </a:pPr>
            <a:r>
              <a:rPr lang="en-US" sz="2600" b="1" kern="0" spc="400" dirty="0">
                <a:solidFill>
                  <a:srgbClr val="C1872E"/>
                </a:solidFill>
                <a:latin typeface="Calibri" pitchFamily="34" charset="0"/>
                <a:ea typeface="Calibri" pitchFamily="34" charset="-122"/>
                <a:cs typeface="Calibri" pitchFamily="34" charset="-120"/>
              </a:rPr>
              <a:t>TAP THAT</a:t>
            </a:r>
            <a:endParaRPr lang="en-US" sz="2600" dirty="0"/>
          </a:p>
        </p:txBody>
      </p:sp>
      <p:sp>
        <p:nvSpPr>
          <p:cNvPr id="3" name="Text 1"/>
          <p:cNvSpPr/>
          <p:nvPr/>
        </p:nvSpPr>
        <p:spPr>
          <a:xfrm>
            <a:off x="777240" y="2606040"/>
            <a:ext cx="10515600" cy="118872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THE PIVOT</a:t>
            </a:r>
            <a:endParaRPr lang="en-US" sz="5400" dirty="0"/>
          </a:p>
        </p:txBody>
      </p:sp>
      <p:sp>
        <p:nvSpPr>
          <p:cNvPr id="4" name="Text 2"/>
          <p:cNvSpPr/>
          <p:nvPr/>
        </p:nvSpPr>
        <p:spPr>
          <a:xfrm>
            <a:off x="822960" y="3703320"/>
            <a:ext cx="9601200" cy="548640"/>
          </a:xfrm>
          <a:prstGeom prst="rect">
            <a:avLst/>
          </a:prstGeom>
          <a:noFill/>
          <a:ln/>
        </p:spPr>
        <p:txBody>
          <a:bodyPr wrap="square" lIns="0" tIns="0" rIns="0" bIns="0" rtlCol="0" anchor="ctr"/>
          <a:lstStyle/>
          <a:p>
            <a:pPr marL="0" indent="0" algn="l">
              <a:buNone/>
            </a:pPr>
            <a:r>
              <a:rPr lang="en-US" sz="1700" i="1" dirty="0">
                <a:solidFill>
                  <a:srgbClr val="F4EEE2"/>
                </a:solidFill>
                <a:latin typeface="Calibri" pitchFamily="34" charset="0"/>
                <a:ea typeface="Calibri" pitchFamily="34" charset="-122"/>
                <a:cs typeface="Calibri" pitchFamily="34" charset="-120"/>
              </a:rPr>
              <a:t>From vanity to sanity — a strategic evolution, not a rebrand.</a:t>
            </a:r>
            <a:endParaRPr lang="en-US" sz="1700" dirty="0"/>
          </a:p>
        </p:txBody>
      </p:sp>
      <p:sp>
        <p:nvSpPr>
          <p:cNvPr id="5" name="Shape 3"/>
          <p:cNvSpPr/>
          <p:nvPr/>
        </p:nvSpPr>
        <p:spPr>
          <a:xfrm>
            <a:off x="822960" y="4434840"/>
            <a:ext cx="2011680" cy="0"/>
          </a:xfrm>
          <a:prstGeom prst="line">
            <a:avLst/>
          </a:prstGeom>
          <a:noFill/>
          <a:ln w="25400">
            <a:solidFill>
              <a:srgbClr val="C1872E"/>
            </a:solidFill>
            <a:prstDash val="solid"/>
          </a:ln>
        </p:spPr>
      </p:sp>
      <p:sp>
        <p:nvSpPr>
          <p:cNvPr id="6" name="Text 4"/>
          <p:cNvSpPr/>
          <p:nvPr/>
        </p:nvSpPr>
        <p:spPr>
          <a:xfrm>
            <a:off x="822960" y="6172200"/>
            <a:ext cx="9144000" cy="365760"/>
          </a:xfrm>
          <a:prstGeom prst="rect">
            <a:avLst/>
          </a:prstGeom>
          <a:noFill/>
          <a:ln/>
        </p:spPr>
        <p:txBody>
          <a:bodyPr wrap="square" lIns="0" tIns="0" rIns="0" bIns="0" rtlCol="0" anchor="ctr"/>
          <a:lstStyle/>
          <a:p>
            <a:pPr marL="0" indent="0" algn="l">
              <a:buNone/>
            </a:pPr>
            <a:r>
              <a:rPr lang="en-US" sz="1200" dirty="0">
                <a:solidFill>
                  <a:srgbClr val="6B6660"/>
                </a:solidFill>
                <a:latin typeface="Calibri" pitchFamily="34" charset="0"/>
                <a:ea typeface="Calibri" pitchFamily="34" charset="-122"/>
                <a:cs typeface="Calibri" pitchFamily="34" charset="-120"/>
              </a:rPr>
              <a:t>Prepared by Jewell Projects for the Founders of Tap That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WHAT WE SAW + HEARD</a:t>
            </a:r>
            <a:endParaRPr lang="en-US" sz="2600" dirty="0"/>
          </a:p>
        </p:txBody>
      </p:sp>
      <p:sp>
        <p:nvSpPr>
          <p:cNvPr id="3" name="Text 1"/>
          <p:cNvSpPr/>
          <p:nvPr/>
        </p:nvSpPr>
        <p:spPr>
          <a:xfrm>
            <a:off x="457200" y="804672"/>
            <a:ext cx="11274552" cy="365760"/>
          </a:xfrm>
          <a:prstGeom prst="rect">
            <a:avLst/>
          </a:prstGeom>
          <a:noFill/>
          <a:ln/>
        </p:spPr>
        <p:txBody>
          <a:bodyPr wrap="square" lIns="0" tIns="0" rIns="0" bIns="0" rtlCol="0" anchor="ctr"/>
          <a:lstStyle/>
          <a:p>
            <a:pPr marL="0" indent="0" algn="l">
              <a:buNone/>
            </a:pPr>
            <a:r>
              <a:rPr lang="en-US" sz="1400" i="1" dirty="0">
                <a:solidFill>
                  <a:srgbClr val="C1872E"/>
                </a:solidFill>
                <a:latin typeface="Calibri" pitchFamily="34" charset="0"/>
                <a:ea typeface="Calibri" pitchFamily="34" charset="-122"/>
                <a:cs typeface="Calibri" pitchFamily="34" charset="-120"/>
              </a:rPr>
              <a:t>The overall plan is sound. Focus and shape is the unlock.</a:t>
            </a:r>
            <a:endParaRPr lang="en-US" sz="1400" dirty="0"/>
          </a:p>
        </p:txBody>
      </p:sp>
      <p:sp>
        <p:nvSpPr>
          <p:cNvPr id="4" name="Shape 2"/>
          <p:cNvSpPr/>
          <p:nvPr/>
        </p:nvSpPr>
        <p:spPr>
          <a:xfrm>
            <a:off x="548640" y="1463040"/>
            <a:ext cx="292608" cy="292608"/>
          </a:xfrm>
          <a:prstGeom prst="ellipse">
            <a:avLst/>
          </a:prstGeom>
          <a:solidFill>
            <a:srgbClr val="C1872E"/>
          </a:solidFill>
          <a:ln/>
        </p:spPr>
      </p:sp>
      <p:sp>
        <p:nvSpPr>
          <p:cNvPr id="5" name="Text 3"/>
          <p:cNvSpPr/>
          <p:nvPr/>
        </p:nvSpPr>
        <p:spPr>
          <a:xfrm>
            <a:off x="548640" y="1463040"/>
            <a:ext cx="292608" cy="292608"/>
          </a:xfrm>
          <a:prstGeom prst="rect">
            <a:avLst/>
          </a:prstGeom>
          <a:noFill/>
          <a:ln/>
        </p:spPr>
        <p:txBody>
          <a:bodyPr wrap="square" lIns="0" tIns="0" rIns="0" bIns="0" rtlCol="0" anchor="ctr"/>
          <a:lstStyle/>
          <a:p>
            <a:pPr marL="0" indent="0" algn="ctr">
              <a:buNone/>
            </a:pPr>
            <a:endParaRPr lang="en-US" sz="1800" dirty="0"/>
          </a:p>
        </p:txBody>
      </p:sp>
      <p:sp>
        <p:nvSpPr>
          <p:cNvPr id="6" name="Text 4"/>
          <p:cNvSpPr/>
          <p:nvPr/>
        </p:nvSpPr>
        <p:spPr>
          <a:xfrm>
            <a:off x="1051560" y="1417320"/>
            <a:ext cx="10241280" cy="777240"/>
          </a:xfrm>
          <a:prstGeom prst="rect">
            <a:avLst/>
          </a:prstGeom>
          <a:noFill/>
          <a:ln/>
        </p:spPr>
        <p:txBody>
          <a:bodyPr wrap="square" lIns="0" tIns="0" rIns="0" bIns="0" rtlCol="0" anchor="t"/>
          <a:lstStyle/>
          <a:p>
            <a:pPr marL="0" indent="0" algn="l">
              <a:buNone/>
            </a:pPr>
            <a:r>
              <a:rPr lang="en-US" sz="1450" b="1" dirty="0">
                <a:solidFill>
                  <a:srgbClr val="2A2620"/>
                </a:solidFill>
                <a:latin typeface="Calibri" pitchFamily="34" charset="0"/>
                <a:ea typeface="Calibri" pitchFamily="34" charset="-122"/>
                <a:cs typeface="Calibri" pitchFamily="34" charset="-120"/>
              </a:rPr>
              <a:t>Strategy is insightful, comprehensive and sound. Justin’s mental model that everything feeds refills is spot on.</a:t>
            </a:r>
          </a:p>
          <a:p>
            <a:pPr marL="285750" indent="-285750">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But the plan is AI theoretical with too much equivalence and too many directions. </a:t>
            </a:r>
          </a:p>
          <a:p>
            <a:pPr marL="285750" indent="-285750">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Some of its own insights are directionless which obscure the gold.</a:t>
            </a:r>
            <a:endParaRPr lang="en-US" sz="1450" dirty="0"/>
          </a:p>
          <a:p>
            <a:pPr marL="285750" indent="-285750" algn="l">
              <a:buFont typeface="Wingdings" pitchFamily="2" charset="2"/>
              <a:buChar char="Ø"/>
            </a:pPr>
            <a:endParaRPr lang="en-US" sz="1450" dirty="0"/>
          </a:p>
        </p:txBody>
      </p:sp>
      <p:sp>
        <p:nvSpPr>
          <p:cNvPr id="7" name="Shape 5"/>
          <p:cNvSpPr/>
          <p:nvPr/>
        </p:nvSpPr>
        <p:spPr>
          <a:xfrm>
            <a:off x="548640" y="2295144"/>
            <a:ext cx="292608" cy="292608"/>
          </a:xfrm>
          <a:prstGeom prst="ellipse">
            <a:avLst/>
          </a:prstGeom>
          <a:solidFill>
            <a:srgbClr val="C1872E"/>
          </a:solidFill>
          <a:ln/>
        </p:spPr>
      </p:sp>
      <p:sp>
        <p:nvSpPr>
          <p:cNvPr id="8" name="Text 6"/>
          <p:cNvSpPr/>
          <p:nvPr/>
        </p:nvSpPr>
        <p:spPr>
          <a:xfrm>
            <a:off x="548640" y="2295144"/>
            <a:ext cx="292608" cy="292608"/>
          </a:xfrm>
          <a:prstGeom prst="rect">
            <a:avLst/>
          </a:prstGeom>
          <a:noFill/>
          <a:ln/>
        </p:spPr>
        <p:txBody>
          <a:bodyPr wrap="square" lIns="0" tIns="0" rIns="0" bIns="0" rtlCol="0" anchor="ctr"/>
          <a:lstStyle/>
          <a:p>
            <a:pPr marL="0" indent="0" algn="ctr">
              <a:buNone/>
            </a:pPr>
            <a:endParaRPr lang="en-US" sz="1800" dirty="0"/>
          </a:p>
        </p:txBody>
      </p:sp>
      <p:sp>
        <p:nvSpPr>
          <p:cNvPr id="10" name="Shape 8"/>
          <p:cNvSpPr/>
          <p:nvPr/>
        </p:nvSpPr>
        <p:spPr>
          <a:xfrm>
            <a:off x="548640" y="3310128"/>
            <a:ext cx="292608" cy="292608"/>
          </a:xfrm>
          <a:prstGeom prst="ellipse">
            <a:avLst/>
          </a:prstGeom>
          <a:solidFill>
            <a:srgbClr val="C1872E"/>
          </a:solidFill>
          <a:ln/>
        </p:spPr>
      </p:sp>
      <p:sp>
        <p:nvSpPr>
          <p:cNvPr id="11" name="Text 9"/>
          <p:cNvSpPr/>
          <p:nvPr/>
        </p:nvSpPr>
        <p:spPr>
          <a:xfrm>
            <a:off x="548640" y="3310128"/>
            <a:ext cx="292608" cy="292608"/>
          </a:xfrm>
          <a:prstGeom prst="rect">
            <a:avLst/>
          </a:prstGeom>
          <a:noFill/>
          <a:ln/>
        </p:spPr>
        <p:txBody>
          <a:bodyPr wrap="square" lIns="0" tIns="0" rIns="0" bIns="0" rtlCol="0" anchor="ctr"/>
          <a:lstStyle/>
          <a:p>
            <a:pPr marL="0" indent="0" algn="ctr">
              <a:buNone/>
            </a:pPr>
            <a:endParaRPr lang="en-US" sz="1800" dirty="0"/>
          </a:p>
        </p:txBody>
      </p:sp>
      <p:sp>
        <p:nvSpPr>
          <p:cNvPr id="12" name="Text 10"/>
          <p:cNvSpPr/>
          <p:nvPr/>
        </p:nvSpPr>
        <p:spPr>
          <a:xfrm>
            <a:off x="1106424" y="2313432"/>
            <a:ext cx="10241280" cy="1143000"/>
          </a:xfrm>
          <a:prstGeom prst="rect">
            <a:avLst/>
          </a:prstGeom>
          <a:noFill/>
          <a:ln/>
        </p:spPr>
        <p:txBody>
          <a:bodyPr wrap="square" lIns="0" tIns="0" rIns="0" bIns="0" rtlCol="0" anchor="t"/>
          <a:lstStyle/>
          <a:p>
            <a:pPr marL="0" indent="0" algn="l">
              <a:buNone/>
            </a:pPr>
            <a:r>
              <a:rPr lang="en-US" sz="1450" b="1" dirty="0">
                <a:solidFill>
                  <a:srgbClr val="2A2620"/>
                </a:solidFill>
                <a:latin typeface="Calibri" pitchFamily="34" charset="0"/>
                <a:ea typeface="Calibri" pitchFamily="34" charset="-122"/>
                <a:cs typeface="Calibri" pitchFamily="34" charset="-120"/>
              </a:rPr>
              <a:t>Two key business units, thought to be complementary are in reality pulling in opposite directions</a:t>
            </a:r>
            <a:r>
              <a:rPr lang="en-US" sz="1450" dirty="0">
                <a:solidFill>
                  <a:srgbClr val="2A2620"/>
                </a:solidFill>
                <a:latin typeface="Calibri" pitchFamily="34" charset="0"/>
                <a:ea typeface="Calibri" pitchFamily="34" charset="-122"/>
                <a:cs typeface="Calibri" pitchFamily="34" charset="-120"/>
              </a:rPr>
              <a:t>, creating a zero-sum game.</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A great refill business detracts from Tap Room traffic</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Meaning more effort to drive new traffic (high CAC) </a:t>
            </a:r>
          </a:p>
        </p:txBody>
      </p:sp>
      <p:sp>
        <p:nvSpPr>
          <p:cNvPr id="13" name="Shape 11"/>
          <p:cNvSpPr/>
          <p:nvPr/>
        </p:nvSpPr>
        <p:spPr>
          <a:xfrm>
            <a:off x="548640" y="4507992"/>
            <a:ext cx="292608" cy="292608"/>
          </a:xfrm>
          <a:prstGeom prst="ellipse">
            <a:avLst/>
          </a:prstGeom>
          <a:solidFill>
            <a:srgbClr val="C1872E"/>
          </a:solidFill>
          <a:ln/>
        </p:spPr>
      </p:sp>
      <p:sp>
        <p:nvSpPr>
          <p:cNvPr id="14" name="Text 12"/>
          <p:cNvSpPr/>
          <p:nvPr/>
        </p:nvSpPr>
        <p:spPr>
          <a:xfrm>
            <a:off x="548640" y="4507992"/>
            <a:ext cx="292608" cy="292608"/>
          </a:xfrm>
          <a:prstGeom prst="rect">
            <a:avLst/>
          </a:prstGeom>
          <a:noFill/>
          <a:ln/>
        </p:spPr>
        <p:txBody>
          <a:bodyPr wrap="square" lIns="0" tIns="0" rIns="0" bIns="0" rtlCol="0" anchor="ctr"/>
          <a:lstStyle/>
          <a:p>
            <a:pPr marL="0" indent="0" algn="ctr">
              <a:buNone/>
            </a:pPr>
            <a:endParaRPr lang="en-US" sz="1800" dirty="0"/>
          </a:p>
        </p:txBody>
      </p:sp>
      <p:sp>
        <p:nvSpPr>
          <p:cNvPr id="15" name="Text 13"/>
          <p:cNvSpPr/>
          <p:nvPr/>
        </p:nvSpPr>
        <p:spPr>
          <a:xfrm>
            <a:off x="1051560" y="4462272"/>
            <a:ext cx="10241280" cy="777240"/>
          </a:xfrm>
          <a:prstGeom prst="rect">
            <a:avLst/>
          </a:prstGeom>
          <a:noFill/>
          <a:ln/>
        </p:spPr>
        <p:txBody>
          <a:bodyPr wrap="square" lIns="0" tIns="0" rIns="0" bIns="0" rtlCol="0" anchor="t"/>
          <a:lstStyle/>
          <a:p>
            <a:pPr marL="0" indent="0" algn="l">
              <a:buNone/>
            </a:pPr>
            <a:r>
              <a:rPr lang="en-US" sz="1450" b="1" dirty="0">
                <a:solidFill>
                  <a:srgbClr val="2A2620"/>
                </a:solidFill>
                <a:latin typeface="Calibri" pitchFamily="34" charset="0"/>
                <a:ea typeface="Calibri" pitchFamily="34" charset="-122"/>
                <a:cs typeface="Calibri" pitchFamily="34" charset="-120"/>
              </a:rPr>
              <a:t>The offer is unique, the product is good, but the stars can’t shine.</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We suspect a long tail of beer options is driving COGS</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And we propose its causing consumer choice paralysis</a:t>
            </a:r>
            <a:endParaRPr lang="en-US" sz="1450" dirty="0"/>
          </a:p>
        </p:txBody>
      </p:sp>
      <p:sp>
        <p:nvSpPr>
          <p:cNvPr id="16" name="Shape 14"/>
          <p:cNvSpPr/>
          <p:nvPr/>
        </p:nvSpPr>
        <p:spPr>
          <a:xfrm>
            <a:off x="548640" y="5340096"/>
            <a:ext cx="292608" cy="292608"/>
          </a:xfrm>
          <a:prstGeom prst="ellipse">
            <a:avLst/>
          </a:prstGeom>
          <a:solidFill>
            <a:srgbClr val="C1872E"/>
          </a:solidFill>
          <a:ln/>
        </p:spPr>
      </p:sp>
      <p:sp>
        <p:nvSpPr>
          <p:cNvPr id="17" name="Text 15"/>
          <p:cNvSpPr/>
          <p:nvPr/>
        </p:nvSpPr>
        <p:spPr>
          <a:xfrm>
            <a:off x="548640" y="5340096"/>
            <a:ext cx="292608" cy="292608"/>
          </a:xfrm>
          <a:prstGeom prst="rect">
            <a:avLst/>
          </a:prstGeom>
          <a:noFill/>
          <a:ln/>
        </p:spPr>
        <p:txBody>
          <a:bodyPr wrap="square" lIns="0" tIns="0" rIns="0" bIns="0" rtlCol="0" anchor="ctr"/>
          <a:lstStyle/>
          <a:p>
            <a:pPr marL="0" indent="0" algn="ctr">
              <a:buNone/>
            </a:pPr>
            <a:endParaRPr lang="en-US" sz="1800" dirty="0"/>
          </a:p>
        </p:txBody>
      </p:sp>
      <p:sp>
        <p:nvSpPr>
          <p:cNvPr id="18" name="Text 16"/>
          <p:cNvSpPr/>
          <p:nvPr/>
        </p:nvSpPr>
        <p:spPr>
          <a:xfrm>
            <a:off x="1051560" y="5294376"/>
            <a:ext cx="10241280" cy="1051560"/>
          </a:xfrm>
          <a:prstGeom prst="rect">
            <a:avLst/>
          </a:prstGeom>
          <a:noFill/>
          <a:ln/>
        </p:spPr>
        <p:txBody>
          <a:bodyPr wrap="square" lIns="0" tIns="0" rIns="0" bIns="0" rtlCol="0" anchor="t"/>
          <a:lstStyle/>
          <a:p>
            <a:pPr marL="0" indent="0" algn="l">
              <a:buNone/>
            </a:pPr>
            <a:r>
              <a:rPr lang="en-US" sz="1450" b="1" dirty="0">
                <a:solidFill>
                  <a:srgbClr val="2A2620"/>
                </a:solidFill>
                <a:latin typeface="Calibri" pitchFamily="34" charset="0"/>
                <a:ea typeface="Calibri" pitchFamily="34" charset="-122"/>
                <a:cs typeface="Calibri" pitchFamily="34" charset="-120"/>
              </a:rPr>
              <a:t>Chasing two rabbits, catching neither</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For all the right reasons, marketing explores many ideas, quits, and moves on. </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Marketing’s time gets spent propping up the failing unit at the expense of the profitable ones.</a:t>
            </a:r>
            <a:endParaRPr lang="en-US" sz="1450" dirty="0"/>
          </a:p>
        </p:txBody>
      </p:sp>
      <p:sp>
        <p:nvSpPr>
          <p:cNvPr id="21" name="Text 10">
            <a:extLst>
              <a:ext uri="{FF2B5EF4-FFF2-40B4-BE49-F238E27FC236}">
                <a16:creationId xmlns:a16="http://schemas.microsoft.com/office/drawing/2014/main" id="{5D5FA191-D08A-FB74-8188-C13D4557CFA3}"/>
              </a:ext>
            </a:extLst>
          </p:cNvPr>
          <p:cNvSpPr/>
          <p:nvPr/>
        </p:nvSpPr>
        <p:spPr>
          <a:xfrm>
            <a:off x="1051560" y="3139800"/>
            <a:ext cx="10241280" cy="1143000"/>
          </a:xfrm>
          <a:prstGeom prst="rect">
            <a:avLst/>
          </a:prstGeom>
          <a:noFill/>
          <a:ln/>
        </p:spPr>
        <p:txBody>
          <a:bodyPr wrap="square" lIns="0" tIns="0" rIns="0" bIns="0" rtlCol="0" anchor="t"/>
          <a:lstStyle/>
          <a:p>
            <a:pPr marL="0" indent="0" algn="l">
              <a:buNone/>
            </a:pPr>
            <a:endParaRPr lang="en-US" sz="1450" dirty="0">
              <a:solidFill>
                <a:srgbClr val="2A2620"/>
              </a:solidFill>
              <a:latin typeface="Calibri" pitchFamily="34" charset="0"/>
              <a:ea typeface="Calibri" pitchFamily="34" charset="-122"/>
              <a:cs typeface="Calibri" pitchFamily="34" charset="-120"/>
            </a:endParaRPr>
          </a:p>
          <a:p>
            <a:pPr marL="0" indent="0" algn="l">
              <a:buNone/>
            </a:pPr>
            <a:r>
              <a:rPr lang="en-US" sz="1450" b="1" dirty="0">
                <a:solidFill>
                  <a:srgbClr val="2A2620"/>
                </a:solidFill>
                <a:latin typeface="Calibri" pitchFamily="34" charset="0"/>
                <a:ea typeface="Calibri" pitchFamily="34" charset="-122"/>
                <a:cs typeface="Calibri" pitchFamily="34" charset="-120"/>
              </a:rPr>
              <a:t>We’re at MVP with refills BU. But only refills and only beer.</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The weakest performer is getting the support, at the cost of the units that actually work. Watering the weeds, not the flowers.</a:t>
            </a:r>
            <a:endParaRPr lang="en-US" sz="1450" dirty="0"/>
          </a:p>
        </p:txBody>
      </p:sp>
      <p:sp>
        <p:nvSpPr>
          <p:cNvPr id="22" name="Shape 14">
            <a:extLst>
              <a:ext uri="{FF2B5EF4-FFF2-40B4-BE49-F238E27FC236}">
                <a16:creationId xmlns:a16="http://schemas.microsoft.com/office/drawing/2014/main" id="{8BA06FC8-29D9-3AFC-D151-FF7F47CFFA32}"/>
              </a:ext>
            </a:extLst>
          </p:cNvPr>
          <p:cNvSpPr/>
          <p:nvPr/>
        </p:nvSpPr>
        <p:spPr>
          <a:xfrm>
            <a:off x="548640" y="6217920"/>
            <a:ext cx="292608" cy="292608"/>
          </a:xfrm>
          <a:prstGeom prst="ellipse">
            <a:avLst/>
          </a:prstGeom>
          <a:solidFill>
            <a:srgbClr val="C1872E"/>
          </a:solidFill>
          <a:ln/>
        </p:spPr>
      </p:sp>
      <p:sp>
        <p:nvSpPr>
          <p:cNvPr id="23" name="Text 15">
            <a:extLst>
              <a:ext uri="{FF2B5EF4-FFF2-40B4-BE49-F238E27FC236}">
                <a16:creationId xmlns:a16="http://schemas.microsoft.com/office/drawing/2014/main" id="{3048B6D1-80A3-122D-DD4C-C9E8EA1D0B68}"/>
              </a:ext>
            </a:extLst>
          </p:cNvPr>
          <p:cNvSpPr/>
          <p:nvPr/>
        </p:nvSpPr>
        <p:spPr>
          <a:xfrm>
            <a:off x="548640" y="6217920"/>
            <a:ext cx="292608" cy="292608"/>
          </a:xfrm>
          <a:prstGeom prst="rect">
            <a:avLst/>
          </a:prstGeom>
          <a:noFill/>
          <a:ln/>
        </p:spPr>
        <p:txBody>
          <a:bodyPr wrap="square" lIns="0" tIns="0" rIns="0" bIns="0" rtlCol="0" anchor="ctr"/>
          <a:lstStyle/>
          <a:p>
            <a:pPr marL="0" indent="0" algn="ctr">
              <a:buNone/>
            </a:pPr>
            <a:endParaRPr lang="en-US" sz="1800" dirty="0"/>
          </a:p>
        </p:txBody>
      </p:sp>
      <p:sp>
        <p:nvSpPr>
          <p:cNvPr id="24" name="Text 16">
            <a:extLst>
              <a:ext uri="{FF2B5EF4-FFF2-40B4-BE49-F238E27FC236}">
                <a16:creationId xmlns:a16="http://schemas.microsoft.com/office/drawing/2014/main" id="{10FC0142-B587-82DF-3C50-FA13DDCDB08B}"/>
              </a:ext>
            </a:extLst>
          </p:cNvPr>
          <p:cNvSpPr/>
          <p:nvPr/>
        </p:nvSpPr>
        <p:spPr>
          <a:xfrm>
            <a:off x="1051560" y="6172200"/>
            <a:ext cx="10241280" cy="1051560"/>
          </a:xfrm>
          <a:prstGeom prst="rect">
            <a:avLst/>
          </a:prstGeom>
          <a:noFill/>
          <a:ln/>
        </p:spPr>
        <p:txBody>
          <a:bodyPr wrap="square" lIns="0" tIns="0" rIns="0" bIns="0" rtlCol="0" anchor="t"/>
          <a:lstStyle/>
          <a:p>
            <a:pPr marL="0" indent="0" algn="l">
              <a:buNone/>
            </a:pPr>
            <a:r>
              <a:rPr lang="en-US" sz="1450" b="1" dirty="0">
                <a:solidFill>
                  <a:srgbClr val="2A2620"/>
                </a:solidFill>
                <a:latin typeface="Calibri" pitchFamily="34" charset="0"/>
                <a:ea typeface="Calibri" pitchFamily="34" charset="-122"/>
                <a:cs typeface="Calibri" pitchFamily="34" charset="-120"/>
              </a:rPr>
              <a:t>In danger of dying with a beautiful corpse</a:t>
            </a:r>
          </a:p>
          <a:p>
            <a:pPr marL="285750" indent="-285750" algn="l">
              <a:buFont typeface="Wingdings" pitchFamily="2" charset="2"/>
              <a:buChar char="Ø"/>
            </a:pPr>
            <a:r>
              <a:rPr lang="en-US" sz="1450" dirty="0">
                <a:solidFill>
                  <a:srgbClr val="2A2620"/>
                </a:solidFill>
                <a:latin typeface="Calibri" pitchFamily="34" charset="0"/>
                <a:ea typeface="Calibri" pitchFamily="34" charset="-122"/>
                <a:cs typeface="Calibri" pitchFamily="34" charset="-120"/>
              </a:rPr>
              <a:t>Running a brewery is hard. Hospitality even harder. Trying to do both with a skeleton staff is mental.</a:t>
            </a:r>
          </a:p>
          <a:p>
            <a:pPr marL="285750" indent="-285750" algn="l">
              <a:buFont typeface="Wingdings" pitchFamily="2" charset="2"/>
              <a:buChar char="Ø"/>
            </a:pPr>
            <a:r>
              <a:rPr lang="en-US" sz="1450" dirty="0">
                <a:solidFill>
                  <a:srgbClr val="2A2620"/>
                </a:solidFill>
                <a:latin typeface="Calibri" pitchFamily="34" charset="0"/>
                <a:cs typeface="Calibri" pitchFamily="34" charset="-120"/>
              </a:rPr>
              <a:t>Permission needed to re-shape the business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1F1C"/>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91440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TAP ROOM IS VANITY. REFILLS ARE SANITY.</a:t>
            </a:r>
            <a:endParaRPr lang="en-US" sz="3200" dirty="0"/>
          </a:p>
        </p:txBody>
      </p:sp>
      <p:sp>
        <p:nvSpPr>
          <p:cNvPr id="4" name="Shape 2"/>
          <p:cNvSpPr/>
          <p:nvPr/>
        </p:nvSpPr>
        <p:spPr>
          <a:xfrm>
            <a:off x="632308" y="2148840"/>
            <a:ext cx="3429000" cy="2880360"/>
          </a:xfrm>
          <a:prstGeom prst="roundRect">
            <a:avLst>
              <a:gd name="adj" fmla="val 2540"/>
            </a:avLst>
          </a:prstGeom>
          <a:solidFill>
            <a:srgbClr val="2E2A25"/>
          </a:solidFill>
          <a:ln/>
        </p:spPr>
      </p:sp>
      <p:sp>
        <p:nvSpPr>
          <p:cNvPr id="5" name="Text 3"/>
          <p:cNvSpPr/>
          <p:nvPr/>
        </p:nvSpPr>
        <p:spPr>
          <a:xfrm>
            <a:off x="632308" y="2331720"/>
            <a:ext cx="3429000" cy="914400"/>
          </a:xfrm>
          <a:prstGeom prst="rect">
            <a:avLst/>
          </a:prstGeom>
          <a:noFill/>
          <a:ln/>
        </p:spPr>
        <p:txBody>
          <a:bodyPr wrap="square" lIns="0" tIns="0" rIns="0" bIns="0" rtlCol="0" anchor="ctr"/>
          <a:lstStyle/>
          <a:p>
            <a:pPr marL="0" indent="0" algn="ctr">
              <a:buNone/>
            </a:pPr>
            <a:r>
              <a:rPr lang="en-US" sz="4000" b="1" dirty="0">
                <a:solidFill>
                  <a:srgbClr val="C1872E"/>
                </a:solidFill>
                <a:latin typeface="Calibri" pitchFamily="34" charset="0"/>
                <a:ea typeface="Calibri" pitchFamily="34" charset="-122"/>
                <a:cs typeface="Calibri" pitchFamily="34" charset="-120"/>
              </a:rPr>
              <a:t>96–113</a:t>
            </a:r>
            <a:endParaRPr lang="en-US" sz="4000" dirty="0"/>
          </a:p>
        </p:txBody>
      </p:sp>
      <p:sp>
        <p:nvSpPr>
          <p:cNvPr id="6" name="Text 4"/>
          <p:cNvSpPr/>
          <p:nvPr/>
        </p:nvSpPr>
        <p:spPr>
          <a:xfrm>
            <a:off x="906628" y="3291840"/>
            <a:ext cx="2880360" cy="1600200"/>
          </a:xfrm>
          <a:prstGeom prst="rect">
            <a:avLst/>
          </a:prstGeom>
          <a:noFill/>
          <a:ln/>
        </p:spPr>
        <p:txBody>
          <a:bodyPr wrap="square" lIns="0" tIns="0" rIns="0" bIns="0" rtlCol="0" anchor="t"/>
          <a:lstStyle/>
          <a:p>
            <a:pPr marL="0" indent="0" algn="ctr">
              <a:buNone/>
            </a:pPr>
            <a:r>
              <a:rPr lang="en-US" sz="1300" dirty="0">
                <a:solidFill>
                  <a:srgbClr val="F4EEE2"/>
                </a:solidFill>
                <a:latin typeface="Calibri" pitchFamily="34" charset="0"/>
                <a:ea typeface="Calibri" pitchFamily="34" charset="-122"/>
                <a:cs typeface="Calibri" pitchFamily="34" charset="-120"/>
              </a:rPr>
              <a:t>Active customers, high recurring orders — this is MVP status.</a:t>
            </a:r>
            <a:endParaRPr lang="en-US" sz="1300" dirty="0"/>
          </a:p>
        </p:txBody>
      </p:sp>
      <p:sp>
        <p:nvSpPr>
          <p:cNvPr id="7" name="Shape 5"/>
          <p:cNvSpPr/>
          <p:nvPr/>
        </p:nvSpPr>
        <p:spPr>
          <a:xfrm>
            <a:off x="4381348" y="2148840"/>
            <a:ext cx="3429000" cy="2880360"/>
          </a:xfrm>
          <a:prstGeom prst="roundRect">
            <a:avLst>
              <a:gd name="adj" fmla="val 2540"/>
            </a:avLst>
          </a:prstGeom>
          <a:solidFill>
            <a:srgbClr val="2E2A25"/>
          </a:solidFill>
          <a:ln/>
        </p:spPr>
      </p:sp>
      <p:sp>
        <p:nvSpPr>
          <p:cNvPr id="8" name="Text 6"/>
          <p:cNvSpPr/>
          <p:nvPr/>
        </p:nvSpPr>
        <p:spPr>
          <a:xfrm>
            <a:off x="4381348" y="2331720"/>
            <a:ext cx="3429000" cy="914400"/>
          </a:xfrm>
          <a:prstGeom prst="rect">
            <a:avLst/>
          </a:prstGeom>
          <a:noFill/>
          <a:ln/>
        </p:spPr>
        <p:txBody>
          <a:bodyPr wrap="square" lIns="0" tIns="0" rIns="0" bIns="0" rtlCol="0" anchor="ctr"/>
          <a:lstStyle/>
          <a:p>
            <a:pPr marL="0" indent="0" algn="ctr">
              <a:buNone/>
            </a:pPr>
            <a:r>
              <a:rPr lang="en-US" sz="4000" b="1" dirty="0">
                <a:solidFill>
                  <a:srgbClr val="C1872E"/>
                </a:solidFill>
                <a:latin typeface="Calibri" pitchFamily="34" charset="0"/>
                <a:ea typeface="Calibri" pitchFamily="34" charset="-122"/>
                <a:cs typeface="Calibri" pitchFamily="34" charset="-120"/>
              </a:rPr>
              <a:t>56%</a:t>
            </a:r>
            <a:endParaRPr lang="en-US" sz="4000" dirty="0"/>
          </a:p>
        </p:txBody>
      </p:sp>
      <p:sp>
        <p:nvSpPr>
          <p:cNvPr id="9" name="Text 7"/>
          <p:cNvSpPr/>
          <p:nvPr/>
        </p:nvSpPr>
        <p:spPr>
          <a:xfrm>
            <a:off x="4655668" y="3291840"/>
            <a:ext cx="2880360" cy="1600200"/>
          </a:xfrm>
          <a:prstGeom prst="rect">
            <a:avLst/>
          </a:prstGeom>
          <a:noFill/>
          <a:ln/>
        </p:spPr>
        <p:txBody>
          <a:bodyPr wrap="square" lIns="0" tIns="0" rIns="0" bIns="0" rtlCol="0" anchor="t"/>
          <a:lstStyle/>
          <a:p>
            <a:pPr marL="0" indent="0" algn="ctr">
              <a:buNone/>
            </a:pPr>
            <a:r>
              <a:rPr lang="en-US" sz="1300" dirty="0">
                <a:solidFill>
                  <a:srgbClr val="F4EEE2"/>
                </a:solidFill>
                <a:latin typeface="Calibri" pitchFamily="34" charset="0"/>
                <a:ea typeface="Calibri" pitchFamily="34" charset="-122"/>
                <a:cs typeface="Calibri" pitchFamily="34" charset="-120"/>
              </a:rPr>
              <a:t>of refill customers bought their tap system elsewhere — the refill proposition is already validated.</a:t>
            </a:r>
            <a:endParaRPr lang="en-US" sz="1300" dirty="0"/>
          </a:p>
        </p:txBody>
      </p:sp>
      <p:sp>
        <p:nvSpPr>
          <p:cNvPr id="10" name="Shape 8"/>
          <p:cNvSpPr/>
          <p:nvPr/>
        </p:nvSpPr>
        <p:spPr>
          <a:xfrm>
            <a:off x="8130388" y="2148840"/>
            <a:ext cx="3429000" cy="2880360"/>
          </a:xfrm>
          <a:prstGeom prst="roundRect">
            <a:avLst>
              <a:gd name="adj" fmla="val 2540"/>
            </a:avLst>
          </a:prstGeom>
          <a:solidFill>
            <a:srgbClr val="2E2A25"/>
          </a:solidFill>
          <a:ln/>
        </p:spPr>
      </p:sp>
      <p:sp>
        <p:nvSpPr>
          <p:cNvPr id="11" name="Text 9"/>
          <p:cNvSpPr/>
          <p:nvPr/>
        </p:nvSpPr>
        <p:spPr>
          <a:xfrm>
            <a:off x="8130388" y="2331720"/>
            <a:ext cx="3429000" cy="914400"/>
          </a:xfrm>
          <a:prstGeom prst="rect">
            <a:avLst/>
          </a:prstGeom>
          <a:noFill/>
          <a:ln/>
        </p:spPr>
        <p:txBody>
          <a:bodyPr wrap="square" lIns="0" tIns="0" rIns="0" bIns="0" rtlCol="0" anchor="ctr"/>
          <a:lstStyle/>
          <a:p>
            <a:pPr marL="0" indent="0" algn="ctr">
              <a:buNone/>
            </a:pPr>
            <a:r>
              <a:rPr lang="en-US" sz="4000" b="1" dirty="0">
                <a:solidFill>
                  <a:srgbClr val="C1872E"/>
                </a:solidFill>
                <a:latin typeface="Calibri" pitchFamily="34" charset="0"/>
                <a:ea typeface="Calibri" pitchFamily="34" charset="-122"/>
                <a:cs typeface="Calibri" pitchFamily="34" charset="-120"/>
              </a:rPr>
              <a:t>20%</a:t>
            </a:r>
            <a:endParaRPr lang="en-US" sz="4000" dirty="0"/>
          </a:p>
        </p:txBody>
      </p:sp>
      <p:sp>
        <p:nvSpPr>
          <p:cNvPr id="12" name="Text 10"/>
          <p:cNvSpPr/>
          <p:nvPr/>
        </p:nvSpPr>
        <p:spPr>
          <a:xfrm>
            <a:off x="8404708" y="3291840"/>
            <a:ext cx="2880360" cy="1600200"/>
          </a:xfrm>
          <a:prstGeom prst="rect">
            <a:avLst/>
          </a:prstGeom>
          <a:noFill/>
          <a:ln/>
        </p:spPr>
        <p:txBody>
          <a:bodyPr wrap="square" lIns="0" tIns="0" rIns="0" bIns="0" rtlCol="0" anchor="t"/>
          <a:lstStyle/>
          <a:p>
            <a:pPr marL="0" indent="0" algn="ctr">
              <a:buNone/>
            </a:pPr>
            <a:r>
              <a:rPr lang="en-US" sz="1300" dirty="0">
                <a:solidFill>
                  <a:srgbClr val="F4EEE2"/>
                </a:solidFill>
                <a:latin typeface="Calibri" pitchFamily="34" charset="0"/>
                <a:ea typeface="Calibri" pitchFamily="34" charset="-122"/>
                <a:cs typeface="Calibri" pitchFamily="34" charset="-120"/>
              </a:rPr>
              <a:t>of system buyers are said to have visited Tap Room — but that’s correlation, not proven causation. An aspirational destination model likely reaches the same fans. Maybe more.</a:t>
            </a:r>
            <a:endParaRPr lang="en-US" sz="1300" dirty="0"/>
          </a:p>
        </p:txBody>
      </p:sp>
      <p:sp>
        <p:nvSpPr>
          <p:cNvPr id="13" name="Text 11"/>
          <p:cNvSpPr/>
          <p:nvPr/>
        </p:nvSpPr>
        <p:spPr>
          <a:xfrm>
            <a:off x="1097280" y="5349240"/>
            <a:ext cx="9966960" cy="822960"/>
          </a:xfrm>
          <a:prstGeom prst="rect">
            <a:avLst/>
          </a:prstGeom>
          <a:noFill/>
          <a:ln/>
        </p:spPr>
        <p:txBody>
          <a:bodyPr wrap="square" lIns="0" tIns="0" rIns="0" bIns="0" rtlCol="0" anchor="t"/>
          <a:lstStyle/>
          <a:p>
            <a:pPr marL="0" indent="0" algn="ctr">
              <a:buNone/>
            </a:pPr>
            <a:r>
              <a:rPr lang="en-US" sz="1450" i="1" dirty="0">
                <a:solidFill>
                  <a:srgbClr val="FFFFFF"/>
                </a:solidFill>
                <a:latin typeface="Calibri" pitchFamily="34" charset="0"/>
                <a:ea typeface="Calibri" pitchFamily="34" charset="-122"/>
                <a:cs typeface="Calibri" pitchFamily="34" charset="-120"/>
              </a:rPr>
              <a:t>Tap Room works as an event/function destination. It doesn’t work as a walk-in — the footfall isn’t there. Task now: brutally edit the losers, invest in what’s proven.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WHERE TO FROM HERE — CORE</a:t>
            </a:r>
            <a:endParaRPr lang="en-US" sz="2600" dirty="0"/>
          </a:p>
        </p:txBody>
      </p:sp>
      <p:sp>
        <p:nvSpPr>
          <p:cNvPr id="3" name="Text 1"/>
          <p:cNvSpPr/>
          <p:nvPr/>
        </p:nvSpPr>
        <p:spPr>
          <a:xfrm>
            <a:off x="457200" y="804672"/>
            <a:ext cx="11274552" cy="365760"/>
          </a:xfrm>
          <a:prstGeom prst="rect">
            <a:avLst/>
          </a:prstGeom>
          <a:noFill/>
          <a:ln/>
        </p:spPr>
        <p:txBody>
          <a:bodyPr wrap="square" lIns="0" tIns="0" rIns="0" bIns="0" rtlCol="0" anchor="ctr"/>
          <a:lstStyle/>
          <a:p>
            <a:pPr marL="0" indent="0" algn="l">
              <a:buNone/>
            </a:pPr>
            <a:r>
              <a:rPr lang="en-US" sz="1400" i="1" dirty="0">
                <a:solidFill>
                  <a:srgbClr val="C1872E"/>
                </a:solidFill>
                <a:latin typeface="Calibri" pitchFamily="34" charset="0"/>
                <a:ea typeface="Calibri" pitchFamily="34" charset="-122"/>
                <a:cs typeface="Calibri" pitchFamily="34" charset="-120"/>
              </a:rPr>
              <a:t>Get the core right, then go for more.</a:t>
            </a:r>
            <a:endParaRPr lang="en-US" sz="1400" dirty="0"/>
          </a:p>
        </p:txBody>
      </p:sp>
      <p:sp>
        <p:nvSpPr>
          <p:cNvPr id="4" name="Shape 2"/>
          <p:cNvSpPr/>
          <p:nvPr/>
        </p:nvSpPr>
        <p:spPr>
          <a:xfrm>
            <a:off x="457200" y="1417320"/>
            <a:ext cx="2123237" cy="5074920"/>
          </a:xfrm>
          <a:prstGeom prst="roundRect">
            <a:avLst>
              <a:gd name="adj" fmla="val 2584"/>
            </a:avLst>
          </a:prstGeom>
          <a:solidFill>
            <a:srgbClr val="FBF8F2"/>
          </a:solidFill>
          <a:ln w="9525">
            <a:solidFill>
              <a:srgbClr val="E3DCCC"/>
            </a:solidFill>
            <a:prstDash val="solid"/>
          </a:ln>
        </p:spPr>
      </p:sp>
      <p:sp>
        <p:nvSpPr>
          <p:cNvPr id="5" name="Shape 3"/>
          <p:cNvSpPr/>
          <p:nvPr/>
        </p:nvSpPr>
        <p:spPr>
          <a:xfrm>
            <a:off x="1267358" y="1618488"/>
            <a:ext cx="502920" cy="502920"/>
          </a:xfrm>
          <a:prstGeom prst="ellipse">
            <a:avLst/>
          </a:prstGeom>
          <a:solidFill>
            <a:srgbClr val="C1872E"/>
          </a:solidFill>
          <a:ln/>
        </p:spPr>
      </p:sp>
      <p:sp>
        <p:nvSpPr>
          <p:cNvPr id="6" name="Text 4"/>
          <p:cNvSpPr/>
          <p:nvPr/>
        </p:nvSpPr>
        <p:spPr>
          <a:xfrm>
            <a:off x="1267358"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566928"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Tap Room: Pause &amp; Pivot</a:t>
            </a:r>
            <a:endParaRPr lang="en-US" sz="1250" dirty="0"/>
          </a:p>
        </p:txBody>
      </p:sp>
      <p:sp>
        <p:nvSpPr>
          <p:cNvPr id="8" name="Text 6"/>
          <p:cNvSpPr/>
          <p:nvPr/>
        </p:nvSpPr>
        <p:spPr>
          <a:xfrm>
            <a:off x="585216"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Pause walk-in trading. Go all-in on destination demand.</a:t>
            </a:r>
            <a:endParaRPr lang="en-US" sz="950" dirty="0"/>
          </a:p>
        </p:txBody>
      </p:sp>
      <p:sp>
        <p:nvSpPr>
          <p:cNvPr id="9" name="Text 7"/>
          <p:cNvSpPr/>
          <p:nvPr/>
        </p:nvSpPr>
        <p:spPr>
          <a:xfrm>
            <a:off x="585216"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Event/function nights already profitable</a:t>
            </a:r>
            <a:endParaRPr lang="en-US" sz="800" dirty="0"/>
          </a:p>
        </p:txBody>
      </p:sp>
      <p:sp>
        <p:nvSpPr>
          <p:cNvPr id="10" name="Shape 8"/>
          <p:cNvSpPr/>
          <p:nvPr/>
        </p:nvSpPr>
        <p:spPr>
          <a:xfrm>
            <a:off x="658368" y="4032504"/>
            <a:ext cx="1720901" cy="0"/>
          </a:xfrm>
          <a:prstGeom prst="line">
            <a:avLst/>
          </a:prstGeom>
          <a:noFill/>
          <a:ln w="9525">
            <a:solidFill>
              <a:srgbClr val="E3DCCC"/>
            </a:solidFill>
            <a:prstDash val="solid"/>
          </a:ln>
        </p:spPr>
      </p:sp>
      <p:sp>
        <p:nvSpPr>
          <p:cNvPr id="11" name="Text 9"/>
          <p:cNvSpPr/>
          <p:nvPr/>
        </p:nvSpPr>
        <p:spPr>
          <a:xfrm>
            <a:off x="621792"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PR: tourism, event planners, wedding planners</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Own the tour circuit — Urban Legends booking tool, Pineapple Tours, Crafted award callout</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Ticketed events</a:t>
            </a:r>
          </a:p>
          <a:p>
            <a:pPr marL="342900" indent="-342900" algn="l">
              <a:lnSpc>
                <a:spcPts val="1200"/>
              </a:lnSpc>
              <a:spcAft>
                <a:spcPts val="600"/>
              </a:spcAft>
              <a:buSzPct val="100000"/>
              <a:buChar char="–"/>
            </a:pPr>
            <a:r>
              <a:rPr lang="en-US" sz="900" dirty="0" err="1">
                <a:solidFill>
                  <a:srgbClr val="2A2620"/>
                </a:solidFill>
                <a:latin typeface="Calibri" pitchFamily="34" charset="0"/>
                <a:cs typeface="Calibri" pitchFamily="34" charset="-120"/>
              </a:rPr>
              <a:t>Colab</a:t>
            </a:r>
            <a:r>
              <a:rPr lang="en-US" sz="900" dirty="0">
                <a:solidFill>
                  <a:srgbClr val="2A2620"/>
                </a:solidFill>
                <a:latin typeface="Calibri" pitchFamily="34" charset="0"/>
                <a:cs typeface="Calibri" pitchFamily="34" charset="-120"/>
              </a:rPr>
              <a:t> events</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Party rental —reduce friction: minimum-guarantee kegs to cover the rental cost</a:t>
            </a:r>
            <a:endParaRPr lang="en-US" sz="900" dirty="0"/>
          </a:p>
        </p:txBody>
      </p:sp>
      <p:sp>
        <p:nvSpPr>
          <p:cNvPr id="12" name="Shape 10"/>
          <p:cNvSpPr/>
          <p:nvPr/>
        </p:nvSpPr>
        <p:spPr>
          <a:xfrm>
            <a:off x="2745029" y="1417320"/>
            <a:ext cx="2123237" cy="5074920"/>
          </a:xfrm>
          <a:prstGeom prst="roundRect">
            <a:avLst>
              <a:gd name="adj" fmla="val 2584"/>
            </a:avLst>
          </a:prstGeom>
          <a:solidFill>
            <a:srgbClr val="FBF8F2"/>
          </a:solidFill>
          <a:ln w="9525">
            <a:solidFill>
              <a:srgbClr val="E3DCCC"/>
            </a:solidFill>
            <a:prstDash val="solid"/>
          </a:ln>
        </p:spPr>
      </p:sp>
      <p:sp>
        <p:nvSpPr>
          <p:cNvPr id="13" name="Shape 11"/>
          <p:cNvSpPr/>
          <p:nvPr/>
        </p:nvSpPr>
        <p:spPr>
          <a:xfrm>
            <a:off x="3555187" y="1618488"/>
            <a:ext cx="502920" cy="502920"/>
          </a:xfrm>
          <a:prstGeom prst="ellipse">
            <a:avLst/>
          </a:prstGeom>
          <a:solidFill>
            <a:srgbClr val="C1872E"/>
          </a:solidFill>
          <a:ln/>
        </p:spPr>
      </p:sp>
      <p:sp>
        <p:nvSpPr>
          <p:cNvPr id="14" name="Text 12"/>
          <p:cNvSpPr/>
          <p:nvPr/>
        </p:nvSpPr>
        <p:spPr>
          <a:xfrm>
            <a:off x="3555187"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2854757"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Convert the Owners Already Sold</a:t>
            </a:r>
            <a:endParaRPr lang="en-US" sz="1250" dirty="0"/>
          </a:p>
        </p:txBody>
      </p:sp>
      <p:sp>
        <p:nvSpPr>
          <p:cNvPr id="16" name="Text 14"/>
          <p:cNvSpPr/>
          <p:nvPr/>
        </p:nvSpPr>
        <p:spPr>
          <a:xfrm>
            <a:off x="2873045"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Objections are already overcome for existing kegerator owners.</a:t>
            </a:r>
            <a:endParaRPr lang="en-US" sz="950" dirty="0"/>
          </a:p>
        </p:txBody>
      </p:sp>
      <p:sp>
        <p:nvSpPr>
          <p:cNvPr id="17" name="Text 15"/>
          <p:cNvSpPr/>
          <p:nvPr/>
        </p:nvSpPr>
        <p:spPr>
          <a:xfrm>
            <a:off x="2873045"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56% bought their system elsewhere</a:t>
            </a:r>
            <a:endParaRPr lang="en-US" sz="800" dirty="0"/>
          </a:p>
        </p:txBody>
      </p:sp>
      <p:sp>
        <p:nvSpPr>
          <p:cNvPr id="18" name="Shape 16"/>
          <p:cNvSpPr/>
          <p:nvPr/>
        </p:nvSpPr>
        <p:spPr>
          <a:xfrm>
            <a:off x="2946197" y="4032504"/>
            <a:ext cx="1720901" cy="0"/>
          </a:xfrm>
          <a:prstGeom prst="line">
            <a:avLst/>
          </a:prstGeom>
          <a:noFill/>
          <a:ln w="9525">
            <a:solidFill>
              <a:srgbClr val="E3DCCC"/>
            </a:solidFill>
            <a:prstDash val="solid"/>
          </a:ln>
        </p:spPr>
      </p:sp>
      <p:sp>
        <p:nvSpPr>
          <p:cNvPr id="19" name="Text 17"/>
          <p:cNvSpPr/>
          <p:nvPr/>
        </p:nvSpPr>
        <p:spPr>
          <a:xfrm>
            <a:off x="2909621"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Harvey Norman GWP / POS tie-up + buyer database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Buy Kegland / corny-keg owner databases</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Official Benchy partnership + database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Co-branded outdoor BBQ + system bundle</a:t>
            </a:r>
            <a:endParaRPr lang="en-US" sz="900" dirty="0"/>
          </a:p>
        </p:txBody>
      </p:sp>
      <p:sp>
        <p:nvSpPr>
          <p:cNvPr id="20" name="Shape 18"/>
          <p:cNvSpPr/>
          <p:nvPr/>
        </p:nvSpPr>
        <p:spPr>
          <a:xfrm>
            <a:off x="9645091" y="1417320"/>
            <a:ext cx="2123237" cy="5074920"/>
          </a:xfrm>
          <a:prstGeom prst="roundRect">
            <a:avLst>
              <a:gd name="adj" fmla="val 2584"/>
            </a:avLst>
          </a:prstGeom>
          <a:solidFill>
            <a:srgbClr val="FBF8F2"/>
          </a:solidFill>
          <a:ln w="9525">
            <a:solidFill>
              <a:srgbClr val="E3DCCC"/>
            </a:solidFill>
            <a:prstDash val="solid"/>
          </a:ln>
        </p:spPr>
      </p:sp>
      <p:sp>
        <p:nvSpPr>
          <p:cNvPr id="21" name="Shape 19"/>
          <p:cNvSpPr/>
          <p:nvPr/>
        </p:nvSpPr>
        <p:spPr>
          <a:xfrm>
            <a:off x="10455249" y="1618488"/>
            <a:ext cx="502920" cy="502920"/>
          </a:xfrm>
          <a:prstGeom prst="ellipse">
            <a:avLst/>
          </a:prstGeom>
          <a:solidFill>
            <a:srgbClr val="C1872E"/>
          </a:solidFill>
          <a:ln/>
        </p:spPr>
      </p:sp>
      <p:sp>
        <p:nvSpPr>
          <p:cNvPr id="22" name="Text 20"/>
          <p:cNvSpPr/>
          <p:nvPr/>
        </p:nvSpPr>
        <p:spPr>
          <a:xfrm>
            <a:off x="10455249"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754819"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Ride the Wellness Wave</a:t>
            </a:r>
            <a:endParaRPr lang="en-US" sz="1250" dirty="0"/>
          </a:p>
        </p:txBody>
      </p:sp>
      <p:sp>
        <p:nvSpPr>
          <p:cNvPr id="24" name="Text 22"/>
          <p:cNvSpPr/>
          <p:nvPr/>
        </p:nvSpPr>
        <p:spPr>
          <a:xfrm>
            <a:off x="9773107"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Also the way back to lapsed customers.</a:t>
            </a:r>
            <a:endParaRPr lang="en-US" sz="950" dirty="0"/>
          </a:p>
        </p:txBody>
      </p:sp>
      <p:sp>
        <p:nvSpPr>
          <p:cNvPr id="25" name="Text 23"/>
          <p:cNvSpPr/>
          <p:nvPr/>
        </p:nvSpPr>
        <p:spPr>
          <a:xfrm>
            <a:off x="9773107"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40% of lapsed cite “cutting back”</a:t>
            </a:r>
            <a:endParaRPr lang="en-US" sz="800" dirty="0"/>
          </a:p>
        </p:txBody>
      </p:sp>
      <p:sp>
        <p:nvSpPr>
          <p:cNvPr id="26" name="Shape 24"/>
          <p:cNvSpPr/>
          <p:nvPr/>
        </p:nvSpPr>
        <p:spPr>
          <a:xfrm>
            <a:off x="9846259" y="4032504"/>
            <a:ext cx="1720901" cy="0"/>
          </a:xfrm>
          <a:prstGeom prst="line">
            <a:avLst/>
          </a:prstGeom>
          <a:noFill/>
          <a:ln w="9525">
            <a:solidFill>
              <a:srgbClr val="E3DCCC"/>
            </a:solidFill>
            <a:prstDash val="solid"/>
          </a:ln>
        </p:spPr>
      </p:sp>
      <p:sp>
        <p:nvSpPr>
          <p:cNvPr id="27" name="Text 25"/>
          <p:cNvSpPr/>
          <p:nvPr/>
        </p:nvSpPr>
        <p:spPr>
          <a:xfrm>
            <a:off x="9809683"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Low / NA / low-carb / protein range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Wellness influencer collabs — amplify or co-develop</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Reframe for the “cutting back” cohort as healthy-alternative, not less beer</a:t>
            </a:r>
            <a:endParaRPr lang="en-US" sz="900" dirty="0"/>
          </a:p>
        </p:txBody>
      </p:sp>
      <p:sp>
        <p:nvSpPr>
          <p:cNvPr id="28" name="Shape 26"/>
          <p:cNvSpPr/>
          <p:nvPr/>
        </p:nvSpPr>
        <p:spPr>
          <a:xfrm>
            <a:off x="5069434" y="1417320"/>
            <a:ext cx="2123237" cy="5074920"/>
          </a:xfrm>
          <a:prstGeom prst="roundRect">
            <a:avLst>
              <a:gd name="adj" fmla="val 2584"/>
            </a:avLst>
          </a:prstGeom>
          <a:solidFill>
            <a:srgbClr val="FBF8F2"/>
          </a:solidFill>
          <a:ln w="9525">
            <a:solidFill>
              <a:srgbClr val="E3DCCC"/>
            </a:solidFill>
            <a:prstDash val="solid"/>
          </a:ln>
        </p:spPr>
      </p:sp>
      <p:sp>
        <p:nvSpPr>
          <p:cNvPr id="29" name="Shape 27"/>
          <p:cNvSpPr/>
          <p:nvPr/>
        </p:nvSpPr>
        <p:spPr>
          <a:xfrm>
            <a:off x="5879593" y="1618488"/>
            <a:ext cx="502920" cy="502920"/>
          </a:xfrm>
          <a:prstGeom prst="ellipse">
            <a:avLst/>
          </a:prstGeom>
          <a:solidFill>
            <a:srgbClr val="C1872E"/>
          </a:solidFill>
          <a:ln/>
        </p:spPr>
      </p:sp>
      <p:sp>
        <p:nvSpPr>
          <p:cNvPr id="30" name="Text 28"/>
          <p:cNvSpPr/>
          <p:nvPr/>
        </p:nvSpPr>
        <p:spPr>
          <a:xfrm>
            <a:off x="5879593"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5179162"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Remove all Friction in refills</a:t>
            </a:r>
            <a:endParaRPr lang="en-US" sz="1250" dirty="0"/>
          </a:p>
        </p:txBody>
      </p:sp>
      <p:sp>
        <p:nvSpPr>
          <p:cNvPr id="32" name="Text 30"/>
          <p:cNvSpPr/>
          <p:nvPr/>
        </p:nvSpPr>
        <p:spPr>
          <a:xfrm>
            <a:off x="5197450"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Every extra step in the refill process potentially costs a sale.</a:t>
            </a:r>
            <a:endParaRPr lang="en-US" sz="950" dirty="0"/>
          </a:p>
        </p:txBody>
      </p:sp>
      <p:sp>
        <p:nvSpPr>
          <p:cNvPr id="33" name="Text 31"/>
          <p:cNvSpPr/>
          <p:nvPr/>
        </p:nvSpPr>
        <p:spPr>
          <a:xfrm>
            <a:off x="5197450"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10% reorder monthly, 40% far later — one clock fails both</a:t>
            </a:r>
            <a:endParaRPr lang="en-US" sz="800" dirty="0"/>
          </a:p>
        </p:txBody>
      </p:sp>
      <p:sp>
        <p:nvSpPr>
          <p:cNvPr id="34" name="Shape 32"/>
          <p:cNvSpPr/>
          <p:nvPr/>
        </p:nvSpPr>
        <p:spPr>
          <a:xfrm>
            <a:off x="5270602" y="4032504"/>
            <a:ext cx="1720901" cy="0"/>
          </a:xfrm>
          <a:prstGeom prst="line">
            <a:avLst/>
          </a:prstGeom>
          <a:noFill/>
          <a:ln w="9525">
            <a:solidFill>
              <a:srgbClr val="E3DCCC"/>
            </a:solidFill>
            <a:prstDash val="solid"/>
          </a:ln>
        </p:spPr>
      </p:sp>
      <p:sp>
        <p:nvSpPr>
          <p:cNvPr id="35" name="Text 33"/>
          <p:cNvSpPr/>
          <p:nvPr/>
        </p:nvSpPr>
        <p:spPr>
          <a:xfrm>
            <a:off x="5234026" y="4178808"/>
            <a:ext cx="1794053" cy="2194560"/>
          </a:xfrm>
          <a:prstGeom prst="rect">
            <a:avLst/>
          </a:prstGeom>
          <a:noFill/>
          <a:ln/>
        </p:spPr>
        <p:txBody>
          <a:bodyPr wrap="square" lIns="0" tIns="0" rIns="0" bIns="0" rtlCol="0" anchor="t"/>
          <a:lstStyle/>
          <a:p>
            <a:pPr marL="342900" indent="-342900">
              <a:lnSpc>
                <a:spcPts val="1200"/>
              </a:lnSpc>
              <a:spcAft>
                <a:spcPts val="600"/>
              </a:spcAft>
              <a:buSzPct val="100000"/>
              <a:buFontTx/>
              <a:buChar char="–"/>
            </a:pPr>
            <a:r>
              <a:rPr lang="en-US" sz="900" dirty="0">
                <a:solidFill>
                  <a:srgbClr val="2A2620"/>
                </a:solidFill>
                <a:latin typeface="Calibri" pitchFamily="34" charset="0"/>
                <a:ea typeface="Calibri" pitchFamily="34" charset="-122"/>
                <a:cs typeface="Calibri" pitchFamily="34" charset="-120"/>
              </a:rPr>
              <a:t>Free delivery always works; recover margin in $, not %</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Replace blanket 90-day SMS with consumption-triggered reminders</a:t>
            </a:r>
            <a:endParaRPr lang="en-US" sz="900" dirty="0"/>
          </a:p>
          <a:p>
            <a:pPr marL="342900" indent="-342900">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Highlight the simplicity of no CO2, pick-up-and-go</a:t>
            </a:r>
          </a:p>
          <a:p>
            <a:pPr marL="342900" indent="-342900">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Simplify membership(s), refill centric</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Get Justin off the bar and onto the road</a:t>
            </a:r>
            <a:endParaRPr lang="en-US" sz="900" dirty="0"/>
          </a:p>
        </p:txBody>
      </p:sp>
      <p:sp>
        <p:nvSpPr>
          <p:cNvPr id="36" name="Shape 34"/>
          <p:cNvSpPr/>
          <p:nvPr/>
        </p:nvSpPr>
        <p:spPr>
          <a:xfrm>
            <a:off x="7357263" y="1417320"/>
            <a:ext cx="2123237" cy="5074920"/>
          </a:xfrm>
          <a:prstGeom prst="roundRect">
            <a:avLst>
              <a:gd name="adj" fmla="val 2584"/>
            </a:avLst>
          </a:prstGeom>
          <a:solidFill>
            <a:srgbClr val="FBF8F2"/>
          </a:solidFill>
          <a:ln w="9525">
            <a:solidFill>
              <a:srgbClr val="E3DCCC"/>
            </a:solidFill>
            <a:prstDash val="solid"/>
          </a:ln>
        </p:spPr>
      </p:sp>
      <p:sp>
        <p:nvSpPr>
          <p:cNvPr id="37" name="Shape 35"/>
          <p:cNvSpPr/>
          <p:nvPr/>
        </p:nvSpPr>
        <p:spPr>
          <a:xfrm>
            <a:off x="8167422" y="1618488"/>
            <a:ext cx="502920" cy="502920"/>
          </a:xfrm>
          <a:prstGeom prst="ellipse">
            <a:avLst/>
          </a:prstGeom>
          <a:solidFill>
            <a:srgbClr val="C1872E"/>
          </a:solidFill>
          <a:ln/>
        </p:spPr>
      </p:sp>
      <p:sp>
        <p:nvSpPr>
          <p:cNvPr id="38" name="Text 36"/>
          <p:cNvSpPr/>
          <p:nvPr/>
        </p:nvSpPr>
        <p:spPr>
          <a:xfrm>
            <a:off x="8167422"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9" name="Text 37"/>
          <p:cNvSpPr/>
          <p:nvPr/>
        </p:nvSpPr>
        <p:spPr>
          <a:xfrm>
            <a:off x="7466991" y="2240280"/>
            <a:ext cx="1903781" cy="685800"/>
          </a:xfrm>
          <a:prstGeom prst="rect">
            <a:avLst/>
          </a:prstGeom>
          <a:noFill/>
          <a:ln/>
        </p:spPr>
        <p:txBody>
          <a:bodyPr wrap="square" lIns="0" tIns="0" rIns="0" bIns="0" rtlCol="0" anchor="t"/>
          <a:lstStyle/>
          <a:p>
            <a:pPr marL="0" indent="0" algn="ctr">
              <a:buNone/>
            </a:pPr>
            <a:r>
              <a:rPr lang="en-US" sz="1250" b="1" dirty="0" err="1">
                <a:solidFill>
                  <a:srgbClr val="231F1C"/>
                </a:solidFill>
                <a:latin typeface="Calibri" pitchFamily="34" charset="0"/>
                <a:ea typeface="Calibri" pitchFamily="34" charset="-122"/>
                <a:cs typeface="Calibri" pitchFamily="34" charset="-120"/>
              </a:rPr>
              <a:t>Rationalise</a:t>
            </a:r>
            <a:r>
              <a:rPr lang="en-US" sz="1250" b="1" dirty="0">
                <a:solidFill>
                  <a:srgbClr val="231F1C"/>
                </a:solidFill>
                <a:latin typeface="Calibri" pitchFamily="34" charset="0"/>
                <a:ea typeface="Calibri" pitchFamily="34" charset="-122"/>
                <a:cs typeface="Calibri" pitchFamily="34" charset="-120"/>
              </a:rPr>
              <a:t> the range</a:t>
            </a:r>
            <a:endParaRPr lang="en-US" sz="1250" dirty="0"/>
          </a:p>
        </p:txBody>
      </p:sp>
      <p:sp>
        <p:nvSpPr>
          <p:cNvPr id="40" name="Text 38"/>
          <p:cNvSpPr/>
          <p:nvPr/>
        </p:nvSpPr>
        <p:spPr>
          <a:xfrm>
            <a:off x="7485279"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Create ‘hero’ products to leverage social proof and cut the non-productive tail.</a:t>
            </a:r>
            <a:endParaRPr lang="en-US" sz="950" dirty="0"/>
          </a:p>
        </p:txBody>
      </p:sp>
      <p:sp>
        <p:nvSpPr>
          <p:cNvPr id="41" name="Text 39"/>
          <p:cNvSpPr/>
          <p:nvPr/>
        </p:nvSpPr>
        <p:spPr>
          <a:xfrm>
            <a:off x="7485279"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Approx 19 brew choices – loses the ‘curated’ and only the best position</a:t>
            </a:r>
            <a:endParaRPr lang="en-US" sz="800" dirty="0"/>
          </a:p>
        </p:txBody>
      </p:sp>
      <p:sp>
        <p:nvSpPr>
          <p:cNvPr id="42" name="Shape 40"/>
          <p:cNvSpPr/>
          <p:nvPr/>
        </p:nvSpPr>
        <p:spPr>
          <a:xfrm>
            <a:off x="7558431" y="4032504"/>
            <a:ext cx="1720901" cy="0"/>
          </a:xfrm>
          <a:prstGeom prst="line">
            <a:avLst/>
          </a:prstGeom>
          <a:noFill/>
          <a:ln w="9525">
            <a:solidFill>
              <a:srgbClr val="E3DCCC"/>
            </a:solidFill>
            <a:prstDash val="solid"/>
          </a:ln>
        </p:spPr>
      </p:sp>
      <p:sp>
        <p:nvSpPr>
          <p:cNvPr id="43" name="Text 41"/>
          <p:cNvSpPr/>
          <p:nvPr/>
        </p:nvSpPr>
        <p:spPr>
          <a:xfrm>
            <a:off x="7521855"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Deeper product marketing on the remaining </a:t>
            </a:r>
            <a:r>
              <a:rPr lang="en-US" sz="900" dirty="0" err="1">
                <a:solidFill>
                  <a:srgbClr val="2A2620"/>
                </a:solidFill>
                <a:latin typeface="Calibri" pitchFamily="34" charset="0"/>
                <a:ea typeface="Calibri" pitchFamily="34" charset="-122"/>
                <a:cs typeface="Calibri" pitchFamily="34" charset="-120"/>
              </a:rPr>
              <a:t>brewSKUs</a:t>
            </a:r>
            <a:endParaRPr lang="en-US" sz="900" dirty="0">
              <a:solidFill>
                <a:srgbClr val="2A2620"/>
              </a:solidFill>
              <a:latin typeface="Calibri" pitchFamily="34" charset="0"/>
              <a:ea typeface="Calibri" pitchFamily="34" charset="-122"/>
              <a:cs typeface="Calibri" pitchFamily="34" charset="-120"/>
            </a:endParaRPr>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Introduce ‘social proof’ cues (out most popular </a:t>
            </a:r>
            <a:r>
              <a:rPr lang="en-US" sz="900" dirty="0" err="1">
                <a:solidFill>
                  <a:srgbClr val="2A2620"/>
                </a:solidFill>
                <a:latin typeface="Calibri" pitchFamily="34" charset="0"/>
                <a:ea typeface="Calibri" pitchFamily="34" charset="-122"/>
                <a:cs typeface="Calibri" pitchFamily="34" charset="-120"/>
              </a:rPr>
              <a:t>etc</a:t>
            </a:r>
            <a:r>
              <a:rPr lang="en-US" sz="900" dirty="0">
                <a:solidFill>
                  <a:srgbClr val="2A2620"/>
                </a:solidFill>
                <a:latin typeface="Calibri" pitchFamily="34" charset="0"/>
                <a:ea typeface="Calibri" pitchFamily="34" charset="-122"/>
                <a:cs typeface="Calibri" pitchFamily="34" charset="-120"/>
              </a:rPr>
              <a:t>)</a:t>
            </a:r>
          </a:p>
          <a:p>
            <a:pPr marL="342900" indent="-342900" algn="l">
              <a:lnSpc>
                <a:spcPts val="1200"/>
              </a:lnSpc>
              <a:spcAft>
                <a:spcPts val="600"/>
              </a:spcAft>
              <a:buSzPct val="100000"/>
              <a:buChar char="–"/>
            </a:pPr>
            <a:endParaRPr lang="en-US" sz="900" dirty="0">
              <a:solidFill>
                <a:srgbClr val="2A2620"/>
              </a:solidFill>
              <a:latin typeface="Calibri" pitchFamily="34" charset="0"/>
              <a:cs typeface="Calibri" pitchFamily="34" charset="-120"/>
            </a:endParaRPr>
          </a:p>
          <a:p>
            <a:pPr marL="342900" indent="-342900" algn="l">
              <a:lnSpc>
                <a:spcPts val="1200"/>
              </a:lnSpc>
              <a:spcAft>
                <a:spcPts val="600"/>
              </a:spcAft>
              <a:buSzPct val="100000"/>
              <a:buChar char="–"/>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WHERE TO FROM HERE — MORE</a:t>
            </a:r>
            <a:endParaRPr lang="en-US" sz="2600" dirty="0"/>
          </a:p>
        </p:txBody>
      </p:sp>
      <p:sp>
        <p:nvSpPr>
          <p:cNvPr id="3" name="Text 1"/>
          <p:cNvSpPr/>
          <p:nvPr/>
        </p:nvSpPr>
        <p:spPr>
          <a:xfrm>
            <a:off x="457200" y="804672"/>
            <a:ext cx="11274552" cy="365760"/>
          </a:xfrm>
          <a:prstGeom prst="rect">
            <a:avLst/>
          </a:prstGeom>
          <a:noFill/>
          <a:ln/>
        </p:spPr>
        <p:txBody>
          <a:bodyPr wrap="square" lIns="0" tIns="0" rIns="0" bIns="0" rtlCol="0" anchor="ctr"/>
          <a:lstStyle/>
          <a:p>
            <a:pPr marL="0" indent="0" algn="l">
              <a:buNone/>
            </a:pPr>
            <a:r>
              <a:rPr lang="en-US" sz="1400" i="1" dirty="0">
                <a:solidFill>
                  <a:srgbClr val="C1872E"/>
                </a:solidFill>
                <a:latin typeface="Calibri" pitchFamily="34" charset="0"/>
                <a:ea typeface="Calibri" pitchFamily="34" charset="-122"/>
                <a:cs typeface="Calibri" pitchFamily="34" charset="-120"/>
              </a:rPr>
              <a:t>Once the core is running, extend it.</a:t>
            </a:r>
            <a:endParaRPr lang="en-US" sz="1400" dirty="0"/>
          </a:p>
        </p:txBody>
      </p:sp>
      <p:sp>
        <p:nvSpPr>
          <p:cNvPr id="4" name="Shape 2"/>
          <p:cNvSpPr/>
          <p:nvPr/>
        </p:nvSpPr>
        <p:spPr>
          <a:xfrm>
            <a:off x="457200" y="1417320"/>
            <a:ext cx="2123237" cy="5074920"/>
          </a:xfrm>
          <a:prstGeom prst="roundRect">
            <a:avLst>
              <a:gd name="adj" fmla="val 2584"/>
            </a:avLst>
          </a:prstGeom>
          <a:solidFill>
            <a:srgbClr val="FBF8F2"/>
          </a:solidFill>
          <a:ln w="9525">
            <a:solidFill>
              <a:srgbClr val="E3DCCC"/>
            </a:solidFill>
            <a:prstDash val="solid"/>
          </a:ln>
        </p:spPr>
      </p:sp>
      <p:sp>
        <p:nvSpPr>
          <p:cNvPr id="5" name="Shape 3"/>
          <p:cNvSpPr/>
          <p:nvPr/>
        </p:nvSpPr>
        <p:spPr>
          <a:xfrm>
            <a:off x="1267358" y="1618488"/>
            <a:ext cx="502920" cy="502920"/>
          </a:xfrm>
          <a:prstGeom prst="ellipse">
            <a:avLst/>
          </a:prstGeom>
          <a:solidFill>
            <a:srgbClr val="C1872E"/>
          </a:solidFill>
          <a:ln/>
        </p:spPr>
      </p:sp>
      <p:sp>
        <p:nvSpPr>
          <p:cNvPr id="6" name="Text 4"/>
          <p:cNvSpPr/>
          <p:nvPr/>
        </p:nvSpPr>
        <p:spPr>
          <a:xfrm>
            <a:off x="1267358"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5"/>
          <p:cNvSpPr/>
          <p:nvPr/>
        </p:nvSpPr>
        <p:spPr>
          <a:xfrm>
            <a:off x="566928"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Full Press on Wholesale</a:t>
            </a:r>
            <a:endParaRPr lang="en-US" sz="1250" dirty="0"/>
          </a:p>
        </p:txBody>
      </p:sp>
      <p:sp>
        <p:nvSpPr>
          <p:cNvPr id="8" name="Text 6"/>
          <p:cNvSpPr/>
          <p:nvPr/>
        </p:nvSpPr>
        <p:spPr>
          <a:xfrm>
            <a:off x="585216"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Resourced, structured, KPI’d — no more falling through cracks.</a:t>
            </a:r>
            <a:endParaRPr lang="en-US" sz="950" dirty="0"/>
          </a:p>
        </p:txBody>
      </p:sp>
      <p:sp>
        <p:nvSpPr>
          <p:cNvPr id="9" name="Text 7"/>
          <p:cNvSpPr/>
          <p:nvPr/>
        </p:nvSpPr>
        <p:spPr>
          <a:xfrm>
            <a:off x="585216"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1 wholesale account ≈ 10 households</a:t>
            </a:r>
            <a:endParaRPr lang="en-US" sz="800" dirty="0"/>
          </a:p>
        </p:txBody>
      </p:sp>
      <p:sp>
        <p:nvSpPr>
          <p:cNvPr id="10" name="Shape 8"/>
          <p:cNvSpPr/>
          <p:nvPr/>
        </p:nvSpPr>
        <p:spPr>
          <a:xfrm>
            <a:off x="658368" y="4032504"/>
            <a:ext cx="1720901" cy="0"/>
          </a:xfrm>
          <a:prstGeom prst="line">
            <a:avLst/>
          </a:prstGeom>
          <a:noFill/>
          <a:ln w="9525">
            <a:solidFill>
              <a:srgbClr val="E3DCCC"/>
            </a:solidFill>
            <a:prstDash val="solid"/>
          </a:ln>
        </p:spPr>
      </p:sp>
      <p:sp>
        <p:nvSpPr>
          <p:cNvPr id="11" name="Text 9"/>
          <p:cNvSpPr/>
          <p:nvPr/>
        </p:nvSpPr>
        <p:spPr>
          <a:xfrm>
            <a:off x="621792"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Hire an FTE or agent</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Set targets and KPIs</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Custom systems for sporting clubs; minimum-guarantee kegs/season</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Move rigs footy → cricket for year-round occupancy</a:t>
            </a:r>
            <a:endParaRPr lang="en-US" sz="900" dirty="0"/>
          </a:p>
        </p:txBody>
      </p:sp>
      <p:sp>
        <p:nvSpPr>
          <p:cNvPr id="12" name="Shape 10"/>
          <p:cNvSpPr/>
          <p:nvPr/>
        </p:nvSpPr>
        <p:spPr>
          <a:xfrm>
            <a:off x="9627040" y="1417320"/>
            <a:ext cx="2123237" cy="5074920"/>
          </a:xfrm>
          <a:prstGeom prst="roundRect">
            <a:avLst>
              <a:gd name="adj" fmla="val 2584"/>
            </a:avLst>
          </a:prstGeom>
          <a:solidFill>
            <a:srgbClr val="FBF8F2"/>
          </a:solidFill>
          <a:ln w="9525">
            <a:solidFill>
              <a:srgbClr val="E3DCCC"/>
            </a:solidFill>
            <a:prstDash val="solid"/>
          </a:ln>
        </p:spPr>
      </p:sp>
      <p:sp>
        <p:nvSpPr>
          <p:cNvPr id="13" name="Shape 11"/>
          <p:cNvSpPr/>
          <p:nvPr/>
        </p:nvSpPr>
        <p:spPr>
          <a:xfrm>
            <a:off x="10437198" y="1618488"/>
            <a:ext cx="502920" cy="502920"/>
          </a:xfrm>
          <a:prstGeom prst="ellipse">
            <a:avLst/>
          </a:prstGeom>
          <a:solidFill>
            <a:srgbClr val="C1872E"/>
          </a:solidFill>
          <a:ln/>
        </p:spPr>
      </p:sp>
      <p:sp>
        <p:nvSpPr>
          <p:cNvPr id="14" name="Text 12"/>
          <p:cNvSpPr/>
          <p:nvPr/>
        </p:nvSpPr>
        <p:spPr>
          <a:xfrm>
            <a:off x="10437198"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5" name="Text 13"/>
          <p:cNvSpPr/>
          <p:nvPr/>
        </p:nvSpPr>
        <p:spPr>
          <a:xfrm>
            <a:off x="9736768"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Package Around the Duopoly</a:t>
            </a:r>
            <a:endParaRPr lang="en-US" sz="1250" dirty="0"/>
          </a:p>
        </p:txBody>
      </p:sp>
      <p:sp>
        <p:nvSpPr>
          <p:cNvPr id="16" name="Text 14"/>
          <p:cNvSpPr/>
          <p:nvPr/>
        </p:nvSpPr>
        <p:spPr>
          <a:xfrm>
            <a:off x="9755056"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Locked-in venues still have real pain points.</a:t>
            </a:r>
            <a:endParaRPr lang="en-US" sz="950" dirty="0"/>
          </a:p>
        </p:txBody>
      </p:sp>
      <p:sp>
        <p:nvSpPr>
          <p:cNvPr id="17" name="Text 15"/>
          <p:cNvSpPr/>
          <p:nvPr/>
        </p:nvSpPr>
        <p:spPr>
          <a:xfrm>
            <a:off x="9755056"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Contractual lock-in ≠ customer satisfaction</a:t>
            </a:r>
            <a:endParaRPr lang="en-US" sz="800" dirty="0"/>
          </a:p>
        </p:txBody>
      </p:sp>
      <p:sp>
        <p:nvSpPr>
          <p:cNvPr id="18" name="Shape 16"/>
          <p:cNvSpPr/>
          <p:nvPr/>
        </p:nvSpPr>
        <p:spPr>
          <a:xfrm>
            <a:off x="9828208" y="4032504"/>
            <a:ext cx="1720901" cy="0"/>
          </a:xfrm>
          <a:prstGeom prst="line">
            <a:avLst/>
          </a:prstGeom>
          <a:noFill/>
          <a:ln w="9525">
            <a:solidFill>
              <a:srgbClr val="E3DCCC"/>
            </a:solidFill>
            <a:prstDash val="solid"/>
          </a:ln>
        </p:spPr>
      </p:sp>
      <p:sp>
        <p:nvSpPr>
          <p:cNvPr id="19" name="Text 17"/>
          <p:cNvSpPr/>
          <p:nvPr/>
        </p:nvSpPr>
        <p:spPr>
          <a:xfrm>
            <a:off x="9791632"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Consider packaged offer to work around contracts</a:t>
            </a:r>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Look for the judo move to use their size against them: no lock in contracts, profit share model, white labeling etc. </a:t>
            </a:r>
            <a:endParaRPr lang="en-US" sz="900" dirty="0"/>
          </a:p>
        </p:txBody>
      </p:sp>
      <p:sp>
        <p:nvSpPr>
          <p:cNvPr id="20" name="Shape 18"/>
          <p:cNvSpPr/>
          <p:nvPr/>
        </p:nvSpPr>
        <p:spPr>
          <a:xfrm>
            <a:off x="2726978" y="1417320"/>
            <a:ext cx="2123237" cy="5074920"/>
          </a:xfrm>
          <a:prstGeom prst="roundRect">
            <a:avLst>
              <a:gd name="adj" fmla="val 2584"/>
            </a:avLst>
          </a:prstGeom>
          <a:solidFill>
            <a:srgbClr val="FBF8F2"/>
          </a:solidFill>
          <a:ln w="9525">
            <a:solidFill>
              <a:srgbClr val="E3DCCC"/>
            </a:solidFill>
            <a:prstDash val="solid"/>
          </a:ln>
        </p:spPr>
      </p:sp>
      <p:sp>
        <p:nvSpPr>
          <p:cNvPr id="21" name="Shape 19"/>
          <p:cNvSpPr/>
          <p:nvPr/>
        </p:nvSpPr>
        <p:spPr>
          <a:xfrm>
            <a:off x="3537136" y="1618488"/>
            <a:ext cx="502920" cy="502920"/>
          </a:xfrm>
          <a:prstGeom prst="ellipse">
            <a:avLst/>
          </a:prstGeom>
          <a:solidFill>
            <a:srgbClr val="C1872E"/>
          </a:solidFill>
          <a:ln/>
        </p:spPr>
      </p:sp>
      <p:sp>
        <p:nvSpPr>
          <p:cNvPr id="22" name="Text 20"/>
          <p:cNvSpPr/>
          <p:nvPr/>
        </p:nvSpPr>
        <p:spPr>
          <a:xfrm>
            <a:off x="3537136"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23" name="Text 21"/>
          <p:cNvSpPr/>
          <p:nvPr/>
        </p:nvSpPr>
        <p:spPr>
          <a:xfrm>
            <a:off x="2836706"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Design For Her</a:t>
            </a:r>
            <a:endParaRPr lang="en-US" sz="1250" dirty="0"/>
          </a:p>
        </p:txBody>
      </p:sp>
      <p:sp>
        <p:nvSpPr>
          <p:cNvPr id="24" name="Text 22"/>
          <p:cNvSpPr/>
          <p:nvPr/>
        </p:nvSpPr>
        <p:spPr>
          <a:xfrm>
            <a:off x="2854994"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Covered isn’t the same as catered for.</a:t>
            </a:r>
            <a:endParaRPr lang="en-US" sz="950" dirty="0"/>
          </a:p>
        </p:txBody>
      </p:sp>
      <p:sp>
        <p:nvSpPr>
          <p:cNvPr id="25" name="Text 23"/>
          <p:cNvSpPr/>
          <p:nvPr/>
        </p:nvSpPr>
        <p:spPr>
          <a:xfrm>
            <a:off x="2854994"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Passion for brews is real — range doesn’t reflect it</a:t>
            </a:r>
            <a:endParaRPr lang="en-US" sz="800" dirty="0"/>
          </a:p>
        </p:txBody>
      </p:sp>
      <p:sp>
        <p:nvSpPr>
          <p:cNvPr id="26" name="Shape 24"/>
          <p:cNvSpPr/>
          <p:nvPr/>
        </p:nvSpPr>
        <p:spPr>
          <a:xfrm>
            <a:off x="2928146" y="4032504"/>
            <a:ext cx="1720901" cy="0"/>
          </a:xfrm>
          <a:prstGeom prst="line">
            <a:avLst/>
          </a:prstGeom>
          <a:noFill/>
          <a:ln w="9525">
            <a:solidFill>
              <a:srgbClr val="E3DCCC"/>
            </a:solidFill>
            <a:prstDash val="solid"/>
          </a:ln>
        </p:spPr>
      </p:sp>
      <p:sp>
        <p:nvSpPr>
          <p:cNvPr id="27" name="Text 25"/>
          <p:cNvSpPr/>
          <p:nvPr/>
        </p:nvSpPr>
        <p:spPr>
          <a:xfrm>
            <a:off x="2891570"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Romance the shit out of the RTD</a:t>
            </a:r>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Build the hydration story through wellness/light range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Products she’s proud to serve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Systems designed to sit in eyesight at home</a:t>
            </a:r>
            <a:endParaRPr lang="en-US" sz="900" dirty="0"/>
          </a:p>
        </p:txBody>
      </p:sp>
      <p:sp>
        <p:nvSpPr>
          <p:cNvPr id="28" name="Shape 26"/>
          <p:cNvSpPr/>
          <p:nvPr/>
        </p:nvSpPr>
        <p:spPr>
          <a:xfrm>
            <a:off x="5014806" y="1417320"/>
            <a:ext cx="2123237" cy="5074920"/>
          </a:xfrm>
          <a:prstGeom prst="roundRect">
            <a:avLst>
              <a:gd name="adj" fmla="val 2584"/>
            </a:avLst>
          </a:prstGeom>
          <a:solidFill>
            <a:srgbClr val="FBF8F2"/>
          </a:solidFill>
          <a:ln w="9525">
            <a:solidFill>
              <a:srgbClr val="E3DCCC"/>
            </a:solidFill>
            <a:prstDash val="solid"/>
          </a:ln>
        </p:spPr>
      </p:sp>
      <p:sp>
        <p:nvSpPr>
          <p:cNvPr id="29" name="Shape 27"/>
          <p:cNvSpPr/>
          <p:nvPr/>
        </p:nvSpPr>
        <p:spPr>
          <a:xfrm>
            <a:off x="5824965" y="1618488"/>
            <a:ext cx="502920" cy="502920"/>
          </a:xfrm>
          <a:prstGeom prst="ellipse">
            <a:avLst/>
          </a:prstGeom>
          <a:solidFill>
            <a:srgbClr val="C1872E"/>
          </a:solidFill>
          <a:ln/>
        </p:spPr>
      </p:sp>
      <p:sp>
        <p:nvSpPr>
          <p:cNvPr id="30" name="Text 28"/>
          <p:cNvSpPr/>
          <p:nvPr/>
        </p:nvSpPr>
        <p:spPr>
          <a:xfrm>
            <a:off x="5824965"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31" name="Text 29"/>
          <p:cNvSpPr/>
          <p:nvPr/>
        </p:nvSpPr>
        <p:spPr>
          <a:xfrm>
            <a:off x="5124534" y="2240280"/>
            <a:ext cx="1903781" cy="685800"/>
          </a:xfrm>
          <a:prstGeom prst="rect">
            <a:avLst/>
          </a:prstGeom>
          <a:noFill/>
          <a:ln/>
        </p:spPr>
        <p:txBody>
          <a:bodyPr wrap="square" lIns="0" tIns="0" rIns="0" bIns="0" rtlCol="0" anchor="t"/>
          <a:lstStyle/>
          <a:p>
            <a:pPr marL="0" indent="0" algn="ctr">
              <a:buNone/>
            </a:pPr>
            <a:r>
              <a:rPr lang="en-US" sz="1250" b="1" dirty="0" err="1">
                <a:solidFill>
                  <a:srgbClr val="231F1C"/>
                </a:solidFill>
                <a:latin typeface="Calibri" pitchFamily="34" charset="0"/>
                <a:cs typeface="Calibri" pitchFamily="34" charset="-120"/>
              </a:rPr>
              <a:t>Hyperpersonalise</a:t>
            </a:r>
            <a:r>
              <a:rPr lang="en-US" sz="1250" b="1" dirty="0">
                <a:solidFill>
                  <a:srgbClr val="231F1C"/>
                </a:solidFill>
                <a:latin typeface="Calibri" pitchFamily="34" charset="0"/>
                <a:cs typeface="Calibri" pitchFamily="34" charset="-120"/>
              </a:rPr>
              <a:t> </a:t>
            </a:r>
            <a:r>
              <a:rPr lang="en-US" sz="1250" b="1" dirty="0" err="1">
                <a:solidFill>
                  <a:srgbClr val="231F1C"/>
                </a:solidFill>
                <a:latin typeface="Calibri" pitchFamily="34" charset="0"/>
                <a:cs typeface="Calibri" pitchFamily="34" charset="-120"/>
              </a:rPr>
              <a:t>communiations</a:t>
            </a:r>
            <a:r>
              <a:rPr lang="en-US" sz="1250" b="1" dirty="0">
                <a:solidFill>
                  <a:srgbClr val="231F1C"/>
                </a:solidFill>
                <a:latin typeface="Calibri" pitchFamily="34" charset="0"/>
                <a:cs typeface="Calibri" pitchFamily="34" charset="-120"/>
              </a:rPr>
              <a:t> and LTV</a:t>
            </a:r>
            <a:endParaRPr lang="en-US" sz="1250" dirty="0"/>
          </a:p>
        </p:txBody>
      </p:sp>
      <p:sp>
        <p:nvSpPr>
          <p:cNvPr id="32" name="Text 30"/>
          <p:cNvSpPr/>
          <p:nvPr/>
        </p:nvSpPr>
        <p:spPr>
          <a:xfrm>
            <a:off x="5142822"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This needs a process, not a message.</a:t>
            </a:r>
            <a:endParaRPr lang="en-US" sz="950" dirty="0"/>
          </a:p>
        </p:txBody>
      </p:sp>
      <p:sp>
        <p:nvSpPr>
          <p:cNvPr id="33" name="Text 31"/>
          <p:cNvSpPr/>
          <p:nvPr/>
        </p:nvSpPr>
        <p:spPr>
          <a:xfrm>
            <a:off x="5142822"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Buying cycle: ~60% within 3mo, 40% longer</a:t>
            </a:r>
            <a:endParaRPr lang="en-US" sz="800" dirty="0"/>
          </a:p>
        </p:txBody>
      </p:sp>
      <p:sp>
        <p:nvSpPr>
          <p:cNvPr id="34" name="Shape 32"/>
          <p:cNvSpPr/>
          <p:nvPr/>
        </p:nvSpPr>
        <p:spPr>
          <a:xfrm>
            <a:off x="5215974" y="4032504"/>
            <a:ext cx="1720901" cy="0"/>
          </a:xfrm>
          <a:prstGeom prst="line">
            <a:avLst/>
          </a:prstGeom>
          <a:noFill/>
          <a:ln w="9525">
            <a:solidFill>
              <a:srgbClr val="E3DCCC"/>
            </a:solidFill>
            <a:prstDash val="solid"/>
          </a:ln>
        </p:spPr>
      </p:sp>
      <p:sp>
        <p:nvSpPr>
          <p:cNvPr id="35" name="Text 33"/>
          <p:cNvSpPr/>
          <p:nvPr/>
        </p:nvSpPr>
        <p:spPr>
          <a:xfrm>
            <a:off x="5179398"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Track consumption to predict the next refill</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Re-engage lapsed by actual reason — cutting back vs. forgot</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Trigger-based outreach, not calendar-based</a:t>
            </a:r>
          </a:p>
          <a:p>
            <a:pPr marL="342900" indent="-342900" algn="l">
              <a:lnSpc>
                <a:spcPts val="1200"/>
              </a:lnSpc>
              <a:spcAft>
                <a:spcPts val="600"/>
              </a:spcAft>
              <a:buSzPct val="100000"/>
              <a:buChar char="–"/>
            </a:pPr>
            <a:r>
              <a:rPr lang="en-US" sz="900" dirty="0">
                <a:solidFill>
                  <a:srgbClr val="2A2620"/>
                </a:solidFill>
                <a:latin typeface="Calibri" pitchFamily="34" charset="0"/>
                <a:cs typeface="Calibri" pitchFamily="34" charset="-120"/>
              </a:rPr>
              <a:t>Personal details – anniversaries, footy finals etc.</a:t>
            </a:r>
            <a:endParaRPr lang="en-US" sz="900" dirty="0"/>
          </a:p>
        </p:txBody>
      </p:sp>
      <p:sp>
        <p:nvSpPr>
          <p:cNvPr id="36" name="Shape 34"/>
          <p:cNvSpPr/>
          <p:nvPr/>
        </p:nvSpPr>
        <p:spPr>
          <a:xfrm>
            <a:off x="7302635" y="1417320"/>
            <a:ext cx="2123237" cy="5074920"/>
          </a:xfrm>
          <a:prstGeom prst="roundRect">
            <a:avLst>
              <a:gd name="adj" fmla="val 2584"/>
            </a:avLst>
          </a:prstGeom>
          <a:solidFill>
            <a:srgbClr val="FBF8F2"/>
          </a:solidFill>
          <a:ln w="9525">
            <a:solidFill>
              <a:srgbClr val="E3DCCC"/>
            </a:solidFill>
            <a:prstDash val="solid"/>
          </a:ln>
        </p:spPr>
      </p:sp>
      <p:sp>
        <p:nvSpPr>
          <p:cNvPr id="37" name="Shape 35"/>
          <p:cNvSpPr/>
          <p:nvPr/>
        </p:nvSpPr>
        <p:spPr>
          <a:xfrm>
            <a:off x="8112794" y="1618488"/>
            <a:ext cx="502920" cy="502920"/>
          </a:xfrm>
          <a:prstGeom prst="ellipse">
            <a:avLst/>
          </a:prstGeom>
          <a:solidFill>
            <a:srgbClr val="C1872E"/>
          </a:solidFill>
          <a:ln/>
        </p:spPr>
      </p:sp>
      <p:sp>
        <p:nvSpPr>
          <p:cNvPr id="38" name="Text 36"/>
          <p:cNvSpPr/>
          <p:nvPr/>
        </p:nvSpPr>
        <p:spPr>
          <a:xfrm>
            <a:off x="8112794" y="16184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39" name="Text 37"/>
          <p:cNvSpPr/>
          <p:nvPr/>
        </p:nvSpPr>
        <p:spPr>
          <a:xfrm>
            <a:off x="7412363" y="2240280"/>
            <a:ext cx="1903781" cy="685800"/>
          </a:xfrm>
          <a:prstGeom prst="rect">
            <a:avLst/>
          </a:prstGeom>
          <a:noFill/>
          <a:ln/>
        </p:spPr>
        <p:txBody>
          <a:bodyPr wrap="square" lIns="0" tIns="0" rIns="0" bIns="0" rtlCol="0" anchor="t"/>
          <a:lstStyle/>
          <a:p>
            <a:pPr marL="0" indent="0" algn="ctr">
              <a:buNone/>
            </a:pPr>
            <a:r>
              <a:rPr lang="en-US" sz="1250" b="1" dirty="0">
                <a:solidFill>
                  <a:srgbClr val="231F1C"/>
                </a:solidFill>
                <a:latin typeface="Calibri" pitchFamily="34" charset="0"/>
                <a:ea typeface="Calibri" pitchFamily="34" charset="-122"/>
                <a:cs typeface="Calibri" pitchFamily="34" charset="-120"/>
              </a:rPr>
              <a:t>Make the Kegerator PR-able</a:t>
            </a:r>
            <a:endParaRPr lang="en-US" sz="1250" dirty="0"/>
          </a:p>
        </p:txBody>
      </p:sp>
      <p:sp>
        <p:nvSpPr>
          <p:cNvPr id="40" name="Text 38"/>
          <p:cNvSpPr/>
          <p:nvPr/>
        </p:nvSpPr>
        <p:spPr>
          <a:xfrm>
            <a:off x="7430651" y="2953512"/>
            <a:ext cx="1867205" cy="566928"/>
          </a:xfrm>
          <a:prstGeom prst="rect">
            <a:avLst/>
          </a:prstGeom>
          <a:noFill/>
          <a:ln/>
        </p:spPr>
        <p:txBody>
          <a:bodyPr wrap="square" lIns="0" tIns="0" rIns="0" bIns="0" rtlCol="0" anchor="t"/>
          <a:lstStyle/>
          <a:p>
            <a:pPr marL="0" indent="0" algn="ctr">
              <a:buNone/>
            </a:pPr>
            <a:r>
              <a:rPr lang="en-US" sz="950" i="1" dirty="0">
                <a:solidFill>
                  <a:srgbClr val="6B6660"/>
                </a:solidFill>
                <a:latin typeface="Calibri" pitchFamily="34" charset="0"/>
                <a:ea typeface="Calibri" pitchFamily="34" charset="-122"/>
                <a:cs typeface="Calibri" pitchFamily="34" charset="-120"/>
              </a:rPr>
              <a:t>Turn the system itself into desire.</a:t>
            </a:r>
            <a:endParaRPr lang="en-US" sz="950" dirty="0"/>
          </a:p>
        </p:txBody>
      </p:sp>
      <p:sp>
        <p:nvSpPr>
          <p:cNvPr id="41" name="Text 39"/>
          <p:cNvSpPr/>
          <p:nvPr/>
        </p:nvSpPr>
        <p:spPr>
          <a:xfrm>
            <a:off x="7430651" y="3557016"/>
            <a:ext cx="1867205" cy="411480"/>
          </a:xfrm>
          <a:prstGeom prst="rect">
            <a:avLst/>
          </a:prstGeom>
          <a:noFill/>
          <a:ln/>
        </p:spPr>
        <p:txBody>
          <a:bodyPr wrap="square" lIns="0" tIns="0" rIns="0" bIns="0" rtlCol="0" anchor="t"/>
          <a:lstStyle/>
          <a:p>
            <a:pPr marL="0" indent="0" algn="ctr">
              <a:buNone/>
            </a:pPr>
            <a:r>
              <a:rPr lang="en-US" sz="800" b="1" dirty="0">
                <a:solidFill>
                  <a:srgbClr val="C1872E"/>
                </a:solidFill>
                <a:latin typeface="Calibri" pitchFamily="34" charset="0"/>
                <a:ea typeface="Calibri" pitchFamily="34" charset="-122"/>
                <a:cs typeface="Calibri" pitchFamily="34" charset="-120"/>
              </a:rPr>
              <a:t>PROOF: 1,000 giveaway entries = proven demand</a:t>
            </a:r>
            <a:endParaRPr lang="en-US" sz="800" dirty="0"/>
          </a:p>
        </p:txBody>
      </p:sp>
      <p:sp>
        <p:nvSpPr>
          <p:cNvPr id="42" name="Shape 40"/>
          <p:cNvSpPr/>
          <p:nvPr/>
        </p:nvSpPr>
        <p:spPr>
          <a:xfrm>
            <a:off x="7503803" y="4032504"/>
            <a:ext cx="1720901" cy="0"/>
          </a:xfrm>
          <a:prstGeom prst="line">
            <a:avLst/>
          </a:prstGeom>
          <a:noFill/>
          <a:ln w="9525">
            <a:solidFill>
              <a:srgbClr val="E3DCCC"/>
            </a:solidFill>
            <a:prstDash val="solid"/>
          </a:ln>
        </p:spPr>
      </p:sp>
      <p:sp>
        <p:nvSpPr>
          <p:cNvPr id="43" name="Text 41"/>
          <p:cNvSpPr/>
          <p:nvPr/>
        </p:nvSpPr>
        <p:spPr>
          <a:xfrm>
            <a:off x="7467227" y="4178808"/>
            <a:ext cx="1794053" cy="2194560"/>
          </a:xfrm>
          <a:prstGeom prst="rect">
            <a:avLst/>
          </a:prstGeom>
          <a:noFill/>
          <a:ln/>
        </p:spPr>
        <p:txBody>
          <a:bodyPr wrap="square" lIns="0" tIns="0" rIns="0" bIns="0" rtlCol="0" anchor="t"/>
          <a:lstStyle/>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UGC mechanic — tag Tap That, get a discount</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“Own your keg” personalisation, like a whiskey bottle</a:t>
            </a:r>
            <a:endParaRPr lang="en-US" sz="900" dirty="0"/>
          </a:p>
          <a:p>
            <a:pPr marL="342900" indent="-342900" algn="l">
              <a:lnSpc>
                <a:spcPts val="1200"/>
              </a:lnSpc>
              <a:spcAft>
                <a:spcPts val="600"/>
              </a:spcAft>
              <a:buSzPct val="100000"/>
              <a:buChar char="–"/>
            </a:pPr>
            <a:r>
              <a:rPr lang="en-US" sz="900" dirty="0">
                <a:solidFill>
                  <a:srgbClr val="2A2620"/>
                </a:solidFill>
                <a:latin typeface="Calibri" pitchFamily="34" charset="0"/>
                <a:ea typeface="Calibri" pitchFamily="34" charset="-122"/>
                <a:cs typeface="Calibri" pitchFamily="34" charset="-120"/>
              </a:rPr>
              <a:t>Explore short-term / occasion rental for parties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ECC15A-B560-8BE3-8588-D59E177FD0C7}"/>
              </a:ext>
            </a:extLst>
          </p:cNvPr>
          <p:cNvPicPr>
            <a:picLocks noChangeAspect="1"/>
          </p:cNvPicPr>
          <p:nvPr/>
        </p:nvPicPr>
        <p:blipFill>
          <a:blip r:embed="rId3"/>
          <a:stretch>
            <a:fillRect/>
          </a:stretch>
        </p:blipFill>
        <p:spPr>
          <a:xfrm>
            <a:off x="732471" y="0"/>
            <a:ext cx="4846211" cy="6858000"/>
          </a:xfrm>
          <a:prstGeom prst="rect">
            <a:avLst/>
          </a:prstGeom>
        </p:spPr>
      </p:pic>
      <p:pic>
        <p:nvPicPr>
          <p:cNvPr id="5" name="Picture 4">
            <a:extLst>
              <a:ext uri="{FF2B5EF4-FFF2-40B4-BE49-F238E27FC236}">
                <a16:creationId xmlns:a16="http://schemas.microsoft.com/office/drawing/2014/main" id="{F5956F55-B627-DE35-3F22-093BD5524E4B}"/>
              </a:ext>
            </a:extLst>
          </p:cNvPr>
          <p:cNvPicPr>
            <a:picLocks noChangeAspect="1"/>
          </p:cNvPicPr>
          <p:nvPr/>
        </p:nvPicPr>
        <p:blipFill>
          <a:blip r:embed="rId4"/>
          <a:stretch>
            <a:fillRect/>
          </a:stretch>
        </p:blipFill>
        <p:spPr>
          <a:xfrm>
            <a:off x="6096000" y="0"/>
            <a:ext cx="4846211" cy="6858000"/>
          </a:xfrm>
          <a:prstGeom prst="rect">
            <a:avLst/>
          </a:prstGeom>
        </p:spPr>
      </p:pic>
    </p:spTree>
    <p:extLst>
      <p:ext uri="{BB962C8B-B14F-4D97-AF65-F5344CB8AC3E}">
        <p14:creationId xmlns:p14="http://schemas.microsoft.com/office/powerpoint/2010/main" val="1623144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74552" cy="502920"/>
          </a:xfrm>
          <a:prstGeom prst="rect">
            <a:avLst/>
          </a:prstGeom>
          <a:noFill/>
          <a:ln/>
        </p:spPr>
        <p:txBody>
          <a:bodyPr wrap="square" lIns="0" tIns="0" rIns="0" bIns="0" rtlCol="0" anchor="ctr"/>
          <a:lstStyle/>
          <a:p>
            <a:pPr marL="0" indent="0" algn="l">
              <a:buNone/>
            </a:pPr>
            <a:r>
              <a:rPr lang="en-US" sz="2300" b="1" kern="0" spc="50" dirty="0">
                <a:solidFill>
                  <a:srgbClr val="FFFFFF"/>
                </a:solidFill>
                <a:latin typeface="Arial" pitchFamily="34" charset="0"/>
                <a:ea typeface="Arial" pitchFamily="34" charset="-122"/>
                <a:cs typeface="Arial" pitchFamily="34" charset="-120"/>
              </a:rPr>
              <a:t>B2C FLYWHEEL: THE SIGNATURE WEDDING BREW</a:t>
            </a:r>
            <a:endParaRPr lang="en-US" sz="2300" dirty="0"/>
          </a:p>
        </p:txBody>
      </p:sp>
      <p:sp>
        <p:nvSpPr>
          <p:cNvPr id="3" name="Text 1"/>
          <p:cNvSpPr/>
          <p:nvPr/>
        </p:nvSpPr>
        <p:spPr>
          <a:xfrm>
            <a:off x="457200" y="786384"/>
            <a:ext cx="11274552" cy="365760"/>
          </a:xfrm>
          <a:prstGeom prst="rect">
            <a:avLst/>
          </a:prstGeom>
          <a:noFill/>
          <a:ln/>
        </p:spPr>
        <p:txBody>
          <a:bodyPr wrap="square" lIns="0" tIns="0" rIns="0" bIns="0" rtlCol="0" anchor="ctr"/>
          <a:lstStyle/>
          <a:p>
            <a:pPr marL="0" indent="0" algn="l">
              <a:buNone/>
            </a:pPr>
            <a:r>
              <a:rPr lang="en-US" sz="1350" i="1" dirty="0">
                <a:solidFill>
                  <a:srgbClr val="D4AF37"/>
                </a:solidFill>
                <a:latin typeface="Calibri" pitchFamily="34" charset="0"/>
                <a:ea typeface="Calibri" pitchFamily="34" charset="-122"/>
                <a:cs typeface="Calibri" pitchFamily="34" charset="-120"/>
              </a:rPr>
              <a:t>Turning Hens &amp; Bucks Days into Wedding Day Volume and Direct-to-Consumer Growth</a:t>
            </a:r>
            <a:endParaRPr lang="en-US" sz="1350" dirty="0"/>
          </a:p>
        </p:txBody>
      </p:sp>
      <p:sp>
        <p:nvSpPr>
          <p:cNvPr id="4" name="Text 2"/>
          <p:cNvSpPr/>
          <p:nvPr/>
        </p:nvSpPr>
        <p:spPr>
          <a:xfrm>
            <a:off x="457200" y="1371600"/>
            <a:ext cx="3588410" cy="320040"/>
          </a:xfrm>
          <a:prstGeom prst="rect">
            <a:avLst/>
          </a:prstGeom>
          <a:noFill/>
          <a:ln/>
        </p:spPr>
        <p:txBody>
          <a:bodyPr wrap="square" lIns="0" tIns="0" rIns="0" bIns="0" rtlCol="0" anchor="ctr"/>
          <a:lstStyle/>
          <a:p>
            <a:pPr marL="0" indent="0" algn="l">
              <a:buNone/>
            </a:pPr>
            <a:r>
              <a:rPr lang="en-US" sz="1250" b="1" kern="0" spc="50" dirty="0">
                <a:solidFill>
                  <a:srgbClr val="D4AF37"/>
                </a:solidFill>
                <a:latin typeface="Arial" pitchFamily="34" charset="0"/>
                <a:ea typeface="Arial" pitchFamily="34" charset="-122"/>
                <a:cs typeface="Arial" pitchFamily="34" charset="-120"/>
              </a:rPr>
              <a:t>VISUAL MOCKUP</a:t>
            </a:r>
            <a:endParaRPr lang="en-US" sz="1250" dirty="0"/>
          </a:p>
        </p:txBody>
      </p:sp>
      <p:sp>
        <p:nvSpPr>
          <p:cNvPr id="5" name="Shape 3"/>
          <p:cNvSpPr/>
          <p:nvPr/>
        </p:nvSpPr>
        <p:spPr>
          <a:xfrm>
            <a:off x="457200" y="1755648"/>
            <a:ext cx="3588410" cy="4050792"/>
          </a:xfrm>
          <a:prstGeom prst="roundRect">
            <a:avLst>
              <a:gd name="adj" fmla="val 1274"/>
            </a:avLst>
          </a:prstGeom>
          <a:solidFill>
            <a:srgbClr val="262626"/>
          </a:solidFill>
          <a:ln w="9525">
            <a:solidFill>
              <a:srgbClr val="3A3A3A"/>
            </a:solidFill>
            <a:prstDash val="solid"/>
          </a:ln>
        </p:spPr>
      </p:sp>
      <p:sp>
        <p:nvSpPr>
          <p:cNvPr id="6" name="Shape 4"/>
          <p:cNvSpPr/>
          <p:nvPr/>
        </p:nvSpPr>
        <p:spPr>
          <a:xfrm>
            <a:off x="658368" y="1965960"/>
            <a:ext cx="685800" cy="1051560"/>
          </a:xfrm>
          <a:prstGeom prst="roundRect">
            <a:avLst>
              <a:gd name="adj" fmla="val 10667"/>
            </a:avLst>
          </a:prstGeom>
          <a:solidFill>
            <a:srgbClr val="1A1A1A"/>
          </a:solidFill>
          <a:ln w="12700">
            <a:solidFill>
              <a:srgbClr val="D4AF37"/>
            </a:solidFill>
            <a:prstDash val="solid"/>
          </a:ln>
        </p:spPr>
      </p:sp>
      <p:sp>
        <p:nvSpPr>
          <p:cNvPr id="7" name="Text 5"/>
          <p:cNvSpPr/>
          <p:nvPr/>
        </p:nvSpPr>
        <p:spPr>
          <a:xfrm>
            <a:off x="612648" y="2350008"/>
            <a:ext cx="777240" cy="365760"/>
          </a:xfrm>
          <a:prstGeom prst="rect">
            <a:avLst/>
          </a:prstGeom>
          <a:noFill/>
          <a:ln/>
        </p:spPr>
        <p:txBody>
          <a:bodyPr wrap="square" lIns="0" tIns="0" rIns="0" bIns="0" rtlCol="0" anchor="ctr"/>
          <a:lstStyle/>
          <a:p>
            <a:pPr marL="0" indent="0" algn="ctr">
              <a:buNone/>
            </a:pPr>
            <a:r>
              <a:rPr lang="en-US" sz="700" b="1" dirty="0">
                <a:solidFill>
                  <a:srgbClr val="D4AF37"/>
                </a:solidFill>
                <a:latin typeface="Arial" pitchFamily="34" charset="0"/>
                <a:ea typeface="Arial" pitchFamily="34" charset="-122"/>
                <a:cs typeface="Arial" pitchFamily="34" charset="-120"/>
              </a:rPr>
              <a:t>500ml</a:t>
            </a:r>
            <a:endParaRPr lang="en-US" sz="700" dirty="0"/>
          </a:p>
          <a:p>
            <a:pPr marL="0" indent="0" algn="ctr">
              <a:buNone/>
            </a:pPr>
            <a:r>
              <a:rPr lang="en-US" sz="700" b="1" dirty="0">
                <a:solidFill>
                  <a:srgbClr val="D4AF37"/>
                </a:solidFill>
                <a:latin typeface="Arial" pitchFamily="34" charset="0"/>
                <a:ea typeface="Arial" pitchFamily="34" charset="-122"/>
                <a:cs typeface="Arial" pitchFamily="34" charset="-120"/>
              </a:rPr>
              <a:t>CAN</a:t>
            </a:r>
            <a:endParaRPr lang="en-US" sz="700" dirty="0"/>
          </a:p>
        </p:txBody>
      </p:sp>
      <p:sp>
        <p:nvSpPr>
          <p:cNvPr id="8" name="Shape 6"/>
          <p:cNvSpPr/>
          <p:nvPr/>
        </p:nvSpPr>
        <p:spPr>
          <a:xfrm>
            <a:off x="1572768" y="1965960"/>
            <a:ext cx="1417320" cy="1051560"/>
          </a:xfrm>
          <a:prstGeom prst="roundRect">
            <a:avLst>
              <a:gd name="adj" fmla="val 6957"/>
            </a:avLst>
          </a:prstGeom>
          <a:solidFill>
            <a:srgbClr val="1A1A1A"/>
          </a:solidFill>
          <a:ln w="12700">
            <a:solidFill>
              <a:srgbClr val="D4AF37"/>
            </a:solidFill>
            <a:prstDash val="solid"/>
          </a:ln>
        </p:spPr>
      </p:sp>
      <p:sp>
        <p:nvSpPr>
          <p:cNvPr id="9" name="Text 7"/>
          <p:cNvSpPr/>
          <p:nvPr/>
        </p:nvSpPr>
        <p:spPr>
          <a:xfrm>
            <a:off x="1572768" y="2350008"/>
            <a:ext cx="1417320" cy="365760"/>
          </a:xfrm>
          <a:prstGeom prst="rect">
            <a:avLst/>
          </a:prstGeom>
          <a:noFill/>
          <a:ln/>
        </p:spPr>
        <p:txBody>
          <a:bodyPr wrap="square" lIns="0" tIns="0" rIns="0" bIns="0" rtlCol="0" anchor="ctr"/>
          <a:lstStyle/>
          <a:p>
            <a:pPr marL="0" indent="0" algn="ctr">
              <a:buNone/>
            </a:pPr>
            <a:r>
              <a:rPr lang="en-US" sz="700" b="1" dirty="0">
                <a:solidFill>
                  <a:srgbClr val="D4AF37"/>
                </a:solidFill>
                <a:latin typeface="Arial" pitchFamily="34" charset="0"/>
                <a:ea typeface="Arial" pitchFamily="34" charset="-122"/>
                <a:cs typeface="Arial" pitchFamily="34" charset="-120"/>
              </a:rPr>
              <a:t>20L COMMERCIAL</a:t>
            </a:r>
            <a:endParaRPr lang="en-US" sz="700" dirty="0"/>
          </a:p>
          <a:p>
            <a:pPr marL="0" indent="0" algn="ctr">
              <a:buNone/>
            </a:pPr>
            <a:r>
              <a:rPr lang="en-US" sz="700" b="1" dirty="0">
                <a:solidFill>
                  <a:srgbClr val="D4AF37"/>
                </a:solidFill>
                <a:latin typeface="Arial" pitchFamily="34" charset="0"/>
                <a:ea typeface="Arial" pitchFamily="34" charset="-122"/>
                <a:cs typeface="Arial" pitchFamily="34" charset="-120"/>
              </a:rPr>
              <a:t>KEG</a:t>
            </a:r>
            <a:endParaRPr lang="en-US" sz="700" dirty="0"/>
          </a:p>
        </p:txBody>
      </p:sp>
      <p:sp>
        <p:nvSpPr>
          <p:cNvPr id="10" name="Text 8"/>
          <p:cNvSpPr/>
          <p:nvPr/>
        </p:nvSpPr>
        <p:spPr>
          <a:xfrm>
            <a:off x="658368" y="3081528"/>
            <a:ext cx="3186074" cy="274320"/>
          </a:xfrm>
          <a:prstGeom prst="rect">
            <a:avLst/>
          </a:prstGeom>
          <a:noFill/>
          <a:ln/>
        </p:spPr>
        <p:txBody>
          <a:bodyPr wrap="square" lIns="0" tIns="0" rIns="0" bIns="0" rtlCol="0" anchor="ctr"/>
          <a:lstStyle/>
          <a:p>
            <a:pPr marL="0" indent="0" algn="ctr">
              <a:buNone/>
            </a:pPr>
            <a:r>
              <a:rPr lang="en-US" sz="900" i="1" dirty="0">
                <a:solidFill>
                  <a:srgbClr val="EDEDED"/>
                </a:solidFill>
                <a:latin typeface="Calibri" pitchFamily="34" charset="0"/>
                <a:ea typeface="Calibri" pitchFamily="34" charset="-122"/>
                <a:cs typeface="Calibri" pitchFamily="34" charset="-120"/>
              </a:rPr>
              <a:t>“Sarah &amp; Mark’s Matchmade IPA”</a:t>
            </a:r>
            <a:endParaRPr lang="en-US" sz="900" dirty="0"/>
          </a:p>
        </p:txBody>
      </p:sp>
      <p:sp>
        <p:nvSpPr>
          <p:cNvPr id="11" name="Text 9"/>
          <p:cNvSpPr/>
          <p:nvPr/>
        </p:nvSpPr>
        <p:spPr>
          <a:xfrm>
            <a:off x="658368" y="3447288"/>
            <a:ext cx="3186074" cy="777240"/>
          </a:xfrm>
          <a:prstGeom prst="rect">
            <a:avLst/>
          </a:prstGeom>
          <a:noFill/>
          <a:ln/>
        </p:spPr>
        <p:txBody>
          <a:bodyPr wrap="square" lIns="0" tIns="0" rIns="0" bIns="0" rtlCol="0" anchor="t"/>
          <a:lstStyle/>
          <a:p>
            <a:pPr marL="0" indent="0" algn="l">
              <a:lnSpc>
                <a:spcPct val="110000"/>
              </a:lnSpc>
              <a:buNone/>
            </a:pPr>
            <a:r>
              <a:rPr lang="en-US" sz="950" b="1" dirty="0">
                <a:solidFill>
                  <a:srgbClr val="D4AF37"/>
                </a:solidFill>
                <a:latin typeface="Calibri" pitchFamily="34" charset="0"/>
                <a:ea typeface="Calibri" pitchFamily="34" charset="-122"/>
                <a:cs typeface="Calibri" pitchFamily="34" charset="-120"/>
              </a:rPr>
              <a:t>Label Design: </a:t>
            </a:r>
            <a:r>
              <a:rPr lang="en-US" sz="950" dirty="0">
                <a:solidFill>
                  <a:srgbClr val="EDEDED"/>
                </a:solidFill>
                <a:latin typeface="Calibri" pitchFamily="34" charset="0"/>
                <a:ea typeface="Calibri" pitchFamily="34" charset="-122"/>
                <a:cs typeface="Calibri" pitchFamily="34" charset="-120"/>
              </a:rPr>
              <a:t>Bold industrial layout — Tap That branding + custom couple details (e.g. “Bucks Day Blood Orange RTD”).</a:t>
            </a:r>
            <a:endParaRPr lang="en-US" sz="950" dirty="0"/>
          </a:p>
        </p:txBody>
      </p:sp>
      <p:sp>
        <p:nvSpPr>
          <p:cNvPr id="12" name="Text 10"/>
          <p:cNvSpPr/>
          <p:nvPr/>
        </p:nvSpPr>
        <p:spPr>
          <a:xfrm>
            <a:off x="658368" y="4343400"/>
            <a:ext cx="3186074" cy="594360"/>
          </a:xfrm>
          <a:prstGeom prst="rect">
            <a:avLst/>
          </a:prstGeom>
          <a:noFill/>
          <a:ln/>
        </p:spPr>
        <p:txBody>
          <a:bodyPr wrap="square" lIns="0" tIns="0" rIns="0" bIns="0" rtlCol="0" anchor="t"/>
          <a:lstStyle/>
          <a:p>
            <a:pPr marL="0" indent="0" algn="l">
              <a:lnSpc>
                <a:spcPct val="110000"/>
              </a:lnSpc>
              <a:buNone/>
            </a:pPr>
            <a:r>
              <a:rPr lang="en-US" sz="950" b="1" dirty="0">
                <a:solidFill>
                  <a:srgbClr val="D4AF37"/>
                </a:solidFill>
                <a:latin typeface="Calibri" pitchFamily="34" charset="0"/>
                <a:ea typeface="Calibri" pitchFamily="34" charset="-122"/>
                <a:cs typeface="Calibri" pitchFamily="34" charset="-120"/>
              </a:rPr>
              <a:t>Aesthetic: </a:t>
            </a:r>
            <a:r>
              <a:rPr lang="en-US" sz="950" dirty="0">
                <a:solidFill>
                  <a:srgbClr val="EDEDED"/>
                </a:solidFill>
                <a:latin typeface="Calibri" pitchFamily="34" charset="0"/>
                <a:ea typeface="Calibri" pitchFamily="34" charset="-122"/>
                <a:cs typeface="Calibri" pitchFamily="34" charset="-120"/>
              </a:rPr>
              <a:t>Exposed brick, matte black, timber textures, bold sans-serif type.</a:t>
            </a:r>
            <a:endParaRPr lang="en-US" sz="950" dirty="0"/>
          </a:p>
        </p:txBody>
      </p:sp>
      <p:sp>
        <p:nvSpPr>
          <p:cNvPr id="13" name="Shape 11"/>
          <p:cNvSpPr/>
          <p:nvPr/>
        </p:nvSpPr>
        <p:spPr>
          <a:xfrm>
            <a:off x="658368" y="5093208"/>
            <a:ext cx="658368" cy="658368"/>
          </a:xfrm>
          <a:prstGeom prst="rect">
            <a:avLst/>
          </a:prstGeom>
          <a:solidFill>
            <a:srgbClr val="FFFFFF"/>
          </a:solidFill>
          <a:ln/>
        </p:spPr>
      </p:sp>
      <p:sp>
        <p:nvSpPr>
          <p:cNvPr id="14" name="Shape 12"/>
          <p:cNvSpPr/>
          <p:nvPr/>
        </p:nvSpPr>
        <p:spPr>
          <a:xfrm>
            <a:off x="658368" y="5093208"/>
            <a:ext cx="131674" cy="131674"/>
          </a:xfrm>
          <a:prstGeom prst="rect">
            <a:avLst/>
          </a:prstGeom>
          <a:solidFill>
            <a:srgbClr val="1A1A1A"/>
          </a:solidFill>
          <a:ln/>
        </p:spPr>
      </p:sp>
      <p:sp>
        <p:nvSpPr>
          <p:cNvPr id="15" name="Shape 13"/>
          <p:cNvSpPr/>
          <p:nvPr/>
        </p:nvSpPr>
        <p:spPr>
          <a:xfrm>
            <a:off x="790042" y="5093208"/>
            <a:ext cx="131674" cy="131674"/>
          </a:xfrm>
          <a:prstGeom prst="rect">
            <a:avLst/>
          </a:prstGeom>
          <a:solidFill>
            <a:srgbClr val="1A1A1A"/>
          </a:solidFill>
          <a:ln/>
        </p:spPr>
      </p:sp>
      <p:sp>
        <p:nvSpPr>
          <p:cNvPr id="16" name="Shape 14"/>
          <p:cNvSpPr/>
          <p:nvPr/>
        </p:nvSpPr>
        <p:spPr>
          <a:xfrm>
            <a:off x="921715" y="5093208"/>
            <a:ext cx="131674" cy="131674"/>
          </a:xfrm>
          <a:prstGeom prst="rect">
            <a:avLst/>
          </a:prstGeom>
          <a:solidFill>
            <a:srgbClr val="1A1A1A"/>
          </a:solidFill>
          <a:ln/>
        </p:spPr>
      </p:sp>
      <p:sp>
        <p:nvSpPr>
          <p:cNvPr id="17" name="Shape 15"/>
          <p:cNvSpPr/>
          <p:nvPr/>
        </p:nvSpPr>
        <p:spPr>
          <a:xfrm>
            <a:off x="1185062" y="5093208"/>
            <a:ext cx="131674" cy="131674"/>
          </a:xfrm>
          <a:prstGeom prst="rect">
            <a:avLst/>
          </a:prstGeom>
          <a:solidFill>
            <a:srgbClr val="1A1A1A"/>
          </a:solidFill>
          <a:ln/>
        </p:spPr>
      </p:sp>
      <p:sp>
        <p:nvSpPr>
          <p:cNvPr id="18" name="Shape 16"/>
          <p:cNvSpPr/>
          <p:nvPr/>
        </p:nvSpPr>
        <p:spPr>
          <a:xfrm>
            <a:off x="658368" y="5224882"/>
            <a:ext cx="131674" cy="131674"/>
          </a:xfrm>
          <a:prstGeom prst="rect">
            <a:avLst/>
          </a:prstGeom>
          <a:solidFill>
            <a:srgbClr val="1A1A1A"/>
          </a:solidFill>
          <a:ln/>
        </p:spPr>
      </p:sp>
      <p:sp>
        <p:nvSpPr>
          <p:cNvPr id="19" name="Shape 17"/>
          <p:cNvSpPr/>
          <p:nvPr/>
        </p:nvSpPr>
        <p:spPr>
          <a:xfrm>
            <a:off x="921715" y="5224882"/>
            <a:ext cx="131674" cy="131674"/>
          </a:xfrm>
          <a:prstGeom prst="rect">
            <a:avLst/>
          </a:prstGeom>
          <a:solidFill>
            <a:srgbClr val="1A1A1A"/>
          </a:solidFill>
          <a:ln/>
        </p:spPr>
      </p:sp>
      <p:sp>
        <p:nvSpPr>
          <p:cNvPr id="20" name="Shape 18"/>
          <p:cNvSpPr/>
          <p:nvPr/>
        </p:nvSpPr>
        <p:spPr>
          <a:xfrm>
            <a:off x="658368" y="5356555"/>
            <a:ext cx="131674" cy="131674"/>
          </a:xfrm>
          <a:prstGeom prst="rect">
            <a:avLst/>
          </a:prstGeom>
          <a:solidFill>
            <a:srgbClr val="1A1A1A"/>
          </a:solidFill>
          <a:ln/>
        </p:spPr>
      </p:sp>
      <p:sp>
        <p:nvSpPr>
          <p:cNvPr id="21" name="Shape 19"/>
          <p:cNvSpPr/>
          <p:nvPr/>
        </p:nvSpPr>
        <p:spPr>
          <a:xfrm>
            <a:off x="790042" y="5356555"/>
            <a:ext cx="131674" cy="131674"/>
          </a:xfrm>
          <a:prstGeom prst="rect">
            <a:avLst/>
          </a:prstGeom>
          <a:solidFill>
            <a:srgbClr val="1A1A1A"/>
          </a:solidFill>
          <a:ln/>
        </p:spPr>
      </p:sp>
      <p:sp>
        <p:nvSpPr>
          <p:cNvPr id="22" name="Shape 20"/>
          <p:cNvSpPr/>
          <p:nvPr/>
        </p:nvSpPr>
        <p:spPr>
          <a:xfrm>
            <a:off x="921715" y="5356555"/>
            <a:ext cx="131674" cy="131674"/>
          </a:xfrm>
          <a:prstGeom prst="rect">
            <a:avLst/>
          </a:prstGeom>
          <a:solidFill>
            <a:srgbClr val="1A1A1A"/>
          </a:solidFill>
          <a:ln/>
        </p:spPr>
      </p:sp>
      <p:sp>
        <p:nvSpPr>
          <p:cNvPr id="23" name="Shape 21"/>
          <p:cNvSpPr/>
          <p:nvPr/>
        </p:nvSpPr>
        <p:spPr>
          <a:xfrm>
            <a:off x="1185062" y="5356555"/>
            <a:ext cx="131674" cy="131674"/>
          </a:xfrm>
          <a:prstGeom prst="rect">
            <a:avLst/>
          </a:prstGeom>
          <a:solidFill>
            <a:srgbClr val="1A1A1A"/>
          </a:solidFill>
          <a:ln/>
        </p:spPr>
      </p:sp>
      <p:sp>
        <p:nvSpPr>
          <p:cNvPr id="24" name="Shape 22"/>
          <p:cNvSpPr/>
          <p:nvPr/>
        </p:nvSpPr>
        <p:spPr>
          <a:xfrm>
            <a:off x="921715" y="5488229"/>
            <a:ext cx="131674" cy="131674"/>
          </a:xfrm>
          <a:prstGeom prst="rect">
            <a:avLst/>
          </a:prstGeom>
          <a:solidFill>
            <a:srgbClr val="1A1A1A"/>
          </a:solidFill>
          <a:ln/>
        </p:spPr>
      </p:sp>
      <p:sp>
        <p:nvSpPr>
          <p:cNvPr id="25" name="Shape 23"/>
          <p:cNvSpPr/>
          <p:nvPr/>
        </p:nvSpPr>
        <p:spPr>
          <a:xfrm>
            <a:off x="1053389" y="5488229"/>
            <a:ext cx="131674" cy="131674"/>
          </a:xfrm>
          <a:prstGeom prst="rect">
            <a:avLst/>
          </a:prstGeom>
          <a:solidFill>
            <a:srgbClr val="1A1A1A"/>
          </a:solidFill>
          <a:ln/>
        </p:spPr>
      </p:sp>
      <p:sp>
        <p:nvSpPr>
          <p:cNvPr id="26" name="Shape 24"/>
          <p:cNvSpPr/>
          <p:nvPr/>
        </p:nvSpPr>
        <p:spPr>
          <a:xfrm>
            <a:off x="658368" y="5619902"/>
            <a:ext cx="131674" cy="131674"/>
          </a:xfrm>
          <a:prstGeom prst="rect">
            <a:avLst/>
          </a:prstGeom>
          <a:solidFill>
            <a:srgbClr val="1A1A1A"/>
          </a:solidFill>
          <a:ln/>
        </p:spPr>
      </p:sp>
      <p:sp>
        <p:nvSpPr>
          <p:cNvPr id="27" name="Shape 25"/>
          <p:cNvSpPr/>
          <p:nvPr/>
        </p:nvSpPr>
        <p:spPr>
          <a:xfrm>
            <a:off x="1053389" y="5619902"/>
            <a:ext cx="131674" cy="131674"/>
          </a:xfrm>
          <a:prstGeom prst="rect">
            <a:avLst/>
          </a:prstGeom>
          <a:solidFill>
            <a:srgbClr val="1A1A1A"/>
          </a:solidFill>
          <a:ln/>
        </p:spPr>
      </p:sp>
      <p:sp>
        <p:nvSpPr>
          <p:cNvPr id="28" name="Shape 26"/>
          <p:cNvSpPr/>
          <p:nvPr/>
        </p:nvSpPr>
        <p:spPr>
          <a:xfrm>
            <a:off x="1185062" y="5619902"/>
            <a:ext cx="131674" cy="131674"/>
          </a:xfrm>
          <a:prstGeom prst="rect">
            <a:avLst/>
          </a:prstGeom>
          <a:solidFill>
            <a:srgbClr val="1A1A1A"/>
          </a:solidFill>
          <a:ln/>
        </p:spPr>
      </p:sp>
      <p:sp>
        <p:nvSpPr>
          <p:cNvPr id="29" name="Text 27"/>
          <p:cNvSpPr/>
          <p:nvPr/>
        </p:nvSpPr>
        <p:spPr>
          <a:xfrm>
            <a:off x="1481328" y="5111496"/>
            <a:ext cx="2363114" cy="658368"/>
          </a:xfrm>
          <a:prstGeom prst="rect">
            <a:avLst/>
          </a:prstGeom>
          <a:noFill/>
          <a:ln/>
        </p:spPr>
        <p:txBody>
          <a:bodyPr wrap="square" lIns="0" tIns="0" rIns="0" bIns="0" rtlCol="0" anchor="ctr"/>
          <a:lstStyle/>
          <a:p>
            <a:pPr marL="0" indent="0" algn="l">
              <a:buNone/>
            </a:pPr>
            <a:r>
              <a:rPr lang="en-US" sz="850" b="1" dirty="0">
                <a:solidFill>
                  <a:srgbClr val="D4AF37"/>
                </a:solidFill>
                <a:latin typeface="Arial" pitchFamily="34" charset="0"/>
                <a:ea typeface="Arial" pitchFamily="34" charset="-122"/>
                <a:cs typeface="Arial" pitchFamily="34" charset="-120"/>
              </a:rPr>
              <a:t>SCAN TO ORDER HOME KEGS &amp;</a:t>
            </a:r>
            <a:endParaRPr lang="en-US" sz="850" dirty="0"/>
          </a:p>
          <a:p>
            <a:pPr marL="0" indent="0" algn="l">
              <a:buNone/>
            </a:pPr>
            <a:r>
              <a:rPr lang="en-US" sz="850" b="1" dirty="0">
                <a:solidFill>
                  <a:srgbClr val="D4AF37"/>
                </a:solidFill>
                <a:latin typeface="Arial" pitchFamily="34" charset="0"/>
                <a:ea typeface="Arial" pitchFamily="34" charset="-122"/>
                <a:cs typeface="Arial" pitchFamily="34" charset="-120"/>
              </a:rPr>
              <a:t>DRAFT EQUIPMENT</a:t>
            </a:r>
            <a:endParaRPr lang="en-US" sz="850" dirty="0"/>
          </a:p>
        </p:txBody>
      </p:sp>
      <p:sp>
        <p:nvSpPr>
          <p:cNvPr id="30" name="Text 28"/>
          <p:cNvSpPr/>
          <p:nvPr/>
        </p:nvSpPr>
        <p:spPr>
          <a:xfrm>
            <a:off x="4301642" y="1371600"/>
            <a:ext cx="3588410" cy="320040"/>
          </a:xfrm>
          <a:prstGeom prst="rect">
            <a:avLst/>
          </a:prstGeom>
          <a:noFill/>
          <a:ln/>
        </p:spPr>
        <p:txBody>
          <a:bodyPr wrap="square" lIns="0" tIns="0" rIns="0" bIns="0" rtlCol="0" anchor="ctr"/>
          <a:lstStyle/>
          <a:p>
            <a:pPr marL="0" indent="0" algn="l">
              <a:buNone/>
            </a:pPr>
            <a:r>
              <a:rPr lang="en-US" sz="1250" b="1" kern="0" spc="50" dirty="0">
                <a:solidFill>
                  <a:srgbClr val="D4AF37"/>
                </a:solidFill>
                <a:latin typeface="Arial" pitchFamily="34" charset="0"/>
                <a:ea typeface="Arial" pitchFamily="34" charset="-122"/>
                <a:cs typeface="Arial" pitchFamily="34" charset="-120"/>
              </a:rPr>
              <a:t>THE 4-STEP JOURNEY</a:t>
            </a:r>
            <a:endParaRPr lang="en-US" sz="1250" dirty="0"/>
          </a:p>
        </p:txBody>
      </p:sp>
      <p:sp>
        <p:nvSpPr>
          <p:cNvPr id="31" name="Shape 29"/>
          <p:cNvSpPr/>
          <p:nvPr/>
        </p:nvSpPr>
        <p:spPr>
          <a:xfrm>
            <a:off x="4301642" y="1755648"/>
            <a:ext cx="3588410" cy="4050792"/>
          </a:xfrm>
          <a:prstGeom prst="roundRect">
            <a:avLst>
              <a:gd name="adj" fmla="val 1274"/>
            </a:avLst>
          </a:prstGeom>
          <a:solidFill>
            <a:srgbClr val="262626"/>
          </a:solidFill>
          <a:ln w="9525">
            <a:solidFill>
              <a:srgbClr val="3A3A3A"/>
            </a:solidFill>
            <a:prstDash val="solid"/>
          </a:ln>
        </p:spPr>
      </p:sp>
      <p:sp>
        <p:nvSpPr>
          <p:cNvPr id="32" name="Shape 30"/>
          <p:cNvSpPr/>
          <p:nvPr/>
        </p:nvSpPr>
        <p:spPr>
          <a:xfrm>
            <a:off x="4521098" y="1975104"/>
            <a:ext cx="365760" cy="365760"/>
          </a:xfrm>
          <a:prstGeom prst="ellipse">
            <a:avLst/>
          </a:prstGeom>
          <a:solidFill>
            <a:srgbClr val="D4AF37"/>
          </a:solidFill>
          <a:ln/>
        </p:spPr>
      </p:sp>
      <p:sp>
        <p:nvSpPr>
          <p:cNvPr id="33" name="Text 31"/>
          <p:cNvSpPr/>
          <p:nvPr/>
        </p:nvSpPr>
        <p:spPr>
          <a:xfrm>
            <a:off x="4521098" y="1975104"/>
            <a:ext cx="36576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1</a:t>
            </a:r>
            <a:endParaRPr lang="en-US" sz="1400" dirty="0"/>
          </a:p>
        </p:txBody>
      </p:sp>
      <p:sp>
        <p:nvSpPr>
          <p:cNvPr id="34" name="Text 32"/>
          <p:cNvSpPr/>
          <p:nvPr/>
        </p:nvSpPr>
        <p:spPr>
          <a:xfrm>
            <a:off x="5024018" y="1947672"/>
            <a:ext cx="2856890" cy="320040"/>
          </a:xfrm>
          <a:prstGeom prst="rect">
            <a:avLst/>
          </a:prstGeom>
          <a:noFill/>
          <a:ln/>
        </p:spPr>
        <p:txBody>
          <a:bodyPr wrap="square" lIns="0" tIns="0" rIns="0" bIns="0" rtlCol="0" anchor="ctr"/>
          <a:lstStyle/>
          <a:p>
            <a:pPr marL="0" indent="0" algn="l">
              <a:buNone/>
            </a:pPr>
            <a:r>
              <a:rPr lang="en-US" sz="1250" b="1" dirty="0">
                <a:solidFill>
                  <a:srgbClr val="FFFFFF"/>
                </a:solidFill>
                <a:latin typeface="Arial" pitchFamily="34" charset="0"/>
                <a:ea typeface="Arial" pitchFamily="34" charset="-122"/>
                <a:cs typeface="Arial" pitchFamily="34" charset="-120"/>
              </a:rPr>
              <a:t>The Tap Room Event</a:t>
            </a:r>
            <a:endParaRPr lang="en-US" sz="1250" dirty="0"/>
          </a:p>
        </p:txBody>
      </p:sp>
      <p:sp>
        <p:nvSpPr>
          <p:cNvPr id="35" name="Text 33"/>
          <p:cNvSpPr/>
          <p:nvPr/>
        </p:nvSpPr>
        <p:spPr>
          <a:xfrm>
            <a:off x="5024018" y="2267712"/>
            <a:ext cx="2856890" cy="64008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Private Hens or Bucks session. Guided flight tasting across 27 taps with interactive ingredient blending.</a:t>
            </a:r>
            <a:endParaRPr lang="en-US" sz="950" dirty="0"/>
          </a:p>
        </p:txBody>
      </p:sp>
      <p:sp>
        <p:nvSpPr>
          <p:cNvPr id="36" name="Shape 34"/>
          <p:cNvSpPr/>
          <p:nvPr/>
        </p:nvSpPr>
        <p:spPr>
          <a:xfrm>
            <a:off x="4521098" y="2999232"/>
            <a:ext cx="365760" cy="365760"/>
          </a:xfrm>
          <a:prstGeom prst="ellipse">
            <a:avLst/>
          </a:prstGeom>
          <a:solidFill>
            <a:srgbClr val="D4AF37"/>
          </a:solidFill>
          <a:ln/>
        </p:spPr>
      </p:sp>
      <p:sp>
        <p:nvSpPr>
          <p:cNvPr id="37" name="Text 35"/>
          <p:cNvSpPr/>
          <p:nvPr/>
        </p:nvSpPr>
        <p:spPr>
          <a:xfrm>
            <a:off x="4521098" y="2999232"/>
            <a:ext cx="36576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2</a:t>
            </a:r>
            <a:endParaRPr lang="en-US" sz="1400" dirty="0"/>
          </a:p>
        </p:txBody>
      </p:sp>
      <p:sp>
        <p:nvSpPr>
          <p:cNvPr id="38" name="Text 36"/>
          <p:cNvSpPr/>
          <p:nvPr/>
        </p:nvSpPr>
        <p:spPr>
          <a:xfrm>
            <a:off x="5024018" y="2971800"/>
            <a:ext cx="2856890" cy="320040"/>
          </a:xfrm>
          <a:prstGeom prst="rect">
            <a:avLst/>
          </a:prstGeom>
          <a:noFill/>
          <a:ln/>
        </p:spPr>
        <p:txBody>
          <a:bodyPr wrap="square" lIns="0" tIns="0" rIns="0" bIns="0" rtlCol="0" anchor="ctr"/>
          <a:lstStyle/>
          <a:p>
            <a:pPr marL="0" indent="0" algn="l">
              <a:buNone/>
            </a:pPr>
            <a:r>
              <a:rPr lang="en-US" sz="1250" b="1" dirty="0">
                <a:solidFill>
                  <a:srgbClr val="FFFFFF"/>
                </a:solidFill>
                <a:latin typeface="Arial" pitchFamily="34" charset="0"/>
                <a:ea typeface="Arial" pitchFamily="34" charset="-122"/>
                <a:cs typeface="Arial" pitchFamily="34" charset="-120"/>
              </a:rPr>
              <a:t>Bespoke Branding</a:t>
            </a:r>
            <a:endParaRPr lang="en-US" sz="1250" dirty="0"/>
          </a:p>
        </p:txBody>
      </p:sp>
      <p:sp>
        <p:nvSpPr>
          <p:cNvPr id="39" name="Text 37"/>
          <p:cNvSpPr/>
          <p:nvPr/>
        </p:nvSpPr>
        <p:spPr>
          <a:xfrm>
            <a:off x="5024018" y="3291840"/>
            <a:ext cx="2856890" cy="64008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Co-branded custom label, naming, and beverage style selection — Beer, Sour, Seltzer, or RTD Spirit.</a:t>
            </a:r>
            <a:endParaRPr lang="en-US" sz="950" dirty="0"/>
          </a:p>
        </p:txBody>
      </p:sp>
      <p:sp>
        <p:nvSpPr>
          <p:cNvPr id="40" name="Shape 38"/>
          <p:cNvSpPr/>
          <p:nvPr/>
        </p:nvSpPr>
        <p:spPr>
          <a:xfrm>
            <a:off x="4521098" y="4023360"/>
            <a:ext cx="365760" cy="365760"/>
          </a:xfrm>
          <a:prstGeom prst="ellipse">
            <a:avLst/>
          </a:prstGeom>
          <a:solidFill>
            <a:srgbClr val="D4AF37"/>
          </a:solidFill>
          <a:ln/>
        </p:spPr>
      </p:sp>
      <p:sp>
        <p:nvSpPr>
          <p:cNvPr id="41" name="Text 39"/>
          <p:cNvSpPr/>
          <p:nvPr/>
        </p:nvSpPr>
        <p:spPr>
          <a:xfrm>
            <a:off x="4521098" y="4023360"/>
            <a:ext cx="36576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3</a:t>
            </a:r>
            <a:endParaRPr lang="en-US" sz="1400" dirty="0"/>
          </a:p>
        </p:txBody>
      </p:sp>
      <p:sp>
        <p:nvSpPr>
          <p:cNvPr id="42" name="Text 40"/>
          <p:cNvSpPr/>
          <p:nvPr/>
        </p:nvSpPr>
        <p:spPr>
          <a:xfrm>
            <a:off x="5024018" y="3995928"/>
            <a:ext cx="2856890" cy="320040"/>
          </a:xfrm>
          <a:prstGeom prst="rect">
            <a:avLst/>
          </a:prstGeom>
          <a:noFill/>
          <a:ln/>
        </p:spPr>
        <p:txBody>
          <a:bodyPr wrap="square" lIns="0" tIns="0" rIns="0" bIns="0" rtlCol="0" anchor="ctr"/>
          <a:lstStyle/>
          <a:p>
            <a:pPr marL="0" indent="0" algn="l">
              <a:buNone/>
            </a:pPr>
            <a:r>
              <a:rPr lang="en-US" sz="1250" b="1" dirty="0">
                <a:solidFill>
                  <a:srgbClr val="FFFFFF"/>
                </a:solidFill>
                <a:latin typeface="Arial" pitchFamily="34" charset="0"/>
                <a:ea typeface="Arial" pitchFamily="34" charset="-122"/>
                <a:cs typeface="Arial" pitchFamily="34" charset="-120"/>
              </a:rPr>
              <a:t>Wedding Day Reception</a:t>
            </a:r>
            <a:endParaRPr lang="en-US" sz="1250" dirty="0"/>
          </a:p>
        </p:txBody>
      </p:sp>
      <p:sp>
        <p:nvSpPr>
          <p:cNvPr id="43" name="Text 41"/>
          <p:cNvSpPr/>
          <p:nvPr/>
        </p:nvSpPr>
        <p:spPr>
          <a:xfrm>
            <a:off x="5024018" y="4315968"/>
            <a:ext cx="2856890" cy="64008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Bulk supply delivered in 20L kegs or custom cans for the main event.</a:t>
            </a:r>
            <a:endParaRPr lang="en-US" sz="950" dirty="0"/>
          </a:p>
        </p:txBody>
      </p:sp>
      <p:sp>
        <p:nvSpPr>
          <p:cNvPr id="44" name="Shape 42"/>
          <p:cNvSpPr/>
          <p:nvPr/>
        </p:nvSpPr>
        <p:spPr>
          <a:xfrm>
            <a:off x="4521098" y="5047488"/>
            <a:ext cx="365760" cy="365760"/>
          </a:xfrm>
          <a:prstGeom prst="ellipse">
            <a:avLst/>
          </a:prstGeom>
          <a:solidFill>
            <a:srgbClr val="D4AF37"/>
          </a:solidFill>
          <a:ln/>
        </p:spPr>
      </p:sp>
      <p:sp>
        <p:nvSpPr>
          <p:cNvPr id="45" name="Text 43"/>
          <p:cNvSpPr/>
          <p:nvPr/>
        </p:nvSpPr>
        <p:spPr>
          <a:xfrm>
            <a:off x="4521098" y="5047488"/>
            <a:ext cx="365760" cy="365760"/>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4</a:t>
            </a:r>
            <a:endParaRPr lang="en-US" sz="1400" dirty="0"/>
          </a:p>
        </p:txBody>
      </p:sp>
      <p:sp>
        <p:nvSpPr>
          <p:cNvPr id="46" name="Text 44"/>
          <p:cNvSpPr/>
          <p:nvPr/>
        </p:nvSpPr>
        <p:spPr>
          <a:xfrm>
            <a:off x="5024018" y="5020056"/>
            <a:ext cx="2856890" cy="320040"/>
          </a:xfrm>
          <a:prstGeom prst="rect">
            <a:avLst/>
          </a:prstGeom>
          <a:noFill/>
          <a:ln/>
        </p:spPr>
        <p:txBody>
          <a:bodyPr wrap="square" lIns="0" tIns="0" rIns="0" bIns="0" rtlCol="0" anchor="ctr"/>
          <a:lstStyle/>
          <a:p>
            <a:pPr marL="0" indent="0" algn="l">
              <a:buNone/>
            </a:pPr>
            <a:r>
              <a:rPr lang="en-US" sz="1250" b="1" dirty="0">
                <a:solidFill>
                  <a:srgbClr val="FFFFFF"/>
                </a:solidFill>
                <a:latin typeface="Arial" pitchFamily="34" charset="0"/>
                <a:ea typeface="Arial" pitchFamily="34" charset="-122"/>
                <a:cs typeface="Arial" pitchFamily="34" charset="-120"/>
              </a:rPr>
              <a:t>Take-Home Flywheel</a:t>
            </a:r>
            <a:endParaRPr lang="en-US" sz="1250" dirty="0"/>
          </a:p>
        </p:txBody>
      </p:sp>
      <p:sp>
        <p:nvSpPr>
          <p:cNvPr id="47" name="Text 45"/>
          <p:cNvSpPr/>
          <p:nvPr/>
        </p:nvSpPr>
        <p:spPr>
          <a:xfrm>
            <a:off x="5024018" y="5340096"/>
            <a:ext cx="2856890" cy="64008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Every wedding guest receives a branded take-home sample.</a:t>
            </a:r>
            <a:endParaRPr lang="en-US" sz="950" dirty="0"/>
          </a:p>
        </p:txBody>
      </p:sp>
      <p:sp>
        <p:nvSpPr>
          <p:cNvPr id="48" name="Text 46"/>
          <p:cNvSpPr/>
          <p:nvPr/>
        </p:nvSpPr>
        <p:spPr>
          <a:xfrm>
            <a:off x="8146085" y="1371600"/>
            <a:ext cx="3588410" cy="320040"/>
          </a:xfrm>
          <a:prstGeom prst="rect">
            <a:avLst/>
          </a:prstGeom>
          <a:noFill/>
          <a:ln/>
        </p:spPr>
        <p:txBody>
          <a:bodyPr wrap="square" lIns="0" tIns="0" rIns="0" bIns="0" rtlCol="0" anchor="ctr"/>
          <a:lstStyle/>
          <a:p>
            <a:pPr marL="0" indent="0" algn="l">
              <a:buNone/>
            </a:pPr>
            <a:r>
              <a:rPr lang="en-US" sz="1250" b="1" kern="0" spc="50" dirty="0">
                <a:solidFill>
                  <a:srgbClr val="D4AF37"/>
                </a:solidFill>
                <a:latin typeface="Arial" pitchFamily="34" charset="0"/>
                <a:ea typeface="Arial" pitchFamily="34" charset="-122"/>
                <a:cs typeface="Arial" pitchFamily="34" charset="-120"/>
              </a:rPr>
              <a:t>STRATEGIC COMMERCIAL IMPACT</a:t>
            </a:r>
            <a:endParaRPr lang="en-US" sz="1250" dirty="0"/>
          </a:p>
        </p:txBody>
      </p:sp>
      <p:sp>
        <p:nvSpPr>
          <p:cNvPr id="49" name="Shape 47"/>
          <p:cNvSpPr/>
          <p:nvPr/>
        </p:nvSpPr>
        <p:spPr>
          <a:xfrm>
            <a:off x="8146085" y="1755648"/>
            <a:ext cx="3588410" cy="4050792"/>
          </a:xfrm>
          <a:prstGeom prst="roundRect">
            <a:avLst>
              <a:gd name="adj" fmla="val 1274"/>
            </a:avLst>
          </a:prstGeom>
          <a:solidFill>
            <a:srgbClr val="262626"/>
          </a:solidFill>
          <a:ln w="9525">
            <a:solidFill>
              <a:srgbClr val="3A3A3A"/>
            </a:solidFill>
            <a:prstDash val="solid"/>
          </a:ln>
        </p:spPr>
      </p:sp>
      <p:sp>
        <p:nvSpPr>
          <p:cNvPr id="50" name="Shape 48"/>
          <p:cNvSpPr/>
          <p:nvPr/>
        </p:nvSpPr>
        <p:spPr>
          <a:xfrm>
            <a:off x="8365541" y="2020824"/>
            <a:ext cx="128016" cy="128016"/>
          </a:xfrm>
          <a:prstGeom prst="ellipse">
            <a:avLst/>
          </a:prstGeom>
          <a:solidFill>
            <a:srgbClr val="D4AF37"/>
          </a:solidFill>
          <a:ln/>
        </p:spPr>
      </p:sp>
      <p:sp>
        <p:nvSpPr>
          <p:cNvPr id="51" name="Text 49"/>
          <p:cNvSpPr/>
          <p:nvPr/>
        </p:nvSpPr>
        <p:spPr>
          <a:xfrm>
            <a:off x="8621573" y="1938528"/>
            <a:ext cx="308549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High-Margin Function Revenue</a:t>
            </a:r>
            <a:endParaRPr lang="en-US" sz="1200" dirty="0"/>
          </a:p>
        </p:txBody>
      </p:sp>
      <p:sp>
        <p:nvSpPr>
          <p:cNvPr id="52" name="Text 50"/>
          <p:cNvSpPr/>
          <p:nvPr/>
        </p:nvSpPr>
        <p:spPr>
          <a:xfrm>
            <a:off x="8621573" y="2295144"/>
            <a:ext cx="3085490" cy="82296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Captures premium venue hire and group tasting packages upfront.</a:t>
            </a:r>
            <a:endParaRPr lang="en-US" sz="950" dirty="0"/>
          </a:p>
        </p:txBody>
      </p:sp>
      <p:sp>
        <p:nvSpPr>
          <p:cNvPr id="53" name="Shape 51"/>
          <p:cNvSpPr/>
          <p:nvPr/>
        </p:nvSpPr>
        <p:spPr>
          <a:xfrm>
            <a:off x="8365541" y="3346704"/>
            <a:ext cx="128016" cy="128016"/>
          </a:xfrm>
          <a:prstGeom prst="ellipse">
            <a:avLst/>
          </a:prstGeom>
          <a:solidFill>
            <a:srgbClr val="D4AF37"/>
          </a:solidFill>
          <a:ln/>
        </p:spPr>
      </p:sp>
      <p:sp>
        <p:nvSpPr>
          <p:cNvPr id="54" name="Text 52"/>
          <p:cNvSpPr/>
          <p:nvPr/>
        </p:nvSpPr>
        <p:spPr>
          <a:xfrm>
            <a:off x="8621573" y="3264408"/>
            <a:ext cx="308549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Guaranteed Bulk Volume</a:t>
            </a:r>
            <a:endParaRPr lang="en-US" sz="1200" dirty="0"/>
          </a:p>
        </p:txBody>
      </p:sp>
      <p:sp>
        <p:nvSpPr>
          <p:cNvPr id="55" name="Text 53"/>
          <p:cNvSpPr/>
          <p:nvPr/>
        </p:nvSpPr>
        <p:spPr>
          <a:xfrm>
            <a:off x="8621573" y="3621024"/>
            <a:ext cx="3085490" cy="82296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Secures pre-sold beverage volume for wedding reception catering.</a:t>
            </a:r>
            <a:endParaRPr lang="en-US" sz="950" dirty="0"/>
          </a:p>
        </p:txBody>
      </p:sp>
      <p:sp>
        <p:nvSpPr>
          <p:cNvPr id="56" name="Shape 54"/>
          <p:cNvSpPr/>
          <p:nvPr/>
        </p:nvSpPr>
        <p:spPr>
          <a:xfrm>
            <a:off x="8365541" y="4672584"/>
            <a:ext cx="128016" cy="128016"/>
          </a:xfrm>
          <a:prstGeom prst="ellipse">
            <a:avLst/>
          </a:prstGeom>
          <a:solidFill>
            <a:srgbClr val="D4AF37"/>
          </a:solidFill>
          <a:ln/>
        </p:spPr>
      </p:sp>
      <p:sp>
        <p:nvSpPr>
          <p:cNvPr id="57" name="Text 55"/>
          <p:cNvSpPr/>
          <p:nvPr/>
        </p:nvSpPr>
        <p:spPr>
          <a:xfrm>
            <a:off x="8621573" y="4590288"/>
            <a:ext cx="308549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Organic Customer Acquisition</a:t>
            </a:r>
            <a:endParaRPr lang="en-US" sz="1200" dirty="0"/>
          </a:p>
        </p:txBody>
      </p:sp>
      <p:sp>
        <p:nvSpPr>
          <p:cNvPr id="58" name="Text 56"/>
          <p:cNvSpPr/>
          <p:nvPr/>
        </p:nvSpPr>
        <p:spPr>
          <a:xfrm>
            <a:off x="8621573" y="4946904"/>
            <a:ext cx="3085490" cy="822960"/>
          </a:xfrm>
          <a:prstGeom prst="rect">
            <a:avLst/>
          </a:prstGeom>
          <a:noFill/>
          <a:ln/>
        </p:spPr>
        <p:txBody>
          <a:bodyPr wrap="square" lIns="0" tIns="0" rIns="0" bIns="0" rtlCol="0" anchor="t"/>
          <a:lstStyle/>
          <a:p>
            <a:pPr marL="0" indent="0" algn="l">
              <a:lnSpc>
                <a:spcPct val="110000"/>
              </a:lnSpc>
              <a:buNone/>
            </a:pPr>
            <a:r>
              <a:rPr lang="en-US" sz="950" dirty="0">
                <a:solidFill>
                  <a:srgbClr val="EDEDED"/>
                </a:solidFill>
                <a:latin typeface="Calibri" pitchFamily="34" charset="0"/>
                <a:ea typeface="Calibri" pitchFamily="34" charset="-122"/>
                <a:cs typeface="Calibri" pitchFamily="34" charset="-120"/>
              </a:rPr>
              <a:t>Converts wedding guests into home-kegerator hardware and keg-subscription leads via sample QR codes.</a:t>
            </a:r>
            <a:endParaRPr lang="en-US" sz="950" dirty="0"/>
          </a:p>
        </p:txBody>
      </p:sp>
      <p:sp>
        <p:nvSpPr>
          <p:cNvPr id="59" name="Shape 57"/>
          <p:cNvSpPr/>
          <p:nvPr/>
        </p:nvSpPr>
        <p:spPr>
          <a:xfrm>
            <a:off x="0" y="6053328"/>
            <a:ext cx="12191695" cy="804672"/>
          </a:xfrm>
          <a:prstGeom prst="rect">
            <a:avLst/>
          </a:prstGeom>
          <a:solidFill>
            <a:srgbClr val="D4AF37"/>
          </a:solidFill>
          <a:ln/>
        </p:spPr>
      </p:sp>
      <p:sp>
        <p:nvSpPr>
          <p:cNvPr id="60" name="Text 58"/>
          <p:cNvSpPr/>
          <p:nvPr/>
        </p:nvSpPr>
        <p:spPr>
          <a:xfrm>
            <a:off x="502920" y="6053328"/>
            <a:ext cx="11183112" cy="804672"/>
          </a:xfrm>
          <a:prstGeom prst="rect">
            <a:avLst/>
          </a:prstGeom>
          <a:noFill/>
          <a:ln/>
        </p:spPr>
        <p:txBody>
          <a:bodyPr wrap="square" lIns="0" tIns="0" rIns="0" bIns="0" rtlCol="0" anchor="ctr"/>
          <a:lstStyle/>
          <a:p>
            <a:pPr marL="0" indent="0" algn="l">
              <a:lnSpc>
                <a:spcPct val="105000"/>
              </a:lnSpc>
              <a:buNone/>
            </a:pPr>
            <a:r>
              <a:rPr lang="en-US" sz="1250" b="1" dirty="0">
                <a:solidFill>
                  <a:srgbClr val="1A1A1A"/>
                </a:solidFill>
                <a:latin typeface="Arial" pitchFamily="34" charset="0"/>
                <a:ea typeface="Arial" pitchFamily="34" charset="-122"/>
                <a:cs typeface="Arial" pitchFamily="34" charset="-120"/>
              </a:rPr>
              <a:t>THE ECOSYSTEM EFFECT   </a:t>
            </a:r>
            <a:r>
              <a:rPr lang="en-US" sz="1250" dirty="0">
                <a:solidFill>
                  <a:srgbClr val="1A1A1A"/>
                </a:solidFill>
                <a:latin typeface="Calibri" pitchFamily="34" charset="0"/>
                <a:ea typeface="Calibri" pitchFamily="34" charset="-122"/>
                <a:cs typeface="Calibri" pitchFamily="34" charset="-120"/>
              </a:rPr>
              <a:t>Every wedding serves as a live, self-funding brand activation that puts custom Tap That products directly into the hands of 100+ targeted consumers.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C256BF5A-9C3D-3C45-2427-B9819FA6A5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A machine with a motorcycle engine&#10;&#10;Description automatically generated with medium confidence">
            <a:extLst>
              <a:ext uri="{FF2B5EF4-FFF2-40B4-BE49-F238E27FC236}">
                <a16:creationId xmlns:a16="http://schemas.microsoft.com/office/drawing/2014/main" id="{93F66BB1-ADDA-5455-9F85-D30963D824F5}"/>
              </a:ext>
            </a:extLst>
          </p:cNvPr>
          <p:cNvPicPr>
            <a:picLocks noChangeAspect="1"/>
          </p:cNvPicPr>
          <p:nvPr/>
        </p:nvPicPr>
        <p:blipFill>
          <a:blip r:embed="rId2"/>
          <a:stretch>
            <a:fillRect/>
          </a:stretch>
        </p:blipFill>
        <p:spPr>
          <a:xfrm>
            <a:off x="215120" y="3599622"/>
            <a:ext cx="5472241" cy="3120887"/>
          </a:xfrm>
          <a:prstGeom prst="rect">
            <a:avLst/>
          </a:prstGeom>
        </p:spPr>
      </p:pic>
      <p:pic>
        <p:nvPicPr>
          <p:cNvPr id="6" name="Picture 5" descr="A machine with a beer tap attached to it&#10;&#10;Description automatically generated">
            <a:extLst>
              <a:ext uri="{FF2B5EF4-FFF2-40B4-BE49-F238E27FC236}">
                <a16:creationId xmlns:a16="http://schemas.microsoft.com/office/drawing/2014/main" id="{64CF8A76-CCB0-FE22-691F-88F14BB32504}"/>
              </a:ext>
            </a:extLst>
          </p:cNvPr>
          <p:cNvPicPr>
            <a:picLocks noChangeAspect="1"/>
          </p:cNvPicPr>
          <p:nvPr/>
        </p:nvPicPr>
        <p:blipFill>
          <a:blip r:embed="rId3"/>
          <a:stretch>
            <a:fillRect/>
          </a:stretch>
        </p:blipFill>
        <p:spPr>
          <a:xfrm>
            <a:off x="3875900" y="188095"/>
            <a:ext cx="5798187" cy="3306779"/>
          </a:xfrm>
          <a:prstGeom prst="rect">
            <a:avLst/>
          </a:prstGeom>
        </p:spPr>
      </p:pic>
      <p:pic>
        <p:nvPicPr>
          <p:cNvPr id="8" name="Picture 7" descr="A beer truck with taps on the side&#10;&#10;Description automatically generated">
            <a:extLst>
              <a:ext uri="{FF2B5EF4-FFF2-40B4-BE49-F238E27FC236}">
                <a16:creationId xmlns:a16="http://schemas.microsoft.com/office/drawing/2014/main" id="{C01F6B27-45C4-1741-C554-DAC61B5BC697}"/>
              </a:ext>
            </a:extLst>
          </p:cNvPr>
          <p:cNvPicPr>
            <a:picLocks noChangeAspect="1"/>
          </p:cNvPicPr>
          <p:nvPr/>
        </p:nvPicPr>
        <p:blipFill>
          <a:blip r:embed="rId4"/>
          <a:stretch>
            <a:fillRect/>
          </a:stretch>
        </p:blipFill>
        <p:spPr>
          <a:xfrm>
            <a:off x="5827549" y="3599621"/>
            <a:ext cx="3120887" cy="3120887"/>
          </a:xfrm>
          <a:prstGeom prst="rect">
            <a:avLst/>
          </a:prstGeom>
        </p:spPr>
      </p:pic>
      <p:pic>
        <p:nvPicPr>
          <p:cNvPr id="10" name="Picture 9" descr="A yellow and black tool cart&#10;&#10;Description automatically generated">
            <a:extLst>
              <a:ext uri="{FF2B5EF4-FFF2-40B4-BE49-F238E27FC236}">
                <a16:creationId xmlns:a16="http://schemas.microsoft.com/office/drawing/2014/main" id="{2E5E6B9E-88A9-2ED9-01C6-6CEBE2EB7359}"/>
              </a:ext>
            </a:extLst>
          </p:cNvPr>
          <p:cNvPicPr>
            <a:picLocks noChangeAspect="1"/>
          </p:cNvPicPr>
          <p:nvPr/>
        </p:nvPicPr>
        <p:blipFill>
          <a:blip r:embed="rId5"/>
          <a:stretch>
            <a:fillRect/>
          </a:stretch>
        </p:blipFill>
        <p:spPr>
          <a:xfrm>
            <a:off x="215120" y="157824"/>
            <a:ext cx="3335530" cy="3335530"/>
          </a:xfrm>
          <a:prstGeom prst="rect">
            <a:avLst/>
          </a:prstGeom>
        </p:spPr>
      </p:pic>
    </p:spTree>
    <p:extLst>
      <p:ext uri="{BB962C8B-B14F-4D97-AF65-F5344CB8AC3E}">
        <p14:creationId xmlns:p14="http://schemas.microsoft.com/office/powerpoint/2010/main" val="411958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OTHER STRATEGIC NOTES</a:t>
            </a:r>
            <a:endParaRPr lang="en-US" sz="2600" dirty="0"/>
          </a:p>
        </p:txBody>
      </p:sp>
      <p:sp>
        <p:nvSpPr>
          <p:cNvPr id="4" name="Shape 2"/>
          <p:cNvSpPr/>
          <p:nvPr/>
        </p:nvSpPr>
        <p:spPr>
          <a:xfrm>
            <a:off x="563728" y="1737360"/>
            <a:ext cx="5303520" cy="3291840"/>
          </a:xfrm>
          <a:prstGeom prst="roundRect">
            <a:avLst>
              <a:gd name="adj" fmla="val 2222"/>
            </a:avLst>
          </a:prstGeom>
          <a:solidFill>
            <a:srgbClr val="FBF8F2"/>
          </a:solidFill>
          <a:ln w="9525">
            <a:solidFill>
              <a:srgbClr val="E3DCCC"/>
            </a:solidFill>
            <a:prstDash val="solid"/>
          </a:ln>
        </p:spPr>
      </p:sp>
      <p:sp>
        <p:nvSpPr>
          <p:cNvPr id="5" name="Text 3"/>
          <p:cNvSpPr/>
          <p:nvPr/>
        </p:nvSpPr>
        <p:spPr>
          <a:xfrm>
            <a:off x="929488" y="2011680"/>
            <a:ext cx="4572000" cy="548640"/>
          </a:xfrm>
          <a:prstGeom prst="rect">
            <a:avLst/>
          </a:prstGeom>
          <a:noFill/>
          <a:ln/>
        </p:spPr>
        <p:txBody>
          <a:bodyPr wrap="square" lIns="0" tIns="0" rIns="0" bIns="0" rtlCol="0" anchor="ctr"/>
          <a:lstStyle/>
          <a:p>
            <a:pPr marL="0" indent="0" algn="l">
              <a:buNone/>
            </a:pPr>
            <a:r>
              <a:rPr lang="en-US" sz="1700" b="1" dirty="0">
                <a:solidFill>
                  <a:srgbClr val="8B3A2B"/>
                </a:solidFill>
                <a:latin typeface="Cambria" pitchFamily="34" charset="0"/>
                <a:ea typeface="Cambria" pitchFamily="34" charset="-122"/>
                <a:cs typeface="Cambria" pitchFamily="34" charset="-120"/>
              </a:rPr>
              <a:t>Who’s the Real Enemy?</a:t>
            </a:r>
            <a:endParaRPr lang="en-US" sz="1700" dirty="0"/>
          </a:p>
        </p:txBody>
      </p:sp>
      <p:sp>
        <p:nvSpPr>
          <p:cNvPr id="6" name="Text 4"/>
          <p:cNvSpPr/>
          <p:nvPr/>
        </p:nvSpPr>
        <p:spPr>
          <a:xfrm>
            <a:off x="929488" y="2606040"/>
            <a:ext cx="4572000" cy="2194560"/>
          </a:xfrm>
          <a:prstGeom prst="rect">
            <a:avLst/>
          </a:prstGeom>
          <a:noFill/>
          <a:ln/>
        </p:spPr>
        <p:txBody>
          <a:bodyPr wrap="square" lIns="0" tIns="0" rIns="0" bIns="0" rtlCol="0" anchor="t"/>
          <a:lstStyle/>
          <a:p>
            <a:pPr marL="0" indent="0" algn="l">
              <a:lnSpc>
                <a:spcPct val="115000"/>
              </a:lnSpc>
              <a:buNone/>
            </a:pPr>
            <a:r>
              <a:rPr lang="en-US" sz="1350" dirty="0">
                <a:solidFill>
                  <a:srgbClr val="2A2620"/>
                </a:solidFill>
                <a:latin typeface="Calibri" pitchFamily="34" charset="0"/>
                <a:ea typeface="Calibri" pitchFamily="34" charset="-122"/>
                <a:cs typeface="Calibri" pitchFamily="34" charset="-120"/>
              </a:rPr>
              <a:t>Overpriced pubs — not the duopoly, not A&amp;A or the keg-delivery operators. Speak in unit economics everywhere. Don’t get pulled into a keg price war you don’t need to fight.</a:t>
            </a:r>
            <a:endParaRPr lang="en-US" sz="1350" dirty="0"/>
          </a:p>
        </p:txBody>
      </p:sp>
      <p:sp>
        <p:nvSpPr>
          <p:cNvPr id="7" name="Shape 5"/>
          <p:cNvSpPr/>
          <p:nvPr/>
        </p:nvSpPr>
        <p:spPr>
          <a:xfrm>
            <a:off x="6324448" y="1737360"/>
            <a:ext cx="5303520" cy="3291840"/>
          </a:xfrm>
          <a:prstGeom prst="roundRect">
            <a:avLst>
              <a:gd name="adj" fmla="val 2222"/>
            </a:avLst>
          </a:prstGeom>
          <a:solidFill>
            <a:srgbClr val="FBF8F2"/>
          </a:solidFill>
          <a:ln w="9525">
            <a:solidFill>
              <a:srgbClr val="E3DCCC"/>
            </a:solidFill>
            <a:prstDash val="solid"/>
          </a:ln>
        </p:spPr>
      </p:sp>
      <p:sp>
        <p:nvSpPr>
          <p:cNvPr id="8" name="Text 6"/>
          <p:cNvSpPr/>
          <p:nvPr/>
        </p:nvSpPr>
        <p:spPr>
          <a:xfrm>
            <a:off x="6690208" y="2011680"/>
            <a:ext cx="4572000" cy="548640"/>
          </a:xfrm>
          <a:prstGeom prst="rect">
            <a:avLst/>
          </a:prstGeom>
          <a:noFill/>
          <a:ln/>
        </p:spPr>
        <p:txBody>
          <a:bodyPr wrap="square" lIns="0" tIns="0" rIns="0" bIns="0" rtlCol="0" anchor="ctr"/>
          <a:lstStyle/>
          <a:p>
            <a:pPr marL="0" indent="0" algn="l">
              <a:buNone/>
            </a:pPr>
            <a:r>
              <a:rPr lang="en-US" sz="1700" b="1" dirty="0">
                <a:solidFill>
                  <a:srgbClr val="8B3A2B"/>
                </a:solidFill>
                <a:latin typeface="Cambria" pitchFamily="34" charset="0"/>
                <a:ea typeface="Cambria" pitchFamily="34" charset="-122"/>
                <a:cs typeface="Cambria" pitchFamily="34" charset="-120"/>
              </a:rPr>
              <a:t>Handle the Census With Care</a:t>
            </a:r>
            <a:endParaRPr lang="en-US" sz="1700" dirty="0"/>
          </a:p>
        </p:txBody>
      </p:sp>
      <p:sp>
        <p:nvSpPr>
          <p:cNvPr id="9" name="Text 7"/>
          <p:cNvSpPr/>
          <p:nvPr/>
        </p:nvSpPr>
        <p:spPr>
          <a:xfrm>
            <a:off x="6690208" y="2606040"/>
            <a:ext cx="4572000" cy="2194560"/>
          </a:xfrm>
          <a:prstGeom prst="rect">
            <a:avLst/>
          </a:prstGeom>
          <a:noFill/>
          <a:ln/>
        </p:spPr>
        <p:txBody>
          <a:bodyPr wrap="square" lIns="0" tIns="0" rIns="0" bIns="0" rtlCol="0" anchor="t"/>
          <a:lstStyle/>
          <a:p>
            <a:pPr marL="0" indent="0" algn="l">
              <a:lnSpc>
                <a:spcPct val="115000"/>
              </a:lnSpc>
              <a:buNone/>
            </a:pPr>
            <a:r>
              <a:rPr lang="en-US" sz="1350" dirty="0">
                <a:solidFill>
                  <a:srgbClr val="2A2620"/>
                </a:solidFill>
                <a:latin typeface="Calibri" pitchFamily="34" charset="0"/>
                <a:ea typeface="Calibri" pitchFamily="34" charset="-122"/>
                <a:cs typeface="Calibri" pitchFamily="34" charset="-120"/>
              </a:rPr>
              <a:t>~50 people, forced-choice answers. People don’t always know — or say — why they buy. Status, “wanting to be seen as successful,” compensating for something else: real drivers, rarely spoken. Useful colour. Not a strategy map.</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HOUSEKEEPING — WEBSITE &amp; BRAND</a:t>
            </a:r>
            <a:endParaRPr lang="en-US" sz="2600" dirty="0"/>
          </a:p>
        </p:txBody>
      </p:sp>
      <p:sp>
        <p:nvSpPr>
          <p:cNvPr id="3" name="Text 1"/>
          <p:cNvSpPr/>
          <p:nvPr/>
        </p:nvSpPr>
        <p:spPr>
          <a:xfrm>
            <a:off x="457200" y="804672"/>
            <a:ext cx="11274552" cy="365760"/>
          </a:xfrm>
          <a:prstGeom prst="rect">
            <a:avLst/>
          </a:prstGeom>
          <a:noFill/>
          <a:ln/>
        </p:spPr>
        <p:txBody>
          <a:bodyPr wrap="square" lIns="0" tIns="0" rIns="0" bIns="0" rtlCol="0" anchor="ctr"/>
          <a:lstStyle/>
          <a:p>
            <a:pPr marL="0" indent="0" algn="l">
              <a:buNone/>
            </a:pPr>
            <a:r>
              <a:rPr lang="en-US" sz="1400" i="1" dirty="0">
                <a:solidFill>
                  <a:srgbClr val="C1872E"/>
                </a:solidFill>
                <a:latin typeface="Calibri" pitchFamily="34" charset="0"/>
                <a:ea typeface="Calibri" pitchFamily="34" charset="-122"/>
                <a:cs typeface="Calibri" pitchFamily="34" charset="-120"/>
              </a:rPr>
              <a:t>Small fixes, disproportionate impact.</a:t>
            </a:r>
            <a:endParaRPr lang="en-US" sz="1400" dirty="0"/>
          </a:p>
        </p:txBody>
      </p:sp>
      <p:sp>
        <p:nvSpPr>
          <p:cNvPr id="4" name="Shape 2"/>
          <p:cNvSpPr/>
          <p:nvPr/>
        </p:nvSpPr>
        <p:spPr>
          <a:xfrm>
            <a:off x="548640" y="1563624"/>
            <a:ext cx="274320" cy="274320"/>
          </a:xfrm>
          <a:prstGeom prst="ellipse">
            <a:avLst/>
          </a:prstGeom>
          <a:solidFill>
            <a:srgbClr val="C1872E"/>
          </a:solidFill>
          <a:ln/>
        </p:spPr>
      </p:sp>
      <p:sp>
        <p:nvSpPr>
          <p:cNvPr id="5" name="Text 3"/>
          <p:cNvSpPr/>
          <p:nvPr/>
        </p:nvSpPr>
        <p:spPr>
          <a:xfrm>
            <a:off x="548640" y="1563624"/>
            <a:ext cx="274320" cy="274320"/>
          </a:xfrm>
          <a:prstGeom prst="rect">
            <a:avLst/>
          </a:prstGeom>
          <a:noFill/>
          <a:ln/>
        </p:spPr>
        <p:txBody>
          <a:bodyPr wrap="square" lIns="0" tIns="0" rIns="0" bIns="0" rtlCol="0" anchor="ctr"/>
          <a:lstStyle/>
          <a:p>
            <a:pPr marL="0" indent="0" algn="ctr">
              <a:buNone/>
            </a:pPr>
            <a:endParaRPr lang="en-US" sz="1800" dirty="0"/>
          </a:p>
        </p:txBody>
      </p:sp>
      <p:sp>
        <p:nvSpPr>
          <p:cNvPr id="6" name="Text 4"/>
          <p:cNvSpPr/>
          <p:nvPr/>
        </p:nvSpPr>
        <p:spPr>
          <a:xfrm>
            <a:off x="1005840" y="1508760"/>
            <a:ext cx="2743200" cy="932688"/>
          </a:xfrm>
          <a:prstGeom prst="rect">
            <a:avLst/>
          </a:prstGeom>
          <a:noFill/>
          <a:ln/>
        </p:spPr>
        <p:txBody>
          <a:bodyPr wrap="square" lIns="0" tIns="0" rIns="0" bIns="0" rtlCol="0" anchor="t"/>
          <a:lstStyle/>
          <a:p>
            <a:pPr marL="0" indent="0" algn="l">
              <a:buNone/>
            </a:pPr>
            <a:r>
              <a:rPr lang="en-US" sz="1350" b="1" dirty="0">
                <a:solidFill>
                  <a:srgbClr val="231F1C"/>
                </a:solidFill>
                <a:latin typeface="Calibri" pitchFamily="34" charset="0"/>
                <a:ea typeface="Calibri" pitchFamily="34" charset="-122"/>
                <a:cs typeface="Calibri" pitchFamily="34" charset="-120"/>
              </a:rPr>
              <a:t>Above the fold</a:t>
            </a:r>
            <a:endParaRPr lang="en-US" sz="1350" dirty="0"/>
          </a:p>
        </p:txBody>
      </p:sp>
      <p:sp>
        <p:nvSpPr>
          <p:cNvPr id="7" name="Text 5"/>
          <p:cNvSpPr/>
          <p:nvPr/>
        </p:nvSpPr>
        <p:spPr>
          <a:xfrm>
            <a:off x="3886200" y="1508760"/>
            <a:ext cx="7406640" cy="932688"/>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No hook, background film cut too fast to read, copy pollution, low-res static logo.</a:t>
            </a:r>
            <a:endParaRPr lang="en-US" sz="1300" dirty="0"/>
          </a:p>
        </p:txBody>
      </p:sp>
      <p:sp>
        <p:nvSpPr>
          <p:cNvPr id="8" name="Shape 6"/>
          <p:cNvSpPr/>
          <p:nvPr/>
        </p:nvSpPr>
        <p:spPr>
          <a:xfrm>
            <a:off x="548640" y="2542032"/>
            <a:ext cx="274320" cy="274320"/>
          </a:xfrm>
          <a:prstGeom prst="ellipse">
            <a:avLst/>
          </a:prstGeom>
          <a:solidFill>
            <a:srgbClr val="C1872E"/>
          </a:solidFill>
          <a:ln/>
        </p:spPr>
      </p:sp>
      <p:sp>
        <p:nvSpPr>
          <p:cNvPr id="9" name="Text 7"/>
          <p:cNvSpPr/>
          <p:nvPr/>
        </p:nvSpPr>
        <p:spPr>
          <a:xfrm>
            <a:off x="548640" y="2542032"/>
            <a:ext cx="274320" cy="274320"/>
          </a:xfrm>
          <a:prstGeom prst="rect">
            <a:avLst/>
          </a:prstGeom>
          <a:noFill/>
          <a:ln/>
        </p:spPr>
        <p:txBody>
          <a:bodyPr wrap="square" lIns="0" tIns="0" rIns="0" bIns="0" rtlCol="0" anchor="ctr"/>
          <a:lstStyle/>
          <a:p>
            <a:pPr marL="0" indent="0" algn="ctr">
              <a:buNone/>
            </a:pPr>
            <a:endParaRPr lang="en-US" sz="1800" dirty="0"/>
          </a:p>
        </p:txBody>
      </p:sp>
      <p:sp>
        <p:nvSpPr>
          <p:cNvPr id="10" name="Text 8"/>
          <p:cNvSpPr/>
          <p:nvPr/>
        </p:nvSpPr>
        <p:spPr>
          <a:xfrm>
            <a:off x="1005840" y="2487168"/>
            <a:ext cx="2743200" cy="932688"/>
          </a:xfrm>
          <a:prstGeom prst="rect">
            <a:avLst/>
          </a:prstGeom>
          <a:noFill/>
          <a:ln/>
        </p:spPr>
        <p:txBody>
          <a:bodyPr wrap="square" lIns="0" tIns="0" rIns="0" bIns="0" rtlCol="0" anchor="t"/>
          <a:lstStyle/>
          <a:p>
            <a:pPr marL="0" indent="0" algn="l">
              <a:buNone/>
            </a:pPr>
            <a:r>
              <a:rPr lang="en-US" sz="1350" b="1" dirty="0">
                <a:solidFill>
                  <a:srgbClr val="231F1C"/>
                </a:solidFill>
                <a:latin typeface="Calibri" pitchFamily="34" charset="0"/>
                <a:ea typeface="Calibri" pitchFamily="34" charset="-122"/>
                <a:cs typeface="Calibri" pitchFamily="34" charset="-120"/>
              </a:rPr>
              <a:t>Missing proof</a:t>
            </a:r>
            <a:endParaRPr lang="en-US" sz="1350" dirty="0"/>
          </a:p>
        </p:txBody>
      </p:sp>
      <p:sp>
        <p:nvSpPr>
          <p:cNvPr id="11" name="Text 9"/>
          <p:cNvSpPr/>
          <p:nvPr/>
        </p:nvSpPr>
        <p:spPr>
          <a:xfrm>
            <a:off x="3886200" y="2487168"/>
            <a:ext cx="7406640" cy="932688"/>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Crafted Brewers’ Choice award, “fits any system” callout, and strong reviews are buried below the fold.</a:t>
            </a:r>
            <a:endParaRPr lang="en-US" sz="1300" dirty="0"/>
          </a:p>
        </p:txBody>
      </p:sp>
      <p:sp>
        <p:nvSpPr>
          <p:cNvPr id="12" name="Shape 10"/>
          <p:cNvSpPr/>
          <p:nvPr/>
        </p:nvSpPr>
        <p:spPr>
          <a:xfrm>
            <a:off x="548640" y="3520440"/>
            <a:ext cx="274320" cy="274320"/>
          </a:xfrm>
          <a:prstGeom prst="ellipse">
            <a:avLst/>
          </a:prstGeom>
          <a:solidFill>
            <a:srgbClr val="C1872E"/>
          </a:solidFill>
          <a:ln/>
        </p:spPr>
      </p:sp>
      <p:sp>
        <p:nvSpPr>
          <p:cNvPr id="13" name="Text 11"/>
          <p:cNvSpPr/>
          <p:nvPr/>
        </p:nvSpPr>
        <p:spPr>
          <a:xfrm>
            <a:off x="548640" y="3520440"/>
            <a:ext cx="274320" cy="274320"/>
          </a:xfrm>
          <a:prstGeom prst="rect">
            <a:avLst/>
          </a:prstGeom>
          <a:noFill/>
          <a:ln/>
        </p:spPr>
        <p:txBody>
          <a:bodyPr wrap="square" lIns="0" tIns="0" rIns="0" bIns="0" rtlCol="0" anchor="ctr"/>
          <a:lstStyle/>
          <a:p>
            <a:pPr marL="0" indent="0" algn="ctr">
              <a:buNone/>
            </a:pPr>
            <a:endParaRPr lang="en-US" sz="1800" dirty="0"/>
          </a:p>
        </p:txBody>
      </p:sp>
      <p:sp>
        <p:nvSpPr>
          <p:cNvPr id="14" name="Text 12"/>
          <p:cNvSpPr/>
          <p:nvPr/>
        </p:nvSpPr>
        <p:spPr>
          <a:xfrm>
            <a:off x="1005840" y="3465576"/>
            <a:ext cx="2743200" cy="932688"/>
          </a:xfrm>
          <a:prstGeom prst="rect">
            <a:avLst/>
          </a:prstGeom>
          <a:noFill/>
          <a:ln/>
        </p:spPr>
        <p:txBody>
          <a:bodyPr wrap="square" lIns="0" tIns="0" rIns="0" bIns="0" rtlCol="0" anchor="t"/>
          <a:lstStyle/>
          <a:p>
            <a:pPr marL="0" indent="0" algn="l">
              <a:buNone/>
            </a:pPr>
            <a:r>
              <a:rPr lang="en-US" sz="1350" b="1" dirty="0">
                <a:solidFill>
                  <a:srgbClr val="231F1C"/>
                </a:solidFill>
                <a:latin typeface="Calibri" pitchFamily="34" charset="0"/>
                <a:ea typeface="Calibri" pitchFamily="34" charset="-122"/>
                <a:cs typeface="Calibri" pitchFamily="34" charset="-120"/>
              </a:rPr>
              <a:t>Hierarchy</a:t>
            </a:r>
            <a:endParaRPr lang="en-US" sz="1350" dirty="0"/>
          </a:p>
        </p:txBody>
      </p:sp>
      <p:sp>
        <p:nvSpPr>
          <p:cNvPr id="15" name="Text 13"/>
          <p:cNvSpPr/>
          <p:nvPr/>
        </p:nvSpPr>
        <p:spPr>
          <a:xfrm>
            <a:off x="3886200" y="3465576"/>
            <a:ext cx="7406640" cy="932688"/>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Four business units treated equally. Prioritise the moments that matter — family, friends, the ‘proud provider’ role.</a:t>
            </a:r>
            <a:endParaRPr lang="en-US" sz="1300" dirty="0"/>
          </a:p>
        </p:txBody>
      </p:sp>
      <p:sp>
        <p:nvSpPr>
          <p:cNvPr id="16" name="Shape 14"/>
          <p:cNvSpPr/>
          <p:nvPr/>
        </p:nvSpPr>
        <p:spPr>
          <a:xfrm>
            <a:off x="548640" y="4498848"/>
            <a:ext cx="274320" cy="274320"/>
          </a:xfrm>
          <a:prstGeom prst="ellipse">
            <a:avLst/>
          </a:prstGeom>
          <a:solidFill>
            <a:srgbClr val="C1872E"/>
          </a:solidFill>
          <a:ln/>
        </p:spPr>
      </p:sp>
      <p:sp>
        <p:nvSpPr>
          <p:cNvPr id="17" name="Text 15"/>
          <p:cNvSpPr/>
          <p:nvPr/>
        </p:nvSpPr>
        <p:spPr>
          <a:xfrm>
            <a:off x="548640" y="4498848"/>
            <a:ext cx="274320" cy="274320"/>
          </a:xfrm>
          <a:prstGeom prst="rect">
            <a:avLst/>
          </a:prstGeom>
          <a:noFill/>
          <a:ln/>
        </p:spPr>
        <p:txBody>
          <a:bodyPr wrap="square" lIns="0" tIns="0" rIns="0" bIns="0" rtlCol="0" anchor="ctr"/>
          <a:lstStyle/>
          <a:p>
            <a:pPr marL="0" indent="0" algn="ctr">
              <a:buNone/>
            </a:pPr>
            <a:endParaRPr lang="en-US" sz="1800" dirty="0"/>
          </a:p>
        </p:txBody>
      </p:sp>
      <p:sp>
        <p:nvSpPr>
          <p:cNvPr id="18" name="Text 16"/>
          <p:cNvSpPr/>
          <p:nvPr/>
        </p:nvSpPr>
        <p:spPr>
          <a:xfrm>
            <a:off x="1005840" y="4443984"/>
            <a:ext cx="2743200" cy="932688"/>
          </a:xfrm>
          <a:prstGeom prst="rect">
            <a:avLst/>
          </a:prstGeom>
          <a:noFill/>
          <a:ln/>
        </p:spPr>
        <p:txBody>
          <a:bodyPr wrap="square" lIns="0" tIns="0" rIns="0" bIns="0" rtlCol="0" anchor="t"/>
          <a:lstStyle/>
          <a:p>
            <a:pPr marL="0" indent="0" algn="l">
              <a:buNone/>
            </a:pPr>
            <a:r>
              <a:rPr lang="en-US" sz="1350" b="1" dirty="0">
                <a:solidFill>
                  <a:srgbClr val="231F1C"/>
                </a:solidFill>
                <a:latin typeface="Calibri" pitchFamily="34" charset="0"/>
                <a:ea typeface="Calibri" pitchFamily="34" charset="-122"/>
                <a:cs typeface="Calibri" pitchFamily="34" charset="-120"/>
              </a:rPr>
              <a:t>Category</a:t>
            </a:r>
            <a:endParaRPr lang="en-US" sz="1350" dirty="0"/>
          </a:p>
        </p:txBody>
      </p:sp>
      <p:sp>
        <p:nvSpPr>
          <p:cNvPr id="19" name="Text 17"/>
          <p:cNvSpPr/>
          <p:nvPr/>
        </p:nvSpPr>
        <p:spPr>
          <a:xfrm>
            <a:off x="3886200" y="4443984"/>
            <a:ext cx="7406640" cy="932688"/>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“Commercial brewer” invites mainstream price and product comparisons. Needs an elevated category name of its own.</a:t>
            </a:r>
            <a:endParaRPr lang="en-US" sz="1300" dirty="0"/>
          </a:p>
        </p:txBody>
      </p:sp>
      <p:sp>
        <p:nvSpPr>
          <p:cNvPr id="20" name="Shape 18"/>
          <p:cNvSpPr/>
          <p:nvPr/>
        </p:nvSpPr>
        <p:spPr>
          <a:xfrm>
            <a:off x="548640" y="5477256"/>
            <a:ext cx="274320" cy="274320"/>
          </a:xfrm>
          <a:prstGeom prst="ellipse">
            <a:avLst/>
          </a:prstGeom>
          <a:solidFill>
            <a:srgbClr val="C1872E"/>
          </a:solidFill>
          <a:ln/>
        </p:spPr>
      </p:sp>
      <p:sp>
        <p:nvSpPr>
          <p:cNvPr id="21" name="Text 19"/>
          <p:cNvSpPr/>
          <p:nvPr/>
        </p:nvSpPr>
        <p:spPr>
          <a:xfrm>
            <a:off x="548640" y="5477256"/>
            <a:ext cx="274320" cy="274320"/>
          </a:xfrm>
          <a:prstGeom prst="rect">
            <a:avLst/>
          </a:prstGeom>
          <a:noFill/>
          <a:ln/>
        </p:spPr>
        <p:txBody>
          <a:bodyPr wrap="square" lIns="0" tIns="0" rIns="0" bIns="0" rtlCol="0" anchor="ctr"/>
          <a:lstStyle/>
          <a:p>
            <a:pPr marL="0" indent="0" algn="ctr">
              <a:buNone/>
            </a:pPr>
            <a:endParaRPr lang="en-US" sz="1800" dirty="0"/>
          </a:p>
        </p:txBody>
      </p:sp>
      <p:sp>
        <p:nvSpPr>
          <p:cNvPr id="22" name="Text 20"/>
          <p:cNvSpPr/>
          <p:nvPr/>
        </p:nvSpPr>
        <p:spPr>
          <a:xfrm>
            <a:off x="1005840" y="5422392"/>
            <a:ext cx="2743200" cy="932688"/>
          </a:xfrm>
          <a:prstGeom prst="rect">
            <a:avLst/>
          </a:prstGeom>
          <a:noFill/>
          <a:ln/>
        </p:spPr>
        <p:txBody>
          <a:bodyPr wrap="square" lIns="0" tIns="0" rIns="0" bIns="0" rtlCol="0" anchor="t"/>
          <a:lstStyle/>
          <a:p>
            <a:pPr marL="0" indent="0" algn="l">
              <a:buNone/>
            </a:pPr>
            <a:r>
              <a:rPr lang="en-US" sz="1350" b="1" dirty="0">
                <a:solidFill>
                  <a:srgbClr val="231F1C"/>
                </a:solidFill>
                <a:latin typeface="Calibri" pitchFamily="34" charset="0"/>
                <a:ea typeface="Calibri" pitchFamily="34" charset="-122"/>
                <a:cs typeface="Calibri" pitchFamily="34" charset="-120"/>
              </a:rPr>
              <a:t>Channel language</a:t>
            </a:r>
            <a:endParaRPr lang="en-US" sz="1350" dirty="0"/>
          </a:p>
        </p:txBody>
      </p:sp>
      <p:sp>
        <p:nvSpPr>
          <p:cNvPr id="23" name="Text 21"/>
          <p:cNvSpPr/>
          <p:nvPr/>
        </p:nvSpPr>
        <p:spPr>
          <a:xfrm>
            <a:off x="3886200" y="5422392"/>
            <a:ext cx="7406640" cy="932688"/>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“Wholesale” should speak directly to Restaurants and Sporting Clubs — cuisine matching, club-branded kegs, straight to the margin story.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74552" cy="502920"/>
          </a:xfrm>
          <a:prstGeom prst="rect">
            <a:avLst/>
          </a:prstGeom>
          <a:noFill/>
          <a:ln/>
        </p:spPr>
        <p:txBody>
          <a:bodyPr wrap="square" lIns="0" tIns="0" rIns="0" bIns="0" rtlCol="0" anchor="ctr"/>
          <a:lstStyle/>
          <a:p>
            <a:pPr marL="0" indent="0" algn="l">
              <a:buNone/>
            </a:pPr>
            <a:r>
              <a:rPr lang="en-US" sz="2600" b="1" dirty="0">
                <a:solidFill>
                  <a:srgbClr val="231F1C"/>
                </a:solidFill>
                <a:latin typeface="Calibri" pitchFamily="34" charset="0"/>
                <a:ea typeface="Calibri" pitchFamily="34" charset="-122"/>
                <a:cs typeface="Calibri" pitchFamily="34" charset="-120"/>
              </a:rPr>
              <a:t>WHERE JEWELL PROJECTS CAN HELP</a:t>
            </a:r>
            <a:endParaRPr lang="en-US" sz="2600" dirty="0"/>
          </a:p>
        </p:txBody>
      </p:sp>
      <p:sp>
        <p:nvSpPr>
          <p:cNvPr id="3" name="Text 1"/>
          <p:cNvSpPr/>
          <p:nvPr/>
        </p:nvSpPr>
        <p:spPr>
          <a:xfrm>
            <a:off x="548640" y="1417320"/>
            <a:ext cx="5303520" cy="365760"/>
          </a:xfrm>
          <a:prstGeom prst="rect">
            <a:avLst/>
          </a:prstGeom>
          <a:noFill/>
          <a:ln/>
        </p:spPr>
        <p:txBody>
          <a:bodyPr wrap="square" lIns="0" tIns="0" rIns="0" bIns="0" rtlCol="0" anchor="ctr"/>
          <a:lstStyle/>
          <a:p>
            <a:pPr marL="0" indent="0" algn="l">
              <a:buNone/>
            </a:pPr>
            <a:r>
              <a:rPr lang="en-US" sz="1300" b="1" dirty="0">
                <a:solidFill>
                  <a:srgbClr val="C1872E"/>
                </a:solidFill>
                <a:latin typeface="Calibri" pitchFamily="34" charset="0"/>
                <a:ea typeface="Calibri" pitchFamily="34" charset="-122"/>
                <a:cs typeface="Calibri" pitchFamily="34" charset="-120"/>
              </a:rPr>
              <a:t>FROM THE BRIEF</a:t>
            </a:r>
            <a:endParaRPr lang="en-US" sz="1300" dirty="0"/>
          </a:p>
        </p:txBody>
      </p:sp>
      <p:sp>
        <p:nvSpPr>
          <p:cNvPr id="4" name="Shape 2"/>
          <p:cNvSpPr/>
          <p:nvPr/>
        </p:nvSpPr>
        <p:spPr>
          <a:xfrm>
            <a:off x="548640" y="1947672"/>
            <a:ext cx="237744" cy="237744"/>
          </a:xfrm>
          <a:prstGeom prst="ellipse">
            <a:avLst/>
          </a:prstGeom>
          <a:solidFill>
            <a:srgbClr val="C1872E"/>
          </a:solidFill>
          <a:ln/>
        </p:spPr>
      </p:sp>
      <p:sp>
        <p:nvSpPr>
          <p:cNvPr id="5" name="Text 3"/>
          <p:cNvSpPr/>
          <p:nvPr/>
        </p:nvSpPr>
        <p:spPr>
          <a:xfrm>
            <a:off x="548640" y="1947672"/>
            <a:ext cx="237744" cy="237744"/>
          </a:xfrm>
          <a:prstGeom prst="rect">
            <a:avLst/>
          </a:prstGeom>
          <a:noFill/>
          <a:ln/>
        </p:spPr>
        <p:txBody>
          <a:bodyPr wrap="square" lIns="0" tIns="0" rIns="0" bIns="0" rtlCol="0" anchor="ctr"/>
          <a:lstStyle/>
          <a:p>
            <a:pPr marL="0" indent="0" algn="ctr">
              <a:buNone/>
            </a:pPr>
            <a:endParaRPr lang="en-US" sz="1800" dirty="0"/>
          </a:p>
        </p:txBody>
      </p:sp>
      <p:sp>
        <p:nvSpPr>
          <p:cNvPr id="6" name="Text 4"/>
          <p:cNvSpPr/>
          <p:nvPr/>
        </p:nvSpPr>
        <p:spPr>
          <a:xfrm>
            <a:off x="960120" y="1920240"/>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Website design optimisation</a:t>
            </a:r>
            <a:endParaRPr lang="en-US" sz="1300" dirty="0"/>
          </a:p>
        </p:txBody>
      </p:sp>
      <p:sp>
        <p:nvSpPr>
          <p:cNvPr id="7" name="Shape 5"/>
          <p:cNvSpPr/>
          <p:nvPr/>
        </p:nvSpPr>
        <p:spPr>
          <a:xfrm>
            <a:off x="548640" y="2569464"/>
            <a:ext cx="237744" cy="237744"/>
          </a:xfrm>
          <a:prstGeom prst="ellipse">
            <a:avLst/>
          </a:prstGeom>
          <a:solidFill>
            <a:srgbClr val="C1872E"/>
          </a:solidFill>
          <a:ln/>
        </p:spPr>
      </p:sp>
      <p:sp>
        <p:nvSpPr>
          <p:cNvPr id="8" name="Text 6"/>
          <p:cNvSpPr/>
          <p:nvPr/>
        </p:nvSpPr>
        <p:spPr>
          <a:xfrm>
            <a:off x="548640" y="2569464"/>
            <a:ext cx="237744" cy="237744"/>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960120" y="2542032"/>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SEO / GEO best-practice implementation</a:t>
            </a:r>
            <a:endParaRPr lang="en-US" sz="1300" dirty="0"/>
          </a:p>
        </p:txBody>
      </p:sp>
      <p:sp>
        <p:nvSpPr>
          <p:cNvPr id="10" name="Shape 8"/>
          <p:cNvSpPr/>
          <p:nvPr/>
        </p:nvSpPr>
        <p:spPr>
          <a:xfrm>
            <a:off x="548640" y="3191256"/>
            <a:ext cx="237744" cy="237744"/>
          </a:xfrm>
          <a:prstGeom prst="ellipse">
            <a:avLst/>
          </a:prstGeom>
          <a:solidFill>
            <a:srgbClr val="C1872E"/>
          </a:solidFill>
          <a:ln/>
        </p:spPr>
      </p:sp>
      <p:sp>
        <p:nvSpPr>
          <p:cNvPr id="11" name="Text 9"/>
          <p:cNvSpPr/>
          <p:nvPr/>
        </p:nvSpPr>
        <p:spPr>
          <a:xfrm>
            <a:off x="548640" y="3191256"/>
            <a:ext cx="237744" cy="237744"/>
          </a:xfrm>
          <a:prstGeom prst="rect">
            <a:avLst/>
          </a:prstGeom>
          <a:noFill/>
          <a:ln/>
        </p:spPr>
        <p:txBody>
          <a:bodyPr wrap="square" lIns="0" tIns="0" rIns="0" bIns="0" rtlCol="0" anchor="ctr"/>
          <a:lstStyle/>
          <a:p>
            <a:pPr marL="0" indent="0" algn="ctr">
              <a:buNone/>
            </a:pPr>
            <a:endParaRPr lang="en-US" sz="1800" dirty="0"/>
          </a:p>
        </p:txBody>
      </p:sp>
      <p:sp>
        <p:nvSpPr>
          <p:cNvPr id="12" name="Text 10"/>
          <p:cNvSpPr/>
          <p:nvPr/>
        </p:nvSpPr>
        <p:spPr>
          <a:xfrm>
            <a:off x="960120" y="3163824"/>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PR outreach — tourism operators, experiential platforms</a:t>
            </a:r>
            <a:endParaRPr lang="en-US" sz="1300" dirty="0"/>
          </a:p>
        </p:txBody>
      </p:sp>
      <p:sp>
        <p:nvSpPr>
          <p:cNvPr id="13" name="Shape 11"/>
          <p:cNvSpPr/>
          <p:nvPr/>
        </p:nvSpPr>
        <p:spPr>
          <a:xfrm>
            <a:off x="548640" y="3813048"/>
            <a:ext cx="237744" cy="237744"/>
          </a:xfrm>
          <a:prstGeom prst="ellipse">
            <a:avLst/>
          </a:prstGeom>
          <a:solidFill>
            <a:srgbClr val="C1872E"/>
          </a:solidFill>
          <a:ln/>
        </p:spPr>
      </p:sp>
      <p:sp>
        <p:nvSpPr>
          <p:cNvPr id="14" name="Text 12"/>
          <p:cNvSpPr/>
          <p:nvPr/>
        </p:nvSpPr>
        <p:spPr>
          <a:xfrm>
            <a:off x="548640" y="3813048"/>
            <a:ext cx="237744" cy="237744"/>
          </a:xfrm>
          <a:prstGeom prst="rect">
            <a:avLst/>
          </a:prstGeom>
          <a:noFill/>
          <a:ln/>
        </p:spPr>
        <p:txBody>
          <a:bodyPr wrap="square" lIns="0" tIns="0" rIns="0" bIns="0" rtlCol="0" anchor="ctr"/>
          <a:lstStyle/>
          <a:p>
            <a:pPr marL="0" indent="0" algn="ctr">
              <a:buNone/>
            </a:pPr>
            <a:endParaRPr lang="en-US" sz="1800" dirty="0"/>
          </a:p>
        </p:txBody>
      </p:sp>
      <p:sp>
        <p:nvSpPr>
          <p:cNvPr id="15" name="Text 13"/>
          <p:cNvSpPr/>
          <p:nvPr/>
        </p:nvSpPr>
        <p:spPr>
          <a:xfrm>
            <a:off x="960120" y="3785616"/>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Influencer outreach</a:t>
            </a:r>
            <a:endParaRPr lang="en-US" sz="1300" dirty="0"/>
          </a:p>
        </p:txBody>
      </p:sp>
      <p:sp>
        <p:nvSpPr>
          <p:cNvPr id="16" name="Shape 14"/>
          <p:cNvSpPr/>
          <p:nvPr/>
        </p:nvSpPr>
        <p:spPr>
          <a:xfrm>
            <a:off x="548640" y="4434840"/>
            <a:ext cx="237744" cy="237744"/>
          </a:xfrm>
          <a:prstGeom prst="ellipse">
            <a:avLst/>
          </a:prstGeom>
          <a:solidFill>
            <a:srgbClr val="C1872E"/>
          </a:solidFill>
          <a:ln/>
        </p:spPr>
      </p:sp>
      <p:sp>
        <p:nvSpPr>
          <p:cNvPr id="17" name="Text 15"/>
          <p:cNvSpPr/>
          <p:nvPr/>
        </p:nvSpPr>
        <p:spPr>
          <a:xfrm>
            <a:off x="548640" y="4434840"/>
            <a:ext cx="237744" cy="237744"/>
          </a:xfrm>
          <a:prstGeom prst="rect">
            <a:avLst/>
          </a:prstGeom>
          <a:noFill/>
          <a:ln/>
        </p:spPr>
        <p:txBody>
          <a:bodyPr wrap="square" lIns="0" tIns="0" rIns="0" bIns="0" rtlCol="0" anchor="ctr"/>
          <a:lstStyle/>
          <a:p>
            <a:pPr marL="0" indent="0" algn="ctr">
              <a:buNone/>
            </a:pPr>
            <a:endParaRPr lang="en-US" sz="1800" dirty="0"/>
          </a:p>
        </p:txBody>
      </p:sp>
      <p:sp>
        <p:nvSpPr>
          <p:cNvPr id="18" name="Text 16"/>
          <p:cNvSpPr/>
          <p:nvPr/>
        </p:nvSpPr>
        <p:spPr>
          <a:xfrm>
            <a:off x="960120" y="4407408"/>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Partnerships outreach &amp; PM — BBQ brands, system collabs</a:t>
            </a:r>
            <a:endParaRPr lang="en-US" sz="1300" dirty="0"/>
          </a:p>
        </p:txBody>
      </p:sp>
      <p:sp>
        <p:nvSpPr>
          <p:cNvPr id="19" name="Shape 17"/>
          <p:cNvSpPr/>
          <p:nvPr/>
        </p:nvSpPr>
        <p:spPr>
          <a:xfrm>
            <a:off x="548640" y="5056632"/>
            <a:ext cx="237744" cy="237744"/>
          </a:xfrm>
          <a:prstGeom prst="ellipse">
            <a:avLst/>
          </a:prstGeom>
          <a:solidFill>
            <a:srgbClr val="C1872E"/>
          </a:solidFill>
          <a:ln/>
        </p:spPr>
      </p:sp>
      <p:sp>
        <p:nvSpPr>
          <p:cNvPr id="20" name="Text 18"/>
          <p:cNvSpPr/>
          <p:nvPr/>
        </p:nvSpPr>
        <p:spPr>
          <a:xfrm>
            <a:off x="548640" y="5056632"/>
            <a:ext cx="237744" cy="237744"/>
          </a:xfrm>
          <a:prstGeom prst="rect">
            <a:avLst/>
          </a:prstGeom>
          <a:noFill/>
          <a:ln/>
        </p:spPr>
        <p:txBody>
          <a:bodyPr wrap="square" lIns="0" tIns="0" rIns="0" bIns="0" rtlCol="0" anchor="ctr"/>
          <a:lstStyle/>
          <a:p>
            <a:pPr marL="0" indent="0" algn="ctr">
              <a:buNone/>
            </a:pPr>
            <a:endParaRPr lang="en-US" sz="1800" dirty="0"/>
          </a:p>
        </p:txBody>
      </p:sp>
      <p:sp>
        <p:nvSpPr>
          <p:cNvPr id="21" name="Text 19"/>
          <p:cNvSpPr/>
          <p:nvPr/>
        </p:nvSpPr>
        <p:spPr>
          <a:xfrm>
            <a:off x="960120" y="5029200"/>
            <a:ext cx="4937760" cy="5486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Urban Legends collaborative booking tool</a:t>
            </a:r>
            <a:endParaRPr lang="en-US" sz="1300" dirty="0"/>
          </a:p>
        </p:txBody>
      </p:sp>
      <p:sp>
        <p:nvSpPr>
          <p:cNvPr id="22" name="Text 20"/>
          <p:cNvSpPr/>
          <p:nvPr/>
        </p:nvSpPr>
        <p:spPr>
          <a:xfrm>
            <a:off x="6309360" y="1417320"/>
            <a:ext cx="5303520" cy="365760"/>
          </a:xfrm>
          <a:prstGeom prst="rect">
            <a:avLst/>
          </a:prstGeom>
          <a:noFill/>
          <a:ln/>
        </p:spPr>
        <p:txBody>
          <a:bodyPr wrap="square" lIns="0" tIns="0" rIns="0" bIns="0" rtlCol="0" anchor="ctr"/>
          <a:lstStyle/>
          <a:p>
            <a:pPr marL="0" indent="0" algn="l">
              <a:buNone/>
            </a:pPr>
            <a:r>
              <a:rPr lang="en-US" sz="1300" b="1" dirty="0">
                <a:solidFill>
                  <a:srgbClr val="C1872E"/>
                </a:solidFill>
                <a:latin typeface="Calibri" pitchFamily="34" charset="0"/>
                <a:ea typeface="Calibri" pitchFamily="34" charset="-122"/>
                <a:cs typeface="Calibri" pitchFamily="34" charset="-120"/>
              </a:rPr>
              <a:t>ALSO WORTH ADDING</a:t>
            </a:r>
            <a:endParaRPr lang="en-US" sz="1300" dirty="0"/>
          </a:p>
        </p:txBody>
      </p:sp>
      <p:sp>
        <p:nvSpPr>
          <p:cNvPr id="23" name="Shape 21"/>
          <p:cNvSpPr/>
          <p:nvPr/>
        </p:nvSpPr>
        <p:spPr>
          <a:xfrm>
            <a:off x="6309360" y="1947672"/>
            <a:ext cx="237744" cy="237744"/>
          </a:xfrm>
          <a:prstGeom prst="ellipse">
            <a:avLst/>
          </a:prstGeom>
          <a:solidFill>
            <a:srgbClr val="8B3A2B"/>
          </a:solidFill>
          <a:ln/>
        </p:spPr>
      </p:sp>
      <p:sp>
        <p:nvSpPr>
          <p:cNvPr id="24" name="Text 22"/>
          <p:cNvSpPr/>
          <p:nvPr/>
        </p:nvSpPr>
        <p:spPr>
          <a:xfrm>
            <a:off x="6309360" y="1947672"/>
            <a:ext cx="237744" cy="237744"/>
          </a:xfrm>
          <a:prstGeom prst="rect">
            <a:avLst/>
          </a:prstGeom>
          <a:noFill/>
          <a:ln/>
        </p:spPr>
        <p:txBody>
          <a:bodyPr wrap="square" lIns="0" tIns="0" rIns="0" bIns="0" rtlCol="0" anchor="ctr"/>
          <a:lstStyle/>
          <a:p>
            <a:pPr marL="0" indent="0" algn="ctr">
              <a:buNone/>
            </a:pPr>
            <a:endParaRPr lang="en-US" sz="1800" dirty="0"/>
          </a:p>
        </p:txBody>
      </p:sp>
      <p:sp>
        <p:nvSpPr>
          <p:cNvPr id="25" name="Text 23"/>
          <p:cNvSpPr/>
          <p:nvPr/>
        </p:nvSpPr>
        <p:spPr>
          <a:xfrm>
            <a:off x="6720840" y="1920240"/>
            <a:ext cx="4937760" cy="7772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Trigger-based CRM / lifecycle build — fixes the 90-day SMS problem</a:t>
            </a:r>
            <a:endParaRPr lang="en-US" sz="1300" dirty="0"/>
          </a:p>
        </p:txBody>
      </p:sp>
      <p:sp>
        <p:nvSpPr>
          <p:cNvPr id="26" name="Shape 24"/>
          <p:cNvSpPr/>
          <p:nvPr/>
        </p:nvSpPr>
        <p:spPr>
          <a:xfrm>
            <a:off x="6309360" y="2816352"/>
            <a:ext cx="237744" cy="237744"/>
          </a:xfrm>
          <a:prstGeom prst="ellipse">
            <a:avLst/>
          </a:prstGeom>
          <a:solidFill>
            <a:srgbClr val="8B3A2B"/>
          </a:solidFill>
          <a:ln/>
        </p:spPr>
      </p:sp>
      <p:sp>
        <p:nvSpPr>
          <p:cNvPr id="27" name="Text 25"/>
          <p:cNvSpPr/>
          <p:nvPr/>
        </p:nvSpPr>
        <p:spPr>
          <a:xfrm>
            <a:off x="6309360" y="2816352"/>
            <a:ext cx="237744" cy="237744"/>
          </a:xfrm>
          <a:prstGeom prst="rect">
            <a:avLst/>
          </a:prstGeom>
          <a:noFill/>
          <a:ln/>
        </p:spPr>
        <p:txBody>
          <a:bodyPr wrap="square" lIns="0" tIns="0" rIns="0" bIns="0" rtlCol="0" anchor="ctr"/>
          <a:lstStyle/>
          <a:p>
            <a:pPr marL="0" indent="0" algn="ctr">
              <a:buNone/>
            </a:pPr>
            <a:endParaRPr lang="en-US" sz="1800" dirty="0"/>
          </a:p>
        </p:txBody>
      </p:sp>
      <p:sp>
        <p:nvSpPr>
          <p:cNvPr id="28" name="Text 26"/>
          <p:cNvSpPr/>
          <p:nvPr/>
        </p:nvSpPr>
        <p:spPr>
          <a:xfrm>
            <a:off x="6720840" y="2788920"/>
            <a:ext cx="4937760" cy="7772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Membership program redesign</a:t>
            </a:r>
            <a:endParaRPr lang="en-US" sz="1300" dirty="0"/>
          </a:p>
        </p:txBody>
      </p:sp>
      <p:sp>
        <p:nvSpPr>
          <p:cNvPr id="29" name="Shape 27"/>
          <p:cNvSpPr/>
          <p:nvPr/>
        </p:nvSpPr>
        <p:spPr>
          <a:xfrm>
            <a:off x="6309360" y="3685032"/>
            <a:ext cx="237744" cy="237744"/>
          </a:xfrm>
          <a:prstGeom prst="ellipse">
            <a:avLst/>
          </a:prstGeom>
          <a:solidFill>
            <a:srgbClr val="8B3A2B"/>
          </a:solidFill>
          <a:ln/>
        </p:spPr>
      </p:sp>
      <p:sp>
        <p:nvSpPr>
          <p:cNvPr id="30" name="Text 28"/>
          <p:cNvSpPr/>
          <p:nvPr/>
        </p:nvSpPr>
        <p:spPr>
          <a:xfrm>
            <a:off x="6309360" y="3685032"/>
            <a:ext cx="237744" cy="237744"/>
          </a:xfrm>
          <a:prstGeom prst="rect">
            <a:avLst/>
          </a:prstGeom>
          <a:noFill/>
          <a:ln/>
        </p:spPr>
        <p:txBody>
          <a:bodyPr wrap="square" lIns="0" tIns="0" rIns="0" bIns="0" rtlCol="0" anchor="ctr"/>
          <a:lstStyle/>
          <a:p>
            <a:pPr marL="0" indent="0" algn="ctr">
              <a:buNone/>
            </a:pPr>
            <a:endParaRPr lang="en-US" sz="1800" dirty="0"/>
          </a:p>
        </p:txBody>
      </p:sp>
      <p:sp>
        <p:nvSpPr>
          <p:cNvPr id="31" name="Text 29"/>
          <p:cNvSpPr/>
          <p:nvPr/>
        </p:nvSpPr>
        <p:spPr>
          <a:xfrm>
            <a:off x="6720840" y="3657600"/>
            <a:ext cx="4937760" cy="777240"/>
          </a:xfrm>
          <a:prstGeom prst="rect">
            <a:avLst/>
          </a:prstGeom>
          <a:noFill/>
          <a:ln/>
        </p:spPr>
        <p:txBody>
          <a:bodyPr wrap="square" lIns="0" tIns="0" rIns="0" bIns="0" rtlCol="0" anchor="t"/>
          <a:lstStyle/>
          <a:p>
            <a:pPr marL="0" indent="0" algn="l">
              <a:buNone/>
            </a:pPr>
            <a:r>
              <a:rPr lang="en-US" sz="1300" dirty="0">
                <a:solidFill>
                  <a:srgbClr val="2A2620"/>
                </a:solidFill>
                <a:latin typeface="Calibri" pitchFamily="34" charset="0"/>
                <a:ea typeface="Calibri" pitchFamily="34" charset="-122"/>
                <a:cs typeface="Calibri" pitchFamily="34" charset="-120"/>
              </a:rPr>
              <a:t>Wholesale structure &amp; KPI framework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1628</TotalTime>
  <Words>2276</Words>
  <Application>Microsoft Macintosh PowerPoint</Application>
  <PresentationFormat>Widescreen</PresentationFormat>
  <Paragraphs>210</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Christy Kilmartin</cp:lastModifiedBy>
  <cp:revision>4</cp:revision>
  <dcterms:created xsi:type="dcterms:W3CDTF">2026-09-03T04:25:05Z</dcterms:created>
  <dcterms:modified xsi:type="dcterms:W3CDTF">2026-09-04T07:35:45Z</dcterms:modified>
</cp:coreProperties>
</file>