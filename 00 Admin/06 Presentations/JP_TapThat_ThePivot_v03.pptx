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sound. The shape is the problem, and that is a much better problem to have. Everything after this is about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is what the numbers say, and what they do 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finding is the whole deck. The two units cancel each other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is the one that gives permission to change the shape of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 to 113 active refill customers, reached without a push. That is the proof the model works. The 20% is the number to be careful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census is 49 people answering forced-choice questions. It is colour, not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moves. The first five change the shape of the business, the rest extend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Moves one and three are the ones that change the shape of the business. Everything else waits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has the best return per hour once the core five are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artwork is in Tap That brand, not ours. It is their collateral.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replace the two flyer artworks in the earlier draft, which were embedded as EMF vector and render blank anywhere other than PowerPoint on Windows. These are 200 dpi PNG, print-ready at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used to be a wireframe of a can and a keg. It is now the flyer that would actually go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Concepts only. Nobody has been approached and the marks are not licensed. Worth showing because the reaction tells you which partnership is worth chasing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is a big job. All of them are being paid for daily in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what the brief asked for. Right is what we would add. The CRM build has the shortest payback.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on line one needs setting before this goes to Justin.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65760"/>
            <a:ext cx="10362895" cy="219456"/>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JP · TAP THAT · THE PIVOT</a:t>
            </a:r>
            <a:endParaRPr lang="en-US" sz="900" dirty="0"/>
          </a:p>
        </p:txBody>
      </p:sp>
      <p:sp>
        <p:nvSpPr>
          <p:cNvPr id="3" name="Text 1"/>
          <p:cNvSpPr txBox="1"/>
          <p:nvPr/>
        </p:nvSpPr>
        <p:spPr>
          <a:xfrm>
            <a:off x="841248" y="3977640"/>
            <a:ext cx="10362895" cy="1051560"/>
          </a:xfrm>
          <a:prstGeom prst="rect">
            <a:avLst/>
          </a:prstGeom>
          <a:noFill/>
          <a:ln/>
        </p:spPr>
        <p:txBody>
          <a:bodyPr wrap="square" lIns="0" tIns="0" rIns="0" bIns="0" rtlCol="0" anchor="ctr"/>
          <a:lstStyle/>
          <a:p>
            <a:pPr indent="0" marL="0">
              <a:buNone/>
            </a:pPr>
            <a:r>
              <a:rPr lang="en-US" sz="7200" dirty="0">
                <a:solidFill>
                  <a:srgbClr val="111111"/>
                </a:solidFill>
                <a:latin typeface="Poppins SemiBold" pitchFamily="34" charset="0"/>
                <a:ea typeface="Poppins SemiBold" pitchFamily="34" charset="-122"/>
                <a:cs typeface="Poppins SemiBold" pitchFamily="34" charset="-120"/>
              </a:rPr>
              <a:t>The Pivot</a:t>
            </a:r>
            <a:endParaRPr lang="en-US" sz="7200" dirty="0"/>
          </a:p>
        </p:txBody>
      </p:sp>
      <p:sp>
        <p:nvSpPr>
          <p:cNvPr id="4" name="Text 2"/>
          <p:cNvSpPr txBox="1"/>
          <p:nvPr/>
        </p:nvSpPr>
        <p:spPr>
          <a:xfrm>
            <a:off x="914400" y="5138928"/>
            <a:ext cx="10362895" cy="457200"/>
          </a:xfrm>
          <a:prstGeom prst="rect">
            <a:avLst/>
          </a:prstGeom>
          <a:noFill/>
          <a:ln/>
        </p:spPr>
        <p:txBody>
          <a:bodyPr wrap="square" lIns="0" tIns="0" rIns="0" bIns="0" rtlCol="0" anchor="ctr"/>
          <a:lstStyle/>
          <a:p>
            <a:pPr indent="0" marL="0">
              <a:buNone/>
            </a:pPr>
            <a:r>
              <a:rPr lang="en-US" sz="2800" dirty="0">
                <a:solidFill>
                  <a:srgbClr val="111111"/>
                </a:solidFill>
                <a:latin typeface="Poppins Light" pitchFamily="34" charset="0"/>
                <a:ea typeface="Poppins Light" pitchFamily="34" charset="-122"/>
                <a:cs typeface="Poppins Light" pitchFamily="34" charset="-120"/>
              </a:rPr>
              <a:t>From vanity to sanity. A strategic evolution, not a rebrand.</a:t>
            </a:r>
            <a:endParaRPr lang="en-US" sz="2800" dirty="0"/>
          </a:p>
        </p:txBody>
      </p:sp>
      <p:sp>
        <p:nvSpPr>
          <p:cNvPr id="5" name="Text 3"/>
          <p:cNvSpPr txBox="1"/>
          <p:nvPr/>
        </p:nvSpPr>
        <p:spPr>
          <a:xfrm>
            <a:off x="7619695" y="5943600"/>
            <a:ext cx="3657600" cy="274320"/>
          </a:xfrm>
          <a:prstGeom prst="rect">
            <a:avLst/>
          </a:prstGeom>
          <a:noFill/>
          <a:ln/>
        </p:spPr>
        <p:txBody>
          <a:bodyPr wrap="square" lIns="0" tIns="0" rIns="0" bIns="0" rtlCol="0" anchor="ctr"/>
          <a:lstStyle/>
          <a:p>
            <a:pPr algn="r" indent="0" marL="0">
              <a:buNone/>
            </a:pPr>
            <a:r>
              <a:rPr lang="en-US" sz="1100" dirty="0">
                <a:solidFill>
                  <a:srgbClr val="666666"/>
                </a:solidFill>
                <a:latin typeface="Poppins" pitchFamily="34" charset="0"/>
                <a:ea typeface="Poppins" pitchFamily="34" charset="-122"/>
                <a:cs typeface="Poppins" pitchFamily="34" charset="-120"/>
              </a:rPr>
              <a:t>6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56032"/>
          </a:xfrm>
          <a:prstGeom prst="rect">
            <a:avLst/>
          </a:prstGeom>
          <a:noFill/>
          <a:ln/>
        </p:spPr>
        <p:txBody>
          <a:bodyPr wrap="square" lIns="0" tIns="0" rIns="0" bIns="0" rtlCol="0" anchor="ctr"/>
          <a:lstStyle/>
          <a:p>
            <a:pPr indent="0" marL="0">
              <a:buNone/>
            </a:pPr>
            <a:r>
              <a:rPr lang="en-US" sz="1400" spc="300" kern="0" dirty="0">
                <a:solidFill>
                  <a:srgbClr val="FAF8F4"/>
                </a:solidFill>
                <a:latin typeface="Poppins Light" pitchFamily="34" charset="0"/>
                <a:ea typeface="Poppins Light" pitchFamily="34" charset="-122"/>
                <a:cs typeface="Poppins Light" pitchFamily="34" charset="-120"/>
              </a:rPr>
              <a:t>PART 01</a:t>
            </a:r>
            <a:endParaRPr lang="en-US" sz="1400" dirty="0"/>
          </a:p>
        </p:txBody>
      </p:sp>
      <p:sp>
        <p:nvSpPr>
          <p:cNvPr id="3" name="Text 1"/>
          <p:cNvSpPr txBox="1"/>
          <p:nvPr/>
        </p:nvSpPr>
        <p:spPr>
          <a:xfrm>
            <a:off x="822960" y="2286000"/>
            <a:ext cx="10362895" cy="1737360"/>
          </a:xfrm>
          <a:prstGeom prst="rect">
            <a:avLst/>
          </a:prstGeom>
          <a:noFill/>
          <a:ln/>
        </p:spPr>
        <p:txBody>
          <a:bodyPr wrap="square" lIns="0" tIns="0" rIns="0" bIns="0" rtlCol="0" anchor="ctr"/>
          <a:lstStyle/>
          <a:p>
            <a:pPr indent="0" marL="0">
              <a:buNone/>
            </a:pPr>
            <a:r>
              <a:rPr lang="en-US" sz="12000" dirty="0">
                <a:solidFill>
                  <a:srgbClr val="FAF8F4"/>
                </a:solidFill>
                <a:latin typeface="Poppins Light" pitchFamily="34" charset="0"/>
                <a:ea typeface="Poppins Light" pitchFamily="34" charset="-122"/>
                <a:cs typeface="Poppins Light" pitchFamily="34" charset="-120"/>
              </a:rPr>
              <a:t>Context.</a:t>
            </a:r>
            <a:endParaRPr lang="en-US" sz="12000" dirty="0"/>
          </a:p>
        </p:txBody>
      </p:sp>
      <p:sp>
        <p:nvSpPr>
          <p:cNvPr id="4" name="Text 2"/>
          <p:cNvSpPr txBox="1"/>
          <p:nvPr/>
        </p:nvSpPr>
        <p:spPr>
          <a:xfrm>
            <a:off x="914400" y="4279392"/>
            <a:ext cx="7772400" cy="365760"/>
          </a:xfrm>
          <a:prstGeom prst="rect">
            <a:avLst/>
          </a:prstGeom>
          <a:noFill/>
          <a:ln/>
        </p:spPr>
        <p:txBody>
          <a:bodyPr wrap="square" lIns="0" tIns="0" rIns="0" bIns="0" rtlCol="0" anchor="ctr"/>
          <a:lstStyle/>
          <a:p>
            <a:pPr indent="0" marL="0">
              <a:buNone/>
            </a:pPr>
            <a:r>
              <a:rPr lang="en-US" sz="1600" dirty="0">
                <a:solidFill>
                  <a:srgbClr val="FAF8F4"/>
                </a:solidFill>
                <a:latin typeface="Poppins Light" pitchFamily="34" charset="0"/>
                <a:ea typeface="Poppins Light" pitchFamily="34" charset="-122"/>
                <a:cs typeface="Poppins Light" pitchFamily="34" charset="-120"/>
              </a:rPr>
              <a:t>What the numbers and the site visit actually say.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01 · CONTEXT</a:t>
            </a:r>
            <a:endParaRPr lang="en-US" sz="900" dirty="0"/>
          </a:p>
        </p:txBody>
      </p:sp>
      <p:sp>
        <p:nvSpPr>
          <p:cNvPr id="3" name="Text 1"/>
          <p:cNvSpPr txBox="1"/>
          <p:nvPr/>
        </p:nvSpPr>
        <p:spPr>
          <a:xfrm>
            <a:off x="914400" y="786384"/>
            <a:ext cx="10362895" cy="1133856"/>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The overall plan is sound. Focus is the part that is missing.</a:t>
            </a:r>
            <a:endParaRPr lang="en-US" sz="4200" dirty="0"/>
          </a:p>
        </p:txBody>
      </p:sp>
      <p:sp>
        <p:nvSpPr>
          <p:cNvPr id="4" name="Shape 2"/>
          <p:cNvSpPr/>
          <p:nvPr/>
        </p:nvSpPr>
        <p:spPr>
          <a:xfrm>
            <a:off x="914400" y="2377440"/>
            <a:ext cx="10362895" cy="0"/>
          </a:xfrm>
          <a:prstGeom prst="line">
            <a:avLst/>
          </a:prstGeom>
          <a:noFill/>
          <a:ln w="9525">
            <a:solidFill>
              <a:srgbClr val="D8D4CF"/>
            </a:solidFill>
            <a:prstDash val="solid"/>
          </a:ln>
        </p:spPr>
      </p:sp>
      <p:sp>
        <p:nvSpPr>
          <p:cNvPr id="5" name="Text 3"/>
          <p:cNvSpPr txBox="1"/>
          <p:nvPr/>
        </p:nvSpPr>
        <p:spPr>
          <a:xfrm>
            <a:off x="914400" y="2523744"/>
            <a:ext cx="640080" cy="384048"/>
          </a:xfrm>
          <a:prstGeom prst="rect">
            <a:avLst/>
          </a:prstGeom>
          <a:noFill/>
          <a:ln/>
        </p:spPr>
        <p:txBody>
          <a:bodyPr wrap="square" lIns="0" tIns="0" rIns="0" bIns="0" rtlCol="0" anchor="ctr"/>
          <a:lstStyle/>
          <a:p>
            <a:pPr indent="0" marL="0">
              <a:buNone/>
            </a:pPr>
            <a:r>
              <a:rPr lang="en-US" sz="2400" dirty="0">
                <a:solidFill>
                  <a:srgbClr val="666666"/>
                </a:solidFill>
                <a:latin typeface="Poppins Light" pitchFamily="34" charset="0"/>
                <a:ea typeface="Poppins Light" pitchFamily="34" charset="-122"/>
                <a:cs typeface="Poppins Light" pitchFamily="34" charset="-120"/>
              </a:rPr>
              <a:t>01</a:t>
            </a:r>
            <a:endParaRPr lang="en-US" sz="2400" dirty="0"/>
          </a:p>
        </p:txBody>
      </p:sp>
      <p:sp>
        <p:nvSpPr>
          <p:cNvPr id="6" name="Text 4"/>
          <p:cNvSpPr txBox="1"/>
          <p:nvPr/>
        </p:nvSpPr>
        <p:spPr>
          <a:xfrm>
            <a:off x="1691640" y="2523744"/>
            <a:ext cx="3566160" cy="822960"/>
          </a:xfrm>
          <a:prstGeom prst="rect">
            <a:avLst/>
          </a:prstGeom>
          <a:noFill/>
          <a:ln/>
        </p:spPr>
        <p:txBody>
          <a:bodyPr wrap="square" lIns="0" tIns="0" rIns="0" bIns="0" rtlCol="0" anchor="ctr"/>
          <a:lstStyle/>
          <a:p>
            <a:pPr indent="0" marL="0">
              <a:lnSpc>
                <a:spcPct val="114000"/>
              </a:lnSpc>
              <a:buNone/>
            </a:pPr>
            <a:r>
              <a:rPr lang="en-US" sz="1500" dirty="0">
                <a:solidFill>
                  <a:srgbClr val="111111"/>
                </a:solidFill>
                <a:latin typeface="Poppins Medium" pitchFamily="34" charset="0"/>
                <a:ea typeface="Poppins Medium" pitchFamily="34" charset="-122"/>
                <a:cs typeface="Poppins Medium" pitchFamily="34" charset="-120"/>
              </a:rPr>
              <a:t>The strategy is sound. The shape is not.</a:t>
            </a:r>
            <a:endParaRPr lang="en-US" sz="1500" dirty="0"/>
          </a:p>
        </p:txBody>
      </p:sp>
      <p:sp>
        <p:nvSpPr>
          <p:cNvPr id="7" name="Text 5"/>
          <p:cNvSpPr txBox="1"/>
          <p:nvPr/>
        </p:nvSpPr>
        <p:spPr>
          <a:xfrm>
            <a:off x="5532120" y="2523744"/>
            <a:ext cx="5745175" cy="1005840"/>
          </a:xfrm>
          <a:prstGeom prst="rect">
            <a:avLst/>
          </a:prstGeom>
          <a:noFill/>
          <a:ln/>
        </p:spPr>
        <p:txBody>
          <a:bodyPr wrap="square" lIns="0" tIns="0" rIns="0" bIns="0" rtlCol="0" anchor="ctr"/>
          <a:lstStyle/>
          <a:p>
            <a:pPr indent="0" marL="0">
              <a:lnSpc>
                <a:spcPct val="134000"/>
              </a:lnSpc>
              <a:buNone/>
            </a:pPr>
            <a:r>
              <a:rPr lang="en-US" sz="1250" dirty="0">
                <a:solidFill>
                  <a:srgbClr val="111111"/>
                </a:solidFill>
                <a:latin typeface="Poppins" pitchFamily="34" charset="0"/>
                <a:ea typeface="Poppins" pitchFamily="34" charset="-122"/>
                <a:cs typeface="Poppins" pitchFamily="34" charset="-120"/>
              </a:rPr>
              <a:t>Comprehensive, and Justin's mental model that everything feeds refills is right. But it reads as AI theoretical. Too much equivalence, too many directions, and its own best insights are buried.</a:t>
            </a:r>
            <a:endParaRPr lang="en-US" sz="1250" dirty="0"/>
          </a:p>
        </p:txBody>
      </p:sp>
      <p:sp>
        <p:nvSpPr>
          <p:cNvPr id="8" name="Shape 6"/>
          <p:cNvSpPr/>
          <p:nvPr/>
        </p:nvSpPr>
        <p:spPr>
          <a:xfrm>
            <a:off x="914400" y="3749040"/>
            <a:ext cx="10362895" cy="0"/>
          </a:xfrm>
          <a:prstGeom prst="line">
            <a:avLst/>
          </a:prstGeom>
          <a:noFill/>
          <a:ln w="9525">
            <a:solidFill>
              <a:srgbClr val="D8D4CF"/>
            </a:solidFill>
            <a:prstDash val="solid"/>
          </a:ln>
        </p:spPr>
      </p:sp>
      <p:sp>
        <p:nvSpPr>
          <p:cNvPr id="9" name="Text 7"/>
          <p:cNvSpPr txBox="1"/>
          <p:nvPr/>
        </p:nvSpPr>
        <p:spPr>
          <a:xfrm>
            <a:off x="914400" y="3895344"/>
            <a:ext cx="640080" cy="384048"/>
          </a:xfrm>
          <a:prstGeom prst="rect">
            <a:avLst/>
          </a:prstGeom>
          <a:noFill/>
          <a:ln/>
        </p:spPr>
        <p:txBody>
          <a:bodyPr wrap="square" lIns="0" tIns="0" rIns="0" bIns="0" rtlCol="0" anchor="ctr"/>
          <a:lstStyle/>
          <a:p>
            <a:pPr indent="0" marL="0">
              <a:buNone/>
            </a:pPr>
            <a:r>
              <a:rPr lang="en-US" sz="2400" dirty="0">
                <a:solidFill>
                  <a:srgbClr val="666666"/>
                </a:solidFill>
                <a:latin typeface="Poppins Light" pitchFamily="34" charset="0"/>
                <a:ea typeface="Poppins Light" pitchFamily="34" charset="-122"/>
                <a:cs typeface="Poppins Light" pitchFamily="34" charset="-120"/>
              </a:rPr>
              <a:t>02</a:t>
            </a:r>
            <a:endParaRPr lang="en-US" sz="2400" dirty="0"/>
          </a:p>
        </p:txBody>
      </p:sp>
      <p:sp>
        <p:nvSpPr>
          <p:cNvPr id="10" name="Text 8"/>
          <p:cNvSpPr txBox="1"/>
          <p:nvPr/>
        </p:nvSpPr>
        <p:spPr>
          <a:xfrm>
            <a:off x="1691640" y="3895344"/>
            <a:ext cx="3566160" cy="822960"/>
          </a:xfrm>
          <a:prstGeom prst="rect">
            <a:avLst/>
          </a:prstGeom>
          <a:noFill/>
          <a:ln/>
        </p:spPr>
        <p:txBody>
          <a:bodyPr wrap="square" lIns="0" tIns="0" rIns="0" bIns="0" rtlCol="0" anchor="ctr"/>
          <a:lstStyle/>
          <a:p>
            <a:pPr indent="0" marL="0">
              <a:lnSpc>
                <a:spcPct val="114000"/>
              </a:lnSpc>
              <a:buNone/>
            </a:pPr>
            <a:r>
              <a:rPr lang="en-US" sz="1500" dirty="0">
                <a:solidFill>
                  <a:srgbClr val="111111"/>
                </a:solidFill>
                <a:latin typeface="Poppins Medium" pitchFamily="34" charset="0"/>
                <a:ea typeface="Poppins Medium" pitchFamily="34" charset="-122"/>
                <a:cs typeface="Poppins Medium" pitchFamily="34" charset="-120"/>
              </a:rPr>
              <a:t>Two business units cancelling each other out.</a:t>
            </a:r>
            <a:endParaRPr lang="en-US" sz="1500" dirty="0"/>
          </a:p>
        </p:txBody>
      </p:sp>
      <p:sp>
        <p:nvSpPr>
          <p:cNvPr id="11" name="Text 9"/>
          <p:cNvSpPr txBox="1"/>
          <p:nvPr/>
        </p:nvSpPr>
        <p:spPr>
          <a:xfrm>
            <a:off x="5532120" y="3895344"/>
            <a:ext cx="5745175" cy="1005840"/>
          </a:xfrm>
          <a:prstGeom prst="rect">
            <a:avLst/>
          </a:prstGeom>
          <a:noFill/>
          <a:ln/>
        </p:spPr>
        <p:txBody>
          <a:bodyPr wrap="square" lIns="0" tIns="0" rIns="0" bIns="0" rtlCol="0" anchor="ctr"/>
          <a:lstStyle/>
          <a:p>
            <a:pPr indent="0" marL="0">
              <a:lnSpc>
                <a:spcPct val="134000"/>
              </a:lnSpc>
              <a:buNone/>
            </a:pPr>
            <a:r>
              <a:rPr lang="en-US" sz="1250" dirty="0">
                <a:solidFill>
                  <a:srgbClr val="111111"/>
                </a:solidFill>
                <a:latin typeface="Poppins" pitchFamily="34" charset="0"/>
                <a:ea typeface="Poppins" pitchFamily="34" charset="-122"/>
                <a:cs typeface="Poppins" pitchFamily="34" charset="-120"/>
              </a:rPr>
              <a:t>Thought to be complementary, in reality pulling opposite ways. A good refill business takes traffic out of the Tap Room, which means more spend to replace it at a high cost per customer.</a:t>
            </a:r>
            <a:endParaRPr lang="en-US" sz="1250" dirty="0"/>
          </a:p>
        </p:txBody>
      </p:sp>
      <p:sp>
        <p:nvSpPr>
          <p:cNvPr id="12" name="Shape 10"/>
          <p:cNvSpPr/>
          <p:nvPr/>
        </p:nvSpPr>
        <p:spPr>
          <a:xfrm>
            <a:off x="914400" y="5120640"/>
            <a:ext cx="10362895" cy="0"/>
          </a:xfrm>
          <a:prstGeom prst="line">
            <a:avLst/>
          </a:prstGeom>
          <a:noFill/>
          <a:ln w="9525">
            <a:solidFill>
              <a:srgbClr val="D8D4CF"/>
            </a:solidFill>
            <a:prstDash val="solid"/>
          </a:ln>
        </p:spPr>
      </p:sp>
      <p:sp>
        <p:nvSpPr>
          <p:cNvPr id="13" name="Text 11"/>
          <p:cNvSpPr txBox="1"/>
          <p:nvPr/>
        </p:nvSpPr>
        <p:spPr>
          <a:xfrm>
            <a:off x="914400" y="5266944"/>
            <a:ext cx="640080" cy="384048"/>
          </a:xfrm>
          <a:prstGeom prst="rect">
            <a:avLst/>
          </a:prstGeom>
          <a:noFill/>
          <a:ln/>
        </p:spPr>
        <p:txBody>
          <a:bodyPr wrap="square" lIns="0" tIns="0" rIns="0" bIns="0" rtlCol="0" anchor="ctr"/>
          <a:lstStyle/>
          <a:p>
            <a:pPr indent="0" marL="0">
              <a:buNone/>
            </a:pPr>
            <a:r>
              <a:rPr lang="en-US" sz="2400" dirty="0">
                <a:solidFill>
                  <a:srgbClr val="666666"/>
                </a:solidFill>
                <a:latin typeface="Poppins Light" pitchFamily="34" charset="0"/>
                <a:ea typeface="Poppins Light" pitchFamily="34" charset="-122"/>
                <a:cs typeface="Poppins Light" pitchFamily="34" charset="-120"/>
              </a:rPr>
              <a:t>03</a:t>
            </a:r>
            <a:endParaRPr lang="en-US" sz="2400" dirty="0"/>
          </a:p>
        </p:txBody>
      </p:sp>
      <p:sp>
        <p:nvSpPr>
          <p:cNvPr id="14" name="Text 12"/>
          <p:cNvSpPr txBox="1"/>
          <p:nvPr/>
        </p:nvSpPr>
        <p:spPr>
          <a:xfrm>
            <a:off x="1691640" y="5266944"/>
            <a:ext cx="3566160" cy="822960"/>
          </a:xfrm>
          <a:prstGeom prst="rect">
            <a:avLst/>
          </a:prstGeom>
          <a:noFill/>
          <a:ln/>
        </p:spPr>
        <p:txBody>
          <a:bodyPr wrap="square" lIns="0" tIns="0" rIns="0" bIns="0" rtlCol="0" anchor="ctr"/>
          <a:lstStyle/>
          <a:p>
            <a:pPr indent="0" marL="0">
              <a:lnSpc>
                <a:spcPct val="114000"/>
              </a:lnSpc>
              <a:buNone/>
            </a:pPr>
            <a:r>
              <a:rPr lang="en-US" sz="1500" dirty="0">
                <a:solidFill>
                  <a:srgbClr val="111111"/>
                </a:solidFill>
                <a:latin typeface="Poppins Medium" pitchFamily="34" charset="0"/>
                <a:ea typeface="Poppins Medium" pitchFamily="34" charset="-122"/>
                <a:cs typeface="Poppins Medium" pitchFamily="34" charset="-120"/>
              </a:rPr>
              <a:t>The weakest unit is getting the support.</a:t>
            </a:r>
            <a:endParaRPr lang="en-US" sz="1500" dirty="0"/>
          </a:p>
        </p:txBody>
      </p:sp>
      <p:sp>
        <p:nvSpPr>
          <p:cNvPr id="15" name="Text 13"/>
          <p:cNvSpPr txBox="1"/>
          <p:nvPr/>
        </p:nvSpPr>
        <p:spPr>
          <a:xfrm>
            <a:off x="5532120" y="5266944"/>
            <a:ext cx="5745175" cy="1005840"/>
          </a:xfrm>
          <a:prstGeom prst="rect">
            <a:avLst/>
          </a:prstGeom>
          <a:noFill/>
          <a:ln/>
        </p:spPr>
        <p:txBody>
          <a:bodyPr wrap="square" lIns="0" tIns="0" rIns="0" bIns="0" rtlCol="0" anchor="ctr"/>
          <a:lstStyle/>
          <a:p>
            <a:pPr indent="0" marL="0">
              <a:lnSpc>
                <a:spcPct val="134000"/>
              </a:lnSpc>
              <a:buNone/>
            </a:pPr>
            <a:r>
              <a:rPr lang="en-US" sz="1250" dirty="0">
                <a:solidFill>
                  <a:srgbClr val="111111"/>
                </a:solidFill>
                <a:latin typeface="Poppins" pitchFamily="34" charset="0"/>
                <a:ea typeface="Poppins" pitchFamily="34" charset="-122"/>
                <a:cs typeface="Poppins" pitchFamily="34" charset="-120"/>
              </a:rPr>
              <a:t>Refills are at MVP, and only refills, and only beer. Marketing's time goes to propping up the unit that does not work, at the cost of the ones that do.</a:t>
            </a:r>
            <a:endParaRPr lang="en-US" sz="1250" dirty="0"/>
          </a:p>
        </p:txBody>
      </p:sp>
      <p:sp>
        <p:nvSpPr>
          <p:cNvPr id="16" name="Shape 14"/>
          <p:cNvSpPr/>
          <p:nvPr/>
        </p:nvSpPr>
        <p:spPr>
          <a:xfrm>
            <a:off x="914400" y="6492240"/>
            <a:ext cx="10362895" cy="0"/>
          </a:xfrm>
          <a:prstGeom prst="line">
            <a:avLst/>
          </a:prstGeom>
          <a:noFill/>
          <a:ln w="9525">
            <a:solidFill>
              <a:srgbClr val="D8D4C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01 · CONTEXT</a:t>
            </a:r>
            <a:endParaRPr lang="en-US" sz="900" dirty="0"/>
          </a:p>
        </p:txBody>
      </p:sp>
      <p:sp>
        <p:nvSpPr>
          <p:cNvPr id="3" name="Text 1"/>
          <p:cNvSpPr txBox="1"/>
          <p:nvPr/>
        </p:nvSpPr>
        <p:spPr>
          <a:xfrm>
            <a:off x="914400" y="786384"/>
            <a:ext cx="10362895" cy="1133856"/>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Three more, and the last one is the reason to move now.</a:t>
            </a:r>
            <a:endParaRPr lang="en-US" sz="4200" dirty="0"/>
          </a:p>
        </p:txBody>
      </p:sp>
      <p:sp>
        <p:nvSpPr>
          <p:cNvPr id="4" name="Shape 2"/>
          <p:cNvSpPr/>
          <p:nvPr/>
        </p:nvSpPr>
        <p:spPr>
          <a:xfrm>
            <a:off x="914400" y="2377440"/>
            <a:ext cx="10362895" cy="0"/>
          </a:xfrm>
          <a:prstGeom prst="line">
            <a:avLst/>
          </a:prstGeom>
          <a:noFill/>
          <a:ln w="9525">
            <a:solidFill>
              <a:srgbClr val="D8D4CF"/>
            </a:solidFill>
            <a:prstDash val="solid"/>
          </a:ln>
        </p:spPr>
      </p:sp>
      <p:sp>
        <p:nvSpPr>
          <p:cNvPr id="5" name="Text 3"/>
          <p:cNvSpPr txBox="1"/>
          <p:nvPr/>
        </p:nvSpPr>
        <p:spPr>
          <a:xfrm>
            <a:off x="914400" y="2523744"/>
            <a:ext cx="640080" cy="384048"/>
          </a:xfrm>
          <a:prstGeom prst="rect">
            <a:avLst/>
          </a:prstGeom>
          <a:noFill/>
          <a:ln/>
        </p:spPr>
        <p:txBody>
          <a:bodyPr wrap="square" lIns="0" tIns="0" rIns="0" bIns="0" rtlCol="0" anchor="ctr"/>
          <a:lstStyle/>
          <a:p>
            <a:pPr indent="0" marL="0">
              <a:buNone/>
            </a:pPr>
            <a:r>
              <a:rPr lang="en-US" sz="2400" dirty="0">
                <a:solidFill>
                  <a:srgbClr val="666666"/>
                </a:solidFill>
                <a:latin typeface="Poppins Light" pitchFamily="34" charset="0"/>
                <a:ea typeface="Poppins Light" pitchFamily="34" charset="-122"/>
                <a:cs typeface="Poppins Light" pitchFamily="34" charset="-120"/>
              </a:rPr>
              <a:t>04</a:t>
            </a:r>
            <a:endParaRPr lang="en-US" sz="2400" dirty="0"/>
          </a:p>
        </p:txBody>
      </p:sp>
      <p:sp>
        <p:nvSpPr>
          <p:cNvPr id="6" name="Text 4"/>
          <p:cNvSpPr txBox="1"/>
          <p:nvPr/>
        </p:nvSpPr>
        <p:spPr>
          <a:xfrm>
            <a:off x="1691640" y="2523744"/>
            <a:ext cx="3566160" cy="822960"/>
          </a:xfrm>
          <a:prstGeom prst="rect">
            <a:avLst/>
          </a:prstGeom>
          <a:noFill/>
          <a:ln/>
        </p:spPr>
        <p:txBody>
          <a:bodyPr wrap="square" lIns="0" tIns="0" rIns="0" bIns="0" rtlCol="0" anchor="ctr"/>
          <a:lstStyle/>
          <a:p>
            <a:pPr indent="0" marL="0">
              <a:lnSpc>
                <a:spcPct val="114000"/>
              </a:lnSpc>
              <a:buNone/>
            </a:pPr>
            <a:r>
              <a:rPr lang="en-US" sz="1500" dirty="0">
                <a:solidFill>
                  <a:srgbClr val="111111"/>
                </a:solidFill>
                <a:latin typeface="Poppins Medium" pitchFamily="34" charset="0"/>
                <a:ea typeface="Poppins Medium" pitchFamily="34" charset="-122"/>
                <a:cs typeface="Poppins Medium" pitchFamily="34" charset="-120"/>
              </a:rPr>
              <a:t>The offer is good. The stars cannot shine.</a:t>
            </a:r>
            <a:endParaRPr lang="en-US" sz="1500" dirty="0"/>
          </a:p>
        </p:txBody>
      </p:sp>
      <p:sp>
        <p:nvSpPr>
          <p:cNvPr id="7" name="Text 5"/>
          <p:cNvSpPr txBox="1"/>
          <p:nvPr/>
        </p:nvSpPr>
        <p:spPr>
          <a:xfrm>
            <a:off x="5532120" y="2523744"/>
            <a:ext cx="5745175" cy="1005840"/>
          </a:xfrm>
          <a:prstGeom prst="rect">
            <a:avLst/>
          </a:prstGeom>
          <a:noFill/>
          <a:ln/>
        </p:spPr>
        <p:txBody>
          <a:bodyPr wrap="square" lIns="0" tIns="0" rIns="0" bIns="0" rtlCol="0" anchor="ctr"/>
          <a:lstStyle/>
          <a:p>
            <a:pPr indent="0" marL="0">
              <a:lnSpc>
                <a:spcPct val="134000"/>
              </a:lnSpc>
              <a:buNone/>
            </a:pPr>
            <a:r>
              <a:rPr lang="en-US" sz="1250" dirty="0">
                <a:solidFill>
                  <a:srgbClr val="111111"/>
                </a:solidFill>
                <a:latin typeface="Poppins" pitchFamily="34" charset="0"/>
                <a:ea typeface="Poppins" pitchFamily="34" charset="-122"/>
                <a:cs typeface="Poppins" pitchFamily="34" charset="-120"/>
              </a:rPr>
              <a:t>We suspect a long tail of beer options is driving cost of goods. We also think it is causing choice paralysis at the point of sale.</a:t>
            </a:r>
            <a:endParaRPr lang="en-US" sz="1250" dirty="0"/>
          </a:p>
        </p:txBody>
      </p:sp>
      <p:sp>
        <p:nvSpPr>
          <p:cNvPr id="8" name="Shape 6"/>
          <p:cNvSpPr/>
          <p:nvPr/>
        </p:nvSpPr>
        <p:spPr>
          <a:xfrm>
            <a:off x="914400" y="3749040"/>
            <a:ext cx="10362895" cy="0"/>
          </a:xfrm>
          <a:prstGeom prst="line">
            <a:avLst/>
          </a:prstGeom>
          <a:noFill/>
          <a:ln w="9525">
            <a:solidFill>
              <a:srgbClr val="D8D4CF"/>
            </a:solidFill>
            <a:prstDash val="solid"/>
          </a:ln>
        </p:spPr>
      </p:sp>
      <p:sp>
        <p:nvSpPr>
          <p:cNvPr id="9" name="Text 7"/>
          <p:cNvSpPr txBox="1"/>
          <p:nvPr/>
        </p:nvSpPr>
        <p:spPr>
          <a:xfrm>
            <a:off x="914400" y="3895344"/>
            <a:ext cx="640080" cy="384048"/>
          </a:xfrm>
          <a:prstGeom prst="rect">
            <a:avLst/>
          </a:prstGeom>
          <a:noFill/>
          <a:ln/>
        </p:spPr>
        <p:txBody>
          <a:bodyPr wrap="square" lIns="0" tIns="0" rIns="0" bIns="0" rtlCol="0" anchor="ctr"/>
          <a:lstStyle/>
          <a:p>
            <a:pPr indent="0" marL="0">
              <a:buNone/>
            </a:pPr>
            <a:r>
              <a:rPr lang="en-US" sz="2400" dirty="0">
                <a:solidFill>
                  <a:srgbClr val="666666"/>
                </a:solidFill>
                <a:latin typeface="Poppins Light" pitchFamily="34" charset="0"/>
                <a:ea typeface="Poppins Light" pitchFamily="34" charset="-122"/>
                <a:cs typeface="Poppins Light" pitchFamily="34" charset="-120"/>
              </a:rPr>
              <a:t>05</a:t>
            </a:r>
            <a:endParaRPr lang="en-US" sz="2400" dirty="0"/>
          </a:p>
        </p:txBody>
      </p:sp>
      <p:sp>
        <p:nvSpPr>
          <p:cNvPr id="10" name="Text 8"/>
          <p:cNvSpPr txBox="1"/>
          <p:nvPr/>
        </p:nvSpPr>
        <p:spPr>
          <a:xfrm>
            <a:off x="1691640" y="3895344"/>
            <a:ext cx="3566160" cy="822960"/>
          </a:xfrm>
          <a:prstGeom prst="rect">
            <a:avLst/>
          </a:prstGeom>
          <a:noFill/>
          <a:ln/>
        </p:spPr>
        <p:txBody>
          <a:bodyPr wrap="square" lIns="0" tIns="0" rIns="0" bIns="0" rtlCol="0" anchor="ctr"/>
          <a:lstStyle/>
          <a:p>
            <a:pPr indent="0" marL="0">
              <a:lnSpc>
                <a:spcPct val="114000"/>
              </a:lnSpc>
              <a:buNone/>
            </a:pPr>
            <a:r>
              <a:rPr lang="en-US" sz="1500" dirty="0">
                <a:solidFill>
                  <a:srgbClr val="111111"/>
                </a:solidFill>
                <a:latin typeface="Poppins Medium" pitchFamily="34" charset="0"/>
                <a:ea typeface="Poppins Medium" pitchFamily="34" charset="-122"/>
                <a:cs typeface="Poppins Medium" pitchFamily="34" charset="-120"/>
              </a:rPr>
              <a:t>Chasing two rabbits, catching neither.</a:t>
            </a:r>
            <a:endParaRPr lang="en-US" sz="1500" dirty="0"/>
          </a:p>
        </p:txBody>
      </p:sp>
      <p:sp>
        <p:nvSpPr>
          <p:cNvPr id="11" name="Text 9"/>
          <p:cNvSpPr txBox="1"/>
          <p:nvPr/>
        </p:nvSpPr>
        <p:spPr>
          <a:xfrm>
            <a:off x="5532120" y="3895344"/>
            <a:ext cx="5745175" cy="1005840"/>
          </a:xfrm>
          <a:prstGeom prst="rect">
            <a:avLst/>
          </a:prstGeom>
          <a:noFill/>
          <a:ln/>
        </p:spPr>
        <p:txBody>
          <a:bodyPr wrap="square" lIns="0" tIns="0" rIns="0" bIns="0" rtlCol="0" anchor="ctr"/>
          <a:lstStyle/>
          <a:p>
            <a:pPr indent="0" marL="0">
              <a:lnSpc>
                <a:spcPct val="134000"/>
              </a:lnSpc>
              <a:buNone/>
            </a:pPr>
            <a:r>
              <a:rPr lang="en-US" sz="1250" dirty="0">
                <a:solidFill>
                  <a:srgbClr val="111111"/>
                </a:solidFill>
                <a:latin typeface="Poppins" pitchFamily="34" charset="0"/>
                <a:ea typeface="Poppins" pitchFamily="34" charset="-122"/>
                <a:cs typeface="Poppins" pitchFamily="34" charset="-120"/>
              </a:rPr>
              <a:t>For all the right reasons, marketing explores an idea, quits, and moves on. Nothing gets the run it needs to prove itself either way.</a:t>
            </a:r>
            <a:endParaRPr lang="en-US" sz="1250" dirty="0"/>
          </a:p>
        </p:txBody>
      </p:sp>
      <p:sp>
        <p:nvSpPr>
          <p:cNvPr id="12" name="Shape 10"/>
          <p:cNvSpPr/>
          <p:nvPr/>
        </p:nvSpPr>
        <p:spPr>
          <a:xfrm>
            <a:off x="914400" y="5120640"/>
            <a:ext cx="10362895" cy="0"/>
          </a:xfrm>
          <a:prstGeom prst="line">
            <a:avLst/>
          </a:prstGeom>
          <a:noFill/>
          <a:ln w="9525">
            <a:solidFill>
              <a:srgbClr val="D8D4CF"/>
            </a:solidFill>
            <a:prstDash val="solid"/>
          </a:ln>
        </p:spPr>
      </p:sp>
      <p:sp>
        <p:nvSpPr>
          <p:cNvPr id="13" name="Text 11"/>
          <p:cNvSpPr txBox="1"/>
          <p:nvPr/>
        </p:nvSpPr>
        <p:spPr>
          <a:xfrm>
            <a:off x="914400" y="5266944"/>
            <a:ext cx="640080" cy="384048"/>
          </a:xfrm>
          <a:prstGeom prst="rect">
            <a:avLst/>
          </a:prstGeom>
          <a:noFill/>
          <a:ln/>
        </p:spPr>
        <p:txBody>
          <a:bodyPr wrap="square" lIns="0" tIns="0" rIns="0" bIns="0" rtlCol="0" anchor="ctr"/>
          <a:lstStyle/>
          <a:p>
            <a:pPr indent="0" marL="0">
              <a:buNone/>
            </a:pPr>
            <a:r>
              <a:rPr lang="en-US" sz="2400" dirty="0">
                <a:solidFill>
                  <a:srgbClr val="666666"/>
                </a:solidFill>
                <a:latin typeface="Poppins Light" pitchFamily="34" charset="0"/>
                <a:ea typeface="Poppins Light" pitchFamily="34" charset="-122"/>
                <a:cs typeface="Poppins Light" pitchFamily="34" charset="-120"/>
              </a:rPr>
              <a:t>06</a:t>
            </a:r>
            <a:endParaRPr lang="en-US" sz="2400" dirty="0"/>
          </a:p>
        </p:txBody>
      </p:sp>
      <p:sp>
        <p:nvSpPr>
          <p:cNvPr id="14" name="Text 12"/>
          <p:cNvSpPr txBox="1"/>
          <p:nvPr/>
        </p:nvSpPr>
        <p:spPr>
          <a:xfrm>
            <a:off x="1691640" y="5266944"/>
            <a:ext cx="3566160" cy="822960"/>
          </a:xfrm>
          <a:prstGeom prst="rect">
            <a:avLst/>
          </a:prstGeom>
          <a:noFill/>
          <a:ln/>
        </p:spPr>
        <p:txBody>
          <a:bodyPr wrap="square" lIns="0" tIns="0" rIns="0" bIns="0" rtlCol="0" anchor="ctr"/>
          <a:lstStyle/>
          <a:p>
            <a:pPr indent="0" marL="0">
              <a:lnSpc>
                <a:spcPct val="114000"/>
              </a:lnSpc>
              <a:buNone/>
            </a:pPr>
            <a:r>
              <a:rPr lang="en-US" sz="1500" dirty="0">
                <a:solidFill>
                  <a:srgbClr val="111111"/>
                </a:solidFill>
                <a:latin typeface="Poppins Medium" pitchFamily="34" charset="0"/>
                <a:ea typeface="Poppins Medium" pitchFamily="34" charset="-122"/>
                <a:cs typeface="Poppins Medium" pitchFamily="34" charset="-120"/>
              </a:rPr>
              <a:t>In danger of dying with a beautiful corpse.</a:t>
            </a:r>
            <a:endParaRPr lang="en-US" sz="1500" dirty="0"/>
          </a:p>
        </p:txBody>
      </p:sp>
      <p:sp>
        <p:nvSpPr>
          <p:cNvPr id="15" name="Text 13"/>
          <p:cNvSpPr txBox="1"/>
          <p:nvPr/>
        </p:nvSpPr>
        <p:spPr>
          <a:xfrm>
            <a:off x="5532120" y="5266944"/>
            <a:ext cx="5745175" cy="1005840"/>
          </a:xfrm>
          <a:prstGeom prst="rect">
            <a:avLst/>
          </a:prstGeom>
          <a:noFill/>
          <a:ln/>
        </p:spPr>
        <p:txBody>
          <a:bodyPr wrap="square" lIns="0" tIns="0" rIns="0" bIns="0" rtlCol="0" anchor="ctr"/>
          <a:lstStyle/>
          <a:p>
            <a:pPr indent="0" marL="0">
              <a:lnSpc>
                <a:spcPct val="134000"/>
              </a:lnSpc>
              <a:buNone/>
            </a:pPr>
            <a:r>
              <a:rPr lang="en-US" sz="1250" dirty="0">
                <a:solidFill>
                  <a:srgbClr val="111111"/>
                </a:solidFill>
                <a:latin typeface="Poppins" pitchFamily="34" charset="0"/>
                <a:ea typeface="Poppins" pitchFamily="34" charset="-122"/>
                <a:cs typeface="Poppins" pitchFamily="34" charset="-120"/>
              </a:rPr>
              <a:t>Running a brewery is hard. Hospitality is harder. Both on a skeleton staff is unreasonable. Permission is needed to reshape the business.</a:t>
            </a:r>
            <a:endParaRPr lang="en-US" sz="1250" dirty="0"/>
          </a:p>
        </p:txBody>
      </p:sp>
      <p:sp>
        <p:nvSpPr>
          <p:cNvPr id="16" name="Shape 14"/>
          <p:cNvSpPr/>
          <p:nvPr/>
        </p:nvSpPr>
        <p:spPr>
          <a:xfrm>
            <a:off x="914400" y="6492240"/>
            <a:ext cx="10362895" cy="0"/>
          </a:xfrm>
          <a:prstGeom prst="line">
            <a:avLst/>
          </a:prstGeom>
          <a:noFill/>
          <a:ln w="9525">
            <a:solidFill>
              <a:srgbClr val="D8D4C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01 · CONTEXT</a:t>
            </a:r>
            <a:endParaRPr lang="en-US" sz="900" dirty="0"/>
          </a:p>
        </p:txBody>
      </p:sp>
      <p:sp>
        <p:nvSpPr>
          <p:cNvPr id="3" name="Text 1"/>
          <p:cNvSpPr txBox="1"/>
          <p:nvPr/>
        </p:nvSpPr>
        <p:spPr>
          <a:xfrm>
            <a:off x="914400" y="786384"/>
            <a:ext cx="10362895" cy="566928"/>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Tap Room is vanity. Refills are sanity.</a:t>
            </a:r>
            <a:endParaRPr lang="en-US" sz="4200" dirty="0"/>
          </a:p>
        </p:txBody>
      </p:sp>
      <p:sp>
        <p:nvSpPr>
          <p:cNvPr id="4" name="Shape 2"/>
          <p:cNvSpPr/>
          <p:nvPr/>
        </p:nvSpPr>
        <p:spPr>
          <a:xfrm>
            <a:off x="914400" y="1810512"/>
            <a:ext cx="3088538" cy="0"/>
          </a:xfrm>
          <a:prstGeom prst="line">
            <a:avLst/>
          </a:prstGeom>
          <a:noFill/>
          <a:ln w="9525">
            <a:solidFill>
              <a:srgbClr val="D8D4CF"/>
            </a:solidFill>
            <a:prstDash val="solid"/>
          </a:ln>
        </p:spPr>
      </p:sp>
      <p:sp>
        <p:nvSpPr>
          <p:cNvPr id="5" name="Text 3"/>
          <p:cNvSpPr txBox="1"/>
          <p:nvPr/>
        </p:nvSpPr>
        <p:spPr>
          <a:xfrm>
            <a:off x="914400" y="1956816"/>
            <a:ext cx="3088538" cy="914400"/>
          </a:xfrm>
          <a:prstGeom prst="rect">
            <a:avLst/>
          </a:prstGeom>
          <a:noFill/>
          <a:ln/>
        </p:spPr>
        <p:txBody>
          <a:bodyPr wrap="square" lIns="0" tIns="0" rIns="0" bIns="0" rtlCol="0" anchor="ctr"/>
          <a:lstStyle/>
          <a:p>
            <a:pPr indent="0" marL="0">
              <a:buNone/>
            </a:pPr>
            <a:r>
              <a:rPr lang="en-US" sz="6000" dirty="0">
                <a:solidFill>
                  <a:srgbClr val="2D5BFF"/>
                </a:solidFill>
                <a:latin typeface="Poppins Light" pitchFamily="34" charset="0"/>
                <a:ea typeface="Poppins Light" pitchFamily="34" charset="-122"/>
                <a:cs typeface="Poppins Light" pitchFamily="34" charset="-120"/>
              </a:rPr>
              <a:t>96-113</a:t>
            </a:r>
            <a:endParaRPr lang="en-US" sz="6000" dirty="0"/>
          </a:p>
        </p:txBody>
      </p:sp>
      <p:sp>
        <p:nvSpPr>
          <p:cNvPr id="6" name="Text 4"/>
          <p:cNvSpPr txBox="1"/>
          <p:nvPr/>
        </p:nvSpPr>
        <p:spPr>
          <a:xfrm>
            <a:off x="914400" y="2980944"/>
            <a:ext cx="3088538" cy="1188720"/>
          </a:xfrm>
          <a:prstGeom prst="rect">
            <a:avLst/>
          </a:prstGeom>
          <a:noFill/>
          <a:ln/>
        </p:spPr>
        <p:txBody>
          <a:bodyPr wrap="square" lIns="0" tIns="0" rIns="0" bIns="0" rtlCol="0" anchor="ctr"/>
          <a:lstStyle/>
          <a:p>
            <a:pPr indent="0" marL="0">
              <a:lnSpc>
                <a:spcPct val="140000"/>
              </a:lnSpc>
              <a:buNone/>
            </a:pPr>
            <a:r>
              <a:rPr lang="en-US" sz="1300" dirty="0">
                <a:solidFill>
                  <a:srgbClr val="111111"/>
                </a:solidFill>
                <a:latin typeface="Poppins" pitchFamily="34" charset="0"/>
                <a:ea typeface="Poppins" pitchFamily="34" charset="-122"/>
                <a:cs typeface="Poppins" pitchFamily="34" charset="-120"/>
              </a:rPr>
              <a:t>Active refill customers, ordering repeatedly. That is MVP status, and it was reached without a push.</a:t>
            </a:r>
            <a:endParaRPr lang="en-US" sz="1300" dirty="0"/>
          </a:p>
        </p:txBody>
      </p:sp>
      <p:sp>
        <p:nvSpPr>
          <p:cNvPr id="7" name="Shape 5"/>
          <p:cNvSpPr/>
          <p:nvPr/>
        </p:nvSpPr>
        <p:spPr>
          <a:xfrm>
            <a:off x="4551578" y="1810512"/>
            <a:ext cx="3088538" cy="0"/>
          </a:xfrm>
          <a:prstGeom prst="line">
            <a:avLst/>
          </a:prstGeom>
          <a:noFill/>
          <a:ln w="9525">
            <a:solidFill>
              <a:srgbClr val="D8D4CF"/>
            </a:solidFill>
            <a:prstDash val="solid"/>
          </a:ln>
        </p:spPr>
      </p:sp>
      <p:sp>
        <p:nvSpPr>
          <p:cNvPr id="8" name="Text 6"/>
          <p:cNvSpPr txBox="1"/>
          <p:nvPr/>
        </p:nvSpPr>
        <p:spPr>
          <a:xfrm>
            <a:off x="4551578" y="1956816"/>
            <a:ext cx="3088538" cy="914400"/>
          </a:xfrm>
          <a:prstGeom prst="rect">
            <a:avLst/>
          </a:prstGeom>
          <a:noFill/>
          <a:ln/>
        </p:spPr>
        <p:txBody>
          <a:bodyPr wrap="square" lIns="0" tIns="0" rIns="0" bIns="0" rtlCol="0" anchor="ctr"/>
          <a:lstStyle/>
          <a:p>
            <a:pPr indent="0" marL="0">
              <a:buNone/>
            </a:pPr>
            <a:r>
              <a:rPr lang="en-US" sz="6000" dirty="0">
                <a:solidFill>
                  <a:srgbClr val="2D5BFF"/>
                </a:solidFill>
                <a:latin typeface="Poppins Light" pitchFamily="34" charset="0"/>
                <a:ea typeface="Poppins Light" pitchFamily="34" charset="-122"/>
                <a:cs typeface="Poppins Light" pitchFamily="34" charset="-120"/>
              </a:rPr>
              <a:t>56%</a:t>
            </a:r>
            <a:endParaRPr lang="en-US" sz="6000" dirty="0"/>
          </a:p>
        </p:txBody>
      </p:sp>
      <p:sp>
        <p:nvSpPr>
          <p:cNvPr id="9" name="Text 7"/>
          <p:cNvSpPr txBox="1"/>
          <p:nvPr/>
        </p:nvSpPr>
        <p:spPr>
          <a:xfrm>
            <a:off x="4551578" y="2980944"/>
            <a:ext cx="3088538" cy="1188720"/>
          </a:xfrm>
          <a:prstGeom prst="rect">
            <a:avLst/>
          </a:prstGeom>
          <a:noFill/>
          <a:ln/>
        </p:spPr>
        <p:txBody>
          <a:bodyPr wrap="square" lIns="0" tIns="0" rIns="0" bIns="0" rtlCol="0" anchor="ctr"/>
          <a:lstStyle/>
          <a:p>
            <a:pPr indent="0" marL="0">
              <a:lnSpc>
                <a:spcPct val="140000"/>
              </a:lnSpc>
              <a:buNone/>
            </a:pPr>
            <a:r>
              <a:rPr lang="en-US" sz="1300" dirty="0">
                <a:solidFill>
                  <a:srgbClr val="111111"/>
                </a:solidFill>
                <a:latin typeface="Poppins" pitchFamily="34" charset="0"/>
                <a:ea typeface="Poppins" pitchFamily="34" charset="-122"/>
                <a:cs typeface="Poppins" pitchFamily="34" charset="-120"/>
              </a:rPr>
              <a:t>of refill customers bought their tap system somewhere else. The refill proposition is already validated.</a:t>
            </a:r>
            <a:endParaRPr lang="en-US" sz="1300" dirty="0"/>
          </a:p>
        </p:txBody>
      </p:sp>
      <p:sp>
        <p:nvSpPr>
          <p:cNvPr id="10" name="Shape 8"/>
          <p:cNvSpPr/>
          <p:nvPr/>
        </p:nvSpPr>
        <p:spPr>
          <a:xfrm>
            <a:off x="8188757" y="1810512"/>
            <a:ext cx="3088538" cy="0"/>
          </a:xfrm>
          <a:prstGeom prst="line">
            <a:avLst/>
          </a:prstGeom>
          <a:noFill/>
          <a:ln w="9525">
            <a:solidFill>
              <a:srgbClr val="D8D4CF"/>
            </a:solidFill>
            <a:prstDash val="solid"/>
          </a:ln>
        </p:spPr>
      </p:sp>
      <p:sp>
        <p:nvSpPr>
          <p:cNvPr id="11" name="Text 9"/>
          <p:cNvSpPr txBox="1"/>
          <p:nvPr/>
        </p:nvSpPr>
        <p:spPr>
          <a:xfrm>
            <a:off x="8188757" y="1956816"/>
            <a:ext cx="3088538" cy="914400"/>
          </a:xfrm>
          <a:prstGeom prst="rect">
            <a:avLst/>
          </a:prstGeom>
          <a:noFill/>
          <a:ln/>
        </p:spPr>
        <p:txBody>
          <a:bodyPr wrap="square" lIns="0" tIns="0" rIns="0" bIns="0" rtlCol="0" anchor="ctr"/>
          <a:lstStyle/>
          <a:p>
            <a:pPr indent="0" marL="0">
              <a:buNone/>
            </a:pPr>
            <a:r>
              <a:rPr lang="en-US" sz="6000" dirty="0">
                <a:solidFill>
                  <a:srgbClr val="2D5BFF"/>
                </a:solidFill>
                <a:latin typeface="Poppins Light" pitchFamily="34" charset="0"/>
                <a:ea typeface="Poppins Light" pitchFamily="34" charset="-122"/>
                <a:cs typeface="Poppins Light" pitchFamily="34" charset="-120"/>
              </a:rPr>
              <a:t>20%</a:t>
            </a:r>
            <a:endParaRPr lang="en-US" sz="6000" dirty="0"/>
          </a:p>
        </p:txBody>
      </p:sp>
      <p:sp>
        <p:nvSpPr>
          <p:cNvPr id="12" name="Text 10"/>
          <p:cNvSpPr txBox="1"/>
          <p:nvPr/>
        </p:nvSpPr>
        <p:spPr>
          <a:xfrm>
            <a:off x="8188757" y="2980944"/>
            <a:ext cx="3088538" cy="1188720"/>
          </a:xfrm>
          <a:prstGeom prst="rect">
            <a:avLst/>
          </a:prstGeom>
          <a:noFill/>
          <a:ln/>
        </p:spPr>
        <p:txBody>
          <a:bodyPr wrap="square" lIns="0" tIns="0" rIns="0" bIns="0" rtlCol="0" anchor="ctr"/>
          <a:lstStyle/>
          <a:p>
            <a:pPr indent="0" marL="0">
              <a:lnSpc>
                <a:spcPct val="140000"/>
              </a:lnSpc>
              <a:buNone/>
            </a:pPr>
            <a:r>
              <a:rPr lang="en-US" sz="1300" dirty="0">
                <a:solidFill>
                  <a:srgbClr val="111111"/>
                </a:solidFill>
                <a:latin typeface="Poppins" pitchFamily="34" charset="0"/>
                <a:ea typeface="Poppins" pitchFamily="34" charset="-122"/>
                <a:cs typeface="Poppins" pitchFamily="34" charset="-120"/>
              </a:rPr>
              <a:t>of system buyers are said to have visited the Tap Room. That is correlation, not proven causation.</a:t>
            </a:r>
            <a:endParaRPr lang="en-US" sz="1300" dirty="0"/>
          </a:p>
        </p:txBody>
      </p:sp>
      <p:sp>
        <p:nvSpPr>
          <p:cNvPr id="13" name="Shape 11"/>
          <p:cNvSpPr/>
          <p:nvPr/>
        </p:nvSpPr>
        <p:spPr>
          <a:xfrm>
            <a:off x="914400" y="4498848"/>
            <a:ext cx="10362895" cy="0"/>
          </a:xfrm>
          <a:prstGeom prst="line">
            <a:avLst/>
          </a:prstGeom>
          <a:noFill/>
          <a:ln w="9525">
            <a:solidFill>
              <a:srgbClr val="D8D4CF"/>
            </a:solidFill>
            <a:prstDash val="solid"/>
          </a:ln>
        </p:spPr>
      </p:sp>
      <p:sp>
        <p:nvSpPr>
          <p:cNvPr id="14" name="Text 12"/>
          <p:cNvSpPr txBox="1"/>
          <p:nvPr/>
        </p:nvSpPr>
        <p:spPr>
          <a:xfrm>
            <a:off x="914400" y="4700016"/>
            <a:ext cx="8961120" cy="914400"/>
          </a:xfrm>
          <a:prstGeom prst="rect">
            <a:avLst/>
          </a:prstGeom>
          <a:noFill/>
          <a:ln/>
        </p:spPr>
        <p:txBody>
          <a:bodyPr wrap="square" lIns="0" tIns="0" rIns="0" bIns="0" rtlCol="0" anchor="ctr"/>
          <a:lstStyle/>
          <a:p>
            <a:pPr indent="0" marL="0">
              <a:lnSpc>
                <a:spcPct val="142000"/>
              </a:lnSpc>
              <a:buNone/>
            </a:pPr>
            <a:r>
              <a:rPr lang="en-US" sz="1400" dirty="0">
                <a:solidFill>
                  <a:srgbClr val="111111"/>
                </a:solidFill>
                <a:latin typeface="Poppins" pitchFamily="34" charset="0"/>
                <a:ea typeface="Poppins" pitchFamily="34" charset="-122"/>
                <a:cs typeface="Poppins" pitchFamily="34" charset="-120"/>
              </a:rPr>
              <a:t>The Tap Room works as an event and function destination. It does not work as a walk-in, because the footfall is not there. The task now is to edit the losers hard and invest in what is proven.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01 · CONTEXT</a:t>
            </a:r>
            <a:endParaRPr lang="en-US" sz="900" dirty="0"/>
          </a:p>
        </p:txBody>
      </p:sp>
      <p:sp>
        <p:nvSpPr>
          <p:cNvPr id="3" name="Text 1"/>
          <p:cNvSpPr txBox="1"/>
          <p:nvPr/>
        </p:nvSpPr>
        <p:spPr>
          <a:xfrm>
            <a:off x="914400" y="786384"/>
            <a:ext cx="10362895" cy="1133856"/>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Two things to hold on to before anything is decided.</a:t>
            </a:r>
            <a:endParaRPr lang="en-US" sz="4200" dirty="0"/>
          </a:p>
        </p:txBody>
      </p:sp>
      <p:sp>
        <p:nvSpPr>
          <p:cNvPr id="4" name="Shape 2"/>
          <p:cNvSpPr/>
          <p:nvPr/>
        </p:nvSpPr>
        <p:spPr>
          <a:xfrm>
            <a:off x="914400" y="2377440"/>
            <a:ext cx="4974190" cy="0"/>
          </a:xfrm>
          <a:prstGeom prst="line">
            <a:avLst/>
          </a:prstGeom>
          <a:noFill/>
          <a:ln w="9525">
            <a:solidFill>
              <a:srgbClr val="D8D4CF"/>
            </a:solidFill>
            <a:prstDash val="solid"/>
          </a:ln>
        </p:spPr>
      </p:sp>
      <p:sp>
        <p:nvSpPr>
          <p:cNvPr id="5" name="Text 3"/>
          <p:cNvSpPr txBox="1"/>
          <p:nvPr/>
        </p:nvSpPr>
        <p:spPr>
          <a:xfrm>
            <a:off x="914400" y="2560320"/>
            <a:ext cx="4974190" cy="310896"/>
          </a:xfrm>
          <a:prstGeom prst="rect">
            <a:avLst/>
          </a:prstGeom>
          <a:noFill/>
          <a:ln/>
        </p:spPr>
        <p:txBody>
          <a:bodyPr wrap="square" lIns="0" tIns="0" rIns="0" bIns="0" rtlCol="0" anchor="ctr"/>
          <a:lstStyle/>
          <a:p>
            <a:pPr indent="0" marL="0">
              <a:buNone/>
            </a:pPr>
            <a:r>
              <a:rPr lang="en-US" sz="1400" dirty="0">
                <a:solidFill>
                  <a:srgbClr val="111111"/>
                </a:solidFill>
                <a:latin typeface="Poppins Medium" pitchFamily="34" charset="0"/>
                <a:ea typeface="Poppins Medium" pitchFamily="34" charset="-122"/>
                <a:cs typeface="Poppins Medium" pitchFamily="34" charset="-120"/>
              </a:rPr>
              <a:t>Who is the real enemy?</a:t>
            </a:r>
            <a:endParaRPr lang="en-US" sz="1400" dirty="0"/>
          </a:p>
        </p:txBody>
      </p:sp>
      <p:sp>
        <p:nvSpPr>
          <p:cNvPr id="6" name="Text 4"/>
          <p:cNvSpPr txBox="1"/>
          <p:nvPr/>
        </p:nvSpPr>
        <p:spPr>
          <a:xfrm>
            <a:off x="914400" y="2980944"/>
            <a:ext cx="4974190" cy="1828800"/>
          </a:xfrm>
          <a:prstGeom prst="rect">
            <a:avLst/>
          </a:prstGeom>
          <a:noFill/>
          <a:ln/>
        </p:spPr>
        <p:txBody>
          <a:bodyPr wrap="square" lIns="0" tIns="0" rIns="0" bIns="0" rtlCol="0" anchor="ctr"/>
          <a:lstStyle/>
          <a:p>
            <a:pPr indent="0" marL="0">
              <a:lnSpc>
                <a:spcPct val="150000"/>
              </a:lnSpc>
              <a:buNone/>
            </a:pPr>
            <a:r>
              <a:rPr lang="en-US" sz="1400" dirty="0">
                <a:solidFill>
                  <a:srgbClr val="111111"/>
                </a:solidFill>
                <a:latin typeface="Poppins" pitchFamily="34" charset="0"/>
                <a:ea typeface="Poppins" pitchFamily="34" charset="-122"/>
                <a:cs typeface="Poppins" pitchFamily="34" charset="-120"/>
              </a:rPr>
              <a:t>Overpriced pubs. Not the duopoly, not A&amp;A, not the keg delivery operators. Speak in unit economics everywhere, and do not get pulled into a keg price war you do not need to fight.</a:t>
            </a:r>
            <a:endParaRPr lang="en-US" sz="1400" dirty="0"/>
          </a:p>
        </p:txBody>
      </p:sp>
      <p:sp>
        <p:nvSpPr>
          <p:cNvPr id="7" name="Shape 5"/>
          <p:cNvSpPr/>
          <p:nvPr/>
        </p:nvSpPr>
        <p:spPr>
          <a:xfrm>
            <a:off x="6303106" y="2377440"/>
            <a:ext cx="4974190" cy="0"/>
          </a:xfrm>
          <a:prstGeom prst="line">
            <a:avLst/>
          </a:prstGeom>
          <a:noFill/>
          <a:ln w="9525">
            <a:solidFill>
              <a:srgbClr val="D8D4CF"/>
            </a:solidFill>
            <a:prstDash val="solid"/>
          </a:ln>
        </p:spPr>
      </p:sp>
      <p:sp>
        <p:nvSpPr>
          <p:cNvPr id="8" name="Text 6"/>
          <p:cNvSpPr txBox="1"/>
          <p:nvPr/>
        </p:nvSpPr>
        <p:spPr>
          <a:xfrm>
            <a:off x="6303106" y="2560320"/>
            <a:ext cx="4974190" cy="310896"/>
          </a:xfrm>
          <a:prstGeom prst="rect">
            <a:avLst/>
          </a:prstGeom>
          <a:noFill/>
          <a:ln/>
        </p:spPr>
        <p:txBody>
          <a:bodyPr wrap="square" lIns="0" tIns="0" rIns="0" bIns="0" rtlCol="0" anchor="ctr"/>
          <a:lstStyle/>
          <a:p>
            <a:pPr indent="0" marL="0">
              <a:buNone/>
            </a:pPr>
            <a:r>
              <a:rPr lang="en-US" sz="1400" dirty="0">
                <a:solidFill>
                  <a:srgbClr val="111111"/>
                </a:solidFill>
                <a:latin typeface="Poppins Medium" pitchFamily="34" charset="0"/>
                <a:ea typeface="Poppins Medium" pitchFamily="34" charset="-122"/>
                <a:cs typeface="Poppins Medium" pitchFamily="34" charset="-120"/>
              </a:rPr>
              <a:t>Handle the census with care</a:t>
            </a:r>
            <a:endParaRPr lang="en-US" sz="1400" dirty="0"/>
          </a:p>
        </p:txBody>
      </p:sp>
      <p:sp>
        <p:nvSpPr>
          <p:cNvPr id="9" name="Text 7"/>
          <p:cNvSpPr txBox="1"/>
          <p:nvPr/>
        </p:nvSpPr>
        <p:spPr>
          <a:xfrm>
            <a:off x="6303106" y="2980944"/>
            <a:ext cx="4974190" cy="1828800"/>
          </a:xfrm>
          <a:prstGeom prst="rect">
            <a:avLst/>
          </a:prstGeom>
          <a:noFill/>
          <a:ln/>
        </p:spPr>
        <p:txBody>
          <a:bodyPr wrap="square" lIns="0" tIns="0" rIns="0" bIns="0" rtlCol="0" anchor="ctr"/>
          <a:lstStyle/>
          <a:p>
            <a:pPr indent="0" marL="0">
              <a:lnSpc>
                <a:spcPct val="150000"/>
              </a:lnSpc>
              <a:buNone/>
            </a:pPr>
            <a:r>
              <a:rPr lang="en-US" sz="1400" dirty="0">
                <a:solidFill>
                  <a:srgbClr val="111111"/>
                </a:solidFill>
                <a:latin typeface="Poppins" pitchFamily="34" charset="0"/>
                <a:ea typeface="Poppins" pitchFamily="34" charset="-122"/>
                <a:cs typeface="Poppins" pitchFamily="34" charset="-120"/>
              </a:rPr>
              <a:t>49 people, forced-choice answers. People do not always know, or say, why they buy. Status, wanting to be seen as successful, compensating for something else. Real drivers, rarely spoken. Useful colour. Not a strategy map.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56032"/>
          </a:xfrm>
          <a:prstGeom prst="rect">
            <a:avLst/>
          </a:prstGeom>
          <a:noFill/>
          <a:ln/>
        </p:spPr>
        <p:txBody>
          <a:bodyPr wrap="square" lIns="0" tIns="0" rIns="0" bIns="0" rtlCol="0" anchor="ctr"/>
          <a:lstStyle/>
          <a:p>
            <a:pPr indent="0" marL="0">
              <a:buNone/>
            </a:pPr>
            <a:r>
              <a:rPr lang="en-US" sz="1400" spc="300" kern="0" dirty="0">
                <a:solidFill>
                  <a:srgbClr val="FAF8F4"/>
                </a:solidFill>
                <a:latin typeface="Poppins Light" pitchFamily="34" charset="0"/>
                <a:ea typeface="Poppins Light" pitchFamily="34" charset="-122"/>
                <a:cs typeface="Poppins Light" pitchFamily="34" charset="-120"/>
              </a:rPr>
              <a:t>PART 02</a:t>
            </a:r>
            <a:endParaRPr lang="en-US" sz="1400" dirty="0"/>
          </a:p>
        </p:txBody>
      </p:sp>
      <p:sp>
        <p:nvSpPr>
          <p:cNvPr id="3" name="Text 1"/>
          <p:cNvSpPr txBox="1"/>
          <p:nvPr/>
        </p:nvSpPr>
        <p:spPr>
          <a:xfrm>
            <a:off x="822960" y="2286000"/>
            <a:ext cx="10362895" cy="1737360"/>
          </a:xfrm>
          <a:prstGeom prst="rect">
            <a:avLst/>
          </a:prstGeom>
          <a:noFill/>
          <a:ln/>
        </p:spPr>
        <p:txBody>
          <a:bodyPr wrap="square" lIns="0" tIns="0" rIns="0" bIns="0" rtlCol="0" anchor="ctr"/>
          <a:lstStyle/>
          <a:p>
            <a:pPr indent="0" marL="0">
              <a:buNone/>
            </a:pPr>
            <a:r>
              <a:rPr lang="en-US" sz="12000" dirty="0">
                <a:solidFill>
                  <a:srgbClr val="FAF8F4"/>
                </a:solidFill>
                <a:latin typeface="Poppins Light" pitchFamily="34" charset="0"/>
                <a:ea typeface="Poppins Light" pitchFamily="34" charset="-122"/>
                <a:cs typeface="Poppins Light" pitchFamily="34" charset="-120"/>
              </a:rPr>
              <a:t>Direction.</a:t>
            </a:r>
            <a:endParaRPr lang="en-US" sz="12000" dirty="0"/>
          </a:p>
        </p:txBody>
      </p:sp>
      <p:sp>
        <p:nvSpPr>
          <p:cNvPr id="4" name="Text 2"/>
          <p:cNvSpPr txBox="1"/>
          <p:nvPr/>
        </p:nvSpPr>
        <p:spPr>
          <a:xfrm>
            <a:off x="914400" y="4279392"/>
            <a:ext cx="7772400" cy="365760"/>
          </a:xfrm>
          <a:prstGeom prst="rect">
            <a:avLst/>
          </a:prstGeom>
          <a:noFill/>
          <a:ln/>
        </p:spPr>
        <p:txBody>
          <a:bodyPr wrap="square" lIns="0" tIns="0" rIns="0" bIns="0" rtlCol="0" anchor="ctr"/>
          <a:lstStyle/>
          <a:p>
            <a:pPr indent="0" marL="0">
              <a:buNone/>
            </a:pPr>
            <a:r>
              <a:rPr lang="en-US" sz="1600" dirty="0">
                <a:solidFill>
                  <a:srgbClr val="FAF8F4"/>
                </a:solidFill>
                <a:latin typeface="Poppins Light" pitchFamily="34" charset="0"/>
                <a:ea typeface="Poppins Light" pitchFamily="34" charset="-122"/>
                <a:cs typeface="Poppins Light" pitchFamily="34" charset="-120"/>
              </a:rPr>
              <a:t>Ten moves. Five of them come first.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02 · DIRECTION</a:t>
            </a:r>
            <a:endParaRPr lang="en-US" sz="900" dirty="0"/>
          </a:p>
        </p:txBody>
      </p:sp>
      <p:sp>
        <p:nvSpPr>
          <p:cNvPr id="3" name="Text 1"/>
          <p:cNvSpPr txBox="1"/>
          <p:nvPr/>
        </p:nvSpPr>
        <p:spPr>
          <a:xfrm>
            <a:off x="914400" y="786384"/>
            <a:ext cx="10362895" cy="566928"/>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Get the core right, then go for more.</a:t>
            </a:r>
            <a:endParaRPr lang="en-US" sz="4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1810512"/>
          <a:ext cx="10362895" cy="914400"/>
        </p:xfrm>
        <a:graphic>
          <a:graphicData uri="http://schemas.openxmlformats.org/drawingml/2006/table">
            <a:tbl>
              <a:tblPr/>
              <a:tblGrid>
                <a:gridCol w="2286000"/>
                <a:gridCol w="2148840"/>
                <a:gridCol w="2057400"/>
                <a:gridCol w="3870655"/>
              </a:tblGrid>
              <a:tr h="0">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MOVE</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THE SHIFT</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PROOF</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FIRST STEPS</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01  Tap Room: pause and pivot</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Pause walk-in trading. Go all in on destination demand.</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Event and function nights are already profitable.</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PR to tourism, event and wedding planners. Own the tour circuit: Urban Legends booking tool, Pineapple Tours, the Crafted award. Ticketed events and collabs. Party rental, with minimum-guarantee kegs covering the rental cost.</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02  Convert the owners already sold</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Objections are already overcome for existing kegerator owners.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56% bought their system elsewhere.</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Harvey Norman gift-with-purchase and point-of-sale tie-up, plus the buyer database. Buy Kegland and corny keg owner databases. Official Benchy partnership. Co-branded outdoor BBQ and system bundle.</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03  Remove all friction in refills</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Every extra step in the refill process costs a sale.</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10% reorder monthly, 40% far later. One clock fails both.</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Free delivery always works, and margin comes back in dollars, not percent. Replace the blanket 90-day SMS with consumption-triggered reminders. Lead on no CO2, pick up and go. Simplify membership. Get Justin off the bar and onto the road.</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04  Rationalise the range</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Create hero products that carry social proof, and cut the non-productive tail.</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About 19 brew choices loses both curation and best-in-class.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Deeper product marketing on the brews that remain. Social proof cues such as most popular. Free the shelf space and the brewing time for the heroes.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05  Ride the wellness wave</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Also the way back to lapsed customers.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40% of lapsed customers cite cutting back.</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Low, non-alcoholic, low-carb and protein range. Wellness influencer collabs, amplify or co-develop. Reframe for the cutting-back cohort as a healthier alternative, not less beer.</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02 · DIRECTION</a:t>
            </a:r>
            <a:endParaRPr lang="en-US" sz="900" dirty="0"/>
          </a:p>
        </p:txBody>
      </p:sp>
      <p:sp>
        <p:nvSpPr>
          <p:cNvPr id="3" name="Text 1"/>
          <p:cNvSpPr txBox="1"/>
          <p:nvPr/>
        </p:nvSpPr>
        <p:spPr>
          <a:xfrm>
            <a:off x="914400" y="786384"/>
            <a:ext cx="10362895" cy="566928"/>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Once the core is running, extend it.</a:t>
            </a:r>
            <a:endParaRPr lang="en-US" sz="4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14400" y="1810512"/>
          <a:ext cx="10362895" cy="914400"/>
        </p:xfrm>
        <a:graphic>
          <a:graphicData uri="http://schemas.openxmlformats.org/drawingml/2006/table">
            <a:tbl>
              <a:tblPr/>
              <a:tblGrid>
                <a:gridCol w="2286000"/>
                <a:gridCol w="2148840"/>
                <a:gridCol w="2057400"/>
                <a:gridCol w="3870655"/>
              </a:tblGrid>
              <a:tr h="0">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MOVE</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THE SHIFT</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PROOF</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c>
                  <a:txBody>
                    <a:bodyP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FIRST STEPS</a:t>
                      </a:r>
                      <a:endParaRPr lang="en-US" sz="900" dirty="0">
                        <a:latin typeface="Poppins Medium" charset="0"/>
                        <a:ea typeface="Poppins Medium" charset="0"/>
                        <a:cs typeface="Poppins Medium" charset="0"/>
                      </a:endParaRPr>
                    </a:p>
                  </a:txBody>
                  <a:tcPr marL="101600" marR="101600" marT="76200" marB="76200" anchor="ctr">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solidFill>
                      <a:srgbClr val="EDEBEA"/>
                    </a:solidFill>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06  Full press on wholesale</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Resourced, structured and measured. No more falling through the cracks.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One wholesale account is worth about ten households.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Hire a full-timer or an agent. Set targets and KPIs. Custom systems for sporting clubs, with minimum-guarantee kegs per season. Move rigs from footy to cricket for year-round occupancy.</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07  Design for her</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Covered is not the same as catered for.</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The interest in the brews is real. The range does not reflect it.</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Romance the RTD properly. Build the hydration story through the wellness and light range. Products she is proud to serve. Systems designed to sit in eyesight at home.</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08  Personalise comms and lifetime value</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This needs a process, not a message.</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Buying cycle: about 60% within three months, 40% longer.</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Track consumption to predict the next refill. Re-engage lapsed customers by actual reason, cutting back versus forgot. Trigger-based outreach, not calendar-based. Personal details: anniversaries, footy finals.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09  Make the kegerator worth writing about</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Turn the system itself into demand.</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1,000 giveaway entries is proven demand.</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User-generated content mechanic: tag Tap That, get a discount. Own your keg personalisation, like a whisky bottle. Explore short-term and occasion rental for parties.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r h="0">
                <a:tc>
                  <a:txBody>
                    <a:bodyPr/>
                    <a:lstStyle/>
                    <a:p>
                      <a:pPr indent="0" marL="0">
                        <a:lnSpc>
                          <a:spcPts val="1400"/>
                        </a:lnSpc>
                        <a:buNone/>
                      </a:pPr>
                      <a:r>
                        <a:rPr lang="en-US" sz="1100" dirty="0">
                          <a:solidFill>
                            <a:srgbClr val="111111"/>
                          </a:solidFill>
                          <a:latin typeface="Poppins Medium" pitchFamily="34" charset="0"/>
                          <a:ea typeface="Poppins Medium" pitchFamily="34" charset="-122"/>
                          <a:cs typeface="Poppins Medium" pitchFamily="34" charset="-120"/>
                        </a:rPr>
                        <a:t>10  Package around the duopoly</a:t>
                      </a:r>
                      <a:endParaRPr lang="en-US" sz="1100" dirty="0">
                        <a:latin typeface="Poppins Medium" charset="0"/>
                        <a:ea typeface="Poppins Medium" charset="0"/>
                        <a:cs typeface="Poppins Medium"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Locked-in venues still have real pain points.</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Contractual lock-in is not the same as satisfaction.</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c>
                  <a:txBody>
                    <a:bodyPr/>
                    <a:lstStyle/>
                    <a:p>
                      <a:pPr indent="0" marL="0">
                        <a:lnSpc>
                          <a:spcPts val="1200"/>
                        </a:lnSpc>
                        <a:buNone/>
                      </a:pPr>
                      <a:r>
                        <a:rPr lang="en-US" sz="950" dirty="0">
                          <a:solidFill>
                            <a:srgbClr val="111111"/>
                          </a:solidFill>
                          <a:latin typeface="Poppins" pitchFamily="34" charset="0"/>
                          <a:ea typeface="Poppins" pitchFamily="34" charset="-122"/>
                          <a:cs typeface="Poppins" pitchFamily="34" charset="-120"/>
                        </a:rPr>
                        <a:t>A packaged offer that works around existing contracts. Find the judo move that uses their size against them: no lock-in, profit share, white labelling.</a:t>
                      </a:r>
                      <a:endParaRPr lang="en-US" sz="950" dirty="0">
                        <a:latin typeface="Poppins" charset="0"/>
                        <a:ea typeface="Poppins" charset="0"/>
                        <a:cs typeface="Poppins" charset="0"/>
                      </a:endParaRPr>
                    </a:p>
                  </a:txBody>
                  <a:tcPr marL="101600" marR="101600" marT="114300" marB="114300" anchor="t">
                    <a:lnL w="0" cap="flat" cmpd="sng" algn="ctr">
                      <a:noFill/>
                    </a:lnL>
                    <a:lnR w="0" cap="flat" cmpd="sng" algn="ctr">
                      <a:noFill/>
                    </a:lnR>
                    <a:lnT w="0" cap="flat" cmpd="sng" algn="ctr">
                      <a:noFill/>
                    </a:lnT>
                    <a:lnB w="9525" cap="flat" cmpd="sng" algn="ctr">
                      <a:solidFill>
                        <a:srgbClr val="D8D4CF"/>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56032"/>
          </a:xfrm>
          <a:prstGeom prst="rect">
            <a:avLst/>
          </a:prstGeom>
          <a:noFill/>
          <a:ln/>
        </p:spPr>
        <p:txBody>
          <a:bodyPr wrap="square" lIns="0" tIns="0" rIns="0" bIns="0" rtlCol="0" anchor="ctr"/>
          <a:lstStyle/>
          <a:p>
            <a:pPr indent="0" marL="0">
              <a:buNone/>
            </a:pPr>
            <a:r>
              <a:rPr lang="en-US" sz="1400" spc="300" kern="0" dirty="0">
                <a:solidFill>
                  <a:srgbClr val="FAF8F4"/>
                </a:solidFill>
                <a:latin typeface="Poppins Light" pitchFamily="34" charset="0"/>
                <a:ea typeface="Poppins Light" pitchFamily="34" charset="-122"/>
                <a:cs typeface="Poppins Light" pitchFamily="34" charset="-120"/>
              </a:rPr>
              <a:t>PART 03</a:t>
            </a:r>
            <a:endParaRPr lang="en-US" sz="1400" dirty="0"/>
          </a:p>
        </p:txBody>
      </p:sp>
      <p:sp>
        <p:nvSpPr>
          <p:cNvPr id="3" name="Text 1"/>
          <p:cNvSpPr txBox="1"/>
          <p:nvPr/>
        </p:nvSpPr>
        <p:spPr>
          <a:xfrm>
            <a:off x="822960" y="2286000"/>
            <a:ext cx="10362895" cy="1737360"/>
          </a:xfrm>
          <a:prstGeom prst="rect">
            <a:avLst/>
          </a:prstGeom>
          <a:noFill/>
          <a:ln/>
        </p:spPr>
        <p:txBody>
          <a:bodyPr wrap="square" lIns="0" tIns="0" rIns="0" bIns="0" rtlCol="0" anchor="ctr"/>
          <a:lstStyle/>
          <a:p>
            <a:pPr indent="0" marL="0">
              <a:buNone/>
            </a:pPr>
            <a:r>
              <a:rPr lang="en-US" sz="12000" dirty="0">
                <a:solidFill>
                  <a:srgbClr val="FAF8F4"/>
                </a:solidFill>
                <a:latin typeface="Poppins Light" pitchFamily="34" charset="0"/>
                <a:ea typeface="Poppins Light" pitchFamily="34" charset="-122"/>
                <a:cs typeface="Poppins Light" pitchFamily="34" charset="-120"/>
              </a:rPr>
              <a:t>Collateral.</a:t>
            </a:r>
            <a:endParaRPr lang="en-US" sz="12000" dirty="0"/>
          </a:p>
        </p:txBody>
      </p:sp>
      <p:sp>
        <p:nvSpPr>
          <p:cNvPr id="4" name="Text 2"/>
          <p:cNvSpPr txBox="1"/>
          <p:nvPr/>
        </p:nvSpPr>
        <p:spPr>
          <a:xfrm>
            <a:off x="914400" y="4279392"/>
            <a:ext cx="7772400" cy="365760"/>
          </a:xfrm>
          <a:prstGeom prst="rect">
            <a:avLst/>
          </a:prstGeom>
          <a:noFill/>
          <a:ln/>
        </p:spPr>
        <p:txBody>
          <a:bodyPr wrap="square" lIns="0" tIns="0" rIns="0" bIns="0" rtlCol="0" anchor="ctr"/>
          <a:lstStyle/>
          <a:p>
            <a:pPr indent="0" marL="0">
              <a:buNone/>
            </a:pPr>
            <a:r>
              <a:rPr lang="en-US" sz="1600" dirty="0">
                <a:solidFill>
                  <a:srgbClr val="FAF8F4"/>
                </a:solidFill>
                <a:latin typeface="Poppins Light" pitchFamily="34" charset="0"/>
                <a:ea typeface="Poppins Light" pitchFamily="34" charset="-122"/>
                <a:cs typeface="Poppins Light" pitchFamily="34" charset="-120"/>
              </a:rPr>
              <a:t>What the destination business looks like on paper.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03 · COLLATERAL</a:t>
            </a:r>
            <a:endParaRPr lang="en-US" sz="900" dirty="0"/>
          </a:p>
        </p:txBody>
      </p:sp>
      <p:sp>
        <p:nvSpPr>
          <p:cNvPr id="3" name="Text 1"/>
          <p:cNvSpPr txBox="1"/>
          <p:nvPr/>
        </p:nvSpPr>
        <p:spPr>
          <a:xfrm>
            <a:off x="914400" y="786384"/>
            <a:ext cx="10362895" cy="1133856"/>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The destination business, sold the way the venue already sells it.</a:t>
            </a:r>
            <a:endParaRPr lang="en-US" sz="4200" dirty="0"/>
          </a:p>
        </p:txBody>
      </p:sp>
      <p:sp>
        <p:nvSpPr>
          <p:cNvPr id="4" name="Text 2"/>
          <p:cNvSpPr txBox="1"/>
          <p:nvPr/>
        </p:nvSpPr>
        <p:spPr>
          <a:xfrm>
            <a:off x="914400" y="6144768"/>
            <a:ext cx="10362895" cy="457200"/>
          </a:xfrm>
          <a:prstGeom prst="rect">
            <a:avLst/>
          </a:prstGeom>
          <a:noFill/>
          <a:ln/>
        </p:spPr>
        <p:txBody>
          <a:bodyPr wrap="square" lIns="0" tIns="0" rIns="0" bIns="0" rtlCol="0" anchor="ctr"/>
          <a:lstStyle/>
          <a:p>
            <a:pPr indent="0" marL="0">
              <a:lnSpc>
                <a:spcPct val="130000"/>
              </a:lnSpc>
              <a:buNone/>
            </a:pPr>
            <a:r>
              <a:rPr lang="en-US" sz="1100" dirty="0">
                <a:solidFill>
                  <a:srgbClr val="666666"/>
                </a:solidFill>
                <a:latin typeface="Poppins" pitchFamily="34" charset="0"/>
                <a:ea typeface="Poppins" pitchFamily="34" charset="-122"/>
                <a:cs typeface="Poppins" pitchFamily="34" charset="-120"/>
              </a:rPr>
              <a:t>Format taken from Tap That's own in-venue flyer. Photography is the August site visit, not stock. These sit in Tap That's brand, not ours, because they are the client's collateral. Print-ready A4 at 200 dpi.</a:t>
            </a:r>
            <a:endParaRPr lang="en-US" sz="1100" dirty="0"/>
          </a:p>
        </p:txBody>
      </p:sp>
      <p:pic>
        <p:nvPicPr>
          <p:cNvPr id="5" name="Image 0" descr="/home/user/tapthatbrewery/00 Admin/06 Presentations/pivot/build-jp/jp-01-weddings.jpg">    </p:cNvPr>
          <p:cNvPicPr>
            <a:picLocks noChangeAspect="1"/>
          </p:cNvPicPr>
          <p:nvPr/>
        </p:nvPicPr>
        <p:blipFill>
          <a:blip r:embed="rId1"/>
          <a:stretch>
            <a:fillRect/>
          </a:stretch>
        </p:blipFill>
        <p:spPr>
          <a:xfrm>
            <a:off x="1094080" y="2377440"/>
            <a:ext cx="2212848" cy="3129599"/>
          </a:xfrm>
          <a:prstGeom prst="rect">
            <a:avLst/>
          </a:prstGeom>
        </p:spPr>
      </p:pic>
      <p:sp>
        <p:nvSpPr>
          <p:cNvPr id="6" name="Text 3"/>
          <p:cNvSpPr txBox="1"/>
          <p:nvPr/>
        </p:nvSpPr>
        <p:spPr>
          <a:xfrm>
            <a:off x="1094080" y="5580191"/>
            <a:ext cx="221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Weddings</a:t>
            </a:r>
            <a:endParaRPr lang="en-US" sz="1000" dirty="0"/>
          </a:p>
        </p:txBody>
      </p:sp>
      <p:pic>
        <p:nvPicPr>
          <p:cNvPr id="7" name="Image 1" descr="/home/user/tapthatbrewery/00 Admin/06 Presentations/pivot/build-jp/jp-02-bucks-and-hens.jpg">    </p:cNvPr>
          <p:cNvPicPr>
            <a:picLocks noChangeAspect="1"/>
          </p:cNvPicPr>
          <p:nvPr/>
        </p:nvPicPr>
        <p:blipFill>
          <a:blip r:embed="rId2"/>
          <a:stretch>
            <a:fillRect/>
          </a:stretch>
        </p:blipFill>
        <p:spPr>
          <a:xfrm>
            <a:off x="3690976" y="2377440"/>
            <a:ext cx="2212848" cy="3129599"/>
          </a:xfrm>
          <a:prstGeom prst="rect">
            <a:avLst/>
          </a:prstGeom>
        </p:spPr>
      </p:pic>
      <p:sp>
        <p:nvSpPr>
          <p:cNvPr id="8" name="Text 4"/>
          <p:cNvSpPr txBox="1"/>
          <p:nvPr/>
        </p:nvSpPr>
        <p:spPr>
          <a:xfrm>
            <a:off x="3690976" y="5580191"/>
            <a:ext cx="221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Bucks and hens</a:t>
            </a:r>
            <a:endParaRPr lang="en-US" sz="1000" dirty="0"/>
          </a:p>
        </p:txBody>
      </p:sp>
      <p:pic>
        <p:nvPicPr>
          <p:cNvPr id="9" name="Image 2" descr="/home/user/tapthatbrewery/00 Admin/06 Presentations/pivot/build-jp/jp-03-work-functions.jpg">    </p:cNvPr>
          <p:cNvPicPr>
            <a:picLocks noChangeAspect="1"/>
          </p:cNvPicPr>
          <p:nvPr/>
        </p:nvPicPr>
        <p:blipFill>
          <a:blip r:embed="rId3"/>
          <a:stretch>
            <a:fillRect/>
          </a:stretch>
        </p:blipFill>
        <p:spPr>
          <a:xfrm>
            <a:off x="6287872" y="2377440"/>
            <a:ext cx="2212848" cy="3129599"/>
          </a:xfrm>
          <a:prstGeom prst="rect">
            <a:avLst/>
          </a:prstGeom>
        </p:spPr>
      </p:pic>
      <p:sp>
        <p:nvSpPr>
          <p:cNvPr id="10" name="Text 5"/>
          <p:cNvSpPr txBox="1"/>
          <p:nvPr/>
        </p:nvSpPr>
        <p:spPr>
          <a:xfrm>
            <a:off x="6287872" y="5580191"/>
            <a:ext cx="221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Work functions</a:t>
            </a:r>
            <a:endParaRPr lang="en-US" sz="1000" dirty="0"/>
          </a:p>
        </p:txBody>
      </p:sp>
      <p:pic>
        <p:nvPicPr>
          <p:cNvPr id="11" name="Image 3" descr="/home/user/tapthatbrewery/00 Admin/06 Presentations/pivot/build-jp/jp-04-tours-and-tastings.jpg">    </p:cNvPr>
          <p:cNvPicPr>
            <a:picLocks noChangeAspect="1"/>
          </p:cNvPicPr>
          <p:nvPr/>
        </p:nvPicPr>
        <p:blipFill>
          <a:blip r:embed="rId4"/>
          <a:stretch>
            <a:fillRect/>
          </a:stretch>
        </p:blipFill>
        <p:spPr>
          <a:xfrm>
            <a:off x="8884768" y="2377440"/>
            <a:ext cx="2212848" cy="3129599"/>
          </a:xfrm>
          <a:prstGeom prst="rect">
            <a:avLst/>
          </a:prstGeom>
        </p:spPr>
      </p:pic>
      <p:sp>
        <p:nvSpPr>
          <p:cNvPr id="12" name="Text 6"/>
          <p:cNvSpPr txBox="1"/>
          <p:nvPr/>
        </p:nvSpPr>
        <p:spPr>
          <a:xfrm>
            <a:off x="8884768" y="5580191"/>
            <a:ext cx="221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Tours and tastings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03 · COLLATERAL</a:t>
            </a:r>
            <a:endParaRPr lang="en-US" sz="900" dirty="0"/>
          </a:p>
        </p:txBody>
      </p:sp>
      <p:sp>
        <p:nvSpPr>
          <p:cNvPr id="3" name="Text 1"/>
          <p:cNvSpPr txBox="1"/>
          <p:nvPr/>
        </p:nvSpPr>
        <p:spPr>
          <a:xfrm>
            <a:off x="914400" y="786384"/>
            <a:ext cx="10362895" cy="1133856"/>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Turning hens and bucks days into wedding day volume.</a:t>
            </a:r>
            <a:endParaRPr lang="en-US" sz="4200" dirty="0"/>
          </a:p>
        </p:txBody>
      </p:sp>
      <p:pic>
        <p:nvPicPr>
          <p:cNvPr id="4" name="Image 0" descr="/home/user/tapthatbrewery/00 Admin/06 Presentations/pivot/build-jp/jp-01-weddings-lg.jpg">    </p:cNvPr>
          <p:cNvPicPr>
            <a:picLocks noChangeAspect="1"/>
          </p:cNvPicPr>
          <p:nvPr/>
        </p:nvPicPr>
        <p:blipFill>
          <a:blip r:embed="rId1"/>
          <a:stretch>
            <a:fillRect/>
          </a:stretch>
        </p:blipFill>
        <p:spPr>
          <a:xfrm>
            <a:off x="914400" y="2377440"/>
            <a:ext cx="2275840" cy="3218688"/>
          </a:xfrm>
          <a:prstGeom prst="rect">
            <a:avLst/>
          </a:prstGeom>
        </p:spPr>
      </p:pic>
      <p:sp>
        <p:nvSpPr>
          <p:cNvPr id="5" name="Text 2"/>
          <p:cNvSpPr txBox="1"/>
          <p:nvPr/>
        </p:nvSpPr>
        <p:spPr>
          <a:xfrm>
            <a:off x="914400" y="5687568"/>
            <a:ext cx="2275840"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The artwork, ready to send</a:t>
            </a:r>
            <a:endParaRPr lang="en-US" sz="1000" dirty="0"/>
          </a:p>
        </p:txBody>
      </p:sp>
      <p:sp>
        <p:nvSpPr>
          <p:cNvPr id="6" name="Shape 3"/>
          <p:cNvSpPr/>
          <p:nvPr/>
        </p:nvSpPr>
        <p:spPr>
          <a:xfrm>
            <a:off x="3876040" y="2377440"/>
            <a:ext cx="7401255" cy="0"/>
          </a:xfrm>
          <a:prstGeom prst="line">
            <a:avLst/>
          </a:prstGeom>
          <a:noFill/>
          <a:ln w="9525">
            <a:solidFill>
              <a:srgbClr val="D8D4CF"/>
            </a:solidFill>
            <a:prstDash val="solid"/>
          </a:ln>
        </p:spPr>
      </p:sp>
      <p:sp>
        <p:nvSpPr>
          <p:cNvPr id="7" name="Text 4"/>
          <p:cNvSpPr txBox="1"/>
          <p:nvPr/>
        </p:nvSpPr>
        <p:spPr>
          <a:xfrm>
            <a:off x="3876040" y="2487168"/>
            <a:ext cx="502920" cy="274320"/>
          </a:xfrm>
          <a:prstGeom prst="rect">
            <a:avLst/>
          </a:prstGeom>
          <a:noFill/>
          <a:ln/>
        </p:spPr>
        <p:txBody>
          <a:bodyPr wrap="square" lIns="0" tIns="0" rIns="0" bIns="0" rtlCol="0" anchor="ctr"/>
          <a:lstStyle/>
          <a:p>
            <a:pPr indent="0" marL="0">
              <a:buNone/>
            </a:pPr>
            <a:r>
              <a:rPr lang="en-US" sz="1600" dirty="0">
                <a:solidFill>
                  <a:srgbClr val="666666"/>
                </a:solidFill>
                <a:latin typeface="Poppins Light" pitchFamily="34" charset="0"/>
                <a:ea typeface="Poppins Light" pitchFamily="34" charset="-122"/>
                <a:cs typeface="Poppins Light" pitchFamily="34" charset="-120"/>
              </a:rPr>
              <a:t>01</a:t>
            </a:r>
            <a:endParaRPr lang="en-US" sz="1600" dirty="0"/>
          </a:p>
        </p:txBody>
      </p:sp>
      <p:sp>
        <p:nvSpPr>
          <p:cNvPr id="8" name="Text 5"/>
          <p:cNvSpPr txBox="1"/>
          <p:nvPr/>
        </p:nvSpPr>
        <p:spPr>
          <a:xfrm>
            <a:off x="4424680" y="2487168"/>
            <a:ext cx="2286000" cy="292608"/>
          </a:xfrm>
          <a:prstGeom prst="rect">
            <a:avLst/>
          </a:prstGeom>
          <a:noFill/>
          <a:ln/>
        </p:spPr>
        <p:txBody>
          <a:bodyPr wrap="square" lIns="0" tIns="0" rIns="0" bIns="0" rtlCol="0" anchor="ctr"/>
          <a:lstStyle/>
          <a:p>
            <a:pPr indent="0" marL="0">
              <a:buNone/>
            </a:pPr>
            <a:r>
              <a:rPr lang="en-US" sz="1300" dirty="0">
                <a:solidFill>
                  <a:srgbClr val="111111"/>
                </a:solidFill>
                <a:latin typeface="Poppins Medium" pitchFamily="34" charset="0"/>
                <a:ea typeface="Poppins Medium" pitchFamily="34" charset="-122"/>
                <a:cs typeface="Poppins Medium" pitchFamily="34" charset="-120"/>
              </a:rPr>
              <a:t>The Tap Room event</a:t>
            </a:r>
            <a:endParaRPr lang="en-US" sz="1300" dirty="0"/>
          </a:p>
        </p:txBody>
      </p:sp>
      <p:sp>
        <p:nvSpPr>
          <p:cNvPr id="9" name="Text 6"/>
          <p:cNvSpPr txBox="1"/>
          <p:nvPr/>
        </p:nvSpPr>
        <p:spPr>
          <a:xfrm>
            <a:off x="6802120" y="2487168"/>
            <a:ext cx="4475175" cy="566928"/>
          </a:xfrm>
          <a:prstGeom prst="rect">
            <a:avLst/>
          </a:prstGeom>
          <a:noFill/>
          <a:ln/>
        </p:spPr>
        <p:txBody>
          <a:bodyPr wrap="square" lIns="0" tIns="0" rIns="0" bIns="0" rtlCol="0" anchor="ctr"/>
          <a:lstStyle/>
          <a:p>
            <a:pPr indent="0" marL="0">
              <a:lnSpc>
                <a:spcPct val="128000"/>
              </a:lnSpc>
              <a:buNone/>
            </a:pPr>
            <a:r>
              <a:rPr lang="en-US" sz="1100" dirty="0">
                <a:solidFill>
                  <a:srgbClr val="111111"/>
                </a:solidFill>
                <a:latin typeface="Poppins" pitchFamily="34" charset="0"/>
                <a:ea typeface="Poppins" pitchFamily="34" charset="-122"/>
                <a:cs typeface="Poppins" pitchFamily="34" charset="-120"/>
              </a:rPr>
              <a:t>Private hens or bucks session. Guided flight tasting across 27 taps, with interactive ingredient blending.</a:t>
            </a:r>
            <a:endParaRPr lang="en-US" sz="1100" dirty="0"/>
          </a:p>
        </p:txBody>
      </p:sp>
      <p:sp>
        <p:nvSpPr>
          <p:cNvPr id="10" name="Shape 7"/>
          <p:cNvSpPr/>
          <p:nvPr/>
        </p:nvSpPr>
        <p:spPr>
          <a:xfrm>
            <a:off x="3876040" y="3163824"/>
            <a:ext cx="7401255" cy="0"/>
          </a:xfrm>
          <a:prstGeom prst="line">
            <a:avLst/>
          </a:prstGeom>
          <a:noFill/>
          <a:ln w="9525">
            <a:solidFill>
              <a:srgbClr val="D8D4CF"/>
            </a:solidFill>
            <a:prstDash val="solid"/>
          </a:ln>
        </p:spPr>
      </p:sp>
      <p:sp>
        <p:nvSpPr>
          <p:cNvPr id="11" name="Text 8"/>
          <p:cNvSpPr txBox="1"/>
          <p:nvPr/>
        </p:nvSpPr>
        <p:spPr>
          <a:xfrm>
            <a:off x="3876040" y="3273552"/>
            <a:ext cx="502920" cy="274320"/>
          </a:xfrm>
          <a:prstGeom prst="rect">
            <a:avLst/>
          </a:prstGeom>
          <a:noFill/>
          <a:ln/>
        </p:spPr>
        <p:txBody>
          <a:bodyPr wrap="square" lIns="0" tIns="0" rIns="0" bIns="0" rtlCol="0" anchor="ctr"/>
          <a:lstStyle/>
          <a:p>
            <a:pPr indent="0" marL="0">
              <a:buNone/>
            </a:pPr>
            <a:r>
              <a:rPr lang="en-US" sz="1600" dirty="0">
                <a:solidFill>
                  <a:srgbClr val="666666"/>
                </a:solidFill>
                <a:latin typeface="Poppins Light" pitchFamily="34" charset="0"/>
                <a:ea typeface="Poppins Light" pitchFamily="34" charset="-122"/>
                <a:cs typeface="Poppins Light" pitchFamily="34" charset="-120"/>
              </a:rPr>
              <a:t>02</a:t>
            </a:r>
            <a:endParaRPr lang="en-US" sz="1600" dirty="0"/>
          </a:p>
        </p:txBody>
      </p:sp>
      <p:sp>
        <p:nvSpPr>
          <p:cNvPr id="12" name="Text 9"/>
          <p:cNvSpPr txBox="1"/>
          <p:nvPr/>
        </p:nvSpPr>
        <p:spPr>
          <a:xfrm>
            <a:off x="4424680" y="3273552"/>
            <a:ext cx="2286000" cy="292608"/>
          </a:xfrm>
          <a:prstGeom prst="rect">
            <a:avLst/>
          </a:prstGeom>
          <a:noFill/>
          <a:ln/>
        </p:spPr>
        <p:txBody>
          <a:bodyPr wrap="square" lIns="0" tIns="0" rIns="0" bIns="0" rtlCol="0" anchor="ctr"/>
          <a:lstStyle/>
          <a:p>
            <a:pPr indent="0" marL="0">
              <a:buNone/>
            </a:pPr>
            <a:r>
              <a:rPr lang="en-US" sz="1300" dirty="0">
                <a:solidFill>
                  <a:srgbClr val="111111"/>
                </a:solidFill>
                <a:latin typeface="Poppins Medium" pitchFamily="34" charset="0"/>
                <a:ea typeface="Poppins Medium" pitchFamily="34" charset="-122"/>
                <a:cs typeface="Poppins Medium" pitchFamily="34" charset="-120"/>
              </a:rPr>
              <a:t>Bespoke branding</a:t>
            </a:r>
            <a:endParaRPr lang="en-US" sz="1300" dirty="0"/>
          </a:p>
        </p:txBody>
      </p:sp>
      <p:sp>
        <p:nvSpPr>
          <p:cNvPr id="13" name="Text 10"/>
          <p:cNvSpPr txBox="1"/>
          <p:nvPr/>
        </p:nvSpPr>
        <p:spPr>
          <a:xfrm>
            <a:off x="6802120" y="3273552"/>
            <a:ext cx="4475175" cy="566928"/>
          </a:xfrm>
          <a:prstGeom prst="rect">
            <a:avLst/>
          </a:prstGeom>
          <a:noFill/>
          <a:ln/>
        </p:spPr>
        <p:txBody>
          <a:bodyPr wrap="square" lIns="0" tIns="0" rIns="0" bIns="0" rtlCol="0" anchor="ctr"/>
          <a:lstStyle/>
          <a:p>
            <a:pPr indent="0" marL="0">
              <a:lnSpc>
                <a:spcPct val="128000"/>
              </a:lnSpc>
              <a:buNone/>
            </a:pPr>
            <a:r>
              <a:rPr lang="en-US" sz="1100" dirty="0">
                <a:solidFill>
                  <a:srgbClr val="111111"/>
                </a:solidFill>
                <a:latin typeface="Poppins" pitchFamily="34" charset="0"/>
                <a:ea typeface="Poppins" pitchFamily="34" charset="-122"/>
                <a:cs typeface="Poppins" pitchFamily="34" charset="-120"/>
              </a:rPr>
              <a:t>Co-branded custom label, naming, and beverage style selection: beer, sour, seltzer or RTD spirit.</a:t>
            </a:r>
            <a:endParaRPr lang="en-US" sz="1100" dirty="0"/>
          </a:p>
        </p:txBody>
      </p:sp>
      <p:sp>
        <p:nvSpPr>
          <p:cNvPr id="14" name="Shape 11"/>
          <p:cNvSpPr/>
          <p:nvPr/>
        </p:nvSpPr>
        <p:spPr>
          <a:xfrm>
            <a:off x="3876040" y="3950208"/>
            <a:ext cx="7401255" cy="0"/>
          </a:xfrm>
          <a:prstGeom prst="line">
            <a:avLst/>
          </a:prstGeom>
          <a:noFill/>
          <a:ln w="9525">
            <a:solidFill>
              <a:srgbClr val="D8D4CF"/>
            </a:solidFill>
            <a:prstDash val="solid"/>
          </a:ln>
        </p:spPr>
      </p:sp>
      <p:sp>
        <p:nvSpPr>
          <p:cNvPr id="15" name="Text 12"/>
          <p:cNvSpPr txBox="1"/>
          <p:nvPr/>
        </p:nvSpPr>
        <p:spPr>
          <a:xfrm>
            <a:off x="3876040" y="4059936"/>
            <a:ext cx="502920" cy="274320"/>
          </a:xfrm>
          <a:prstGeom prst="rect">
            <a:avLst/>
          </a:prstGeom>
          <a:noFill/>
          <a:ln/>
        </p:spPr>
        <p:txBody>
          <a:bodyPr wrap="square" lIns="0" tIns="0" rIns="0" bIns="0" rtlCol="0" anchor="ctr"/>
          <a:lstStyle/>
          <a:p>
            <a:pPr indent="0" marL="0">
              <a:buNone/>
            </a:pPr>
            <a:r>
              <a:rPr lang="en-US" sz="1600" dirty="0">
                <a:solidFill>
                  <a:srgbClr val="666666"/>
                </a:solidFill>
                <a:latin typeface="Poppins Light" pitchFamily="34" charset="0"/>
                <a:ea typeface="Poppins Light" pitchFamily="34" charset="-122"/>
                <a:cs typeface="Poppins Light" pitchFamily="34" charset="-120"/>
              </a:rPr>
              <a:t>03</a:t>
            </a:r>
            <a:endParaRPr lang="en-US" sz="1600" dirty="0"/>
          </a:p>
        </p:txBody>
      </p:sp>
      <p:sp>
        <p:nvSpPr>
          <p:cNvPr id="16" name="Text 13"/>
          <p:cNvSpPr txBox="1"/>
          <p:nvPr/>
        </p:nvSpPr>
        <p:spPr>
          <a:xfrm>
            <a:off x="4424680" y="4059936"/>
            <a:ext cx="2286000" cy="292608"/>
          </a:xfrm>
          <a:prstGeom prst="rect">
            <a:avLst/>
          </a:prstGeom>
          <a:noFill/>
          <a:ln/>
        </p:spPr>
        <p:txBody>
          <a:bodyPr wrap="square" lIns="0" tIns="0" rIns="0" bIns="0" rtlCol="0" anchor="ctr"/>
          <a:lstStyle/>
          <a:p>
            <a:pPr indent="0" marL="0">
              <a:buNone/>
            </a:pPr>
            <a:r>
              <a:rPr lang="en-US" sz="1300" dirty="0">
                <a:solidFill>
                  <a:srgbClr val="111111"/>
                </a:solidFill>
                <a:latin typeface="Poppins Medium" pitchFamily="34" charset="0"/>
                <a:ea typeface="Poppins Medium" pitchFamily="34" charset="-122"/>
                <a:cs typeface="Poppins Medium" pitchFamily="34" charset="-120"/>
              </a:rPr>
              <a:t>Wedding day reception</a:t>
            </a:r>
            <a:endParaRPr lang="en-US" sz="1300" dirty="0"/>
          </a:p>
        </p:txBody>
      </p:sp>
      <p:sp>
        <p:nvSpPr>
          <p:cNvPr id="17" name="Text 14"/>
          <p:cNvSpPr txBox="1"/>
          <p:nvPr/>
        </p:nvSpPr>
        <p:spPr>
          <a:xfrm>
            <a:off x="6802120" y="4059936"/>
            <a:ext cx="4475175" cy="566928"/>
          </a:xfrm>
          <a:prstGeom prst="rect">
            <a:avLst/>
          </a:prstGeom>
          <a:noFill/>
          <a:ln/>
        </p:spPr>
        <p:txBody>
          <a:bodyPr wrap="square" lIns="0" tIns="0" rIns="0" bIns="0" rtlCol="0" anchor="ctr"/>
          <a:lstStyle/>
          <a:p>
            <a:pPr indent="0" marL="0">
              <a:lnSpc>
                <a:spcPct val="128000"/>
              </a:lnSpc>
              <a:buNone/>
            </a:pPr>
            <a:r>
              <a:rPr lang="en-US" sz="1100" dirty="0">
                <a:solidFill>
                  <a:srgbClr val="111111"/>
                </a:solidFill>
                <a:latin typeface="Poppins" pitchFamily="34" charset="0"/>
                <a:ea typeface="Poppins" pitchFamily="34" charset="-122"/>
                <a:cs typeface="Poppins" pitchFamily="34" charset="-120"/>
              </a:rPr>
              <a:t>Bulk supply delivered in 20L kegs or custom cans for the main event.</a:t>
            </a:r>
            <a:endParaRPr lang="en-US" sz="1100" dirty="0"/>
          </a:p>
        </p:txBody>
      </p:sp>
      <p:sp>
        <p:nvSpPr>
          <p:cNvPr id="18" name="Shape 15"/>
          <p:cNvSpPr/>
          <p:nvPr/>
        </p:nvSpPr>
        <p:spPr>
          <a:xfrm>
            <a:off x="3876040" y="4736592"/>
            <a:ext cx="7401255" cy="0"/>
          </a:xfrm>
          <a:prstGeom prst="line">
            <a:avLst/>
          </a:prstGeom>
          <a:noFill/>
          <a:ln w="9525">
            <a:solidFill>
              <a:srgbClr val="D8D4CF"/>
            </a:solidFill>
            <a:prstDash val="solid"/>
          </a:ln>
        </p:spPr>
      </p:sp>
      <p:sp>
        <p:nvSpPr>
          <p:cNvPr id="19" name="Text 16"/>
          <p:cNvSpPr txBox="1"/>
          <p:nvPr/>
        </p:nvSpPr>
        <p:spPr>
          <a:xfrm>
            <a:off x="3876040" y="4846320"/>
            <a:ext cx="502920" cy="274320"/>
          </a:xfrm>
          <a:prstGeom prst="rect">
            <a:avLst/>
          </a:prstGeom>
          <a:noFill/>
          <a:ln/>
        </p:spPr>
        <p:txBody>
          <a:bodyPr wrap="square" lIns="0" tIns="0" rIns="0" bIns="0" rtlCol="0" anchor="ctr"/>
          <a:lstStyle/>
          <a:p>
            <a:pPr indent="0" marL="0">
              <a:buNone/>
            </a:pPr>
            <a:r>
              <a:rPr lang="en-US" sz="1600" dirty="0">
                <a:solidFill>
                  <a:srgbClr val="666666"/>
                </a:solidFill>
                <a:latin typeface="Poppins Light" pitchFamily="34" charset="0"/>
                <a:ea typeface="Poppins Light" pitchFamily="34" charset="-122"/>
                <a:cs typeface="Poppins Light" pitchFamily="34" charset="-120"/>
              </a:rPr>
              <a:t>04</a:t>
            </a:r>
            <a:endParaRPr lang="en-US" sz="1600" dirty="0"/>
          </a:p>
        </p:txBody>
      </p:sp>
      <p:sp>
        <p:nvSpPr>
          <p:cNvPr id="20" name="Text 17"/>
          <p:cNvSpPr txBox="1"/>
          <p:nvPr/>
        </p:nvSpPr>
        <p:spPr>
          <a:xfrm>
            <a:off x="4424680" y="4846320"/>
            <a:ext cx="2286000" cy="292608"/>
          </a:xfrm>
          <a:prstGeom prst="rect">
            <a:avLst/>
          </a:prstGeom>
          <a:noFill/>
          <a:ln/>
        </p:spPr>
        <p:txBody>
          <a:bodyPr wrap="square" lIns="0" tIns="0" rIns="0" bIns="0" rtlCol="0" anchor="ctr"/>
          <a:lstStyle/>
          <a:p>
            <a:pPr indent="0" marL="0">
              <a:buNone/>
            </a:pPr>
            <a:r>
              <a:rPr lang="en-US" sz="1300" dirty="0">
                <a:solidFill>
                  <a:srgbClr val="111111"/>
                </a:solidFill>
                <a:latin typeface="Poppins Medium" pitchFamily="34" charset="0"/>
                <a:ea typeface="Poppins Medium" pitchFamily="34" charset="-122"/>
                <a:cs typeface="Poppins Medium" pitchFamily="34" charset="-120"/>
              </a:rPr>
              <a:t>Take-home compound</a:t>
            </a:r>
            <a:endParaRPr lang="en-US" sz="1300" dirty="0"/>
          </a:p>
        </p:txBody>
      </p:sp>
      <p:sp>
        <p:nvSpPr>
          <p:cNvPr id="21" name="Text 18"/>
          <p:cNvSpPr txBox="1"/>
          <p:nvPr/>
        </p:nvSpPr>
        <p:spPr>
          <a:xfrm>
            <a:off x="6802120" y="4846320"/>
            <a:ext cx="4475175" cy="566928"/>
          </a:xfrm>
          <a:prstGeom prst="rect">
            <a:avLst/>
          </a:prstGeom>
          <a:noFill/>
          <a:ln/>
        </p:spPr>
        <p:txBody>
          <a:bodyPr wrap="square" lIns="0" tIns="0" rIns="0" bIns="0" rtlCol="0" anchor="ctr"/>
          <a:lstStyle/>
          <a:p>
            <a:pPr indent="0" marL="0">
              <a:lnSpc>
                <a:spcPct val="128000"/>
              </a:lnSpc>
              <a:buNone/>
            </a:pPr>
            <a:r>
              <a:rPr lang="en-US" sz="1100" dirty="0">
                <a:solidFill>
                  <a:srgbClr val="111111"/>
                </a:solidFill>
                <a:latin typeface="Poppins" pitchFamily="34" charset="0"/>
                <a:ea typeface="Poppins" pitchFamily="34" charset="-122"/>
                <a:cs typeface="Poppins" pitchFamily="34" charset="-120"/>
              </a:rPr>
              <a:t>Every guest goes home with a branded sample and a QR code.</a:t>
            </a:r>
            <a:endParaRPr lang="en-US" sz="1100" dirty="0"/>
          </a:p>
        </p:txBody>
      </p:sp>
      <p:sp>
        <p:nvSpPr>
          <p:cNvPr id="22" name="Shape 19"/>
          <p:cNvSpPr/>
          <p:nvPr/>
        </p:nvSpPr>
        <p:spPr>
          <a:xfrm>
            <a:off x="3876040" y="5522976"/>
            <a:ext cx="7401255" cy="0"/>
          </a:xfrm>
          <a:prstGeom prst="line">
            <a:avLst/>
          </a:prstGeom>
          <a:noFill/>
          <a:ln w="9525">
            <a:solidFill>
              <a:srgbClr val="D8D4CF"/>
            </a:solidFill>
            <a:prstDash val="solid"/>
          </a:ln>
        </p:spPr>
      </p:sp>
      <p:sp>
        <p:nvSpPr>
          <p:cNvPr id="23" name="Text 20"/>
          <p:cNvSpPr txBox="1"/>
          <p:nvPr/>
        </p:nvSpPr>
        <p:spPr>
          <a:xfrm>
            <a:off x="3876040" y="5724144"/>
            <a:ext cx="7401255" cy="219456"/>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THE COMPOUND EFFECT</a:t>
            </a:r>
            <a:endParaRPr lang="en-US" sz="900" dirty="0"/>
          </a:p>
        </p:txBody>
      </p:sp>
      <p:sp>
        <p:nvSpPr>
          <p:cNvPr id="24" name="Text 21"/>
          <p:cNvSpPr txBox="1"/>
          <p:nvPr/>
        </p:nvSpPr>
        <p:spPr>
          <a:xfrm>
            <a:off x="3876040" y="5980176"/>
            <a:ext cx="7401255" cy="548640"/>
          </a:xfrm>
          <a:prstGeom prst="rect">
            <a:avLst/>
          </a:prstGeom>
          <a:noFill/>
          <a:ln/>
        </p:spPr>
        <p:txBody>
          <a:bodyPr wrap="square" lIns="0" tIns="0" rIns="0" bIns="0" rtlCol="0" anchor="ctr"/>
          <a:lstStyle/>
          <a:p>
            <a:pPr indent="0" marL="0">
              <a:lnSpc>
                <a:spcPct val="132000"/>
              </a:lnSpc>
              <a:buNone/>
            </a:pPr>
            <a:r>
              <a:rPr lang="en-US" sz="1200" dirty="0">
                <a:solidFill>
                  <a:srgbClr val="111111"/>
                </a:solidFill>
                <a:latin typeface="Poppins" pitchFamily="34" charset="0"/>
                <a:ea typeface="Poppins" pitchFamily="34" charset="-122"/>
                <a:cs typeface="Poppins" pitchFamily="34" charset="-120"/>
              </a:rPr>
              <a:t>One private session captures premium venue hire upfront, secures pre-sold volume for the reception, and puts branded product into the hands of every guest.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03 · COLLATERAL</a:t>
            </a:r>
            <a:endParaRPr lang="en-US" sz="900" dirty="0"/>
          </a:p>
        </p:txBody>
      </p:sp>
      <p:sp>
        <p:nvSpPr>
          <p:cNvPr id="3" name="Text 1"/>
          <p:cNvSpPr txBox="1"/>
          <p:nvPr/>
        </p:nvSpPr>
        <p:spPr>
          <a:xfrm>
            <a:off x="914400" y="786384"/>
            <a:ext cx="10362895" cy="1133856"/>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What a co-branded system could look like.</a:t>
            </a:r>
            <a:endParaRPr lang="en-US" sz="4200" dirty="0"/>
          </a:p>
        </p:txBody>
      </p:sp>
      <p:sp>
        <p:nvSpPr>
          <p:cNvPr id="4" name="Text 2"/>
          <p:cNvSpPr txBox="1"/>
          <p:nvPr/>
        </p:nvSpPr>
        <p:spPr>
          <a:xfrm>
            <a:off x="914400" y="6144768"/>
            <a:ext cx="10362895" cy="457200"/>
          </a:xfrm>
          <a:prstGeom prst="rect">
            <a:avLst/>
          </a:prstGeom>
          <a:noFill/>
          <a:ln/>
        </p:spPr>
        <p:txBody>
          <a:bodyPr wrap="square" lIns="0" tIns="0" rIns="0" bIns="0" rtlCol="0" anchor="ctr"/>
          <a:lstStyle/>
          <a:p>
            <a:pPr indent="0" marL="0">
              <a:lnSpc>
                <a:spcPct val="130000"/>
              </a:lnSpc>
              <a:buNone/>
            </a:pPr>
            <a:r>
              <a:rPr lang="en-US" sz="1100" dirty="0">
                <a:solidFill>
                  <a:srgbClr val="666666"/>
                </a:solidFill>
                <a:latin typeface="Poppins" pitchFamily="34" charset="0"/>
                <a:ea typeface="Poppins" pitchFamily="34" charset="-122"/>
                <a:cs typeface="Poppins" pitchFamily="34" charset="-120"/>
              </a:rPr>
              <a:t>Concept renders for discussion. No approach has been made to any brand shown, and none of these marks are licensed. Worth showing for the reaction. Not for anything that leaves the room.</a:t>
            </a:r>
            <a:endParaRPr lang="en-US" sz="1100" dirty="0"/>
          </a:p>
        </p:txBody>
      </p:sp>
      <p:pic>
        <p:nvPicPr>
          <p:cNvPr id="5" name="Image 0" descr="/home/user/tapthatbrewery/00 Admin/06 Presentations/pivot/build-jp/jp-dewalt-collab.jpg">    </p:cNvPr>
          <p:cNvPicPr>
            <a:picLocks noChangeAspect="1"/>
          </p:cNvPicPr>
          <p:nvPr/>
        </p:nvPicPr>
        <p:blipFill>
          <a:blip r:embed="rId1"/>
          <a:srcRect l="0" r="0" t="0" b="0"/>
          <a:stretch/>
        </p:blipFill>
        <p:spPr>
          <a:xfrm>
            <a:off x="914400" y="2377440"/>
            <a:ext cx="4952848" cy="1453896"/>
          </a:xfrm>
          <a:prstGeom prst="rect">
            <a:avLst/>
          </a:prstGeom>
        </p:spPr>
      </p:pic>
      <p:sp>
        <p:nvSpPr>
          <p:cNvPr id="6" name="Text 3"/>
          <p:cNvSpPr txBox="1"/>
          <p:nvPr/>
        </p:nvSpPr>
        <p:spPr>
          <a:xfrm>
            <a:off x="914400" y="3886200"/>
            <a:ext cx="495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Trade and worksite</a:t>
            </a:r>
            <a:endParaRPr lang="en-US" sz="1000" dirty="0"/>
          </a:p>
        </p:txBody>
      </p:sp>
      <p:pic>
        <p:nvPicPr>
          <p:cNvPr id="7" name="Image 1" descr="/home/user/tapthatbrewery/00 Admin/06 Presentations/pivot/build-jp/jp-raptor-collab.jpg">    </p:cNvPr>
          <p:cNvPicPr>
            <a:picLocks noChangeAspect="1"/>
          </p:cNvPicPr>
          <p:nvPr/>
        </p:nvPicPr>
        <p:blipFill>
          <a:blip r:embed="rId2"/>
          <a:srcRect l="0" r="0" t="0" b="0"/>
          <a:stretch/>
        </p:blipFill>
        <p:spPr>
          <a:xfrm>
            <a:off x="6324448" y="2377440"/>
            <a:ext cx="4952848" cy="1453896"/>
          </a:xfrm>
          <a:prstGeom prst="rect">
            <a:avLst/>
          </a:prstGeom>
        </p:spPr>
      </p:pic>
      <p:sp>
        <p:nvSpPr>
          <p:cNvPr id="8" name="Text 4"/>
          <p:cNvSpPr txBox="1"/>
          <p:nvPr/>
        </p:nvSpPr>
        <p:spPr>
          <a:xfrm>
            <a:off x="6324448" y="3886200"/>
            <a:ext cx="495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Four-wheel drive and touring</a:t>
            </a:r>
            <a:endParaRPr lang="en-US" sz="1000" dirty="0"/>
          </a:p>
        </p:txBody>
      </p:sp>
      <p:pic>
        <p:nvPicPr>
          <p:cNvPr id="9" name="Image 2" descr="/home/user/tapthatbrewery/00 Admin/06 Presentations/pivot/build-jp/jp-harley-collab.jpg">    </p:cNvPr>
          <p:cNvPicPr>
            <a:picLocks noChangeAspect="1"/>
          </p:cNvPicPr>
          <p:nvPr/>
        </p:nvPicPr>
        <p:blipFill>
          <a:blip r:embed="rId3"/>
          <a:srcRect l="0" r="0" t="0" b="0"/>
          <a:stretch/>
        </p:blipFill>
        <p:spPr>
          <a:xfrm>
            <a:off x="914400" y="4251960"/>
            <a:ext cx="4952848" cy="1453896"/>
          </a:xfrm>
          <a:prstGeom prst="rect">
            <a:avLst/>
          </a:prstGeom>
        </p:spPr>
      </p:pic>
      <p:sp>
        <p:nvSpPr>
          <p:cNvPr id="10" name="Text 5"/>
          <p:cNvSpPr txBox="1"/>
          <p:nvPr/>
        </p:nvSpPr>
        <p:spPr>
          <a:xfrm>
            <a:off x="914400" y="5760720"/>
            <a:ext cx="495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Motorcycle clubs</a:t>
            </a:r>
            <a:endParaRPr lang="en-US" sz="1000" dirty="0"/>
          </a:p>
        </p:txBody>
      </p:sp>
      <p:pic>
        <p:nvPicPr>
          <p:cNvPr id="11" name="Image 3" descr="/home/user/tapthatbrewery/00 Admin/06 Presentations/pivot/build-jp/jp-tap-truck.jpg">    </p:cNvPr>
          <p:cNvPicPr>
            <a:picLocks noChangeAspect="1"/>
          </p:cNvPicPr>
          <p:nvPr/>
        </p:nvPicPr>
        <p:blipFill>
          <a:blip r:embed="rId4"/>
          <a:srcRect l="0" r="0" t="0" b="0"/>
          <a:stretch/>
        </p:blipFill>
        <p:spPr>
          <a:xfrm>
            <a:off x="6324448" y="4251960"/>
            <a:ext cx="4952848" cy="1453896"/>
          </a:xfrm>
          <a:prstGeom prst="rect">
            <a:avLst/>
          </a:prstGeom>
        </p:spPr>
      </p:pic>
      <p:sp>
        <p:nvSpPr>
          <p:cNvPr id="12" name="Text 6"/>
          <p:cNvSpPr txBox="1"/>
          <p:nvPr/>
        </p:nvSpPr>
        <p:spPr>
          <a:xfrm>
            <a:off x="6324448" y="5760720"/>
            <a:ext cx="4952848" cy="237744"/>
          </a:xfrm>
          <a:prstGeom prst="rect">
            <a:avLst/>
          </a:prstGeom>
          <a:noFill/>
          <a:ln/>
        </p:spPr>
        <p:txBody>
          <a:bodyPr wrap="square" lIns="0" tIns="0" rIns="0" bIns="0" rtlCol="0" anchor="ctr"/>
          <a:lstStyle/>
          <a:p>
            <a:pPr indent="0" marL="0">
              <a:buNone/>
            </a:pPr>
            <a:r>
              <a:rPr lang="en-US" sz="1000" dirty="0">
                <a:solidFill>
                  <a:srgbClr val="111111"/>
                </a:solidFill>
                <a:latin typeface="Poppins Medium" pitchFamily="34" charset="0"/>
                <a:ea typeface="Poppins Medium" pitchFamily="34" charset="-122"/>
                <a:cs typeface="Poppins Medium" pitchFamily="34" charset="-120"/>
              </a:rPr>
              <a:t>Mobile bar for events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56032"/>
          </a:xfrm>
          <a:prstGeom prst="rect">
            <a:avLst/>
          </a:prstGeom>
          <a:noFill/>
          <a:ln/>
        </p:spPr>
        <p:txBody>
          <a:bodyPr wrap="square" lIns="0" tIns="0" rIns="0" bIns="0" rtlCol="0" anchor="ctr"/>
          <a:lstStyle/>
          <a:p>
            <a:pPr indent="0" marL="0">
              <a:buNone/>
            </a:pPr>
            <a:r>
              <a:rPr lang="en-US" sz="1400" spc="300" kern="0" dirty="0">
                <a:solidFill>
                  <a:srgbClr val="FAF8F4"/>
                </a:solidFill>
                <a:latin typeface="Poppins Light" pitchFamily="34" charset="0"/>
                <a:ea typeface="Poppins Light" pitchFamily="34" charset="-122"/>
                <a:cs typeface="Poppins Light" pitchFamily="34" charset="-120"/>
              </a:rPr>
              <a:t>PART 04</a:t>
            </a:r>
            <a:endParaRPr lang="en-US" sz="1400" dirty="0"/>
          </a:p>
        </p:txBody>
      </p:sp>
      <p:sp>
        <p:nvSpPr>
          <p:cNvPr id="3" name="Text 1"/>
          <p:cNvSpPr txBox="1"/>
          <p:nvPr/>
        </p:nvSpPr>
        <p:spPr>
          <a:xfrm>
            <a:off x="822960" y="2286000"/>
            <a:ext cx="10362895" cy="1737360"/>
          </a:xfrm>
          <a:prstGeom prst="rect">
            <a:avLst/>
          </a:prstGeom>
          <a:noFill/>
          <a:ln/>
        </p:spPr>
        <p:txBody>
          <a:bodyPr wrap="square" lIns="0" tIns="0" rIns="0" bIns="0" rtlCol="0" anchor="ctr"/>
          <a:lstStyle/>
          <a:p>
            <a:pPr indent="0" marL="0">
              <a:buNone/>
            </a:pPr>
            <a:r>
              <a:rPr lang="en-US" sz="12000" dirty="0">
                <a:solidFill>
                  <a:srgbClr val="FAF8F4"/>
                </a:solidFill>
                <a:latin typeface="Poppins Light" pitchFamily="34" charset="0"/>
                <a:ea typeface="Poppins Light" pitchFamily="34" charset="-122"/>
                <a:cs typeface="Poppins Light" pitchFamily="34" charset="-120"/>
              </a:rPr>
              <a:t>Execution.</a:t>
            </a:r>
            <a:endParaRPr lang="en-US" sz="12000" dirty="0"/>
          </a:p>
        </p:txBody>
      </p:sp>
      <p:sp>
        <p:nvSpPr>
          <p:cNvPr id="4" name="Text 2"/>
          <p:cNvSpPr txBox="1"/>
          <p:nvPr/>
        </p:nvSpPr>
        <p:spPr>
          <a:xfrm>
            <a:off x="914400" y="4279392"/>
            <a:ext cx="7772400" cy="365760"/>
          </a:xfrm>
          <a:prstGeom prst="rect">
            <a:avLst/>
          </a:prstGeom>
          <a:noFill/>
          <a:ln/>
        </p:spPr>
        <p:txBody>
          <a:bodyPr wrap="square" lIns="0" tIns="0" rIns="0" bIns="0" rtlCol="0" anchor="ctr"/>
          <a:lstStyle/>
          <a:p>
            <a:pPr indent="0" marL="0">
              <a:buNone/>
            </a:pPr>
            <a:r>
              <a:rPr lang="en-US" sz="1600" dirty="0">
                <a:solidFill>
                  <a:srgbClr val="FAF8F4"/>
                </a:solidFill>
                <a:latin typeface="Poppins Light" pitchFamily="34" charset="0"/>
                <a:ea typeface="Poppins Light" pitchFamily="34" charset="-122"/>
                <a:cs typeface="Poppins Light" pitchFamily="34" charset="-120"/>
              </a:rPr>
              <a:t>The small fixes, and where we can help.</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04 · EXECUTION</a:t>
            </a:r>
            <a:endParaRPr lang="en-US" sz="900" dirty="0"/>
          </a:p>
        </p:txBody>
      </p:sp>
      <p:sp>
        <p:nvSpPr>
          <p:cNvPr id="3" name="Text 1"/>
          <p:cNvSpPr txBox="1"/>
          <p:nvPr/>
        </p:nvSpPr>
        <p:spPr>
          <a:xfrm>
            <a:off x="914400" y="786384"/>
            <a:ext cx="10362895" cy="566928"/>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Small fixes, disproportionate impact.</a:t>
            </a:r>
            <a:endParaRPr lang="en-US" sz="4200" dirty="0"/>
          </a:p>
        </p:txBody>
      </p:sp>
      <p:sp>
        <p:nvSpPr>
          <p:cNvPr id="4" name="Shape 2"/>
          <p:cNvSpPr/>
          <p:nvPr/>
        </p:nvSpPr>
        <p:spPr>
          <a:xfrm>
            <a:off x="914400" y="1810512"/>
            <a:ext cx="10362895" cy="0"/>
          </a:xfrm>
          <a:prstGeom prst="line">
            <a:avLst/>
          </a:prstGeom>
          <a:noFill/>
          <a:ln w="9525">
            <a:solidFill>
              <a:srgbClr val="D8D4CF"/>
            </a:solidFill>
            <a:prstDash val="solid"/>
          </a:ln>
        </p:spPr>
      </p:sp>
      <p:sp>
        <p:nvSpPr>
          <p:cNvPr id="5" name="Text 3"/>
          <p:cNvSpPr txBox="1"/>
          <p:nvPr/>
        </p:nvSpPr>
        <p:spPr>
          <a:xfrm>
            <a:off x="914400" y="1956816"/>
            <a:ext cx="2377440" cy="310896"/>
          </a:xfrm>
          <a:prstGeom prst="rect">
            <a:avLst/>
          </a:prstGeom>
          <a:noFill/>
          <a:ln/>
        </p:spPr>
        <p:txBody>
          <a:bodyPr wrap="square" lIns="0" tIns="0" rIns="0" bIns="0" rtlCol="0" anchor="ctr"/>
          <a:lstStyle/>
          <a:p>
            <a:pPr indent="0" marL="0">
              <a:buNone/>
            </a:pPr>
            <a:r>
              <a:rPr lang="en-US" sz="1400" dirty="0">
                <a:solidFill>
                  <a:srgbClr val="111111"/>
                </a:solidFill>
                <a:latin typeface="Poppins Medium" pitchFamily="34" charset="0"/>
                <a:ea typeface="Poppins Medium" pitchFamily="34" charset="-122"/>
                <a:cs typeface="Poppins Medium" pitchFamily="34" charset="-120"/>
              </a:rPr>
              <a:t>Above the fold</a:t>
            </a:r>
            <a:endParaRPr lang="en-US" sz="1400" dirty="0"/>
          </a:p>
        </p:txBody>
      </p:sp>
      <p:sp>
        <p:nvSpPr>
          <p:cNvPr id="6" name="Text 4"/>
          <p:cNvSpPr txBox="1"/>
          <p:nvPr/>
        </p:nvSpPr>
        <p:spPr>
          <a:xfrm>
            <a:off x="3474720" y="1956816"/>
            <a:ext cx="7802575" cy="566928"/>
          </a:xfrm>
          <a:prstGeom prst="rect">
            <a:avLst/>
          </a:prstGeom>
          <a:noFill/>
          <a:ln/>
        </p:spPr>
        <p:txBody>
          <a:bodyPr wrap="square" lIns="0" tIns="0" rIns="0" bIns="0" rtlCol="0" anchor="ctr"/>
          <a:lstStyle/>
          <a:p>
            <a:pPr indent="0" marL="0">
              <a:lnSpc>
                <a:spcPct val="132000"/>
              </a:lnSpc>
              <a:buNone/>
            </a:pPr>
            <a:r>
              <a:rPr lang="en-US" sz="1300" dirty="0">
                <a:solidFill>
                  <a:srgbClr val="111111"/>
                </a:solidFill>
                <a:latin typeface="Poppins" pitchFamily="34" charset="0"/>
                <a:ea typeface="Poppins" pitchFamily="34" charset="-122"/>
                <a:cs typeface="Poppins" pitchFamily="34" charset="-120"/>
              </a:rPr>
              <a:t>No hook, background film cut too fast to read, copy pollution, low-resolution static logo.</a:t>
            </a:r>
            <a:endParaRPr lang="en-US" sz="1300" dirty="0"/>
          </a:p>
        </p:txBody>
      </p:sp>
      <p:sp>
        <p:nvSpPr>
          <p:cNvPr id="7" name="Shape 5"/>
          <p:cNvSpPr/>
          <p:nvPr/>
        </p:nvSpPr>
        <p:spPr>
          <a:xfrm>
            <a:off x="914400" y="2596896"/>
            <a:ext cx="10362895" cy="0"/>
          </a:xfrm>
          <a:prstGeom prst="line">
            <a:avLst/>
          </a:prstGeom>
          <a:noFill/>
          <a:ln w="9525">
            <a:solidFill>
              <a:srgbClr val="D8D4CF"/>
            </a:solidFill>
            <a:prstDash val="solid"/>
          </a:ln>
        </p:spPr>
      </p:sp>
      <p:sp>
        <p:nvSpPr>
          <p:cNvPr id="8" name="Text 6"/>
          <p:cNvSpPr txBox="1"/>
          <p:nvPr/>
        </p:nvSpPr>
        <p:spPr>
          <a:xfrm>
            <a:off x="914400" y="2743200"/>
            <a:ext cx="2377440" cy="310896"/>
          </a:xfrm>
          <a:prstGeom prst="rect">
            <a:avLst/>
          </a:prstGeom>
          <a:noFill/>
          <a:ln/>
        </p:spPr>
        <p:txBody>
          <a:bodyPr wrap="square" lIns="0" tIns="0" rIns="0" bIns="0" rtlCol="0" anchor="ctr"/>
          <a:lstStyle/>
          <a:p>
            <a:pPr indent="0" marL="0">
              <a:buNone/>
            </a:pPr>
            <a:r>
              <a:rPr lang="en-US" sz="1400" dirty="0">
                <a:solidFill>
                  <a:srgbClr val="111111"/>
                </a:solidFill>
                <a:latin typeface="Poppins Medium" pitchFamily="34" charset="0"/>
                <a:ea typeface="Poppins Medium" pitchFamily="34" charset="-122"/>
                <a:cs typeface="Poppins Medium" pitchFamily="34" charset="-120"/>
              </a:rPr>
              <a:t>Missing proof</a:t>
            </a:r>
            <a:endParaRPr lang="en-US" sz="1400" dirty="0"/>
          </a:p>
        </p:txBody>
      </p:sp>
      <p:sp>
        <p:nvSpPr>
          <p:cNvPr id="9" name="Text 7"/>
          <p:cNvSpPr txBox="1"/>
          <p:nvPr/>
        </p:nvSpPr>
        <p:spPr>
          <a:xfrm>
            <a:off x="3474720" y="2743200"/>
            <a:ext cx="7802575" cy="566928"/>
          </a:xfrm>
          <a:prstGeom prst="rect">
            <a:avLst/>
          </a:prstGeom>
          <a:noFill/>
          <a:ln/>
        </p:spPr>
        <p:txBody>
          <a:bodyPr wrap="square" lIns="0" tIns="0" rIns="0" bIns="0" rtlCol="0" anchor="ctr"/>
          <a:lstStyle/>
          <a:p>
            <a:pPr indent="0" marL="0">
              <a:lnSpc>
                <a:spcPct val="132000"/>
              </a:lnSpc>
              <a:buNone/>
            </a:pPr>
            <a:r>
              <a:rPr lang="en-US" sz="1300" dirty="0">
                <a:solidFill>
                  <a:srgbClr val="111111"/>
                </a:solidFill>
                <a:latin typeface="Poppins" pitchFamily="34" charset="0"/>
                <a:ea typeface="Poppins" pitchFamily="34" charset="-122"/>
                <a:cs typeface="Poppins" pitchFamily="34" charset="-120"/>
              </a:rPr>
              <a:t>The Crafted Brewers' Choice award, the fits-any-system callout and strong reviews are all buried below the fold.</a:t>
            </a:r>
            <a:endParaRPr lang="en-US" sz="1300" dirty="0"/>
          </a:p>
        </p:txBody>
      </p:sp>
      <p:sp>
        <p:nvSpPr>
          <p:cNvPr id="10" name="Shape 8"/>
          <p:cNvSpPr/>
          <p:nvPr/>
        </p:nvSpPr>
        <p:spPr>
          <a:xfrm>
            <a:off x="914400" y="3383280"/>
            <a:ext cx="10362895" cy="0"/>
          </a:xfrm>
          <a:prstGeom prst="line">
            <a:avLst/>
          </a:prstGeom>
          <a:noFill/>
          <a:ln w="9525">
            <a:solidFill>
              <a:srgbClr val="D8D4CF"/>
            </a:solidFill>
            <a:prstDash val="solid"/>
          </a:ln>
        </p:spPr>
      </p:sp>
      <p:sp>
        <p:nvSpPr>
          <p:cNvPr id="11" name="Text 9"/>
          <p:cNvSpPr txBox="1"/>
          <p:nvPr/>
        </p:nvSpPr>
        <p:spPr>
          <a:xfrm>
            <a:off x="914400" y="3529584"/>
            <a:ext cx="2377440" cy="310896"/>
          </a:xfrm>
          <a:prstGeom prst="rect">
            <a:avLst/>
          </a:prstGeom>
          <a:noFill/>
          <a:ln/>
        </p:spPr>
        <p:txBody>
          <a:bodyPr wrap="square" lIns="0" tIns="0" rIns="0" bIns="0" rtlCol="0" anchor="ctr"/>
          <a:lstStyle/>
          <a:p>
            <a:pPr indent="0" marL="0">
              <a:buNone/>
            </a:pPr>
            <a:r>
              <a:rPr lang="en-US" sz="1400" dirty="0">
                <a:solidFill>
                  <a:srgbClr val="111111"/>
                </a:solidFill>
                <a:latin typeface="Poppins Medium" pitchFamily="34" charset="0"/>
                <a:ea typeface="Poppins Medium" pitchFamily="34" charset="-122"/>
                <a:cs typeface="Poppins Medium" pitchFamily="34" charset="-120"/>
              </a:rPr>
              <a:t>Hierarchy</a:t>
            </a:r>
            <a:endParaRPr lang="en-US" sz="1400" dirty="0"/>
          </a:p>
        </p:txBody>
      </p:sp>
      <p:sp>
        <p:nvSpPr>
          <p:cNvPr id="12" name="Text 10"/>
          <p:cNvSpPr txBox="1"/>
          <p:nvPr/>
        </p:nvSpPr>
        <p:spPr>
          <a:xfrm>
            <a:off x="3474720" y="3529584"/>
            <a:ext cx="7802575" cy="566928"/>
          </a:xfrm>
          <a:prstGeom prst="rect">
            <a:avLst/>
          </a:prstGeom>
          <a:noFill/>
          <a:ln/>
        </p:spPr>
        <p:txBody>
          <a:bodyPr wrap="square" lIns="0" tIns="0" rIns="0" bIns="0" rtlCol="0" anchor="ctr"/>
          <a:lstStyle/>
          <a:p>
            <a:pPr indent="0" marL="0">
              <a:lnSpc>
                <a:spcPct val="132000"/>
              </a:lnSpc>
              <a:buNone/>
            </a:pPr>
            <a:r>
              <a:rPr lang="en-US" sz="1300" dirty="0">
                <a:solidFill>
                  <a:srgbClr val="111111"/>
                </a:solidFill>
                <a:latin typeface="Poppins" pitchFamily="34" charset="0"/>
                <a:ea typeface="Poppins" pitchFamily="34" charset="-122"/>
                <a:cs typeface="Poppins" pitchFamily="34" charset="-120"/>
              </a:rPr>
              <a:t>Four business units treated equally. Prioritise the moments that matter: family, friends, the proud provider role.</a:t>
            </a:r>
            <a:endParaRPr lang="en-US" sz="1300" dirty="0"/>
          </a:p>
        </p:txBody>
      </p:sp>
      <p:sp>
        <p:nvSpPr>
          <p:cNvPr id="13" name="Shape 11"/>
          <p:cNvSpPr/>
          <p:nvPr/>
        </p:nvSpPr>
        <p:spPr>
          <a:xfrm>
            <a:off x="914400" y="4169664"/>
            <a:ext cx="10362895" cy="0"/>
          </a:xfrm>
          <a:prstGeom prst="line">
            <a:avLst/>
          </a:prstGeom>
          <a:noFill/>
          <a:ln w="9525">
            <a:solidFill>
              <a:srgbClr val="D8D4CF"/>
            </a:solidFill>
            <a:prstDash val="solid"/>
          </a:ln>
        </p:spPr>
      </p:sp>
      <p:sp>
        <p:nvSpPr>
          <p:cNvPr id="14" name="Text 12"/>
          <p:cNvSpPr txBox="1"/>
          <p:nvPr/>
        </p:nvSpPr>
        <p:spPr>
          <a:xfrm>
            <a:off x="914400" y="4315968"/>
            <a:ext cx="2377440" cy="310896"/>
          </a:xfrm>
          <a:prstGeom prst="rect">
            <a:avLst/>
          </a:prstGeom>
          <a:noFill/>
          <a:ln/>
        </p:spPr>
        <p:txBody>
          <a:bodyPr wrap="square" lIns="0" tIns="0" rIns="0" bIns="0" rtlCol="0" anchor="ctr"/>
          <a:lstStyle/>
          <a:p>
            <a:pPr indent="0" marL="0">
              <a:buNone/>
            </a:pPr>
            <a:r>
              <a:rPr lang="en-US" sz="1400" dirty="0">
                <a:solidFill>
                  <a:srgbClr val="111111"/>
                </a:solidFill>
                <a:latin typeface="Poppins Medium" pitchFamily="34" charset="0"/>
                <a:ea typeface="Poppins Medium" pitchFamily="34" charset="-122"/>
                <a:cs typeface="Poppins Medium" pitchFamily="34" charset="-120"/>
              </a:rPr>
              <a:t>Category</a:t>
            </a:r>
            <a:endParaRPr lang="en-US" sz="1400" dirty="0"/>
          </a:p>
        </p:txBody>
      </p:sp>
      <p:sp>
        <p:nvSpPr>
          <p:cNvPr id="15" name="Text 13"/>
          <p:cNvSpPr txBox="1"/>
          <p:nvPr/>
        </p:nvSpPr>
        <p:spPr>
          <a:xfrm>
            <a:off x="3474720" y="4315968"/>
            <a:ext cx="7802575" cy="566928"/>
          </a:xfrm>
          <a:prstGeom prst="rect">
            <a:avLst/>
          </a:prstGeom>
          <a:noFill/>
          <a:ln/>
        </p:spPr>
        <p:txBody>
          <a:bodyPr wrap="square" lIns="0" tIns="0" rIns="0" bIns="0" rtlCol="0" anchor="ctr"/>
          <a:lstStyle/>
          <a:p>
            <a:pPr indent="0" marL="0">
              <a:lnSpc>
                <a:spcPct val="132000"/>
              </a:lnSpc>
              <a:buNone/>
            </a:pPr>
            <a:r>
              <a:rPr lang="en-US" sz="1300" dirty="0">
                <a:solidFill>
                  <a:srgbClr val="111111"/>
                </a:solidFill>
                <a:latin typeface="Poppins" pitchFamily="34" charset="0"/>
                <a:ea typeface="Poppins" pitchFamily="34" charset="-122"/>
                <a:cs typeface="Poppins" pitchFamily="34" charset="-120"/>
              </a:rPr>
              <a:t>Commercial brewer invites mainstream price and product comparisons. It needs an elevated category name of its own.</a:t>
            </a:r>
            <a:endParaRPr lang="en-US" sz="1300" dirty="0"/>
          </a:p>
        </p:txBody>
      </p:sp>
      <p:sp>
        <p:nvSpPr>
          <p:cNvPr id="16" name="Shape 14"/>
          <p:cNvSpPr/>
          <p:nvPr/>
        </p:nvSpPr>
        <p:spPr>
          <a:xfrm>
            <a:off x="914400" y="4956048"/>
            <a:ext cx="10362895" cy="0"/>
          </a:xfrm>
          <a:prstGeom prst="line">
            <a:avLst/>
          </a:prstGeom>
          <a:noFill/>
          <a:ln w="9525">
            <a:solidFill>
              <a:srgbClr val="D8D4CF"/>
            </a:solidFill>
            <a:prstDash val="solid"/>
          </a:ln>
        </p:spPr>
      </p:sp>
      <p:sp>
        <p:nvSpPr>
          <p:cNvPr id="17" name="Text 15"/>
          <p:cNvSpPr txBox="1"/>
          <p:nvPr/>
        </p:nvSpPr>
        <p:spPr>
          <a:xfrm>
            <a:off x="914400" y="5102352"/>
            <a:ext cx="2377440" cy="310896"/>
          </a:xfrm>
          <a:prstGeom prst="rect">
            <a:avLst/>
          </a:prstGeom>
          <a:noFill/>
          <a:ln/>
        </p:spPr>
        <p:txBody>
          <a:bodyPr wrap="square" lIns="0" tIns="0" rIns="0" bIns="0" rtlCol="0" anchor="ctr"/>
          <a:lstStyle/>
          <a:p>
            <a:pPr indent="0" marL="0">
              <a:buNone/>
            </a:pPr>
            <a:r>
              <a:rPr lang="en-US" sz="1400" dirty="0">
                <a:solidFill>
                  <a:srgbClr val="111111"/>
                </a:solidFill>
                <a:latin typeface="Poppins Medium" pitchFamily="34" charset="0"/>
                <a:ea typeface="Poppins Medium" pitchFamily="34" charset="-122"/>
                <a:cs typeface="Poppins Medium" pitchFamily="34" charset="-120"/>
              </a:rPr>
              <a:t>Channel language</a:t>
            </a:r>
            <a:endParaRPr lang="en-US" sz="1400" dirty="0"/>
          </a:p>
        </p:txBody>
      </p:sp>
      <p:sp>
        <p:nvSpPr>
          <p:cNvPr id="18" name="Text 16"/>
          <p:cNvSpPr txBox="1"/>
          <p:nvPr/>
        </p:nvSpPr>
        <p:spPr>
          <a:xfrm>
            <a:off x="3474720" y="5102352"/>
            <a:ext cx="7802575" cy="566928"/>
          </a:xfrm>
          <a:prstGeom prst="rect">
            <a:avLst/>
          </a:prstGeom>
          <a:noFill/>
          <a:ln/>
        </p:spPr>
        <p:txBody>
          <a:bodyPr wrap="square" lIns="0" tIns="0" rIns="0" bIns="0" rtlCol="0" anchor="ctr"/>
          <a:lstStyle/>
          <a:p>
            <a:pPr indent="0" marL="0">
              <a:lnSpc>
                <a:spcPct val="132000"/>
              </a:lnSpc>
              <a:buNone/>
            </a:pPr>
            <a:r>
              <a:rPr lang="en-US" sz="1300" dirty="0">
                <a:solidFill>
                  <a:srgbClr val="111111"/>
                </a:solidFill>
                <a:latin typeface="Poppins" pitchFamily="34" charset="0"/>
                <a:ea typeface="Poppins" pitchFamily="34" charset="-122"/>
                <a:cs typeface="Poppins" pitchFamily="34" charset="-120"/>
              </a:rPr>
              <a:t>Wholesale should speak directly to restaurants and sporting clubs. Cuisine matching, club-branded kegs, straight to the margin story.</a:t>
            </a:r>
            <a:endParaRPr lang="en-US" sz="1300" dirty="0"/>
          </a:p>
        </p:txBody>
      </p:sp>
      <p:sp>
        <p:nvSpPr>
          <p:cNvPr id="19" name="Shape 17"/>
          <p:cNvSpPr/>
          <p:nvPr/>
        </p:nvSpPr>
        <p:spPr>
          <a:xfrm>
            <a:off x="914400" y="5742432"/>
            <a:ext cx="10362895" cy="0"/>
          </a:xfrm>
          <a:prstGeom prst="line">
            <a:avLst/>
          </a:prstGeom>
          <a:noFill/>
          <a:ln w="9525">
            <a:solidFill>
              <a:srgbClr val="D8D4CF"/>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914400" y="384048"/>
            <a:ext cx="10362895" cy="201168"/>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PART 04 · EXECUTION</a:t>
            </a:r>
            <a:endParaRPr lang="en-US" sz="900" dirty="0"/>
          </a:p>
        </p:txBody>
      </p:sp>
      <p:sp>
        <p:nvSpPr>
          <p:cNvPr id="3" name="Text 1"/>
          <p:cNvSpPr txBox="1"/>
          <p:nvPr/>
        </p:nvSpPr>
        <p:spPr>
          <a:xfrm>
            <a:off x="914400" y="786384"/>
            <a:ext cx="10362895" cy="566928"/>
          </a:xfrm>
          <a:prstGeom prst="rect">
            <a:avLst/>
          </a:prstGeom>
          <a:noFill/>
          <a:ln/>
        </p:spPr>
        <p:txBody>
          <a:bodyPr wrap="square" lIns="0" tIns="0" rIns="0" bIns="0" rtlCol="0" anchor="t"/>
          <a:lstStyle/>
          <a:p>
            <a:pPr indent="0" marL="0">
              <a:lnSpc>
                <a:spcPct val="106000"/>
              </a:lnSpc>
              <a:buNone/>
            </a:pPr>
            <a:r>
              <a:rPr lang="en-US" sz="4200" dirty="0">
                <a:solidFill>
                  <a:srgbClr val="111111"/>
                </a:solidFill>
                <a:latin typeface="Poppins Medium" pitchFamily="34" charset="0"/>
                <a:ea typeface="Poppins Medium" pitchFamily="34" charset="-122"/>
                <a:cs typeface="Poppins Medium" pitchFamily="34" charset="-120"/>
              </a:rPr>
              <a:t>What we can pick up from here.</a:t>
            </a:r>
            <a:endParaRPr lang="en-US" sz="4200" dirty="0"/>
          </a:p>
        </p:txBody>
      </p:sp>
      <p:sp>
        <p:nvSpPr>
          <p:cNvPr id="4" name="Text 2"/>
          <p:cNvSpPr txBox="1"/>
          <p:nvPr/>
        </p:nvSpPr>
        <p:spPr>
          <a:xfrm>
            <a:off x="914400" y="1810512"/>
            <a:ext cx="4974190" cy="237744"/>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FROM THE BRIEF</a:t>
            </a:r>
            <a:endParaRPr lang="en-US" sz="900" dirty="0"/>
          </a:p>
        </p:txBody>
      </p:sp>
      <p:sp>
        <p:nvSpPr>
          <p:cNvPr id="5" name="Shape 3"/>
          <p:cNvSpPr/>
          <p:nvPr/>
        </p:nvSpPr>
        <p:spPr>
          <a:xfrm>
            <a:off x="914400" y="2157984"/>
            <a:ext cx="4974190" cy="0"/>
          </a:xfrm>
          <a:prstGeom prst="line">
            <a:avLst/>
          </a:prstGeom>
          <a:noFill/>
          <a:ln w="9525">
            <a:solidFill>
              <a:srgbClr val="D8D4CF"/>
            </a:solidFill>
            <a:prstDash val="solid"/>
          </a:ln>
        </p:spPr>
      </p:sp>
      <p:sp>
        <p:nvSpPr>
          <p:cNvPr id="6" name="Text 4"/>
          <p:cNvSpPr txBox="1"/>
          <p:nvPr/>
        </p:nvSpPr>
        <p:spPr>
          <a:xfrm>
            <a:off x="914400" y="2276856"/>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Website design optimisation</a:t>
            </a:r>
            <a:endParaRPr lang="en-US" sz="1300" dirty="0"/>
          </a:p>
        </p:txBody>
      </p:sp>
      <p:sp>
        <p:nvSpPr>
          <p:cNvPr id="7" name="Shape 5"/>
          <p:cNvSpPr/>
          <p:nvPr/>
        </p:nvSpPr>
        <p:spPr>
          <a:xfrm>
            <a:off x="914400" y="2724912"/>
            <a:ext cx="4974190" cy="0"/>
          </a:xfrm>
          <a:prstGeom prst="line">
            <a:avLst/>
          </a:prstGeom>
          <a:noFill/>
          <a:ln w="9525">
            <a:solidFill>
              <a:srgbClr val="D8D4CF"/>
            </a:solidFill>
            <a:prstDash val="solid"/>
          </a:ln>
        </p:spPr>
      </p:sp>
      <p:sp>
        <p:nvSpPr>
          <p:cNvPr id="8" name="Text 6"/>
          <p:cNvSpPr txBox="1"/>
          <p:nvPr/>
        </p:nvSpPr>
        <p:spPr>
          <a:xfrm>
            <a:off x="914400" y="2843784"/>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SEO and GEO best-practice implementation</a:t>
            </a:r>
            <a:endParaRPr lang="en-US" sz="1300" dirty="0"/>
          </a:p>
        </p:txBody>
      </p:sp>
      <p:sp>
        <p:nvSpPr>
          <p:cNvPr id="9" name="Shape 7"/>
          <p:cNvSpPr/>
          <p:nvPr/>
        </p:nvSpPr>
        <p:spPr>
          <a:xfrm>
            <a:off x="914400" y="3291840"/>
            <a:ext cx="4974190" cy="0"/>
          </a:xfrm>
          <a:prstGeom prst="line">
            <a:avLst/>
          </a:prstGeom>
          <a:noFill/>
          <a:ln w="9525">
            <a:solidFill>
              <a:srgbClr val="D8D4CF"/>
            </a:solidFill>
            <a:prstDash val="solid"/>
          </a:ln>
        </p:spPr>
      </p:sp>
      <p:sp>
        <p:nvSpPr>
          <p:cNvPr id="10" name="Text 8"/>
          <p:cNvSpPr txBox="1"/>
          <p:nvPr/>
        </p:nvSpPr>
        <p:spPr>
          <a:xfrm>
            <a:off x="914400" y="3410712"/>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PR outreach to tourism operators and experiential platforms</a:t>
            </a:r>
            <a:endParaRPr lang="en-US" sz="1300" dirty="0"/>
          </a:p>
        </p:txBody>
      </p:sp>
      <p:sp>
        <p:nvSpPr>
          <p:cNvPr id="11" name="Shape 9"/>
          <p:cNvSpPr/>
          <p:nvPr/>
        </p:nvSpPr>
        <p:spPr>
          <a:xfrm>
            <a:off x="914400" y="3858768"/>
            <a:ext cx="4974190" cy="0"/>
          </a:xfrm>
          <a:prstGeom prst="line">
            <a:avLst/>
          </a:prstGeom>
          <a:noFill/>
          <a:ln w="9525">
            <a:solidFill>
              <a:srgbClr val="D8D4CF"/>
            </a:solidFill>
            <a:prstDash val="solid"/>
          </a:ln>
        </p:spPr>
      </p:sp>
      <p:sp>
        <p:nvSpPr>
          <p:cNvPr id="12" name="Text 10"/>
          <p:cNvSpPr txBox="1"/>
          <p:nvPr/>
        </p:nvSpPr>
        <p:spPr>
          <a:xfrm>
            <a:off x="914400" y="3977640"/>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Influencer outreach</a:t>
            </a:r>
            <a:endParaRPr lang="en-US" sz="1300" dirty="0"/>
          </a:p>
        </p:txBody>
      </p:sp>
      <p:sp>
        <p:nvSpPr>
          <p:cNvPr id="13" name="Shape 11"/>
          <p:cNvSpPr/>
          <p:nvPr/>
        </p:nvSpPr>
        <p:spPr>
          <a:xfrm>
            <a:off x="914400" y="4425696"/>
            <a:ext cx="4974190" cy="0"/>
          </a:xfrm>
          <a:prstGeom prst="line">
            <a:avLst/>
          </a:prstGeom>
          <a:noFill/>
          <a:ln w="9525">
            <a:solidFill>
              <a:srgbClr val="D8D4CF"/>
            </a:solidFill>
            <a:prstDash val="solid"/>
          </a:ln>
        </p:spPr>
      </p:sp>
      <p:sp>
        <p:nvSpPr>
          <p:cNvPr id="14" name="Text 12"/>
          <p:cNvSpPr txBox="1"/>
          <p:nvPr/>
        </p:nvSpPr>
        <p:spPr>
          <a:xfrm>
            <a:off x="914400" y="4544568"/>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Partnerships outreach and project management</a:t>
            </a:r>
            <a:endParaRPr lang="en-US" sz="1300" dirty="0"/>
          </a:p>
        </p:txBody>
      </p:sp>
      <p:sp>
        <p:nvSpPr>
          <p:cNvPr id="15" name="Shape 13"/>
          <p:cNvSpPr/>
          <p:nvPr/>
        </p:nvSpPr>
        <p:spPr>
          <a:xfrm>
            <a:off x="914400" y="4992624"/>
            <a:ext cx="4974190" cy="0"/>
          </a:xfrm>
          <a:prstGeom prst="line">
            <a:avLst/>
          </a:prstGeom>
          <a:noFill/>
          <a:ln w="9525">
            <a:solidFill>
              <a:srgbClr val="D8D4CF"/>
            </a:solidFill>
            <a:prstDash val="solid"/>
          </a:ln>
        </p:spPr>
      </p:sp>
      <p:sp>
        <p:nvSpPr>
          <p:cNvPr id="16" name="Text 14"/>
          <p:cNvSpPr txBox="1"/>
          <p:nvPr/>
        </p:nvSpPr>
        <p:spPr>
          <a:xfrm>
            <a:off x="914400" y="5111496"/>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Urban Legends collaborative booking tool</a:t>
            </a:r>
            <a:endParaRPr lang="en-US" sz="1300" dirty="0"/>
          </a:p>
        </p:txBody>
      </p:sp>
      <p:sp>
        <p:nvSpPr>
          <p:cNvPr id="17" name="Shape 15"/>
          <p:cNvSpPr/>
          <p:nvPr/>
        </p:nvSpPr>
        <p:spPr>
          <a:xfrm>
            <a:off x="914400" y="5559552"/>
            <a:ext cx="4974190" cy="0"/>
          </a:xfrm>
          <a:prstGeom prst="line">
            <a:avLst/>
          </a:prstGeom>
          <a:noFill/>
          <a:ln w="9525">
            <a:solidFill>
              <a:srgbClr val="D8D4CF"/>
            </a:solidFill>
            <a:prstDash val="solid"/>
          </a:ln>
        </p:spPr>
      </p:sp>
      <p:sp>
        <p:nvSpPr>
          <p:cNvPr id="18" name="Text 16"/>
          <p:cNvSpPr txBox="1"/>
          <p:nvPr/>
        </p:nvSpPr>
        <p:spPr>
          <a:xfrm>
            <a:off x="6303106" y="1810512"/>
            <a:ext cx="4974190" cy="237744"/>
          </a:xfrm>
          <a:prstGeom prst="rect">
            <a:avLst/>
          </a:prstGeom>
          <a:noFill/>
          <a:ln/>
        </p:spPr>
        <p:txBody>
          <a:bodyPr wrap="square" lIns="0" tIns="0" rIns="0" bIns="0" rtlCol="0" anchor="ctr"/>
          <a:lstStyle/>
          <a:p>
            <a:pPr indent="0" marL="0">
              <a:buNone/>
            </a:pPr>
            <a:r>
              <a:rPr lang="en-US" sz="900" spc="200" kern="0" dirty="0">
                <a:solidFill>
                  <a:srgbClr val="111111"/>
                </a:solidFill>
                <a:latin typeface="Poppins Medium" pitchFamily="34" charset="0"/>
                <a:ea typeface="Poppins Medium" pitchFamily="34" charset="-122"/>
                <a:cs typeface="Poppins Medium" pitchFamily="34" charset="-120"/>
              </a:rPr>
              <a:t>ALSO WORTH ADDING</a:t>
            </a:r>
            <a:endParaRPr lang="en-US" sz="900" dirty="0"/>
          </a:p>
        </p:txBody>
      </p:sp>
      <p:sp>
        <p:nvSpPr>
          <p:cNvPr id="19" name="Shape 17"/>
          <p:cNvSpPr/>
          <p:nvPr/>
        </p:nvSpPr>
        <p:spPr>
          <a:xfrm>
            <a:off x="6303106" y="2157984"/>
            <a:ext cx="4974190" cy="0"/>
          </a:xfrm>
          <a:prstGeom prst="line">
            <a:avLst/>
          </a:prstGeom>
          <a:noFill/>
          <a:ln w="9525">
            <a:solidFill>
              <a:srgbClr val="D8D4CF"/>
            </a:solidFill>
            <a:prstDash val="solid"/>
          </a:ln>
        </p:spPr>
      </p:sp>
      <p:sp>
        <p:nvSpPr>
          <p:cNvPr id="20" name="Text 18"/>
          <p:cNvSpPr txBox="1"/>
          <p:nvPr/>
        </p:nvSpPr>
        <p:spPr>
          <a:xfrm>
            <a:off x="6303106" y="2276856"/>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Trigger-based CRM and lifecycle build, which fixes the 90-day SMS problem</a:t>
            </a:r>
            <a:endParaRPr lang="en-US" sz="1300" dirty="0"/>
          </a:p>
        </p:txBody>
      </p:sp>
      <p:sp>
        <p:nvSpPr>
          <p:cNvPr id="21" name="Shape 19"/>
          <p:cNvSpPr/>
          <p:nvPr/>
        </p:nvSpPr>
        <p:spPr>
          <a:xfrm>
            <a:off x="6303106" y="2724912"/>
            <a:ext cx="4974190" cy="0"/>
          </a:xfrm>
          <a:prstGeom prst="line">
            <a:avLst/>
          </a:prstGeom>
          <a:noFill/>
          <a:ln w="9525">
            <a:solidFill>
              <a:srgbClr val="D8D4CF"/>
            </a:solidFill>
            <a:prstDash val="solid"/>
          </a:ln>
        </p:spPr>
      </p:sp>
      <p:sp>
        <p:nvSpPr>
          <p:cNvPr id="22" name="Text 20"/>
          <p:cNvSpPr txBox="1"/>
          <p:nvPr/>
        </p:nvSpPr>
        <p:spPr>
          <a:xfrm>
            <a:off x="6303106" y="2843784"/>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Membership programme redesign</a:t>
            </a:r>
            <a:endParaRPr lang="en-US" sz="1300" dirty="0"/>
          </a:p>
        </p:txBody>
      </p:sp>
      <p:sp>
        <p:nvSpPr>
          <p:cNvPr id="23" name="Shape 21"/>
          <p:cNvSpPr/>
          <p:nvPr/>
        </p:nvSpPr>
        <p:spPr>
          <a:xfrm>
            <a:off x="6303106" y="3291840"/>
            <a:ext cx="4974190" cy="0"/>
          </a:xfrm>
          <a:prstGeom prst="line">
            <a:avLst/>
          </a:prstGeom>
          <a:noFill/>
          <a:ln w="9525">
            <a:solidFill>
              <a:srgbClr val="D8D4CF"/>
            </a:solidFill>
            <a:prstDash val="solid"/>
          </a:ln>
        </p:spPr>
      </p:sp>
      <p:sp>
        <p:nvSpPr>
          <p:cNvPr id="24" name="Text 22"/>
          <p:cNvSpPr txBox="1"/>
          <p:nvPr/>
        </p:nvSpPr>
        <p:spPr>
          <a:xfrm>
            <a:off x="6303106" y="3410712"/>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Wholesale structure and KPI framework</a:t>
            </a:r>
            <a:endParaRPr lang="en-US" sz="1300" dirty="0"/>
          </a:p>
        </p:txBody>
      </p:sp>
      <p:sp>
        <p:nvSpPr>
          <p:cNvPr id="25" name="Shape 23"/>
          <p:cNvSpPr/>
          <p:nvPr/>
        </p:nvSpPr>
        <p:spPr>
          <a:xfrm>
            <a:off x="6303106" y="3858768"/>
            <a:ext cx="4974190" cy="0"/>
          </a:xfrm>
          <a:prstGeom prst="line">
            <a:avLst/>
          </a:prstGeom>
          <a:noFill/>
          <a:ln w="9525">
            <a:solidFill>
              <a:srgbClr val="D8D4CF"/>
            </a:solidFill>
            <a:prstDash val="solid"/>
          </a:ln>
        </p:spPr>
      </p:sp>
      <p:sp>
        <p:nvSpPr>
          <p:cNvPr id="26" name="Text 24"/>
          <p:cNvSpPr txBox="1"/>
          <p:nvPr/>
        </p:nvSpPr>
        <p:spPr>
          <a:xfrm>
            <a:off x="6303106" y="3977640"/>
            <a:ext cx="4974190" cy="420624"/>
          </a:xfrm>
          <a:prstGeom prst="rect">
            <a:avLst/>
          </a:prstGeom>
          <a:noFill/>
          <a:ln/>
        </p:spPr>
        <p:txBody>
          <a:bodyPr wrap="square" lIns="0" tIns="0" rIns="0" bIns="0" rtlCol="0" anchor="ctr"/>
          <a:lstStyle/>
          <a:p>
            <a:pPr indent="0" marL="0">
              <a:lnSpc>
                <a:spcPct val="124000"/>
              </a:lnSpc>
              <a:buNone/>
            </a:pPr>
            <a:r>
              <a:rPr lang="en-US" sz="1300" dirty="0">
                <a:solidFill>
                  <a:srgbClr val="111111"/>
                </a:solidFill>
                <a:latin typeface="Poppins" pitchFamily="34" charset="0"/>
                <a:ea typeface="Poppins" pitchFamily="34" charset="-122"/>
                <a:cs typeface="Poppins" pitchFamily="34" charset="-120"/>
              </a:rPr>
              <a:t>Event flyer and campaign artwork, in the format shown</a:t>
            </a:r>
            <a:endParaRPr lang="en-US" sz="1300" dirty="0"/>
          </a:p>
        </p:txBody>
      </p:sp>
      <p:sp>
        <p:nvSpPr>
          <p:cNvPr id="27" name="Shape 25"/>
          <p:cNvSpPr/>
          <p:nvPr/>
        </p:nvSpPr>
        <p:spPr>
          <a:xfrm>
            <a:off x="6303106" y="4425696"/>
            <a:ext cx="4974190" cy="0"/>
          </a:xfrm>
          <a:prstGeom prst="line">
            <a:avLst/>
          </a:prstGeom>
          <a:noFill/>
          <a:ln w="9525">
            <a:solidFill>
              <a:srgbClr val="D8D4CF"/>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804672" y="2194560"/>
            <a:ext cx="10362895" cy="1737360"/>
          </a:xfrm>
          <a:prstGeom prst="rect">
            <a:avLst/>
          </a:prstGeom>
          <a:noFill/>
          <a:ln/>
        </p:spPr>
        <p:txBody>
          <a:bodyPr wrap="square" lIns="0" tIns="0" rIns="0" bIns="0" rtlCol="0" anchor="ctr"/>
          <a:lstStyle/>
          <a:p>
            <a:pPr indent="0" marL="0">
              <a:buNone/>
            </a:pPr>
            <a:r>
              <a:rPr lang="en-US" sz="12000" dirty="0">
                <a:solidFill>
                  <a:srgbClr val="111111"/>
                </a:solidFill>
                <a:latin typeface="Poppins SemiBold" pitchFamily="34" charset="0"/>
                <a:ea typeface="Poppins SemiBold" pitchFamily="34" charset="-122"/>
                <a:cs typeface="Poppins SemiBold" pitchFamily="34" charset="-120"/>
              </a:rPr>
              <a:t>Next.</a:t>
            </a:r>
            <a:endParaRPr lang="en-US" sz="12000" dirty="0"/>
          </a:p>
        </p:txBody>
      </p:sp>
      <p:sp>
        <p:nvSpPr>
          <p:cNvPr id="3" name="Text 1"/>
          <p:cNvSpPr txBox="1"/>
          <p:nvPr/>
        </p:nvSpPr>
        <p:spPr>
          <a:xfrm>
            <a:off x="914400" y="4279392"/>
            <a:ext cx="8229600" cy="274320"/>
          </a:xfrm>
          <a:prstGeom prst="rect">
            <a:avLst/>
          </a:prstGeom>
          <a:noFill/>
          <a:ln/>
        </p:spPr>
        <p:txBody>
          <a:bodyPr wrap="square" lIns="0" tIns="0" rIns="0" bIns="0" rtlCol="0" anchor="ctr"/>
          <a:lstStyle/>
          <a:p>
            <a:pPr indent="0" marL="0">
              <a:buNone/>
            </a:pPr>
            <a:r>
              <a:rPr lang="en-US" sz="1400" dirty="0">
                <a:solidFill>
                  <a:srgbClr val="111111"/>
                </a:solidFill>
                <a:latin typeface="Poppins" pitchFamily="34" charset="0"/>
                <a:ea typeface="Poppins" pitchFamily="34" charset="-122"/>
                <a:cs typeface="Poppins" pitchFamily="34" charset="-120"/>
              </a:rPr>
              <a:t>Wording finalised with Christy, then this deck goes to Justin.</a:t>
            </a:r>
            <a:endParaRPr lang="en-US" sz="1400" dirty="0"/>
          </a:p>
        </p:txBody>
      </p:sp>
      <p:sp>
        <p:nvSpPr>
          <p:cNvPr id="4" name="Text 2"/>
          <p:cNvSpPr txBox="1"/>
          <p:nvPr/>
        </p:nvSpPr>
        <p:spPr>
          <a:xfrm>
            <a:off x="914400" y="4590288"/>
            <a:ext cx="8229600" cy="274320"/>
          </a:xfrm>
          <a:prstGeom prst="rect">
            <a:avLst/>
          </a:prstGeom>
          <a:noFill/>
          <a:ln/>
        </p:spPr>
        <p:txBody>
          <a:bodyPr wrap="square" lIns="0" tIns="0" rIns="0" bIns="0" rtlCol="0" anchor="ctr"/>
          <a:lstStyle/>
          <a:p>
            <a:pPr indent="0" marL="0">
              <a:buNone/>
            </a:pPr>
            <a:r>
              <a:rPr lang="en-US" sz="1400" dirty="0">
                <a:solidFill>
                  <a:srgbClr val="111111"/>
                </a:solidFill>
                <a:latin typeface="Poppins" pitchFamily="34" charset="0"/>
                <a:ea typeface="Poppins" pitchFamily="34" charset="-122"/>
                <a:cs typeface="Poppins" pitchFamily="34" charset="-120"/>
              </a:rPr>
              <a:t>Clent Jewell · clent@jewellprojects.com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Jewell Projects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 That -- The Pivot</dc:title>
  <dc:subject>PptxGenJS Presentation</dc:subject>
  <dc:creator>Jewell Projects</dc:creator>
  <cp:lastModifiedBy>Jewell Projects</cp:lastModifiedBy>
  <cp:revision>1</cp:revision>
  <dcterms:created xsi:type="dcterms:W3CDTF">2026-09-06T23:04:53Z</dcterms:created>
  <dcterms:modified xsi:type="dcterms:W3CDTF">2026-09-06T23:04:53Z</dcterms:modified>
</cp:coreProperties>
</file>