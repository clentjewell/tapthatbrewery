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is sound. The shape is the problem, and that is a much better problem to have. Everything after this slide is about focus.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findings. The second one is the whole deck: the two units cancel each other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96-113 active refill customers, reached without a push. That is the proof the model works. The 20% is the number to be careful with.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moves, in order. One and three are the ones that change the shape of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only work once the core five are running. Six is the one with the best return per hour.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replace the two flyer artworks in the earlier draft. Those were embedded as EMF vector, which renders blank anywhere other than PowerPoint on Windows. These are 200 dpi PNG, print-ready at A4.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left-hand column used to be a wireframe of a can and a keg. It is now the flyer that would actually go out.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Concepts only. Nobody has been approached, and the marks are not licensed. Worth showing because the reaction to them tells you which partnership is worth chasing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census is 49 people answering forced-choice questions. It is colour, not a map.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None of these is a big job. All of them are being paid for daily in conversion.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Left is what the brief asked for. Right is what we would add, and the CRM build is the one with the shortest payback.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jpg"/><Relationship Id="rId3" Type="http://schemas.openxmlformats.org/officeDocument/2006/relationships/image" Target="../media/image-6-3.jpg"/><Relationship Id="rId4" Type="http://schemas.openxmlformats.org/officeDocument/2006/relationships/image" Target="../media/image-6-4.jp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image" Target="../media/image-8-2.jpg"/><Relationship Id="rId3" Type="http://schemas.openxmlformats.org/officeDocument/2006/relationships/image" Target="../media/image-8-3.jpg"/><Relationship Id="rId4" Type="http://schemas.openxmlformats.org/officeDocument/2006/relationships/image" Target="../media/image-8-4.jp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361D"/>
        </a:solidFill>
      </p:bgPr>
    </p:bg>
    <p:spTree>
      <p:nvGrpSpPr>
        <p:cNvPr id="1" name=""/>
        <p:cNvGrpSpPr/>
        <p:nvPr/>
      </p:nvGrpSpPr>
      <p:grpSpPr>
        <a:xfrm>
          <a:off x="0" y="0"/>
          <a:ext cx="0" cy="0"/>
          <a:chOff x="0" y="0"/>
          <a:chExt cx="0" cy="0"/>
        </a:xfrm>
      </p:grpSpPr>
      <p:pic>
        <p:nvPicPr>
          <p:cNvPr id="2" name="Image 0" descr="/home/user/tapthatbrewery/00 Admin/06 Presentations/pivot/build/title-bg.jpg">    </p:cNvPr>
          <p:cNvPicPr>
            <a:picLocks noChangeAspect="1"/>
          </p:cNvPicPr>
          <p:nvPr/>
        </p:nvPicPr>
        <p:blipFill>
          <a:blip r:embed="rId1"/>
          <a:stretch>
            <a:fillRect/>
          </a:stretch>
        </p:blipFill>
        <p:spPr>
          <a:xfrm>
            <a:off x="0" y="0"/>
            <a:ext cx="12191695" cy="6858000"/>
          </a:xfrm>
          <a:prstGeom prst="rect">
            <a:avLst/>
          </a:prstGeom>
        </p:spPr>
      </p:pic>
      <p:pic>
        <p:nvPicPr>
          <p:cNvPr id="3" name="Image 1" descr="/home/user/tapthatbrewery/00 Admin/11 Final Outputs/brand-source/tapthat-logo-hires.png">    </p:cNvPr>
          <p:cNvPicPr>
            <a:picLocks noChangeAspect="1"/>
          </p:cNvPicPr>
          <p:nvPr/>
        </p:nvPicPr>
        <p:blipFill>
          <a:blip r:embed="rId2"/>
          <a:stretch>
            <a:fillRect/>
          </a:stretch>
        </p:blipFill>
        <p:spPr>
          <a:xfrm>
            <a:off x="502920" y="566928"/>
            <a:ext cx="1572768" cy="1060704"/>
          </a:xfrm>
          <a:prstGeom prst="rect">
            <a:avLst/>
          </a:prstGeom>
        </p:spPr>
      </p:pic>
      <p:sp>
        <p:nvSpPr>
          <p:cNvPr id="4" name="Text 0"/>
          <p:cNvSpPr txBox="1"/>
          <p:nvPr/>
        </p:nvSpPr>
        <p:spPr>
          <a:xfrm>
            <a:off x="502920" y="2377440"/>
            <a:ext cx="11185855" cy="402336"/>
          </a:xfrm>
          <a:prstGeom prst="rect">
            <a:avLst/>
          </a:prstGeom>
          <a:noFill/>
          <a:ln/>
        </p:spPr>
        <p:txBody>
          <a:bodyPr wrap="square" lIns="0" tIns="0" rIns="0" bIns="0" rtlCol="0" anchor="ctr"/>
          <a:lstStyle/>
          <a:p>
            <a:pPr indent="0" marL="0">
              <a:buNone/>
            </a:pPr>
            <a:r>
              <a:rPr lang="en-US" sz="2200" b="1" spc="900" kern="0" dirty="0">
                <a:solidFill>
                  <a:srgbClr val="CE9A49"/>
                </a:solidFill>
                <a:latin typeface="Arial Narrow" pitchFamily="34" charset="0"/>
                <a:ea typeface="Arial Narrow" pitchFamily="34" charset="-122"/>
                <a:cs typeface="Arial Narrow" pitchFamily="34" charset="-120"/>
              </a:rPr>
              <a:t>TAP THAT</a:t>
            </a:r>
            <a:endParaRPr lang="en-US" sz="2200" dirty="0"/>
          </a:p>
        </p:txBody>
      </p:sp>
      <p:sp>
        <p:nvSpPr>
          <p:cNvPr id="5" name="Text 1"/>
          <p:cNvSpPr txBox="1"/>
          <p:nvPr/>
        </p:nvSpPr>
        <p:spPr>
          <a:xfrm>
            <a:off x="448056" y="2743200"/>
            <a:ext cx="11185855" cy="1371600"/>
          </a:xfrm>
          <a:prstGeom prst="rect">
            <a:avLst/>
          </a:prstGeom>
          <a:noFill/>
          <a:ln/>
        </p:spPr>
        <p:txBody>
          <a:bodyPr wrap="square" lIns="0" tIns="0" rIns="0" bIns="0" rtlCol="0" anchor="ctr"/>
          <a:lstStyle/>
          <a:p>
            <a:pPr indent="0" marL="0">
              <a:buNone/>
            </a:pPr>
            <a:r>
              <a:rPr lang="en-US" sz="9600" b="1" dirty="0">
                <a:solidFill>
                  <a:srgbClr val="F4F2ED"/>
                </a:solidFill>
                <a:latin typeface="Arial Narrow" pitchFamily="34" charset="0"/>
                <a:ea typeface="Arial Narrow" pitchFamily="34" charset="-122"/>
                <a:cs typeface="Arial Narrow" pitchFamily="34" charset="-120"/>
              </a:rPr>
              <a:t>THE PIVOT</a:t>
            </a:r>
            <a:endParaRPr lang="en-US" sz="9600" dirty="0"/>
          </a:p>
        </p:txBody>
      </p:sp>
      <p:sp>
        <p:nvSpPr>
          <p:cNvPr id="6" name="Text 2"/>
          <p:cNvSpPr txBox="1"/>
          <p:nvPr/>
        </p:nvSpPr>
        <p:spPr>
          <a:xfrm>
            <a:off x="502920" y="4206240"/>
            <a:ext cx="7498080" cy="457200"/>
          </a:xfrm>
          <a:prstGeom prst="rect">
            <a:avLst/>
          </a:prstGeom>
          <a:noFill/>
          <a:ln/>
        </p:spPr>
        <p:txBody>
          <a:bodyPr wrap="square" lIns="0" tIns="0" rIns="0" bIns="0" rtlCol="0" anchor="ctr"/>
          <a:lstStyle/>
          <a:p>
            <a:pPr indent="0" marL="0">
              <a:buNone/>
            </a:pPr>
            <a:r>
              <a:rPr lang="en-US" sz="1600" dirty="0">
                <a:solidFill>
                  <a:srgbClr val="DFDFDF"/>
                </a:solidFill>
                <a:latin typeface="Arial" pitchFamily="34" charset="0"/>
                <a:ea typeface="Arial" pitchFamily="34" charset="-122"/>
                <a:cs typeface="Arial" pitchFamily="34" charset="-120"/>
              </a:rPr>
              <a:t>From vanity to sanity. A strategic evolution, not a rebrand.</a:t>
            </a:r>
            <a:endParaRPr lang="en-US" sz="1600" dirty="0"/>
          </a:p>
        </p:txBody>
      </p:sp>
      <p:sp>
        <p:nvSpPr>
          <p:cNvPr id="7" name="Text 3"/>
          <p:cNvSpPr txBox="1"/>
          <p:nvPr/>
        </p:nvSpPr>
        <p:spPr>
          <a:xfrm>
            <a:off x="502920" y="6053328"/>
            <a:ext cx="8229600" cy="310896"/>
          </a:xfrm>
          <a:prstGeom prst="rect">
            <a:avLst/>
          </a:prstGeom>
          <a:noFill/>
          <a:ln/>
        </p:spPr>
        <p:txBody>
          <a:bodyPr wrap="square" lIns="0" tIns="0" rIns="0" bIns="0" rtlCol="0" anchor="ctr"/>
          <a:lstStyle/>
          <a:p>
            <a:pPr indent="0" marL="0">
              <a:buNone/>
            </a:pPr>
            <a:r>
              <a:rPr lang="en-US" sz="1100" spc="200" kern="0" dirty="0">
                <a:solidFill>
                  <a:srgbClr val="A9B8AB"/>
                </a:solidFill>
                <a:latin typeface="Arial Narrow" pitchFamily="34" charset="0"/>
                <a:ea typeface="Arial Narrow" pitchFamily="34" charset="-122"/>
                <a:cs typeface="Arial Narrow" pitchFamily="34" charset="-120"/>
              </a:rPr>
              <a:t>Prepared by Jewell Projects for the founders of Tap That</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WHAT WE SAW AND HEARD</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The overall plan is sound. Focus and shape is the unlock.</a:t>
            </a:r>
            <a:endParaRPr lang="en-US" sz="2700" dirty="0"/>
          </a:p>
        </p:txBody>
      </p:sp>
      <p:sp>
        <p:nvSpPr>
          <p:cNvPr id="4" name="Shape 2"/>
          <p:cNvSpPr/>
          <p:nvPr/>
        </p:nvSpPr>
        <p:spPr>
          <a:xfrm rot="5400000">
            <a:off x="502920" y="1408176"/>
            <a:ext cx="292608" cy="292608"/>
          </a:xfrm>
          <a:prstGeom prst="hexagon">
            <a:avLst/>
          </a:prstGeom>
          <a:solidFill>
            <a:srgbClr val="CE9A49"/>
          </a:solidFill>
          <a:ln w="12700">
            <a:solidFill>
              <a:srgbClr val="CE9A49"/>
            </a:solidFill>
            <a:prstDash val="solid"/>
          </a:ln>
        </p:spPr>
      </p:sp>
      <p:sp>
        <p:nvSpPr>
          <p:cNvPr id="5" name="Text 3"/>
          <p:cNvSpPr txBox="1"/>
          <p:nvPr/>
        </p:nvSpPr>
        <p:spPr>
          <a:xfrm>
            <a:off x="502920" y="1408176"/>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1</a:t>
            </a:r>
            <a:endParaRPr lang="en-US" sz="1200" dirty="0"/>
          </a:p>
        </p:txBody>
      </p:sp>
      <p:sp>
        <p:nvSpPr>
          <p:cNvPr id="6" name="Text 4"/>
          <p:cNvSpPr txBox="1"/>
          <p:nvPr/>
        </p:nvSpPr>
        <p:spPr>
          <a:xfrm>
            <a:off x="923544" y="1389888"/>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The strategy is sound, the shape is not</a:t>
            </a:r>
            <a:endParaRPr lang="en-US" sz="1400" dirty="0"/>
          </a:p>
        </p:txBody>
      </p:sp>
      <p:sp>
        <p:nvSpPr>
          <p:cNvPr id="7" name="Text 5"/>
          <p:cNvSpPr txBox="1"/>
          <p:nvPr/>
        </p:nvSpPr>
        <p:spPr>
          <a:xfrm>
            <a:off x="923544" y="1664208"/>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Insightful, comprehensive, and Justin's mental model that everything feeds refills is spot on.</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But it reads as AI theoretical: too much equivalence, too many directions, and its own best insights are buried.</a:t>
            </a:r>
            <a:endParaRPr lang="en-US" sz="1100" dirty="0"/>
          </a:p>
        </p:txBody>
      </p:sp>
      <p:sp>
        <p:nvSpPr>
          <p:cNvPr id="8" name="Shape 6"/>
          <p:cNvSpPr/>
          <p:nvPr/>
        </p:nvSpPr>
        <p:spPr>
          <a:xfrm rot="5400000">
            <a:off x="6324448" y="1408176"/>
            <a:ext cx="292608" cy="292608"/>
          </a:xfrm>
          <a:prstGeom prst="hexagon">
            <a:avLst/>
          </a:prstGeom>
          <a:solidFill>
            <a:srgbClr val="CE9A49"/>
          </a:solidFill>
          <a:ln w="12700">
            <a:solidFill>
              <a:srgbClr val="CE9A49"/>
            </a:solidFill>
            <a:prstDash val="solid"/>
          </a:ln>
        </p:spPr>
      </p:sp>
      <p:sp>
        <p:nvSpPr>
          <p:cNvPr id="9" name="Text 7"/>
          <p:cNvSpPr txBox="1"/>
          <p:nvPr/>
        </p:nvSpPr>
        <p:spPr>
          <a:xfrm>
            <a:off x="6324448" y="1408176"/>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2</a:t>
            </a:r>
            <a:endParaRPr lang="en-US" sz="1200" dirty="0"/>
          </a:p>
        </p:txBody>
      </p:sp>
      <p:sp>
        <p:nvSpPr>
          <p:cNvPr id="10" name="Text 8"/>
          <p:cNvSpPr txBox="1"/>
          <p:nvPr/>
        </p:nvSpPr>
        <p:spPr>
          <a:xfrm>
            <a:off x="6745072" y="1389888"/>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Two business units cancelling each other out</a:t>
            </a:r>
            <a:endParaRPr lang="en-US" sz="1400" dirty="0"/>
          </a:p>
        </p:txBody>
      </p:sp>
      <p:sp>
        <p:nvSpPr>
          <p:cNvPr id="11" name="Text 9"/>
          <p:cNvSpPr txBox="1"/>
          <p:nvPr/>
        </p:nvSpPr>
        <p:spPr>
          <a:xfrm>
            <a:off x="6745072" y="1664208"/>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Thought to be complementary, in reality pulling opposite ways. A great refill business takes traffic out of the Tap Room.</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Which means more spend to replace it, at a high cost per customer.</a:t>
            </a:r>
            <a:endParaRPr lang="en-US" sz="1100" dirty="0"/>
          </a:p>
        </p:txBody>
      </p:sp>
      <p:sp>
        <p:nvSpPr>
          <p:cNvPr id="12" name="Shape 10"/>
          <p:cNvSpPr/>
          <p:nvPr/>
        </p:nvSpPr>
        <p:spPr>
          <a:xfrm rot="5400000">
            <a:off x="502920" y="3163824"/>
            <a:ext cx="292608" cy="292608"/>
          </a:xfrm>
          <a:prstGeom prst="hexagon">
            <a:avLst/>
          </a:prstGeom>
          <a:solidFill>
            <a:srgbClr val="CE9A49"/>
          </a:solidFill>
          <a:ln w="12700">
            <a:solidFill>
              <a:srgbClr val="CE9A49"/>
            </a:solidFill>
            <a:prstDash val="solid"/>
          </a:ln>
        </p:spPr>
      </p:sp>
      <p:sp>
        <p:nvSpPr>
          <p:cNvPr id="13" name="Text 11"/>
          <p:cNvSpPr txBox="1"/>
          <p:nvPr/>
        </p:nvSpPr>
        <p:spPr>
          <a:xfrm>
            <a:off x="502920" y="3163824"/>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3</a:t>
            </a:r>
            <a:endParaRPr lang="en-US" sz="1200" dirty="0"/>
          </a:p>
        </p:txBody>
      </p:sp>
      <p:sp>
        <p:nvSpPr>
          <p:cNvPr id="14" name="Text 12"/>
          <p:cNvSpPr txBox="1"/>
          <p:nvPr/>
        </p:nvSpPr>
        <p:spPr>
          <a:xfrm>
            <a:off x="923544" y="3145536"/>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The weakest unit is getting the support</a:t>
            </a:r>
            <a:endParaRPr lang="en-US" sz="1400" dirty="0"/>
          </a:p>
        </p:txBody>
      </p:sp>
      <p:sp>
        <p:nvSpPr>
          <p:cNvPr id="15" name="Text 13"/>
          <p:cNvSpPr txBox="1"/>
          <p:nvPr/>
        </p:nvSpPr>
        <p:spPr>
          <a:xfrm>
            <a:off x="923544" y="3419856"/>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Refills are at MVP, and only refills, and only beer.</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Marketing's time goes to propping up the unit that does not work, at the cost of the ones that do. Watering the weeds, not the flowers.</a:t>
            </a:r>
            <a:endParaRPr lang="en-US" sz="1100" dirty="0"/>
          </a:p>
        </p:txBody>
      </p:sp>
      <p:sp>
        <p:nvSpPr>
          <p:cNvPr id="16" name="Shape 14"/>
          <p:cNvSpPr/>
          <p:nvPr/>
        </p:nvSpPr>
        <p:spPr>
          <a:xfrm rot="5400000">
            <a:off x="6324448" y="3163824"/>
            <a:ext cx="292608" cy="292608"/>
          </a:xfrm>
          <a:prstGeom prst="hexagon">
            <a:avLst/>
          </a:prstGeom>
          <a:solidFill>
            <a:srgbClr val="CE9A49"/>
          </a:solidFill>
          <a:ln w="12700">
            <a:solidFill>
              <a:srgbClr val="CE9A49"/>
            </a:solidFill>
            <a:prstDash val="solid"/>
          </a:ln>
        </p:spPr>
      </p:sp>
      <p:sp>
        <p:nvSpPr>
          <p:cNvPr id="17" name="Text 15"/>
          <p:cNvSpPr txBox="1"/>
          <p:nvPr/>
        </p:nvSpPr>
        <p:spPr>
          <a:xfrm>
            <a:off x="6324448" y="3163824"/>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4</a:t>
            </a:r>
            <a:endParaRPr lang="en-US" sz="1200" dirty="0"/>
          </a:p>
        </p:txBody>
      </p:sp>
      <p:sp>
        <p:nvSpPr>
          <p:cNvPr id="18" name="Text 16"/>
          <p:cNvSpPr txBox="1"/>
          <p:nvPr/>
        </p:nvSpPr>
        <p:spPr>
          <a:xfrm>
            <a:off x="6745072" y="3145536"/>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The offer is good, but the stars cannot shine</a:t>
            </a:r>
            <a:endParaRPr lang="en-US" sz="1400" dirty="0"/>
          </a:p>
        </p:txBody>
      </p:sp>
      <p:sp>
        <p:nvSpPr>
          <p:cNvPr id="19" name="Text 17"/>
          <p:cNvSpPr txBox="1"/>
          <p:nvPr/>
        </p:nvSpPr>
        <p:spPr>
          <a:xfrm>
            <a:off x="6745072" y="3419856"/>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We suspect a long tail of beer options is driving cost of goods.</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And we think it is causing choice paralysis at the point of sale.</a:t>
            </a:r>
            <a:endParaRPr lang="en-US" sz="1100" dirty="0"/>
          </a:p>
        </p:txBody>
      </p:sp>
      <p:sp>
        <p:nvSpPr>
          <p:cNvPr id="20" name="Shape 18"/>
          <p:cNvSpPr/>
          <p:nvPr/>
        </p:nvSpPr>
        <p:spPr>
          <a:xfrm rot="5400000">
            <a:off x="502920" y="4919472"/>
            <a:ext cx="292608" cy="292608"/>
          </a:xfrm>
          <a:prstGeom prst="hexagon">
            <a:avLst/>
          </a:prstGeom>
          <a:solidFill>
            <a:srgbClr val="CE9A49"/>
          </a:solidFill>
          <a:ln w="12700">
            <a:solidFill>
              <a:srgbClr val="CE9A49"/>
            </a:solidFill>
            <a:prstDash val="solid"/>
          </a:ln>
        </p:spPr>
      </p:sp>
      <p:sp>
        <p:nvSpPr>
          <p:cNvPr id="21" name="Text 19"/>
          <p:cNvSpPr txBox="1"/>
          <p:nvPr/>
        </p:nvSpPr>
        <p:spPr>
          <a:xfrm>
            <a:off x="502920" y="4919472"/>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5</a:t>
            </a:r>
            <a:endParaRPr lang="en-US" sz="1200" dirty="0"/>
          </a:p>
        </p:txBody>
      </p:sp>
      <p:sp>
        <p:nvSpPr>
          <p:cNvPr id="22" name="Text 20"/>
          <p:cNvSpPr txBox="1"/>
          <p:nvPr/>
        </p:nvSpPr>
        <p:spPr>
          <a:xfrm>
            <a:off x="923544" y="4901184"/>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Chasing two rabbits, catching neither</a:t>
            </a:r>
            <a:endParaRPr lang="en-US" sz="1400" dirty="0"/>
          </a:p>
        </p:txBody>
      </p:sp>
      <p:sp>
        <p:nvSpPr>
          <p:cNvPr id="23" name="Text 21"/>
          <p:cNvSpPr txBox="1"/>
          <p:nvPr/>
        </p:nvSpPr>
        <p:spPr>
          <a:xfrm>
            <a:off x="923544" y="5175504"/>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For all the right reasons, marketing explores an idea, quits, moves on.</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Nothing gets the run it needs to prove itself either way.</a:t>
            </a:r>
            <a:endParaRPr lang="en-US" sz="1100" dirty="0"/>
          </a:p>
        </p:txBody>
      </p:sp>
      <p:sp>
        <p:nvSpPr>
          <p:cNvPr id="24" name="Shape 22"/>
          <p:cNvSpPr/>
          <p:nvPr/>
        </p:nvSpPr>
        <p:spPr>
          <a:xfrm rot="5400000">
            <a:off x="6324448" y="4919472"/>
            <a:ext cx="292608" cy="292608"/>
          </a:xfrm>
          <a:prstGeom prst="hexagon">
            <a:avLst/>
          </a:prstGeom>
          <a:solidFill>
            <a:srgbClr val="CE9A49"/>
          </a:solidFill>
          <a:ln w="12700">
            <a:solidFill>
              <a:srgbClr val="CE9A49"/>
            </a:solidFill>
            <a:prstDash val="solid"/>
          </a:ln>
        </p:spPr>
      </p:sp>
      <p:sp>
        <p:nvSpPr>
          <p:cNvPr id="25" name="Text 23"/>
          <p:cNvSpPr txBox="1"/>
          <p:nvPr/>
        </p:nvSpPr>
        <p:spPr>
          <a:xfrm>
            <a:off x="6324448" y="4919472"/>
            <a:ext cx="292608" cy="292608"/>
          </a:xfrm>
          <a:prstGeom prst="rect">
            <a:avLst/>
          </a:prstGeom>
          <a:noFill/>
          <a:ln/>
        </p:spPr>
        <p:txBody>
          <a:bodyPr wrap="square" lIns="0" tIns="0" rIns="0" bIns="0" rtlCol="0" anchor="ctr"/>
          <a:lstStyle/>
          <a:p>
            <a:pPr algn="ctr" indent="0" marL="0">
              <a:buNone/>
            </a:pPr>
            <a:r>
              <a:rPr lang="en-US" sz="1200" b="1" dirty="0">
                <a:solidFill>
                  <a:srgbClr val="0C2113"/>
                </a:solidFill>
                <a:latin typeface="Arial Narrow" pitchFamily="34" charset="0"/>
                <a:ea typeface="Arial Narrow" pitchFamily="34" charset="-122"/>
                <a:cs typeface="Arial Narrow" pitchFamily="34" charset="-120"/>
              </a:rPr>
              <a:t>6</a:t>
            </a:r>
            <a:endParaRPr lang="en-US" sz="1200" dirty="0"/>
          </a:p>
        </p:txBody>
      </p:sp>
      <p:sp>
        <p:nvSpPr>
          <p:cNvPr id="26" name="Text 24"/>
          <p:cNvSpPr txBox="1"/>
          <p:nvPr/>
        </p:nvSpPr>
        <p:spPr>
          <a:xfrm>
            <a:off x="6745072" y="4901184"/>
            <a:ext cx="4943704" cy="274320"/>
          </a:xfrm>
          <a:prstGeom prst="rect">
            <a:avLst/>
          </a:prstGeom>
          <a:noFill/>
          <a:ln/>
        </p:spPr>
        <p:txBody>
          <a:bodyPr wrap="square" lIns="0" tIns="0" rIns="0" bIns="0" rtlCol="0" anchor="ctr"/>
          <a:lstStyle/>
          <a:p>
            <a:pPr indent="0" marL="0">
              <a:buNone/>
            </a:pPr>
            <a:r>
              <a:rPr lang="en-US" sz="1400" b="1" dirty="0">
                <a:solidFill>
                  <a:srgbClr val="F4F2ED"/>
                </a:solidFill>
                <a:latin typeface="Arial Narrow" pitchFamily="34" charset="0"/>
                <a:ea typeface="Arial Narrow" pitchFamily="34" charset="-122"/>
                <a:cs typeface="Arial Narrow" pitchFamily="34" charset="-120"/>
              </a:rPr>
              <a:t>In danger of dying with a beautiful corpse</a:t>
            </a:r>
            <a:endParaRPr lang="en-US" sz="1400" dirty="0"/>
          </a:p>
        </p:txBody>
      </p:sp>
      <p:sp>
        <p:nvSpPr>
          <p:cNvPr id="27" name="Text 25"/>
          <p:cNvSpPr txBox="1"/>
          <p:nvPr/>
        </p:nvSpPr>
        <p:spPr>
          <a:xfrm>
            <a:off x="6745072" y="5175504"/>
            <a:ext cx="4943704" cy="1371600"/>
          </a:xfrm>
          <a:prstGeom prst="rect">
            <a:avLst/>
          </a:prstGeom>
          <a:noFill/>
          <a:ln/>
        </p:spPr>
        <p:txBody>
          <a:bodyPr wrap="square" lIns="0" tIns="0" rIns="0" bIns="0" rtlCol="0" anchor="ctr"/>
          <a:lstStyle/>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Running a brewery is hard. Hospitality is harder. Both on a skeleton staff is unreasonable.</a:t>
            </a:r>
            <a:endParaRPr lang="en-US" sz="1100" dirty="0"/>
          </a:p>
          <a:p>
            <a:pPr indent="0" marL="0">
              <a:lnSpc>
                <a:spcPct val="116000"/>
              </a:lnSpc>
              <a:spcAft>
                <a:spcPts val="500"/>
              </a:spcAft>
              <a:buNone/>
            </a:pPr>
            <a:r>
              <a:rPr lang="en-US" sz="1100" dirty="0">
                <a:solidFill>
                  <a:srgbClr val="A9B8AB"/>
                </a:solidFill>
                <a:latin typeface="Arial" pitchFamily="34" charset="0"/>
                <a:ea typeface="Arial" pitchFamily="34" charset="-122"/>
                <a:cs typeface="Arial" pitchFamily="34" charset="-120"/>
              </a:rPr>
              <a:t>Permission is needed to reshape the business.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THE CORE READ</a:t>
            </a:r>
            <a:endParaRPr lang="en-US" sz="1100" dirty="0"/>
          </a:p>
        </p:txBody>
      </p:sp>
      <p:sp>
        <p:nvSpPr>
          <p:cNvPr id="3" name="Text 1"/>
          <p:cNvSpPr txBox="1"/>
          <p:nvPr/>
        </p:nvSpPr>
        <p:spPr>
          <a:xfrm>
            <a:off x="502920" y="603504"/>
            <a:ext cx="11185855" cy="1371600"/>
          </a:xfrm>
          <a:prstGeom prst="rect">
            <a:avLst/>
          </a:prstGeom>
          <a:noFill/>
          <a:ln/>
        </p:spPr>
        <p:txBody>
          <a:bodyPr wrap="square" lIns="0" tIns="0" rIns="0" bIns="0" rtlCol="0" anchor="ctr"/>
          <a:lstStyle/>
          <a:p>
            <a:pPr indent="0" marL="0">
              <a:lnSpc>
                <a:spcPct val="94000"/>
              </a:lnSpc>
              <a:buNone/>
            </a:pPr>
            <a:r>
              <a:rPr lang="en-US" sz="4600" b="1" dirty="0">
                <a:solidFill>
                  <a:srgbClr val="F4F2ED"/>
                </a:solidFill>
                <a:latin typeface="Arial Narrow" pitchFamily="34" charset="0"/>
                <a:ea typeface="Arial Narrow" pitchFamily="34" charset="-122"/>
                <a:cs typeface="Arial Narrow" pitchFamily="34" charset="-120"/>
              </a:rPr>
              <a:t>TAP ROOM IS VANITY.</a:t>
            </a:r>
            <a:endParaRPr lang="en-US" sz="4600" dirty="0"/>
          </a:p>
          <a:p>
            <a:pPr indent="0" marL="0">
              <a:lnSpc>
                <a:spcPct val="94000"/>
              </a:lnSpc>
              <a:buNone/>
            </a:pPr>
            <a:r>
              <a:rPr lang="en-US" sz="4600" b="1" dirty="0">
                <a:solidFill>
                  <a:srgbClr val="F4F2ED"/>
                </a:solidFill>
                <a:latin typeface="Arial Narrow" pitchFamily="34" charset="0"/>
                <a:ea typeface="Arial Narrow" pitchFamily="34" charset="-122"/>
                <a:cs typeface="Arial Narrow" pitchFamily="34" charset="-120"/>
              </a:rPr>
              <a:t>REFILLS ARE SANITY.</a:t>
            </a:r>
            <a:endParaRPr lang="en-US" sz="4600" dirty="0"/>
          </a:p>
        </p:txBody>
      </p:sp>
      <p:sp>
        <p:nvSpPr>
          <p:cNvPr id="4" name="Shape 2"/>
          <p:cNvSpPr/>
          <p:nvPr/>
        </p:nvSpPr>
        <p:spPr>
          <a:xfrm>
            <a:off x="502920" y="2331720"/>
            <a:ext cx="3484778" cy="2286000"/>
          </a:xfrm>
          <a:prstGeom prst="rect">
            <a:avLst/>
          </a:prstGeom>
          <a:solidFill>
            <a:srgbClr val="0C2113"/>
          </a:solidFill>
          <a:ln w="9525">
            <a:solidFill>
              <a:srgbClr val="25502F"/>
            </a:solidFill>
            <a:prstDash val="solid"/>
          </a:ln>
        </p:spPr>
      </p:sp>
      <p:sp>
        <p:nvSpPr>
          <p:cNvPr id="5" name="Text 3"/>
          <p:cNvSpPr txBox="1"/>
          <p:nvPr/>
        </p:nvSpPr>
        <p:spPr>
          <a:xfrm>
            <a:off x="722376" y="2523744"/>
            <a:ext cx="3045866" cy="868680"/>
          </a:xfrm>
          <a:prstGeom prst="rect">
            <a:avLst/>
          </a:prstGeom>
          <a:noFill/>
          <a:ln/>
        </p:spPr>
        <p:txBody>
          <a:bodyPr wrap="square" lIns="0" tIns="0" rIns="0" bIns="0" rtlCol="0" anchor="ctr"/>
          <a:lstStyle/>
          <a:p>
            <a:pPr indent="0" marL="0">
              <a:buNone/>
            </a:pPr>
            <a:r>
              <a:rPr lang="en-US" sz="5400" b="1" dirty="0">
                <a:solidFill>
                  <a:srgbClr val="CE9A49"/>
                </a:solidFill>
                <a:latin typeface="Arial Narrow" pitchFamily="34" charset="0"/>
                <a:ea typeface="Arial Narrow" pitchFamily="34" charset="-122"/>
                <a:cs typeface="Arial Narrow" pitchFamily="34" charset="-120"/>
              </a:rPr>
              <a:t>96-113</a:t>
            </a:r>
            <a:endParaRPr lang="en-US" sz="5400" dirty="0"/>
          </a:p>
        </p:txBody>
      </p:sp>
      <p:sp>
        <p:nvSpPr>
          <p:cNvPr id="6" name="Text 4"/>
          <p:cNvSpPr txBox="1"/>
          <p:nvPr/>
        </p:nvSpPr>
        <p:spPr>
          <a:xfrm>
            <a:off x="722376" y="3456432"/>
            <a:ext cx="3045866" cy="1005840"/>
          </a:xfrm>
          <a:prstGeom prst="rect">
            <a:avLst/>
          </a:prstGeom>
          <a:noFill/>
          <a:ln/>
        </p:spPr>
        <p:txBody>
          <a:bodyPr wrap="square" lIns="0" tIns="0" rIns="0" bIns="0" rtlCol="0" anchor="ctr"/>
          <a:lstStyle/>
          <a:p>
            <a:pPr indent="0" marL="0">
              <a:lnSpc>
                <a:spcPct val="120000"/>
              </a:lnSpc>
              <a:buNone/>
            </a:pPr>
            <a:r>
              <a:rPr lang="en-US" sz="1150" dirty="0">
                <a:solidFill>
                  <a:srgbClr val="DFDFDF"/>
                </a:solidFill>
                <a:latin typeface="Arial" pitchFamily="34" charset="0"/>
                <a:ea typeface="Arial" pitchFamily="34" charset="-122"/>
                <a:cs typeface="Arial" pitchFamily="34" charset="-120"/>
              </a:rPr>
              <a:t>Active refill customers, ordering repeatedly. That is MVP status, reached without a push.</a:t>
            </a:r>
            <a:endParaRPr lang="en-US" sz="1150" dirty="0"/>
          </a:p>
        </p:txBody>
      </p:sp>
      <p:sp>
        <p:nvSpPr>
          <p:cNvPr id="7" name="Shape 5"/>
          <p:cNvSpPr/>
          <p:nvPr/>
        </p:nvSpPr>
        <p:spPr>
          <a:xfrm>
            <a:off x="4353458" y="2331720"/>
            <a:ext cx="3484778" cy="2286000"/>
          </a:xfrm>
          <a:prstGeom prst="rect">
            <a:avLst/>
          </a:prstGeom>
          <a:solidFill>
            <a:srgbClr val="0C2113"/>
          </a:solidFill>
          <a:ln w="9525">
            <a:solidFill>
              <a:srgbClr val="25502F"/>
            </a:solidFill>
            <a:prstDash val="solid"/>
          </a:ln>
        </p:spPr>
      </p:sp>
      <p:sp>
        <p:nvSpPr>
          <p:cNvPr id="8" name="Text 6"/>
          <p:cNvSpPr txBox="1"/>
          <p:nvPr/>
        </p:nvSpPr>
        <p:spPr>
          <a:xfrm>
            <a:off x="4572914" y="2523744"/>
            <a:ext cx="3045866" cy="868680"/>
          </a:xfrm>
          <a:prstGeom prst="rect">
            <a:avLst/>
          </a:prstGeom>
          <a:noFill/>
          <a:ln/>
        </p:spPr>
        <p:txBody>
          <a:bodyPr wrap="square" lIns="0" tIns="0" rIns="0" bIns="0" rtlCol="0" anchor="ctr"/>
          <a:lstStyle/>
          <a:p>
            <a:pPr indent="0" marL="0">
              <a:buNone/>
            </a:pPr>
            <a:r>
              <a:rPr lang="en-US" sz="5400" b="1" dirty="0">
                <a:solidFill>
                  <a:srgbClr val="CE9A49"/>
                </a:solidFill>
                <a:latin typeface="Arial Narrow" pitchFamily="34" charset="0"/>
                <a:ea typeface="Arial Narrow" pitchFamily="34" charset="-122"/>
                <a:cs typeface="Arial Narrow" pitchFamily="34" charset="-120"/>
              </a:rPr>
              <a:t>56%</a:t>
            </a:r>
            <a:endParaRPr lang="en-US" sz="5400" dirty="0"/>
          </a:p>
        </p:txBody>
      </p:sp>
      <p:sp>
        <p:nvSpPr>
          <p:cNvPr id="9" name="Text 7"/>
          <p:cNvSpPr txBox="1"/>
          <p:nvPr/>
        </p:nvSpPr>
        <p:spPr>
          <a:xfrm>
            <a:off x="4572914" y="3456432"/>
            <a:ext cx="3045866" cy="1005840"/>
          </a:xfrm>
          <a:prstGeom prst="rect">
            <a:avLst/>
          </a:prstGeom>
          <a:noFill/>
          <a:ln/>
        </p:spPr>
        <p:txBody>
          <a:bodyPr wrap="square" lIns="0" tIns="0" rIns="0" bIns="0" rtlCol="0" anchor="ctr"/>
          <a:lstStyle/>
          <a:p>
            <a:pPr indent="0" marL="0">
              <a:lnSpc>
                <a:spcPct val="120000"/>
              </a:lnSpc>
              <a:buNone/>
            </a:pPr>
            <a:r>
              <a:rPr lang="en-US" sz="1150" dirty="0">
                <a:solidFill>
                  <a:srgbClr val="DFDFDF"/>
                </a:solidFill>
                <a:latin typeface="Arial" pitchFamily="34" charset="0"/>
                <a:ea typeface="Arial" pitchFamily="34" charset="-122"/>
                <a:cs typeface="Arial" pitchFamily="34" charset="-120"/>
              </a:rPr>
              <a:t>of refill customers bought their tap system somewhere else. The refill proposition is already validated.</a:t>
            </a:r>
            <a:endParaRPr lang="en-US" sz="1150" dirty="0"/>
          </a:p>
        </p:txBody>
      </p:sp>
      <p:sp>
        <p:nvSpPr>
          <p:cNvPr id="10" name="Shape 8"/>
          <p:cNvSpPr/>
          <p:nvPr/>
        </p:nvSpPr>
        <p:spPr>
          <a:xfrm>
            <a:off x="8203997" y="2331720"/>
            <a:ext cx="3484778" cy="2286000"/>
          </a:xfrm>
          <a:prstGeom prst="rect">
            <a:avLst/>
          </a:prstGeom>
          <a:solidFill>
            <a:srgbClr val="0C2113"/>
          </a:solidFill>
          <a:ln w="9525">
            <a:solidFill>
              <a:srgbClr val="25502F"/>
            </a:solidFill>
            <a:prstDash val="solid"/>
          </a:ln>
        </p:spPr>
      </p:sp>
      <p:sp>
        <p:nvSpPr>
          <p:cNvPr id="11" name="Text 9"/>
          <p:cNvSpPr txBox="1"/>
          <p:nvPr/>
        </p:nvSpPr>
        <p:spPr>
          <a:xfrm>
            <a:off x="8423453" y="2523744"/>
            <a:ext cx="3045866" cy="868680"/>
          </a:xfrm>
          <a:prstGeom prst="rect">
            <a:avLst/>
          </a:prstGeom>
          <a:noFill/>
          <a:ln/>
        </p:spPr>
        <p:txBody>
          <a:bodyPr wrap="square" lIns="0" tIns="0" rIns="0" bIns="0" rtlCol="0" anchor="ctr"/>
          <a:lstStyle/>
          <a:p>
            <a:pPr indent="0" marL="0">
              <a:buNone/>
            </a:pPr>
            <a:r>
              <a:rPr lang="en-US" sz="5400" b="1" dirty="0">
                <a:solidFill>
                  <a:srgbClr val="CE9A49"/>
                </a:solidFill>
                <a:latin typeface="Arial Narrow" pitchFamily="34" charset="0"/>
                <a:ea typeface="Arial Narrow" pitchFamily="34" charset="-122"/>
                <a:cs typeface="Arial Narrow" pitchFamily="34" charset="-120"/>
              </a:rPr>
              <a:t>20%</a:t>
            </a:r>
            <a:endParaRPr lang="en-US" sz="5400" dirty="0"/>
          </a:p>
        </p:txBody>
      </p:sp>
      <p:sp>
        <p:nvSpPr>
          <p:cNvPr id="12" name="Text 10"/>
          <p:cNvSpPr txBox="1"/>
          <p:nvPr/>
        </p:nvSpPr>
        <p:spPr>
          <a:xfrm>
            <a:off x="8423453" y="3456432"/>
            <a:ext cx="3045866" cy="1005840"/>
          </a:xfrm>
          <a:prstGeom prst="rect">
            <a:avLst/>
          </a:prstGeom>
          <a:noFill/>
          <a:ln/>
        </p:spPr>
        <p:txBody>
          <a:bodyPr wrap="square" lIns="0" tIns="0" rIns="0" bIns="0" rtlCol="0" anchor="ctr"/>
          <a:lstStyle/>
          <a:p>
            <a:pPr indent="0" marL="0">
              <a:lnSpc>
                <a:spcPct val="120000"/>
              </a:lnSpc>
              <a:buNone/>
            </a:pPr>
            <a:r>
              <a:rPr lang="en-US" sz="1150" dirty="0">
                <a:solidFill>
                  <a:srgbClr val="DFDFDF"/>
                </a:solidFill>
                <a:latin typeface="Arial" pitchFamily="34" charset="0"/>
                <a:ea typeface="Arial" pitchFamily="34" charset="-122"/>
                <a:cs typeface="Arial" pitchFamily="34" charset="-120"/>
              </a:rPr>
              <a:t>of system buyers are said to have visited the Tap Room. That is correlation, not proven causation.</a:t>
            </a:r>
            <a:endParaRPr lang="en-US" sz="1150" dirty="0"/>
          </a:p>
        </p:txBody>
      </p:sp>
      <p:sp>
        <p:nvSpPr>
          <p:cNvPr id="13" name="Text 11"/>
          <p:cNvSpPr txBox="1"/>
          <p:nvPr/>
        </p:nvSpPr>
        <p:spPr>
          <a:xfrm>
            <a:off x="502920" y="5029200"/>
            <a:ext cx="11185855" cy="914400"/>
          </a:xfrm>
          <a:prstGeom prst="rect">
            <a:avLst/>
          </a:prstGeom>
          <a:noFill/>
          <a:ln/>
        </p:spPr>
        <p:txBody>
          <a:bodyPr wrap="square" lIns="0" tIns="0" rIns="0" bIns="0" rtlCol="0" anchor="ctr"/>
          <a:lstStyle/>
          <a:p>
            <a:pPr indent="0" marL="0">
              <a:lnSpc>
                <a:spcPct val="125000"/>
              </a:lnSpc>
              <a:buNone/>
            </a:pPr>
            <a:r>
              <a:rPr lang="en-US" sz="1400" dirty="0">
                <a:solidFill>
                  <a:srgbClr val="DFDFDF"/>
                </a:solidFill>
                <a:latin typeface="Arial" pitchFamily="34" charset="0"/>
                <a:ea typeface="Arial" pitchFamily="34" charset="-122"/>
                <a:cs typeface="Arial" pitchFamily="34" charset="-120"/>
              </a:rPr>
              <a:t>The Tap Room works as an event and function destination. It does not work as a walk-in, because the footfall is not there. The task now is to brutally edit the losers and invest in what is proven.</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WHERE TO FROM HERE / CORE</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Get the core right, then go for more.</a:t>
            </a:r>
            <a:endParaRPr lang="en-US" sz="2700" dirty="0"/>
          </a:p>
        </p:txBody>
      </p:sp>
      <p:sp>
        <p:nvSpPr>
          <p:cNvPr id="4" name="Shape 2"/>
          <p:cNvSpPr/>
          <p:nvPr/>
        </p:nvSpPr>
        <p:spPr>
          <a:xfrm>
            <a:off x="502920" y="1335024"/>
            <a:ext cx="2120128" cy="5120640"/>
          </a:xfrm>
          <a:prstGeom prst="rect">
            <a:avLst/>
          </a:prstGeom>
          <a:solidFill>
            <a:srgbClr val="0C2113"/>
          </a:solidFill>
          <a:ln w="9525">
            <a:solidFill>
              <a:srgbClr val="25502F"/>
            </a:solidFill>
            <a:prstDash val="solid"/>
          </a:ln>
        </p:spPr>
      </p:sp>
      <p:sp>
        <p:nvSpPr>
          <p:cNvPr id="5" name="Shape 3"/>
          <p:cNvSpPr/>
          <p:nvPr/>
        </p:nvSpPr>
        <p:spPr>
          <a:xfrm rot="5400000">
            <a:off x="1370960" y="1536192"/>
            <a:ext cx="384048" cy="384048"/>
          </a:xfrm>
          <a:prstGeom prst="hexagon">
            <a:avLst/>
          </a:prstGeom>
          <a:solidFill>
            <a:srgbClr val="CE9A49"/>
          </a:solidFill>
          <a:ln w="12700">
            <a:solidFill>
              <a:srgbClr val="CE9A49"/>
            </a:solidFill>
            <a:prstDash val="solid"/>
          </a:ln>
        </p:spPr>
      </p:sp>
      <p:sp>
        <p:nvSpPr>
          <p:cNvPr id="6" name="Text 4"/>
          <p:cNvSpPr txBox="1"/>
          <p:nvPr/>
        </p:nvSpPr>
        <p:spPr>
          <a:xfrm>
            <a:off x="1370960"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1</a:t>
            </a:r>
            <a:endParaRPr lang="en-US" sz="1500" dirty="0"/>
          </a:p>
        </p:txBody>
      </p:sp>
      <p:sp>
        <p:nvSpPr>
          <p:cNvPr id="7" name="Text 5"/>
          <p:cNvSpPr txBox="1"/>
          <p:nvPr/>
        </p:nvSpPr>
        <p:spPr>
          <a:xfrm>
            <a:off x="630936"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Tap Room:</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Pause and pivot</a:t>
            </a:r>
            <a:endParaRPr lang="en-US" sz="1450" dirty="0"/>
          </a:p>
        </p:txBody>
      </p:sp>
      <p:sp>
        <p:nvSpPr>
          <p:cNvPr id="8" name="Text 6"/>
          <p:cNvSpPr txBox="1"/>
          <p:nvPr/>
        </p:nvSpPr>
        <p:spPr>
          <a:xfrm>
            <a:off x="630936"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Pause walk-in trading. Go all in on destination demand.</a:t>
            </a:r>
            <a:endParaRPr lang="en-US" sz="950" dirty="0"/>
          </a:p>
        </p:txBody>
      </p:sp>
      <p:sp>
        <p:nvSpPr>
          <p:cNvPr id="9" name="Text 7"/>
          <p:cNvSpPr txBox="1"/>
          <p:nvPr/>
        </p:nvSpPr>
        <p:spPr>
          <a:xfrm>
            <a:off x="630936"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Event and function nights are already profitable</a:t>
            </a:r>
            <a:endParaRPr lang="en-US" sz="900" dirty="0"/>
          </a:p>
        </p:txBody>
      </p:sp>
      <p:sp>
        <p:nvSpPr>
          <p:cNvPr id="10" name="Text 8"/>
          <p:cNvSpPr txBox="1"/>
          <p:nvPr/>
        </p:nvSpPr>
        <p:spPr>
          <a:xfrm>
            <a:off x="649224"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PR to tourism, event and wedding planners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Own the tour circuit: Urban Legends booking tool, Pineapple Tours, Crafted award callout</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Ticketed events and collabs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Party rental, with minimum-guarantee kegs covering the rental cost</a:t>
            </a:r>
            <a:endParaRPr lang="en-US" sz="850" dirty="0"/>
          </a:p>
        </p:txBody>
      </p:sp>
      <p:sp>
        <p:nvSpPr>
          <p:cNvPr id="11" name="Shape 9"/>
          <p:cNvSpPr/>
          <p:nvPr/>
        </p:nvSpPr>
        <p:spPr>
          <a:xfrm>
            <a:off x="2769352" y="1335024"/>
            <a:ext cx="2120128" cy="5120640"/>
          </a:xfrm>
          <a:prstGeom prst="rect">
            <a:avLst/>
          </a:prstGeom>
          <a:solidFill>
            <a:srgbClr val="0C2113"/>
          </a:solidFill>
          <a:ln w="9525">
            <a:solidFill>
              <a:srgbClr val="25502F"/>
            </a:solidFill>
            <a:prstDash val="solid"/>
          </a:ln>
        </p:spPr>
      </p:sp>
      <p:sp>
        <p:nvSpPr>
          <p:cNvPr id="12" name="Shape 10"/>
          <p:cNvSpPr/>
          <p:nvPr/>
        </p:nvSpPr>
        <p:spPr>
          <a:xfrm rot="5400000">
            <a:off x="3637392" y="1536192"/>
            <a:ext cx="384048" cy="384048"/>
          </a:xfrm>
          <a:prstGeom prst="hexagon">
            <a:avLst/>
          </a:prstGeom>
          <a:solidFill>
            <a:srgbClr val="CE9A49"/>
          </a:solidFill>
          <a:ln w="12700">
            <a:solidFill>
              <a:srgbClr val="CE9A49"/>
            </a:solidFill>
            <a:prstDash val="solid"/>
          </a:ln>
        </p:spPr>
      </p:sp>
      <p:sp>
        <p:nvSpPr>
          <p:cNvPr id="13" name="Text 11"/>
          <p:cNvSpPr txBox="1"/>
          <p:nvPr/>
        </p:nvSpPr>
        <p:spPr>
          <a:xfrm>
            <a:off x="3637392"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2</a:t>
            </a:r>
            <a:endParaRPr lang="en-US" sz="1500" dirty="0"/>
          </a:p>
        </p:txBody>
      </p:sp>
      <p:sp>
        <p:nvSpPr>
          <p:cNvPr id="14" name="Text 12"/>
          <p:cNvSpPr txBox="1"/>
          <p:nvPr/>
        </p:nvSpPr>
        <p:spPr>
          <a:xfrm>
            <a:off x="2897368"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Convert the owners</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already sold</a:t>
            </a:r>
            <a:endParaRPr lang="en-US" sz="1450" dirty="0"/>
          </a:p>
        </p:txBody>
      </p:sp>
      <p:sp>
        <p:nvSpPr>
          <p:cNvPr id="15" name="Text 13"/>
          <p:cNvSpPr txBox="1"/>
          <p:nvPr/>
        </p:nvSpPr>
        <p:spPr>
          <a:xfrm>
            <a:off x="2897368"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Objections are already overcome for existing kegerator owners.</a:t>
            </a:r>
            <a:endParaRPr lang="en-US" sz="950" dirty="0"/>
          </a:p>
        </p:txBody>
      </p:sp>
      <p:sp>
        <p:nvSpPr>
          <p:cNvPr id="16" name="Text 14"/>
          <p:cNvSpPr txBox="1"/>
          <p:nvPr/>
        </p:nvSpPr>
        <p:spPr>
          <a:xfrm>
            <a:off x="2897368"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56% bought their system elsewhere</a:t>
            </a:r>
            <a:endParaRPr lang="en-US" sz="900" dirty="0"/>
          </a:p>
        </p:txBody>
      </p:sp>
      <p:sp>
        <p:nvSpPr>
          <p:cNvPr id="17" name="Text 15"/>
          <p:cNvSpPr txBox="1"/>
          <p:nvPr/>
        </p:nvSpPr>
        <p:spPr>
          <a:xfrm>
            <a:off x="2915656"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Harvey Norman gift-with-purchase and point-of-sale tie-up, plus buyer database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Buy Kegland and corny-keg owner databases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Official Benchy partnership and database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Co-branded outdoor BBQ and system bundle</a:t>
            </a:r>
            <a:endParaRPr lang="en-US" sz="850" dirty="0"/>
          </a:p>
        </p:txBody>
      </p:sp>
      <p:sp>
        <p:nvSpPr>
          <p:cNvPr id="18" name="Shape 16"/>
          <p:cNvSpPr/>
          <p:nvPr/>
        </p:nvSpPr>
        <p:spPr>
          <a:xfrm>
            <a:off x="5035784" y="1335024"/>
            <a:ext cx="2120128" cy="5120640"/>
          </a:xfrm>
          <a:prstGeom prst="rect">
            <a:avLst/>
          </a:prstGeom>
          <a:solidFill>
            <a:srgbClr val="0C2113"/>
          </a:solidFill>
          <a:ln w="9525">
            <a:solidFill>
              <a:srgbClr val="25502F"/>
            </a:solidFill>
            <a:prstDash val="solid"/>
          </a:ln>
        </p:spPr>
      </p:sp>
      <p:sp>
        <p:nvSpPr>
          <p:cNvPr id="19" name="Shape 17"/>
          <p:cNvSpPr/>
          <p:nvPr/>
        </p:nvSpPr>
        <p:spPr>
          <a:xfrm rot="5400000">
            <a:off x="5903824" y="1536192"/>
            <a:ext cx="384048" cy="384048"/>
          </a:xfrm>
          <a:prstGeom prst="hexagon">
            <a:avLst/>
          </a:prstGeom>
          <a:solidFill>
            <a:srgbClr val="CE9A49"/>
          </a:solidFill>
          <a:ln w="12700">
            <a:solidFill>
              <a:srgbClr val="CE9A49"/>
            </a:solidFill>
            <a:prstDash val="solid"/>
          </a:ln>
        </p:spPr>
      </p:sp>
      <p:sp>
        <p:nvSpPr>
          <p:cNvPr id="20" name="Text 18"/>
          <p:cNvSpPr txBox="1"/>
          <p:nvPr/>
        </p:nvSpPr>
        <p:spPr>
          <a:xfrm>
            <a:off x="5903824"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3</a:t>
            </a:r>
            <a:endParaRPr lang="en-US" sz="1500" dirty="0"/>
          </a:p>
        </p:txBody>
      </p:sp>
      <p:sp>
        <p:nvSpPr>
          <p:cNvPr id="21" name="Text 19"/>
          <p:cNvSpPr txBox="1"/>
          <p:nvPr/>
        </p:nvSpPr>
        <p:spPr>
          <a:xfrm>
            <a:off x="5163800"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Remove all friction</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in refills</a:t>
            </a:r>
            <a:endParaRPr lang="en-US" sz="1450" dirty="0"/>
          </a:p>
        </p:txBody>
      </p:sp>
      <p:sp>
        <p:nvSpPr>
          <p:cNvPr id="22" name="Text 20"/>
          <p:cNvSpPr txBox="1"/>
          <p:nvPr/>
        </p:nvSpPr>
        <p:spPr>
          <a:xfrm>
            <a:off x="5163800"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Every extra step in the refill process costs a sale.</a:t>
            </a:r>
            <a:endParaRPr lang="en-US" sz="950" dirty="0"/>
          </a:p>
        </p:txBody>
      </p:sp>
      <p:sp>
        <p:nvSpPr>
          <p:cNvPr id="23" name="Text 21"/>
          <p:cNvSpPr txBox="1"/>
          <p:nvPr/>
        </p:nvSpPr>
        <p:spPr>
          <a:xfrm>
            <a:off x="5163800"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10% reorder monthly, 40% far later. One clock fails both</a:t>
            </a:r>
            <a:endParaRPr lang="en-US" sz="900" dirty="0"/>
          </a:p>
        </p:txBody>
      </p:sp>
      <p:sp>
        <p:nvSpPr>
          <p:cNvPr id="24" name="Text 22"/>
          <p:cNvSpPr txBox="1"/>
          <p:nvPr/>
        </p:nvSpPr>
        <p:spPr>
          <a:xfrm>
            <a:off x="5182088"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Free delivery always works, recover margin in dollars, not percent</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Replace the blanket 90-day SMS with consumption-triggered reminders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Lead on the simplicity: no CO2, pick up and go</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Simplify membership, refill-centric</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Get Justin off the bar and onto the road</a:t>
            </a:r>
            <a:endParaRPr lang="en-US" sz="850" dirty="0"/>
          </a:p>
        </p:txBody>
      </p:sp>
      <p:sp>
        <p:nvSpPr>
          <p:cNvPr id="25" name="Shape 23"/>
          <p:cNvSpPr/>
          <p:nvPr/>
        </p:nvSpPr>
        <p:spPr>
          <a:xfrm>
            <a:off x="7302216" y="1335024"/>
            <a:ext cx="2120128" cy="5120640"/>
          </a:xfrm>
          <a:prstGeom prst="rect">
            <a:avLst/>
          </a:prstGeom>
          <a:solidFill>
            <a:srgbClr val="0C2113"/>
          </a:solidFill>
          <a:ln w="9525">
            <a:solidFill>
              <a:srgbClr val="25502F"/>
            </a:solidFill>
            <a:prstDash val="solid"/>
          </a:ln>
        </p:spPr>
      </p:sp>
      <p:sp>
        <p:nvSpPr>
          <p:cNvPr id="26" name="Shape 24"/>
          <p:cNvSpPr/>
          <p:nvPr/>
        </p:nvSpPr>
        <p:spPr>
          <a:xfrm rot="5400000">
            <a:off x="8170255" y="1536192"/>
            <a:ext cx="384048" cy="384048"/>
          </a:xfrm>
          <a:prstGeom prst="hexagon">
            <a:avLst/>
          </a:prstGeom>
          <a:solidFill>
            <a:srgbClr val="CE9A49"/>
          </a:solidFill>
          <a:ln w="12700">
            <a:solidFill>
              <a:srgbClr val="CE9A49"/>
            </a:solidFill>
            <a:prstDash val="solid"/>
          </a:ln>
        </p:spPr>
      </p:sp>
      <p:sp>
        <p:nvSpPr>
          <p:cNvPr id="27" name="Text 25"/>
          <p:cNvSpPr txBox="1"/>
          <p:nvPr/>
        </p:nvSpPr>
        <p:spPr>
          <a:xfrm>
            <a:off x="8170255"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4</a:t>
            </a:r>
            <a:endParaRPr lang="en-US" sz="1500" dirty="0"/>
          </a:p>
        </p:txBody>
      </p:sp>
      <p:sp>
        <p:nvSpPr>
          <p:cNvPr id="28" name="Text 26"/>
          <p:cNvSpPr txBox="1"/>
          <p:nvPr/>
        </p:nvSpPr>
        <p:spPr>
          <a:xfrm>
            <a:off x="7430232"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Rationalise</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the range</a:t>
            </a:r>
            <a:endParaRPr lang="en-US" sz="1450" dirty="0"/>
          </a:p>
        </p:txBody>
      </p:sp>
      <p:sp>
        <p:nvSpPr>
          <p:cNvPr id="29" name="Text 27"/>
          <p:cNvSpPr txBox="1"/>
          <p:nvPr/>
        </p:nvSpPr>
        <p:spPr>
          <a:xfrm>
            <a:off x="7430232"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Create hero products, cut the non-productive tail.</a:t>
            </a:r>
            <a:endParaRPr lang="en-US" sz="950" dirty="0"/>
          </a:p>
        </p:txBody>
      </p:sp>
      <p:sp>
        <p:nvSpPr>
          <p:cNvPr id="30" name="Text 28"/>
          <p:cNvSpPr txBox="1"/>
          <p:nvPr/>
        </p:nvSpPr>
        <p:spPr>
          <a:xfrm>
            <a:off x="7430232"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About 19 brew choices loses both curation and best-in-class</a:t>
            </a:r>
            <a:endParaRPr lang="en-US" sz="900" dirty="0"/>
          </a:p>
        </p:txBody>
      </p:sp>
      <p:sp>
        <p:nvSpPr>
          <p:cNvPr id="31" name="Text 29"/>
          <p:cNvSpPr txBox="1"/>
          <p:nvPr/>
        </p:nvSpPr>
        <p:spPr>
          <a:xfrm>
            <a:off x="7448520"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Deeper product marketing on the brews that remain</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Introduce social proof cues, such as most popular</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Free the shelf space and the brewing time for the heroes</a:t>
            </a:r>
            <a:endParaRPr lang="en-US" sz="850" dirty="0"/>
          </a:p>
        </p:txBody>
      </p:sp>
      <p:sp>
        <p:nvSpPr>
          <p:cNvPr id="32" name="Shape 30"/>
          <p:cNvSpPr/>
          <p:nvPr/>
        </p:nvSpPr>
        <p:spPr>
          <a:xfrm>
            <a:off x="9568647" y="1335024"/>
            <a:ext cx="2120128" cy="5120640"/>
          </a:xfrm>
          <a:prstGeom prst="rect">
            <a:avLst/>
          </a:prstGeom>
          <a:solidFill>
            <a:srgbClr val="0C2113"/>
          </a:solidFill>
          <a:ln w="9525">
            <a:solidFill>
              <a:srgbClr val="25502F"/>
            </a:solidFill>
            <a:prstDash val="solid"/>
          </a:ln>
        </p:spPr>
      </p:sp>
      <p:sp>
        <p:nvSpPr>
          <p:cNvPr id="33" name="Shape 31"/>
          <p:cNvSpPr/>
          <p:nvPr/>
        </p:nvSpPr>
        <p:spPr>
          <a:xfrm rot="5400000">
            <a:off x="10436687" y="1536192"/>
            <a:ext cx="384048" cy="384048"/>
          </a:xfrm>
          <a:prstGeom prst="hexagon">
            <a:avLst/>
          </a:prstGeom>
          <a:solidFill>
            <a:srgbClr val="CE9A49"/>
          </a:solidFill>
          <a:ln w="12700">
            <a:solidFill>
              <a:srgbClr val="CE9A49"/>
            </a:solidFill>
            <a:prstDash val="solid"/>
          </a:ln>
        </p:spPr>
      </p:sp>
      <p:sp>
        <p:nvSpPr>
          <p:cNvPr id="34" name="Text 32"/>
          <p:cNvSpPr txBox="1"/>
          <p:nvPr/>
        </p:nvSpPr>
        <p:spPr>
          <a:xfrm>
            <a:off x="10436687"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5</a:t>
            </a:r>
            <a:endParaRPr lang="en-US" sz="1500" dirty="0"/>
          </a:p>
        </p:txBody>
      </p:sp>
      <p:sp>
        <p:nvSpPr>
          <p:cNvPr id="35" name="Text 33"/>
          <p:cNvSpPr txBox="1"/>
          <p:nvPr/>
        </p:nvSpPr>
        <p:spPr>
          <a:xfrm>
            <a:off x="9696663"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Ride the</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wellness wave</a:t>
            </a:r>
            <a:endParaRPr lang="en-US" sz="1450" dirty="0"/>
          </a:p>
        </p:txBody>
      </p:sp>
      <p:sp>
        <p:nvSpPr>
          <p:cNvPr id="36" name="Text 34"/>
          <p:cNvSpPr txBox="1"/>
          <p:nvPr/>
        </p:nvSpPr>
        <p:spPr>
          <a:xfrm>
            <a:off x="9696663"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Also the way back to lapsed customers.</a:t>
            </a:r>
            <a:endParaRPr lang="en-US" sz="950" dirty="0"/>
          </a:p>
        </p:txBody>
      </p:sp>
      <p:sp>
        <p:nvSpPr>
          <p:cNvPr id="37" name="Text 35"/>
          <p:cNvSpPr txBox="1"/>
          <p:nvPr/>
        </p:nvSpPr>
        <p:spPr>
          <a:xfrm>
            <a:off x="9696663"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40% of lapsed customers cite cutting back</a:t>
            </a:r>
            <a:endParaRPr lang="en-US" sz="900" dirty="0"/>
          </a:p>
        </p:txBody>
      </p:sp>
      <p:sp>
        <p:nvSpPr>
          <p:cNvPr id="38" name="Text 36"/>
          <p:cNvSpPr txBox="1"/>
          <p:nvPr/>
        </p:nvSpPr>
        <p:spPr>
          <a:xfrm>
            <a:off x="9714951"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Low, non-alcoholic, low-carb and protein range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Wellness influencer collabs, amplify or co-develop</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Reframe for the cutting-back cohort as a healthier alternative, not less beer</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WHERE TO FROM HERE / MORE</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Once the core is running, extend it.</a:t>
            </a:r>
            <a:endParaRPr lang="en-US" sz="2700" dirty="0"/>
          </a:p>
        </p:txBody>
      </p:sp>
      <p:sp>
        <p:nvSpPr>
          <p:cNvPr id="4" name="Shape 2"/>
          <p:cNvSpPr/>
          <p:nvPr/>
        </p:nvSpPr>
        <p:spPr>
          <a:xfrm>
            <a:off x="502920" y="1335024"/>
            <a:ext cx="2120128" cy="5120640"/>
          </a:xfrm>
          <a:prstGeom prst="rect">
            <a:avLst/>
          </a:prstGeom>
          <a:solidFill>
            <a:srgbClr val="0C2113"/>
          </a:solidFill>
          <a:ln w="9525">
            <a:solidFill>
              <a:srgbClr val="25502F"/>
            </a:solidFill>
            <a:prstDash val="solid"/>
          </a:ln>
        </p:spPr>
      </p:sp>
      <p:sp>
        <p:nvSpPr>
          <p:cNvPr id="5" name="Shape 3"/>
          <p:cNvSpPr/>
          <p:nvPr/>
        </p:nvSpPr>
        <p:spPr>
          <a:xfrm rot="5400000">
            <a:off x="1370960" y="1536192"/>
            <a:ext cx="384048" cy="384048"/>
          </a:xfrm>
          <a:prstGeom prst="hexagon">
            <a:avLst/>
          </a:prstGeom>
          <a:solidFill>
            <a:srgbClr val="CE9A49"/>
          </a:solidFill>
          <a:ln w="12700">
            <a:solidFill>
              <a:srgbClr val="CE9A49"/>
            </a:solidFill>
            <a:prstDash val="solid"/>
          </a:ln>
        </p:spPr>
      </p:sp>
      <p:sp>
        <p:nvSpPr>
          <p:cNvPr id="6" name="Text 4"/>
          <p:cNvSpPr txBox="1"/>
          <p:nvPr/>
        </p:nvSpPr>
        <p:spPr>
          <a:xfrm>
            <a:off x="1370960"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6</a:t>
            </a:r>
            <a:endParaRPr lang="en-US" sz="1500" dirty="0"/>
          </a:p>
        </p:txBody>
      </p:sp>
      <p:sp>
        <p:nvSpPr>
          <p:cNvPr id="7" name="Text 5"/>
          <p:cNvSpPr txBox="1"/>
          <p:nvPr/>
        </p:nvSpPr>
        <p:spPr>
          <a:xfrm>
            <a:off x="630936"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Full press</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on wholesale</a:t>
            </a:r>
            <a:endParaRPr lang="en-US" sz="1450" dirty="0"/>
          </a:p>
        </p:txBody>
      </p:sp>
      <p:sp>
        <p:nvSpPr>
          <p:cNvPr id="8" name="Text 6"/>
          <p:cNvSpPr txBox="1"/>
          <p:nvPr/>
        </p:nvSpPr>
        <p:spPr>
          <a:xfrm>
            <a:off x="630936"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Resourced, structured and measured. No more falling through the cracks.</a:t>
            </a:r>
            <a:endParaRPr lang="en-US" sz="950" dirty="0"/>
          </a:p>
        </p:txBody>
      </p:sp>
      <p:sp>
        <p:nvSpPr>
          <p:cNvPr id="9" name="Text 7"/>
          <p:cNvSpPr txBox="1"/>
          <p:nvPr/>
        </p:nvSpPr>
        <p:spPr>
          <a:xfrm>
            <a:off x="630936"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One wholesale account is worth about ten households</a:t>
            </a:r>
            <a:endParaRPr lang="en-US" sz="900" dirty="0"/>
          </a:p>
        </p:txBody>
      </p:sp>
      <p:sp>
        <p:nvSpPr>
          <p:cNvPr id="10" name="Text 8"/>
          <p:cNvSpPr txBox="1"/>
          <p:nvPr/>
        </p:nvSpPr>
        <p:spPr>
          <a:xfrm>
            <a:off x="649224"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Hire a full-timer or an agent</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Set targets and KPIs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Custom systems for sporting clubs, minimum-guarantee kegs per season</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Move rigs from footy to cricket for year-round occupancy</a:t>
            </a:r>
            <a:endParaRPr lang="en-US" sz="850" dirty="0"/>
          </a:p>
        </p:txBody>
      </p:sp>
      <p:sp>
        <p:nvSpPr>
          <p:cNvPr id="11" name="Shape 9"/>
          <p:cNvSpPr/>
          <p:nvPr/>
        </p:nvSpPr>
        <p:spPr>
          <a:xfrm>
            <a:off x="2769352" y="1335024"/>
            <a:ext cx="2120128" cy="5120640"/>
          </a:xfrm>
          <a:prstGeom prst="rect">
            <a:avLst/>
          </a:prstGeom>
          <a:solidFill>
            <a:srgbClr val="0C2113"/>
          </a:solidFill>
          <a:ln w="9525">
            <a:solidFill>
              <a:srgbClr val="25502F"/>
            </a:solidFill>
            <a:prstDash val="solid"/>
          </a:ln>
        </p:spPr>
      </p:sp>
      <p:sp>
        <p:nvSpPr>
          <p:cNvPr id="12" name="Shape 10"/>
          <p:cNvSpPr/>
          <p:nvPr/>
        </p:nvSpPr>
        <p:spPr>
          <a:xfrm rot="5400000">
            <a:off x="3637392" y="1536192"/>
            <a:ext cx="384048" cy="384048"/>
          </a:xfrm>
          <a:prstGeom prst="hexagon">
            <a:avLst/>
          </a:prstGeom>
          <a:solidFill>
            <a:srgbClr val="CE9A49"/>
          </a:solidFill>
          <a:ln w="12700">
            <a:solidFill>
              <a:srgbClr val="CE9A49"/>
            </a:solidFill>
            <a:prstDash val="solid"/>
          </a:ln>
        </p:spPr>
      </p:sp>
      <p:sp>
        <p:nvSpPr>
          <p:cNvPr id="13" name="Text 11"/>
          <p:cNvSpPr txBox="1"/>
          <p:nvPr/>
        </p:nvSpPr>
        <p:spPr>
          <a:xfrm>
            <a:off x="3637392"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7</a:t>
            </a:r>
            <a:endParaRPr lang="en-US" sz="1500" dirty="0"/>
          </a:p>
        </p:txBody>
      </p:sp>
      <p:sp>
        <p:nvSpPr>
          <p:cNvPr id="14" name="Text 12"/>
          <p:cNvSpPr txBox="1"/>
          <p:nvPr/>
        </p:nvSpPr>
        <p:spPr>
          <a:xfrm>
            <a:off x="2897368"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Design</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for her</a:t>
            </a:r>
            <a:endParaRPr lang="en-US" sz="1450" dirty="0"/>
          </a:p>
        </p:txBody>
      </p:sp>
      <p:sp>
        <p:nvSpPr>
          <p:cNvPr id="15" name="Text 13"/>
          <p:cNvSpPr txBox="1"/>
          <p:nvPr/>
        </p:nvSpPr>
        <p:spPr>
          <a:xfrm>
            <a:off x="2897368"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Covered is not the same as catered for.</a:t>
            </a:r>
            <a:endParaRPr lang="en-US" sz="950" dirty="0"/>
          </a:p>
        </p:txBody>
      </p:sp>
      <p:sp>
        <p:nvSpPr>
          <p:cNvPr id="16" name="Text 14"/>
          <p:cNvSpPr txBox="1"/>
          <p:nvPr/>
        </p:nvSpPr>
        <p:spPr>
          <a:xfrm>
            <a:off x="2897368"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The passion for brews is real, the range does not reflect it</a:t>
            </a:r>
            <a:endParaRPr lang="en-US" sz="900" dirty="0"/>
          </a:p>
        </p:txBody>
      </p:sp>
      <p:sp>
        <p:nvSpPr>
          <p:cNvPr id="17" name="Text 15"/>
          <p:cNvSpPr txBox="1"/>
          <p:nvPr/>
        </p:nvSpPr>
        <p:spPr>
          <a:xfrm>
            <a:off x="2915656"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Romance the RTD properly</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Build the hydration story through the wellness and light range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Products she is proud to serve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Systems designed to sit in eyesight at home</a:t>
            </a:r>
            <a:endParaRPr lang="en-US" sz="850" dirty="0"/>
          </a:p>
        </p:txBody>
      </p:sp>
      <p:sp>
        <p:nvSpPr>
          <p:cNvPr id="18" name="Shape 16"/>
          <p:cNvSpPr/>
          <p:nvPr/>
        </p:nvSpPr>
        <p:spPr>
          <a:xfrm>
            <a:off x="5035784" y="1335024"/>
            <a:ext cx="2120128" cy="5120640"/>
          </a:xfrm>
          <a:prstGeom prst="rect">
            <a:avLst/>
          </a:prstGeom>
          <a:solidFill>
            <a:srgbClr val="0C2113"/>
          </a:solidFill>
          <a:ln w="9525">
            <a:solidFill>
              <a:srgbClr val="25502F"/>
            </a:solidFill>
            <a:prstDash val="solid"/>
          </a:ln>
        </p:spPr>
      </p:sp>
      <p:sp>
        <p:nvSpPr>
          <p:cNvPr id="19" name="Shape 17"/>
          <p:cNvSpPr/>
          <p:nvPr/>
        </p:nvSpPr>
        <p:spPr>
          <a:xfrm rot="5400000">
            <a:off x="5903824" y="1536192"/>
            <a:ext cx="384048" cy="384048"/>
          </a:xfrm>
          <a:prstGeom prst="hexagon">
            <a:avLst/>
          </a:prstGeom>
          <a:solidFill>
            <a:srgbClr val="CE9A49"/>
          </a:solidFill>
          <a:ln w="12700">
            <a:solidFill>
              <a:srgbClr val="CE9A49"/>
            </a:solidFill>
            <a:prstDash val="solid"/>
          </a:ln>
        </p:spPr>
      </p:sp>
      <p:sp>
        <p:nvSpPr>
          <p:cNvPr id="20" name="Text 18"/>
          <p:cNvSpPr txBox="1"/>
          <p:nvPr/>
        </p:nvSpPr>
        <p:spPr>
          <a:xfrm>
            <a:off x="5903824"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8</a:t>
            </a:r>
            <a:endParaRPr lang="en-US" sz="1500" dirty="0"/>
          </a:p>
        </p:txBody>
      </p:sp>
      <p:sp>
        <p:nvSpPr>
          <p:cNvPr id="21" name="Text 19"/>
          <p:cNvSpPr txBox="1"/>
          <p:nvPr/>
        </p:nvSpPr>
        <p:spPr>
          <a:xfrm>
            <a:off x="5163800"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Hyper-personalise</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comms and LTV</a:t>
            </a:r>
            <a:endParaRPr lang="en-US" sz="1450" dirty="0"/>
          </a:p>
        </p:txBody>
      </p:sp>
      <p:sp>
        <p:nvSpPr>
          <p:cNvPr id="22" name="Text 20"/>
          <p:cNvSpPr txBox="1"/>
          <p:nvPr/>
        </p:nvSpPr>
        <p:spPr>
          <a:xfrm>
            <a:off x="5163800"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This needs a process, not a message.</a:t>
            </a:r>
            <a:endParaRPr lang="en-US" sz="950" dirty="0"/>
          </a:p>
        </p:txBody>
      </p:sp>
      <p:sp>
        <p:nvSpPr>
          <p:cNvPr id="23" name="Text 21"/>
          <p:cNvSpPr txBox="1"/>
          <p:nvPr/>
        </p:nvSpPr>
        <p:spPr>
          <a:xfrm>
            <a:off x="5163800"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Buying cycle: about 60% within three months, 40% longer</a:t>
            </a:r>
            <a:endParaRPr lang="en-US" sz="900" dirty="0"/>
          </a:p>
        </p:txBody>
      </p:sp>
      <p:sp>
        <p:nvSpPr>
          <p:cNvPr id="24" name="Text 22"/>
          <p:cNvSpPr txBox="1"/>
          <p:nvPr/>
        </p:nvSpPr>
        <p:spPr>
          <a:xfrm>
            <a:off x="5182088"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Track consumption to predict the next refill</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Re-engage lapsed customers by actual reason: cutting back versus forgot</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Trigger-based outreach, not calendar-based</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Personal details: anniversaries, footy finals</a:t>
            </a:r>
            <a:endParaRPr lang="en-US" sz="850" dirty="0"/>
          </a:p>
        </p:txBody>
      </p:sp>
      <p:sp>
        <p:nvSpPr>
          <p:cNvPr id="25" name="Shape 23"/>
          <p:cNvSpPr/>
          <p:nvPr/>
        </p:nvSpPr>
        <p:spPr>
          <a:xfrm>
            <a:off x="7302216" y="1335024"/>
            <a:ext cx="2120128" cy="5120640"/>
          </a:xfrm>
          <a:prstGeom prst="rect">
            <a:avLst/>
          </a:prstGeom>
          <a:solidFill>
            <a:srgbClr val="0C2113"/>
          </a:solidFill>
          <a:ln w="9525">
            <a:solidFill>
              <a:srgbClr val="25502F"/>
            </a:solidFill>
            <a:prstDash val="solid"/>
          </a:ln>
        </p:spPr>
      </p:sp>
      <p:sp>
        <p:nvSpPr>
          <p:cNvPr id="26" name="Shape 24"/>
          <p:cNvSpPr/>
          <p:nvPr/>
        </p:nvSpPr>
        <p:spPr>
          <a:xfrm rot="5400000">
            <a:off x="8170255" y="1536192"/>
            <a:ext cx="384048" cy="384048"/>
          </a:xfrm>
          <a:prstGeom prst="hexagon">
            <a:avLst/>
          </a:prstGeom>
          <a:solidFill>
            <a:srgbClr val="CE9A49"/>
          </a:solidFill>
          <a:ln w="12700">
            <a:solidFill>
              <a:srgbClr val="CE9A49"/>
            </a:solidFill>
            <a:prstDash val="solid"/>
          </a:ln>
        </p:spPr>
      </p:sp>
      <p:sp>
        <p:nvSpPr>
          <p:cNvPr id="27" name="Text 25"/>
          <p:cNvSpPr txBox="1"/>
          <p:nvPr/>
        </p:nvSpPr>
        <p:spPr>
          <a:xfrm>
            <a:off x="8170255"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9</a:t>
            </a:r>
            <a:endParaRPr lang="en-US" sz="1500" dirty="0"/>
          </a:p>
        </p:txBody>
      </p:sp>
      <p:sp>
        <p:nvSpPr>
          <p:cNvPr id="28" name="Text 26"/>
          <p:cNvSpPr txBox="1"/>
          <p:nvPr/>
        </p:nvSpPr>
        <p:spPr>
          <a:xfrm>
            <a:off x="7430232"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Make the kegerator</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worth writing about</a:t>
            </a:r>
            <a:endParaRPr lang="en-US" sz="1450" dirty="0"/>
          </a:p>
        </p:txBody>
      </p:sp>
      <p:sp>
        <p:nvSpPr>
          <p:cNvPr id="29" name="Text 27"/>
          <p:cNvSpPr txBox="1"/>
          <p:nvPr/>
        </p:nvSpPr>
        <p:spPr>
          <a:xfrm>
            <a:off x="7430232"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Turn the system itself into desire.</a:t>
            </a:r>
            <a:endParaRPr lang="en-US" sz="950" dirty="0"/>
          </a:p>
        </p:txBody>
      </p:sp>
      <p:sp>
        <p:nvSpPr>
          <p:cNvPr id="30" name="Text 28"/>
          <p:cNvSpPr txBox="1"/>
          <p:nvPr/>
        </p:nvSpPr>
        <p:spPr>
          <a:xfrm>
            <a:off x="7430232"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1,000 giveaway entries is proven demand</a:t>
            </a:r>
            <a:endParaRPr lang="en-US" sz="900" dirty="0"/>
          </a:p>
        </p:txBody>
      </p:sp>
      <p:sp>
        <p:nvSpPr>
          <p:cNvPr id="31" name="Text 29"/>
          <p:cNvSpPr txBox="1"/>
          <p:nvPr/>
        </p:nvSpPr>
        <p:spPr>
          <a:xfrm>
            <a:off x="7448520"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User-generated content mechanic: tag Tap That, get a discount</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Own your keg personalisation, like a whisky bottle</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Explore short-term and occasion rental for parties</a:t>
            </a:r>
            <a:endParaRPr lang="en-US" sz="850" dirty="0"/>
          </a:p>
        </p:txBody>
      </p:sp>
      <p:sp>
        <p:nvSpPr>
          <p:cNvPr id="32" name="Shape 30"/>
          <p:cNvSpPr/>
          <p:nvPr/>
        </p:nvSpPr>
        <p:spPr>
          <a:xfrm>
            <a:off x="9568647" y="1335024"/>
            <a:ext cx="2120128" cy="5120640"/>
          </a:xfrm>
          <a:prstGeom prst="rect">
            <a:avLst/>
          </a:prstGeom>
          <a:solidFill>
            <a:srgbClr val="0C2113"/>
          </a:solidFill>
          <a:ln w="9525">
            <a:solidFill>
              <a:srgbClr val="25502F"/>
            </a:solidFill>
            <a:prstDash val="solid"/>
          </a:ln>
        </p:spPr>
      </p:sp>
      <p:sp>
        <p:nvSpPr>
          <p:cNvPr id="33" name="Shape 31"/>
          <p:cNvSpPr/>
          <p:nvPr/>
        </p:nvSpPr>
        <p:spPr>
          <a:xfrm rot="5400000">
            <a:off x="10436687" y="1536192"/>
            <a:ext cx="384048" cy="384048"/>
          </a:xfrm>
          <a:prstGeom prst="hexagon">
            <a:avLst/>
          </a:prstGeom>
          <a:solidFill>
            <a:srgbClr val="CE9A49"/>
          </a:solidFill>
          <a:ln w="12700">
            <a:solidFill>
              <a:srgbClr val="CE9A49"/>
            </a:solidFill>
            <a:prstDash val="solid"/>
          </a:ln>
        </p:spPr>
      </p:sp>
      <p:sp>
        <p:nvSpPr>
          <p:cNvPr id="34" name="Text 32"/>
          <p:cNvSpPr txBox="1"/>
          <p:nvPr/>
        </p:nvSpPr>
        <p:spPr>
          <a:xfrm>
            <a:off x="10436687" y="1536192"/>
            <a:ext cx="384048" cy="384048"/>
          </a:xfrm>
          <a:prstGeom prst="rect">
            <a:avLst/>
          </a:prstGeom>
          <a:noFill/>
          <a:ln/>
        </p:spPr>
        <p:txBody>
          <a:bodyPr wrap="square" lIns="0" tIns="0" rIns="0" bIns="0" rtlCol="0" anchor="ctr"/>
          <a:lstStyle/>
          <a:p>
            <a:pPr algn="ctr" indent="0" marL="0">
              <a:buNone/>
            </a:pPr>
            <a:r>
              <a:rPr lang="en-US" sz="1500" b="1" dirty="0">
                <a:solidFill>
                  <a:srgbClr val="0C2113"/>
                </a:solidFill>
                <a:latin typeface="Arial Narrow" pitchFamily="34" charset="0"/>
                <a:ea typeface="Arial Narrow" pitchFamily="34" charset="-122"/>
                <a:cs typeface="Arial Narrow" pitchFamily="34" charset="-120"/>
              </a:rPr>
              <a:t>10</a:t>
            </a:r>
            <a:endParaRPr lang="en-US" sz="1500" dirty="0"/>
          </a:p>
        </p:txBody>
      </p:sp>
      <p:sp>
        <p:nvSpPr>
          <p:cNvPr id="35" name="Text 33"/>
          <p:cNvSpPr txBox="1"/>
          <p:nvPr/>
        </p:nvSpPr>
        <p:spPr>
          <a:xfrm>
            <a:off x="9696663" y="2103120"/>
            <a:ext cx="1864096" cy="603504"/>
          </a:xfrm>
          <a:prstGeom prst="rect">
            <a:avLst/>
          </a:prstGeom>
          <a:noFill/>
          <a:ln/>
        </p:spPr>
        <p:txBody>
          <a:bodyPr wrap="square" lIns="0" tIns="0" rIns="0" bIns="0" rtlCol="0" anchor="ctr"/>
          <a:lstStyle/>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Package around</a:t>
            </a:r>
            <a:endParaRPr lang="en-US" sz="1450" dirty="0"/>
          </a:p>
          <a:p>
            <a:pPr algn="ctr" indent="0" marL="0">
              <a:lnSpc>
                <a:spcPct val="95000"/>
              </a:lnSpc>
              <a:buNone/>
            </a:pPr>
            <a:r>
              <a:rPr lang="en-US" sz="1450" b="1" dirty="0">
                <a:solidFill>
                  <a:srgbClr val="F4F2ED"/>
                </a:solidFill>
                <a:latin typeface="Arial Narrow" pitchFamily="34" charset="0"/>
                <a:ea typeface="Arial Narrow" pitchFamily="34" charset="-122"/>
                <a:cs typeface="Arial Narrow" pitchFamily="34" charset="-120"/>
              </a:rPr>
              <a:t>the duopoly</a:t>
            </a:r>
            <a:endParaRPr lang="en-US" sz="1450" dirty="0"/>
          </a:p>
        </p:txBody>
      </p:sp>
      <p:sp>
        <p:nvSpPr>
          <p:cNvPr id="36" name="Text 34"/>
          <p:cNvSpPr txBox="1"/>
          <p:nvPr/>
        </p:nvSpPr>
        <p:spPr>
          <a:xfrm>
            <a:off x="9696663" y="2761488"/>
            <a:ext cx="1864096" cy="658368"/>
          </a:xfrm>
          <a:prstGeom prst="rect">
            <a:avLst/>
          </a:prstGeom>
          <a:noFill/>
          <a:ln/>
        </p:spPr>
        <p:txBody>
          <a:bodyPr wrap="square" lIns="0" tIns="0" rIns="0" bIns="0" rtlCol="0" anchor="ctr"/>
          <a:lstStyle/>
          <a:p>
            <a:pPr algn="ctr" indent="0" marL="0">
              <a:lnSpc>
                <a:spcPct val="115000"/>
              </a:lnSpc>
              <a:buNone/>
            </a:pPr>
            <a:r>
              <a:rPr lang="en-US" sz="950" i="1" dirty="0">
                <a:solidFill>
                  <a:srgbClr val="A9B8AB"/>
                </a:solidFill>
                <a:latin typeface="Arial" pitchFamily="34" charset="0"/>
                <a:ea typeface="Arial" pitchFamily="34" charset="-122"/>
                <a:cs typeface="Arial" pitchFamily="34" charset="-120"/>
              </a:rPr>
              <a:t>Locked-in venues still have real pain points.</a:t>
            </a:r>
            <a:endParaRPr lang="en-US" sz="950" dirty="0"/>
          </a:p>
        </p:txBody>
      </p:sp>
      <p:sp>
        <p:nvSpPr>
          <p:cNvPr id="37" name="Text 35"/>
          <p:cNvSpPr txBox="1"/>
          <p:nvPr/>
        </p:nvSpPr>
        <p:spPr>
          <a:xfrm>
            <a:off x="9696663" y="3474720"/>
            <a:ext cx="1864096" cy="658368"/>
          </a:xfrm>
          <a:prstGeom prst="rect">
            <a:avLst/>
          </a:prstGeom>
          <a:noFill/>
          <a:ln/>
        </p:spPr>
        <p:txBody>
          <a:bodyPr wrap="square" lIns="0" tIns="0" rIns="0" bIns="0" rtlCol="0" anchor="ctr"/>
          <a:lstStyle/>
          <a:p>
            <a:pPr algn="ctr" indent="0" marL="0">
              <a:lnSpc>
                <a:spcPct val="115000"/>
              </a:lnSpc>
              <a:buNone/>
            </a:pPr>
            <a:r>
              <a:rPr lang="en-US" sz="900" b="1" spc="150" kern="0" dirty="0">
                <a:solidFill>
                  <a:srgbClr val="CE9A49"/>
                </a:solidFill>
                <a:latin typeface="Arial Narrow" pitchFamily="34" charset="0"/>
                <a:ea typeface="Arial Narrow" pitchFamily="34" charset="-122"/>
                <a:cs typeface="Arial Narrow" pitchFamily="34" charset="-120"/>
              </a:rPr>
              <a:t>PROOF  </a:t>
            </a:r>
            <a:pPr algn="ctr" indent="0" marL="0">
              <a:lnSpc>
                <a:spcPct val="115000"/>
              </a:lnSpc>
              <a:buNone/>
            </a:pPr>
            <a:r>
              <a:rPr lang="en-US" sz="900" dirty="0">
                <a:solidFill>
                  <a:srgbClr val="DFDFDF"/>
                </a:solidFill>
                <a:latin typeface="Arial" pitchFamily="34" charset="0"/>
                <a:ea typeface="Arial" pitchFamily="34" charset="-122"/>
                <a:cs typeface="Arial" pitchFamily="34" charset="-120"/>
              </a:rPr>
              <a:t>Contractual lock-in is not the same as satisfaction</a:t>
            </a:r>
            <a:endParaRPr lang="en-US" sz="900" dirty="0"/>
          </a:p>
        </p:txBody>
      </p:sp>
      <p:sp>
        <p:nvSpPr>
          <p:cNvPr id="38" name="Text 36"/>
          <p:cNvSpPr txBox="1"/>
          <p:nvPr/>
        </p:nvSpPr>
        <p:spPr>
          <a:xfrm>
            <a:off x="9714951" y="4206240"/>
            <a:ext cx="1845808" cy="2103120"/>
          </a:xfrm>
          <a:prstGeom prst="rect">
            <a:avLst/>
          </a:prstGeom>
          <a:noFill/>
          <a:ln/>
        </p:spPr>
        <p:txBody>
          <a:bodyPr wrap="square" lIns="0" tIns="0" rIns="0" bIns="0" rtlCol="0" anchor="ctr"/>
          <a:lstStyle/>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A packaged offer that works around existing contracts</a:t>
            </a:r>
            <a:endParaRPr lang="en-US" sz="850" dirty="0"/>
          </a:p>
          <a:p>
            <a:pPr marL="342900" indent="-342900">
              <a:lnSpc>
                <a:spcPct val="110000"/>
              </a:lnSpc>
              <a:spcAft>
                <a:spcPts val="600"/>
              </a:spcAft>
              <a:buSzPct val="100000"/>
              <a:buChar char="•"/>
            </a:pPr>
            <a:r>
              <a:rPr lang="en-US" sz="850" dirty="0">
                <a:solidFill>
                  <a:srgbClr val="DFDFDF"/>
                </a:solidFill>
                <a:latin typeface="Arial" pitchFamily="34" charset="0"/>
                <a:ea typeface="Arial" pitchFamily="34" charset="-122"/>
                <a:cs typeface="Arial" pitchFamily="34" charset="-120"/>
              </a:rPr>
              <a:t>Find the judo move that uses their size against them: no lock-in, profit share, white labelling</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EVENT EXAMPLES</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The destination business, sold the way the venue already sells it.</a:t>
            </a:r>
            <a:endParaRPr lang="en-US" sz="2700" dirty="0"/>
          </a:p>
        </p:txBody>
      </p:sp>
      <p:pic>
        <p:nvPicPr>
          <p:cNvPr id="4" name="Image 0" descr="/home/user/tapthatbrewery/00 Admin/06 Presentations/pivot/build/deck-01-weddings.jpg">    </p:cNvPr>
          <p:cNvPicPr>
            <a:picLocks noChangeAspect="1"/>
          </p:cNvPicPr>
          <p:nvPr/>
        </p:nvPicPr>
        <p:blipFill>
          <a:blip r:embed="rId1"/>
          <a:stretch>
            <a:fillRect/>
          </a:stretch>
        </p:blipFill>
        <p:spPr>
          <a:xfrm>
            <a:off x="518008" y="1572768"/>
            <a:ext cx="2651760" cy="3750346"/>
          </a:xfrm>
          <a:prstGeom prst="rect">
            <a:avLst/>
          </a:prstGeom>
        </p:spPr>
      </p:pic>
      <p:sp>
        <p:nvSpPr>
          <p:cNvPr id="5" name="Shape 2"/>
          <p:cNvSpPr/>
          <p:nvPr/>
        </p:nvSpPr>
        <p:spPr>
          <a:xfrm>
            <a:off x="518008" y="1572768"/>
            <a:ext cx="2651760" cy="3750346"/>
          </a:xfrm>
          <a:prstGeom prst="rect">
            <a:avLst/>
          </a:prstGeom>
          <a:ln w="9525">
            <a:solidFill>
              <a:srgbClr val="4A7A57"/>
            </a:solidFill>
            <a:prstDash val="solid"/>
          </a:ln>
        </p:spPr>
      </p:sp>
      <p:sp>
        <p:nvSpPr>
          <p:cNvPr id="6" name="Text 3"/>
          <p:cNvSpPr txBox="1"/>
          <p:nvPr/>
        </p:nvSpPr>
        <p:spPr>
          <a:xfrm>
            <a:off x="518008" y="5451130"/>
            <a:ext cx="2651760" cy="256032"/>
          </a:xfrm>
          <a:prstGeom prst="rect">
            <a:avLst/>
          </a:prstGeom>
          <a:noFill/>
          <a:ln/>
        </p:spPr>
        <p:txBody>
          <a:bodyPr wrap="square" lIns="0" tIns="0" rIns="0" bIns="0" rtlCol="0" anchor="ctr"/>
          <a:lstStyle/>
          <a:p>
            <a:pPr algn="ctr" indent="0" marL="0">
              <a:buNone/>
            </a:pPr>
            <a:r>
              <a:rPr lang="en-US" sz="1200" b="1" spc="200" kern="0" dirty="0">
                <a:solidFill>
                  <a:srgbClr val="CE9A49"/>
                </a:solidFill>
                <a:latin typeface="Arial Narrow" pitchFamily="34" charset="0"/>
                <a:ea typeface="Arial Narrow" pitchFamily="34" charset="-122"/>
                <a:cs typeface="Arial Narrow" pitchFamily="34" charset="-120"/>
              </a:rPr>
              <a:t>Weddings</a:t>
            </a:r>
            <a:endParaRPr lang="en-US" sz="1200" dirty="0"/>
          </a:p>
        </p:txBody>
      </p:sp>
      <p:pic>
        <p:nvPicPr>
          <p:cNvPr id="7" name="Image 1" descr="/home/user/tapthatbrewery/00 Admin/06 Presentations/pivot/build/deck-02-bucks-and-hens.jpg">    </p:cNvPr>
          <p:cNvPicPr>
            <a:picLocks noChangeAspect="1"/>
          </p:cNvPicPr>
          <p:nvPr/>
        </p:nvPicPr>
        <p:blipFill>
          <a:blip r:embed="rId2"/>
          <a:stretch>
            <a:fillRect/>
          </a:stretch>
        </p:blipFill>
        <p:spPr>
          <a:xfrm>
            <a:off x="3352648" y="1572768"/>
            <a:ext cx="2651760" cy="3750346"/>
          </a:xfrm>
          <a:prstGeom prst="rect">
            <a:avLst/>
          </a:prstGeom>
        </p:spPr>
      </p:pic>
      <p:sp>
        <p:nvSpPr>
          <p:cNvPr id="8" name="Shape 4"/>
          <p:cNvSpPr/>
          <p:nvPr/>
        </p:nvSpPr>
        <p:spPr>
          <a:xfrm>
            <a:off x="3352648" y="1572768"/>
            <a:ext cx="2651760" cy="3750346"/>
          </a:xfrm>
          <a:prstGeom prst="rect">
            <a:avLst/>
          </a:prstGeom>
          <a:ln w="9525">
            <a:solidFill>
              <a:srgbClr val="4A7A57"/>
            </a:solidFill>
            <a:prstDash val="solid"/>
          </a:ln>
        </p:spPr>
      </p:sp>
      <p:sp>
        <p:nvSpPr>
          <p:cNvPr id="9" name="Text 5"/>
          <p:cNvSpPr txBox="1"/>
          <p:nvPr/>
        </p:nvSpPr>
        <p:spPr>
          <a:xfrm>
            <a:off x="3352648" y="5451130"/>
            <a:ext cx="2651760" cy="256032"/>
          </a:xfrm>
          <a:prstGeom prst="rect">
            <a:avLst/>
          </a:prstGeom>
          <a:noFill/>
          <a:ln/>
        </p:spPr>
        <p:txBody>
          <a:bodyPr wrap="square" lIns="0" tIns="0" rIns="0" bIns="0" rtlCol="0" anchor="ctr"/>
          <a:lstStyle/>
          <a:p>
            <a:pPr algn="ctr" indent="0" marL="0">
              <a:buNone/>
            </a:pPr>
            <a:r>
              <a:rPr lang="en-US" sz="1200" b="1" spc="200" kern="0" dirty="0">
                <a:solidFill>
                  <a:srgbClr val="CE9A49"/>
                </a:solidFill>
                <a:latin typeface="Arial Narrow" pitchFamily="34" charset="0"/>
                <a:ea typeface="Arial Narrow" pitchFamily="34" charset="-122"/>
                <a:cs typeface="Arial Narrow" pitchFamily="34" charset="-120"/>
              </a:rPr>
              <a:t>Bucks and hens</a:t>
            </a:r>
            <a:endParaRPr lang="en-US" sz="1200" dirty="0"/>
          </a:p>
        </p:txBody>
      </p:sp>
      <p:pic>
        <p:nvPicPr>
          <p:cNvPr id="10" name="Image 2" descr="/home/user/tapthatbrewery/00 Admin/06 Presentations/pivot/build/deck-03-work-functions.jpg">    </p:cNvPr>
          <p:cNvPicPr>
            <a:picLocks noChangeAspect="1"/>
          </p:cNvPicPr>
          <p:nvPr/>
        </p:nvPicPr>
        <p:blipFill>
          <a:blip r:embed="rId3"/>
          <a:stretch>
            <a:fillRect/>
          </a:stretch>
        </p:blipFill>
        <p:spPr>
          <a:xfrm>
            <a:off x="6187288" y="1572768"/>
            <a:ext cx="2651760" cy="3750346"/>
          </a:xfrm>
          <a:prstGeom prst="rect">
            <a:avLst/>
          </a:prstGeom>
        </p:spPr>
      </p:pic>
      <p:sp>
        <p:nvSpPr>
          <p:cNvPr id="11" name="Shape 6"/>
          <p:cNvSpPr/>
          <p:nvPr/>
        </p:nvSpPr>
        <p:spPr>
          <a:xfrm>
            <a:off x="6187288" y="1572768"/>
            <a:ext cx="2651760" cy="3750346"/>
          </a:xfrm>
          <a:prstGeom prst="rect">
            <a:avLst/>
          </a:prstGeom>
          <a:ln w="9525">
            <a:solidFill>
              <a:srgbClr val="4A7A57"/>
            </a:solidFill>
            <a:prstDash val="solid"/>
          </a:ln>
        </p:spPr>
      </p:sp>
      <p:sp>
        <p:nvSpPr>
          <p:cNvPr id="12" name="Text 7"/>
          <p:cNvSpPr txBox="1"/>
          <p:nvPr/>
        </p:nvSpPr>
        <p:spPr>
          <a:xfrm>
            <a:off x="6187288" y="5451130"/>
            <a:ext cx="2651760" cy="256032"/>
          </a:xfrm>
          <a:prstGeom prst="rect">
            <a:avLst/>
          </a:prstGeom>
          <a:noFill/>
          <a:ln/>
        </p:spPr>
        <p:txBody>
          <a:bodyPr wrap="square" lIns="0" tIns="0" rIns="0" bIns="0" rtlCol="0" anchor="ctr"/>
          <a:lstStyle/>
          <a:p>
            <a:pPr algn="ctr" indent="0" marL="0">
              <a:buNone/>
            </a:pPr>
            <a:r>
              <a:rPr lang="en-US" sz="1200" b="1" spc="200" kern="0" dirty="0">
                <a:solidFill>
                  <a:srgbClr val="CE9A49"/>
                </a:solidFill>
                <a:latin typeface="Arial Narrow" pitchFamily="34" charset="0"/>
                <a:ea typeface="Arial Narrow" pitchFamily="34" charset="-122"/>
                <a:cs typeface="Arial Narrow" pitchFamily="34" charset="-120"/>
              </a:rPr>
              <a:t>Work functions</a:t>
            </a:r>
            <a:endParaRPr lang="en-US" sz="1200" dirty="0"/>
          </a:p>
        </p:txBody>
      </p:sp>
      <p:pic>
        <p:nvPicPr>
          <p:cNvPr id="13" name="Image 3" descr="/home/user/tapthatbrewery/00 Admin/06 Presentations/pivot/build/deck-04-tours-and-tastings.jpg">    </p:cNvPr>
          <p:cNvPicPr>
            <a:picLocks noChangeAspect="1"/>
          </p:cNvPicPr>
          <p:nvPr/>
        </p:nvPicPr>
        <p:blipFill>
          <a:blip r:embed="rId4"/>
          <a:stretch>
            <a:fillRect/>
          </a:stretch>
        </p:blipFill>
        <p:spPr>
          <a:xfrm>
            <a:off x="9021928" y="1572768"/>
            <a:ext cx="2651760" cy="3750346"/>
          </a:xfrm>
          <a:prstGeom prst="rect">
            <a:avLst/>
          </a:prstGeom>
        </p:spPr>
      </p:pic>
      <p:sp>
        <p:nvSpPr>
          <p:cNvPr id="14" name="Shape 8"/>
          <p:cNvSpPr/>
          <p:nvPr/>
        </p:nvSpPr>
        <p:spPr>
          <a:xfrm>
            <a:off x="9021928" y="1572768"/>
            <a:ext cx="2651760" cy="3750346"/>
          </a:xfrm>
          <a:prstGeom prst="rect">
            <a:avLst/>
          </a:prstGeom>
          <a:ln w="9525">
            <a:solidFill>
              <a:srgbClr val="4A7A57"/>
            </a:solidFill>
            <a:prstDash val="solid"/>
          </a:ln>
        </p:spPr>
      </p:sp>
      <p:sp>
        <p:nvSpPr>
          <p:cNvPr id="15" name="Text 9"/>
          <p:cNvSpPr txBox="1"/>
          <p:nvPr/>
        </p:nvSpPr>
        <p:spPr>
          <a:xfrm>
            <a:off x="9021928" y="5451130"/>
            <a:ext cx="2651760" cy="256032"/>
          </a:xfrm>
          <a:prstGeom prst="rect">
            <a:avLst/>
          </a:prstGeom>
          <a:noFill/>
          <a:ln/>
        </p:spPr>
        <p:txBody>
          <a:bodyPr wrap="square" lIns="0" tIns="0" rIns="0" bIns="0" rtlCol="0" anchor="ctr"/>
          <a:lstStyle/>
          <a:p>
            <a:pPr algn="ctr" indent="0" marL="0">
              <a:buNone/>
            </a:pPr>
            <a:r>
              <a:rPr lang="en-US" sz="1200" b="1" spc="200" kern="0" dirty="0">
                <a:solidFill>
                  <a:srgbClr val="CE9A49"/>
                </a:solidFill>
                <a:latin typeface="Arial Narrow" pitchFamily="34" charset="0"/>
                <a:ea typeface="Arial Narrow" pitchFamily="34" charset="-122"/>
                <a:cs typeface="Arial Narrow" pitchFamily="34" charset="-120"/>
              </a:rPr>
              <a:t>Tours and tastings</a:t>
            </a:r>
            <a:endParaRPr lang="en-US" sz="1200" dirty="0"/>
          </a:p>
        </p:txBody>
      </p:sp>
      <p:sp>
        <p:nvSpPr>
          <p:cNvPr id="16" name="Text 10"/>
          <p:cNvSpPr txBox="1"/>
          <p:nvPr/>
        </p:nvSpPr>
        <p:spPr>
          <a:xfrm>
            <a:off x="502920" y="6035040"/>
            <a:ext cx="11185855" cy="365760"/>
          </a:xfrm>
          <a:prstGeom prst="rect">
            <a:avLst/>
          </a:prstGeom>
          <a:noFill/>
          <a:ln/>
        </p:spPr>
        <p:txBody>
          <a:bodyPr wrap="square" lIns="0" tIns="0" rIns="0" bIns="0" rtlCol="0" anchor="ctr"/>
          <a:lstStyle/>
          <a:p>
            <a:pPr algn="ctr" indent="0" marL="0">
              <a:buNone/>
            </a:pPr>
            <a:r>
              <a:rPr lang="en-US" sz="1000" dirty="0">
                <a:solidFill>
                  <a:srgbClr val="A9B8AB"/>
                </a:solidFill>
                <a:latin typeface="Arial" pitchFamily="34" charset="0"/>
                <a:ea typeface="Arial" pitchFamily="34" charset="-122"/>
                <a:cs typeface="Arial" pitchFamily="34" charset="-120"/>
              </a:rPr>
              <a:t>Format taken from Tap That's own in-venue flyer. Photography is the August site visit, not stock. Print-ready A4 at 200 dpi.</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B2C FLYWHEEL / THE SIGNATURE WEDDING BREW</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Turning hens and bucks days into wedding day volume.</a:t>
            </a:r>
            <a:endParaRPr lang="en-US" sz="2700" dirty="0"/>
          </a:p>
        </p:txBody>
      </p:sp>
      <p:pic>
        <p:nvPicPr>
          <p:cNvPr id="4" name="Image 0" descr="/home/user/tapthatbrewery/00 Admin/06 Presentations/pivot/build/deck-01-weddings-lg.jpg">    </p:cNvPr>
          <p:cNvPicPr>
            <a:picLocks noChangeAspect="1"/>
          </p:cNvPicPr>
          <p:nvPr/>
        </p:nvPicPr>
        <p:blipFill>
          <a:blip r:embed="rId1"/>
          <a:stretch>
            <a:fillRect/>
          </a:stretch>
        </p:blipFill>
        <p:spPr>
          <a:xfrm>
            <a:off x="889873" y="1444752"/>
            <a:ext cx="2741353" cy="3877056"/>
          </a:xfrm>
          <a:prstGeom prst="rect">
            <a:avLst/>
          </a:prstGeom>
        </p:spPr>
      </p:pic>
      <p:sp>
        <p:nvSpPr>
          <p:cNvPr id="5" name="Shape 2"/>
          <p:cNvSpPr/>
          <p:nvPr/>
        </p:nvSpPr>
        <p:spPr>
          <a:xfrm>
            <a:off x="889873" y="1444752"/>
            <a:ext cx="2741353" cy="3877056"/>
          </a:xfrm>
          <a:prstGeom prst="rect">
            <a:avLst/>
          </a:prstGeom>
          <a:ln w="9525">
            <a:solidFill>
              <a:srgbClr val="4A7A57"/>
            </a:solidFill>
            <a:prstDash val="solid"/>
          </a:ln>
        </p:spPr>
      </p:sp>
      <p:sp>
        <p:nvSpPr>
          <p:cNvPr id="6" name="Text 3"/>
          <p:cNvSpPr txBox="1"/>
          <p:nvPr/>
        </p:nvSpPr>
        <p:spPr>
          <a:xfrm>
            <a:off x="502920" y="5413248"/>
            <a:ext cx="3515258" cy="274320"/>
          </a:xfrm>
          <a:prstGeom prst="rect">
            <a:avLst/>
          </a:prstGeom>
          <a:noFill/>
          <a:ln/>
        </p:spPr>
        <p:txBody>
          <a:bodyPr wrap="square" lIns="0" tIns="0" rIns="0" bIns="0" rtlCol="0" anchor="ctr"/>
          <a:lstStyle/>
          <a:p>
            <a:pPr algn="ctr" indent="0" marL="0">
              <a:buNone/>
            </a:pPr>
            <a:r>
              <a:rPr lang="en-US" sz="1200" b="1" spc="200" kern="0" dirty="0">
                <a:solidFill>
                  <a:srgbClr val="CE9A49"/>
                </a:solidFill>
                <a:latin typeface="Arial Narrow" pitchFamily="34" charset="0"/>
                <a:ea typeface="Arial Narrow" pitchFamily="34" charset="-122"/>
                <a:cs typeface="Arial Narrow" pitchFamily="34" charset="-120"/>
              </a:rPr>
              <a:t>The artwork, ready to send</a:t>
            </a:r>
            <a:endParaRPr lang="en-US" sz="1200" dirty="0"/>
          </a:p>
        </p:txBody>
      </p:sp>
      <p:sp>
        <p:nvSpPr>
          <p:cNvPr id="7" name="Shape 4"/>
          <p:cNvSpPr/>
          <p:nvPr/>
        </p:nvSpPr>
        <p:spPr>
          <a:xfrm rot="5400000">
            <a:off x="4338218" y="1444752"/>
            <a:ext cx="329184" cy="329184"/>
          </a:xfrm>
          <a:prstGeom prst="hexagon">
            <a:avLst/>
          </a:prstGeom>
          <a:solidFill>
            <a:srgbClr val="CE9A49"/>
          </a:solidFill>
          <a:ln w="12700">
            <a:solidFill>
              <a:srgbClr val="CE9A49"/>
            </a:solidFill>
            <a:prstDash val="solid"/>
          </a:ln>
        </p:spPr>
      </p:sp>
      <p:sp>
        <p:nvSpPr>
          <p:cNvPr id="8" name="Text 5"/>
          <p:cNvSpPr txBox="1"/>
          <p:nvPr/>
        </p:nvSpPr>
        <p:spPr>
          <a:xfrm>
            <a:off x="4338218" y="1444752"/>
            <a:ext cx="329184" cy="329184"/>
          </a:xfrm>
          <a:prstGeom prst="rect">
            <a:avLst/>
          </a:prstGeom>
          <a:noFill/>
          <a:ln/>
        </p:spPr>
        <p:txBody>
          <a:bodyPr wrap="square" lIns="0" tIns="0" rIns="0" bIns="0" rtlCol="0" anchor="ctr"/>
          <a:lstStyle/>
          <a:p>
            <a:pPr algn="ctr" indent="0" marL="0">
              <a:buNone/>
            </a:pPr>
            <a:r>
              <a:rPr lang="en-US" sz="1300" b="1" dirty="0">
                <a:solidFill>
                  <a:srgbClr val="0C2113"/>
                </a:solidFill>
                <a:latin typeface="Arial Narrow" pitchFamily="34" charset="0"/>
                <a:ea typeface="Arial Narrow" pitchFamily="34" charset="-122"/>
                <a:cs typeface="Arial Narrow" pitchFamily="34" charset="-120"/>
              </a:rPr>
              <a:t>1</a:t>
            </a:r>
            <a:endParaRPr lang="en-US" sz="1300" dirty="0"/>
          </a:p>
        </p:txBody>
      </p:sp>
      <p:sp>
        <p:nvSpPr>
          <p:cNvPr id="9" name="Text 6"/>
          <p:cNvSpPr txBox="1"/>
          <p:nvPr/>
        </p:nvSpPr>
        <p:spPr>
          <a:xfrm>
            <a:off x="4795418" y="1426464"/>
            <a:ext cx="3058058" cy="274320"/>
          </a:xfrm>
          <a:prstGeom prst="rect">
            <a:avLst/>
          </a:prstGeom>
          <a:noFill/>
          <a:ln/>
        </p:spPr>
        <p:txBody>
          <a:bodyPr wrap="square" lIns="0" tIns="0" rIns="0" bIns="0" rtlCol="0" anchor="ctr"/>
          <a:lstStyle/>
          <a:p>
            <a:pPr indent="0" marL="0">
              <a:buNone/>
            </a:pPr>
            <a:r>
              <a:rPr lang="en-US" sz="1350" b="1" dirty="0">
                <a:solidFill>
                  <a:srgbClr val="F4F2ED"/>
                </a:solidFill>
                <a:latin typeface="Arial Narrow" pitchFamily="34" charset="0"/>
                <a:ea typeface="Arial Narrow" pitchFamily="34" charset="-122"/>
                <a:cs typeface="Arial Narrow" pitchFamily="34" charset="-120"/>
              </a:rPr>
              <a:t>The Tap Room event</a:t>
            </a:r>
            <a:endParaRPr lang="en-US" sz="1350" dirty="0"/>
          </a:p>
        </p:txBody>
      </p:sp>
      <p:sp>
        <p:nvSpPr>
          <p:cNvPr id="10" name="Text 7"/>
          <p:cNvSpPr txBox="1"/>
          <p:nvPr/>
        </p:nvSpPr>
        <p:spPr>
          <a:xfrm>
            <a:off x="4795418" y="1691640"/>
            <a:ext cx="3058058" cy="713232"/>
          </a:xfrm>
          <a:prstGeom prst="rect">
            <a:avLst/>
          </a:prstGeom>
          <a:noFill/>
          <a:ln/>
        </p:spPr>
        <p:txBody>
          <a:bodyPr wrap="square" lIns="0" tIns="0" rIns="0" bIns="0" rtlCol="0" anchor="ctr"/>
          <a:lstStyle/>
          <a:p>
            <a:pPr indent="0" marL="0">
              <a:lnSpc>
                <a:spcPct val="116000"/>
              </a:lnSpc>
              <a:buNone/>
            </a:pPr>
            <a:r>
              <a:rPr lang="en-US" sz="1000" dirty="0">
                <a:solidFill>
                  <a:srgbClr val="A9B8AB"/>
                </a:solidFill>
                <a:latin typeface="Arial" pitchFamily="34" charset="0"/>
                <a:ea typeface="Arial" pitchFamily="34" charset="-122"/>
                <a:cs typeface="Arial" pitchFamily="34" charset="-120"/>
              </a:rPr>
              <a:t>Private hens or bucks session. Guided flight tasting across 27 taps with interactive ingredient blending.</a:t>
            </a:r>
            <a:endParaRPr lang="en-US" sz="1000" dirty="0"/>
          </a:p>
        </p:txBody>
      </p:sp>
      <p:sp>
        <p:nvSpPr>
          <p:cNvPr id="11" name="Shape 8"/>
          <p:cNvSpPr/>
          <p:nvPr/>
        </p:nvSpPr>
        <p:spPr>
          <a:xfrm rot="5400000">
            <a:off x="4338218" y="2487168"/>
            <a:ext cx="329184" cy="329184"/>
          </a:xfrm>
          <a:prstGeom prst="hexagon">
            <a:avLst/>
          </a:prstGeom>
          <a:solidFill>
            <a:srgbClr val="CE9A49"/>
          </a:solidFill>
          <a:ln w="12700">
            <a:solidFill>
              <a:srgbClr val="CE9A49"/>
            </a:solidFill>
            <a:prstDash val="solid"/>
          </a:ln>
        </p:spPr>
      </p:sp>
      <p:sp>
        <p:nvSpPr>
          <p:cNvPr id="12" name="Text 9"/>
          <p:cNvSpPr txBox="1"/>
          <p:nvPr/>
        </p:nvSpPr>
        <p:spPr>
          <a:xfrm>
            <a:off x="4338218" y="2487168"/>
            <a:ext cx="329184" cy="329184"/>
          </a:xfrm>
          <a:prstGeom prst="rect">
            <a:avLst/>
          </a:prstGeom>
          <a:noFill/>
          <a:ln/>
        </p:spPr>
        <p:txBody>
          <a:bodyPr wrap="square" lIns="0" tIns="0" rIns="0" bIns="0" rtlCol="0" anchor="ctr"/>
          <a:lstStyle/>
          <a:p>
            <a:pPr algn="ctr" indent="0" marL="0">
              <a:buNone/>
            </a:pPr>
            <a:r>
              <a:rPr lang="en-US" sz="1300" b="1" dirty="0">
                <a:solidFill>
                  <a:srgbClr val="0C2113"/>
                </a:solidFill>
                <a:latin typeface="Arial Narrow" pitchFamily="34" charset="0"/>
                <a:ea typeface="Arial Narrow" pitchFamily="34" charset="-122"/>
                <a:cs typeface="Arial Narrow" pitchFamily="34" charset="-120"/>
              </a:rPr>
              <a:t>2</a:t>
            </a:r>
            <a:endParaRPr lang="en-US" sz="1300" dirty="0"/>
          </a:p>
        </p:txBody>
      </p:sp>
      <p:sp>
        <p:nvSpPr>
          <p:cNvPr id="13" name="Text 10"/>
          <p:cNvSpPr txBox="1"/>
          <p:nvPr/>
        </p:nvSpPr>
        <p:spPr>
          <a:xfrm>
            <a:off x="4795418" y="2468880"/>
            <a:ext cx="3058058" cy="274320"/>
          </a:xfrm>
          <a:prstGeom prst="rect">
            <a:avLst/>
          </a:prstGeom>
          <a:noFill/>
          <a:ln/>
        </p:spPr>
        <p:txBody>
          <a:bodyPr wrap="square" lIns="0" tIns="0" rIns="0" bIns="0" rtlCol="0" anchor="ctr"/>
          <a:lstStyle/>
          <a:p>
            <a:pPr indent="0" marL="0">
              <a:buNone/>
            </a:pPr>
            <a:r>
              <a:rPr lang="en-US" sz="1350" b="1" dirty="0">
                <a:solidFill>
                  <a:srgbClr val="F4F2ED"/>
                </a:solidFill>
                <a:latin typeface="Arial Narrow" pitchFamily="34" charset="0"/>
                <a:ea typeface="Arial Narrow" pitchFamily="34" charset="-122"/>
                <a:cs typeface="Arial Narrow" pitchFamily="34" charset="-120"/>
              </a:rPr>
              <a:t>Bespoke branding</a:t>
            </a:r>
            <a:endParaRPr lang="en-US" sz="1350" dirty="0"/>
          </a:p>
        </p:txBody>
      </p:sp>
      <p:sp>
        <p:nvSpPr>
          <p:cNvPr id="14" name="Text 11"/>
          <p:cNvSpPr txBox="1"/>
          <p:nvPr/>
        </p:nvSpPr>
        <p:spPr>
          <a:xfrm>
            <a:off x="4795418" y="2734056"/>
            <a:ext cx="3058058" cy="713232"/>
          </a:xfrm>
          <a:prstGeom prst="rect">
            <a:avLst/>
          </a:prstGeom>
          <a:noFill/>
          <a:ln/>
        </p:spPr>
        <p:txBody>
          <a:bodyPr wrap="square" lIns="0" tIns="0" rIns="0" bIns="0" rtlCol="0" anchor="ctr"/>
          <a:lstStyle/>
          <a:p>
            <a:pPr indent="0" marL="0">
              <a:lnSpc>
                <a:spcPct val="116000"/>
              </a:lnSpc>
              <a:buNone/>
            </a:pPr>
            <a:r>
              <a:rPr lang="en-US" sz="1000" dirty="0">
                <a:solidFill>
                  <a:srgbClr val="A9B8AB"/>
                </a:solidFill>
                <a:latin typeface="Arial" pitchFamily="34" charset="0"/>
                <a:ea typeface="Arial" pitchFamily="34" charset="-122"/>
                <a:cs typeface="Arial" pitchFamily="34" charset="-120"/>
              </a:rPr>
              <a:t>Co-branded custom label, naming, and beverage style selection: beer, sour, seltzer or RTD spirit.</a:t>
            </a:r>
            <a:endParaRPr lang="en-US" sz="1000" dirty="0"/>
          </a:p>
        </p:txBody>
      </p:sp>
      <p:sp>
        <p:nvSpPr>
          <p:cNvPr id="15" name="Shape 12"/>
          <p:cNvSpPr/>
          <p:nvPr/>
        </p:nvSpPr>
        <p:spPr>
          <a:xfrm rot="5400000">
            <a:off x="4338218" y="3529584"/>
            <a:ext cx="329184" cy="329184"/>
          </a:xfrm>
          <a:prstGeom prst="hexagon">
            <a:avLst/>
          </a:prstGeom>
          <a:solidFill>
            <a:srgbClr val="CE9A49"/>
          </a:solidFill>
          <a:ln w="12700">
            <a:solidFill>
              <a:srgbClr val="CE9A49"/>
            </a:solidFill>
            <a:prstDash val="solid"/>
          </a:ln>
        </p:spPr>
      </p:sp>
      <p:sp>
        <p:nvSpPr>
          <p:cNvPr id="16" name="Text 13"/>
          <p:cNvSpPr txBox="1"/>
          <p:nvPr/>
        </p:nvSpPr>
        <p:spPr>
          <a:xfrm>
            <a:off x="4338218" y="3529584"/>
            <a:ext cx="329184" cy="329184"/>
          </a:xfrm>
          <a:prstGeom prst="rect">
            <a:avLst/>
          </a:prstGeom>
          <a:noFill/>
          <a:ln/>
        </p:spPr>
        <p:txBody>
          <a:bodyPr wrap="square" lIns="0" tIns="0" rIns="0" bIns="0" rtlCol="0" anchor="ctr"/>
          <a:lstStyle/>
          <a:p>
            <a:pPr algn="ctr" indent="0" marL="0">
              <a:buNone/>
            </a:pPr>
            <a:r>
              <a:rPr lang="en-US" sz="1300" b="1" dirty="0">
                <a:solidFill>
                  <a:srgbClr val="0C2113"/>
                </a:solidFill>
                <a:latin typeface="Arial Narrow" pitchFamily="34" charset="0"/>
                <a:ea typeface="Arial Narrow" pitchFamily="34" charset="-122"/>
                <a:cs typeface="Arial Narrow" pitchFamily="34" charset="-120"/>
              </a:rPr>
              <a:t>3</a:t>
            </a:r>
            <a:endParaRPr lang="en-US" sz="1300" dirty="0"/>
          </a:p>
        </p:txBody>
      </p:sp>
      <p:sp>
        <p:nvSpPr>
          <p:cNvPr id="17" name="Text 14"/>
          <p:cNvSpPr txBox="1"/>
          <p:nvPr/>
        </p:nvSpPr>
        <p:spPr>
          <a:xfrm>
            <a:off x="4795418" y="3511296"/>
            <a:ext cx="3058058" cy="274320"/>
          </a:xfrm>
          <a:prstGeom prst="rect">
            <a:avLst/>
          </a:prstGeom>
          <a:noFill/>
          <a:ln/>
        </p:spPr>
        <p:txBody>
          <a:bodyPr wrap="square" lIns="0" tIns="0" rIns="0" bIns="0" rtlCol="0" anchor="ctr"/>
          <a:lstStyle/>
          <a:p>
            <a:pPr indent="0" marL="0">
              <a:buNone/>
            </a:pPr>
            <a:r>
              <a:rPr lang="en-US" sz="1350" b="1" dirty="0">
                <a:solidFill>
                  <a:srgbClr val="F4F2ED"/>
                </a:solidFill>
                <a:latin typeface="Arial Narrow" pitchFamily="34" charset="0"/>
                <a:ea typeface="Arial Narrow" pitchFamily="34" charset="-122"/>
                <a:cs typeface="Arial Narrow" pitchFamily="34" charset="-120"/>
              </a:rPr>
              <a:t>Wedding day reception</a:t>
            </a:r>
            <a:endParaRPr lang="en-US" sz="1350" dirty="0"/>
          </a:p>
        </p:txBody>
      </p:sp>
      <p:sp>
        <p:nvSpPr>
          <p:cNvPr id="18" name="Text 15"/>
          <p:cNvSpPr txBox="1"/>
          <p:nvPr/>
        </p:nvSpPr>
        <p:spPr>
          <a:xfrm>
            <a:off x="4795418" y="3776472"/>
            <a:ext cx="3058058" cy="713232"/>
          </a:xfrm>
          <a:prstGeom prst="rect">
            <a:avLst/>
          </a:prstGeom>
          <a:noFill/>
          <a:ln/>
        </p:spPr>
        <p:txBody>
          <a:bodyPr wrap="square" lIns="0" tIns="0" rIns="0" bIns="0" rtlCol="0" anchor="ctr"/>
          <a:lstStyle/>
          <a:p>
            <a:pPr indent="0" marL="0">
              <a:lnSpc>
                <a:spcPct val="116000"/>
              </a:lnSpc>
              <a:buNone/>
            </a:pPr>
            <a:r>
              <a:rPr lang="en-US" sz="1000" dirty="0">
                <a:solidFill>
                  <a:srgbClr val="A9B8AB"/>
                </a:solidFill>
                <a:latin typeface="Arial" pitchFamily="34" charset="0"/>
                <a:ea typeface="Arial" pitchFamily="34" charset="-122"/>
                <a:cs typeface="Arial" pitchFamily="34" charset="-120"/>
              </a:rPr>
              <a:t>Bulk supply delivered in 20L kegs or custom cans for the main event.</a:t>
            </a:r>
            <a:endParaRPr lang="en-US" sz="1000" dirty="0"/>
          </a:p>
        </p:txBody>
      </p:sp>
      <p:sp>
        <p:nvSpPr>
          <p:cNvPr id="19" name="Shape 16"/>
          <p:cNvSpPr/>
          <p:nvPr/>
        </p:nvSpPr>
        <p:spPr>
          <a:xfrm rot="5400000">
            <a:off x="4338218" y="4572000"/>
            <a:ext cx="329184" cy="329184"/>
          </a:xfrm>
          <a:prstGeom prst="hexagon">
            <a:avLst/>
          </a:prstGeom>
          <a:solidFill>
            <a:srgbClr val="CE9A49"/>
          </a:solidFill>
          <a:ln w="12700">
            <a:solidFill>
              <a:srgbClr val="CE9A49"/>
            </a:solidFill>
            <a:prstDash val="solid"/>
          </a:ln>
        </p:spPr>
      </p:sp>
      <p:sp>
        <p:nvSpPr>
          <p:cNvPr id="20" name="Text 17"/>
          <p:cNvSpPr txBox="1"/>
          <p:nvPr/>
        </p:nvSpPr>
        <p:spPr>
          <a:xfrm>
            <a:off x="4338218" y="4572000"/>
            <a:ext cx="329184" cy="329184"/>
          </a:xfrm>
          <a:prstGeom prst="rect">
            <a:avLst/>
          </a:prstGeom>
          <a:noFill/>
          <a:ln/>
        </p:spPr>
        <p:txBody>
          <a:bodyPr wrap="square" lIns="0" tIns="0" rIns="0" bIns="0" rtlCol="0" anchor="ctr"/>
          <a:lstStyle/>
          <a:p>
            <a:pPr algn="ctr" indent="0" marL="0">
              <a:buNone/>
            </a:pPr>
            <a:r>
              <a:rPr lang="en-US" sz="1300" b="1" dirty="0">
                <a:solidFill>
                  <a:srgbClr val="0C2113"/>
                </a:solidFill>
                <a:latin typeface="Arial Narrow" pitchFamily="34" charset="0"/>
                <a:ea typeface="Arial Narrow" pitchFamily="34" charset="-122"/>
                <a:cs typeface="Arial Narrow" pitchFamily="34" charset="-120"/>
              </a:rPr>
              <a:t>4</a:t>
            </a:r>
            <a:endParaRPr lang="en-US" sz="1300" dirty="0"/>
          </a:p>
        </p:txBody>
      </p:sp>
      <p:sp>
        <p:nvSpPr>
          <p:cNvPr id="21" name="Text 18"/>
          <p:cNvSpPr txBox="1"/>
          <p:nvPr/>
        </p:nvSpPr>
        <p:spPr>
          <a:xfrm>
            <a:off x="4795418" y="4553712"/>
            <a:ext cx="3058058" cy="274320"/>
          </a:xfrm>
          <a:prstGeom prst="rect">
            <a:avLst/>
          </a:prstGeom>
          <a:noFill/>
          <a:ln/>
        </p:spPr>
        <p:txBody>
          <a:bodyPr wrap="square" lIns="0" tIns="0" rIns="0" bIns="0" rtlCol="0" anchor="ctr"/>
          <a:lstStyle/>
          <a:p>
            <a:pPr indent="0" marL="0">
              <a:buNone/>
            </a:pPr>
            <a:r>
              <a:rPr lang="en-US" sz="1350" b="1" dirty="0">
                <a:solidFill>
                  <a:srgbClr val="F4F2ED"/>
                </a:solidFill>
                <a:latin typeface="Arial Narrow" pitchFamily="34" charset="0"/>
                <a:ea typeface="Arial Narrow" pitchFamily="34" charset="-122"/>
                <a:cs typeface="Arial Narrow" pitchFamily="34" charset="-120"/>
              </a:rPr>
              <a:t>Take-home flywheel</a:t>
            </a:r>
            <a:endParaRPr lang="en-US" sz="1350" dirty="0"/>
          </a:p>
        </p:txBody>
      </p:sp>
      <p:sp>
        <p:nvSpPr>
          <p:cNvPr id="22" name="Text 19"/>
          <p:cNvSpPr txBox="1"/>
          <p:nvPr/>
        </p:nvSpPr>
        <p:spPr>
          <a:xfrm>
            <a:off x="4795418" y="4818888"/>
            <a:ext cx="3058058" cy="713232"/>
          </a:xfrm>
          <a:prstGeom prst="rect">
            <a:avLst/>
          </a:prstGeom>
          <a:noFill/>
          <a:ln/>
        </p:spPr>
        <p:txBody>
          <a:bodyPr wrap="square" lIns="0" tIns="0" rIns="0" bIns="0" rtlCol="0" anchor="ctr"/>
          <a:lstStyle/>
          <a:p>
            <a:pPr indent="0" marL="0">
              <a:lnSpc>
                <a:spcPct val="116000"/>
              </a:lnSpc>
              <a:buNone/>
            </a:pPr>
            <a:r>
              <a:rPr lang="en-US" sz="1000" dirty="0">
                <a:solidFill>
                  <a:srgbClr val="A9B8AB"/>
                </a:solidFill>
                <a:latin typeface="Arial" pitchFamily="34" charset="0"/>
                <a:ea typeface="Arial" pitchFamily="34" charset="-122"/>
                <a:cs typeface="Arial" pitchFamily="34" charset="-120"/>
              </a:rPr>
              <a:t>Every wedding guest goes home with a branded sample and a QR code.</a:t>
            </a:r>
            <a:endParaRPr lang="en-US" sz="1000" dirty="0"/>
          </a:p>
        </p:txBody>
      </p:sp>
      <p:sp>
        <p:nvSpPr>
          <p:cNvPr id="23" name="Shape 20"/>
          <p:cNvSpPr/>
          <p:nvPr/>
        </p:nvSpPr>
        <p:spPr>
          <a:xfrm>
            <a:off x="8173517" y="1371600"/>
            <a:ext cx="3515258" cy="4206240"/>
          </a:xfrm>
          <a:prstGeom prst="rect">
            <a:avLst/>
          </a:prstGeom>
          <a:solidFill>
            <a:srgbClr val="0C2113"/>
          </a:solidFill>
          <a:ln w="9525">
            <a:solidFill>
              <a:srgbClr val="25502F"/>
            </a:solidFill>
            <a:prstDash val="solid"/>
          </a:ln>
        </p:spPr>
      </p:sp>
      <p:sp>
        <p:nvSpPr>
          <p:cNvPr id="24" name="Text 21"/>
          <p:cNvSpPr txBox="1"/>
          <p:nvPr/>
        </p:nvSpPr>
        <p:spPr>
          <a:xfrm>
            <a:off x="8374685" y="1517904"/>
            <a:ext cx="3112922" cy="1152144"/>
          </a:xfrm>
          <a:prstGeom prst="rect">
            <a:avLst/>
          </a:prstGeom>
          <a:noFill/>
          <a:ln/>
        </p:spPr>
        <p:txBody>
          <a:bodyPr wrap="square" lIns="0" tIns="0" rIns="0" bIns="0" rtlCol="0" anchor="ctr"/>
          <a:lstStyle/>
          <a:p>
            <a:pPr indent="0" marL="0">
              <a:lnSpc>
                <a:spcPct val="116000"/>
              </a:lnSpc>
              <a:spcAft>
                <a:spcPts val="600"/>
              </a:spcAft>
              <a:buNone/>
            </a:pPr>
            <a:r>
              <a:rPr lang="en-US" sz="1400" b="1" dirty="0">
                <a:solidFill>
                  <a:srgbClr val="CE9A49"/>
                </a:solidFill>
                <a:latin typeface="Arial Narrow" pitchFamily="34" charset="0"/>
                <a:ea typeface="Arial Narrow" pitchFamily="34" charset="-122"/>
                <a:cs typeface="Arial Narrow" pitchFamily="34" charset="-120"/>
              </a:rPr>
              <a:t>High-margin function revenue</a:t>
            </a:r>
            <a:endParaRPr lang="en-US" sz="1400" dirty="0"/>
          </a:p>
          <a:p>
            <a:pPr indent="0" marL="0">
              <a:lnSpc>
                <a:spcPct val="116000"/>
              </a:lnSpc>
              <a:buNone/>
            </a:pPr>
            <a:r>
              <a:rPr lang="en-US" sz="1000" dirty="0">
                <a:solidFill>
                  <a:srgbClr val="DFDFDF"/>
                </a:solidFill>
                <a:latin typeface="Arial" pitchFamily="34" charset="0"/>
                <a:ea typeface="Arial" pitchFamily="34" charset="-122"/>
                <a:cs typeface="Arial" pitchFamily="34" charset="-120"/>
              </a:rPr>
              <a:t>Captures premium venue hire and group tasting packages upfront.</a:t>
            </a:r>
            <a:endParaRPr lang="en-US" sz="1400" dirty="0"/>
          </a:p>
        </p:txBody>
      </p:sp>
      <p:sp>
        <p:nvSpPr>
          <p:cNvPr id="25" name="Text 22"/>
          <p:cNvSpPr txBox="1"/>
          <p:nvPr/>
        </p:nvSpPr>
        <p:spPr>
          <a:xfrm>
            <a:off x="8374685" y="2834640"/>
            <a:ext cx="3112922" cy="1152144"/>
          </a:xfrm>
          <a:prstGeom prst="rect">
            <a:avLst/>
          </a:prstGeom>
          <a:noFill/>
          <a:ln/>
        </p:spPr>
        <p:txBody>
          <a:bodyPr wrap="square" lIns="0" tIns="0" rIns="0" bIns="0" rtlCol="0" anchor="ctr"/>
          <a:lstStyle/>
          <a:p>
            <a:pPr indent="0" marL="0">
              <a:lnSpc>
                <a:spcPct val="116000"/>
              </a:lnSpc>
              <a:spcAft>
                <a:spcPts val="600"/>
              </a:spcAft>
              <a:buNone/>
            </a:pPr>
            <a:r>
              <a:rPr lang="en-US" sz="1400" b="1" dirty="0">
                <a:solidFill>
                  <a:srgbClr val="CE9A49"/>
                </a:solidFill>
                <a:latin typeface="Arial Narrow" pitchFamily="34" charset="0"/>
                <a:ea typeface="Arial Narrow" pitchFamily="34" charset="-122"/>
                <a:cs typeface="Arial Narrow" pitchFamily="34" charset="-120"/>
              </a:rPr>
              <a:t>Guaranteed bulk volume</a:t>
            </a:r>
            <a:endParaRPr lang="en-US" sz="1400" dirty="0"/>
          </a:p>
          <a:p>
            <a:pPr indent="0" marL="0">
              <a:lnSpc>
                <a:spcPct val="116000"/>
              </a:lnSpc>
              <a:buNone/>
            </a:pPr>
            <a:r>
              <a:rPr lang="en-US" sz="1000" dirty="0">
                <a:solidFill>
                  <a:srgbClr val="DFDFDF"/>
                </a:solidFill>
                <a:latin typeface="Arial" pitchFamily="34" charset="0"/>
                <a:ea typeface="Arial" pitchFamily="34" charset="-122"/>
                <a:cs typeface="Arial" pitchFamily="34" charset="-120"/>
              </a:rPr>
              <a:t>Secures pre-sold beverage volume for the reception.</a:t>
            </a:r>
            <a:endParaRPr lang="en-US" sz="1400" dirty="0"/>
          </a:p>
        </p:txBody>
      </p:sp>
      <p:sp>
        <p:nvSpPr>
          <p:cNvPr id="26" name="Text 23"/>
          <p:cNvSpPr txBox="1"/>
          <p:nvPr/>
        </p:nvSpPr>
        <p:spPr>
          <a:xfrm>
            <a:off x="8374685" y="4151376"/>
            <a:ext cx="3112922" cy="1152144"/>
          </a:xfrm>
          <a:prstGeom prst="rect">
            <a:avLst/>
          </a:prstGeom>
          <a:noFill/>
          <a:ln/>
        </p:spPr>
        <p:txBody>
          <a:bodyPr wrap="square" lIns="0" tIns="0" rIns="0" bIns="0" rtlCol="0" anchor="ctr"/>
          <a:lstStyle/>
          <a:p>
            <a:pPr indent="0" marL="0">
              <a:lnSpc>
                <a:spcPct val="116000"/>
              </a:lnSpc>
              <a:spcAft>
                <a:spcPts val="600"/>
              </a:spcAft>
              <a:buNone/>
            </a:pPr>
            <a:r>
              <a:rPr lang="en-US" sz="1400" b="1" dirty="0">
                <a:solidFill>
                  <a:srgbClr val="CE9A49"/>
                </a:solidFill>
                <a:latin typeface="Arial Narrow" pitchFamily="34" charset="0"/>
                <a:ea typeface="Arial Narrow" pitchFamily="34" charset="-122"/>
                <a:cs typeface="Arial Narrow" pitchFamily="34" charset="-120"/>
              </a:rPr>
              <a:t>Organic customer acquisition</a:t>
            </a:r>
            <a:endParaRPr lang="en-US" sz="1400" dirty="0"/>
          </a:p>
          <a:p>
            <a:pPr indent="0" marL="0">
              <a:lnSpc>
                <a:spcPct val="116000"/>
              </a:lnSpc>
              <a:buNone/>
            </a:pPr>
            <a:r>
              <a:rPr lang="en-US" sz="1000" dirty="0">
                <a:solidFill>
                  <a:srgbClr val="DFDFDF"/>
                </a:solidFill>
                <a:latin typeface="Arial" pitchFamily="34" charset="0"/>
                <a:ea typeface="Arial" pitchFamily="34" charset="-122"/>
                <a:cs typeface="Arial" pitchFamily="34" charset="-120"/>
              </a:rPr>
              <a:t>Converts guests into hardware and subscription leads.</a:t>
            </a:r>
            <a:endParaRPr lang="en-US" sz="1400" dirty="0"/>
          </a:p>
        </p:txBody>
      </p:sp>
      <p:sp>
        <p:nvSpPr>
          <p:cNvPr id="27" name="Shape 24"/>
          <p:cNvSpPr/>
          <p:nvPr/>
        </p:nvSpPr>
        <p:spPr>
          <a:xfrm>
            <a:off x="0" y="5888736"/>
            <a:ext cx="12191695" cy="969264"/>
          </a:xfrm>
          <a:prstGeom prst="rect">
            <a:avLst/>
          </a:prstGeom>
          <a:solidFill>
            <a:srgbClr val="0C2113"/>
          </a:solidFill>
          <a:ln w="12700">
            <a:solidFill>
              <a:srgbClr val="333333"/>
            </a:solidFill>
            <a:prstDash val="solid"/>
          </a:ln>
        </p:spPr>
      </p:sp>
      <p:sp>
        <p:nvSpPr>
          <p:cNvPr id="28" name="Text 25"/>
          <p:cNvSpPr txBox="1"/>
          <p:nvPr/>
        </p:nvSpPr>
        <p:spPr>
          <a:xfrm>
            <a:off x="502920" y="5888736"/>
            <a:ext cx="11185855" cy="914400"/>
          </a:xfrm>
          <a:prstGeom prst="rect">
            <a:avLst/>
          </a:prstGeom>
          <a:noFill/>
          <a:ln/>
        </p:spPr>
        <p:txBody>
          <a:bodyPr wrap="square" lIns="0" tIns="0" rIns="0" bIns="0" rtlCol="0" anchor="ctr"/>
          <a:lstStyle/>
          <a:p>
            <a:pPr indent="0" marL="0">
              <a:buNone/>
            </a:pPr>
            <a:r>
              <a:rPr lang="en-US" sz="1150" b="1" spc="200" kern="0" dirty="0">
                <a:solidFill>
                  <a:srgbClr val="CE9A49"/>
                </a:solidFill>
                <a:latin typeface="Arial Narrow" pitchFamily="34" charset="0"/>
                <a:ea typeface="Arial Narrow" pitchFamily="34" charset="-122"/>
                <a:cs typeface="Arial Narrow" pitchFamily="34" charset="-120"/>
              </a:rPr>
              <a:t>THE ECOSYSTEM EFFECT   </a:t>
            </a:r>
            <a:pPr indent="0" marL="0">
              <a:buNone/>
            </a:pPr>
            <a:r>
              <a:rPr lang="en-US" sz="1150" dirty="0">
                <a:solidFill>
                  <a:srgbClr val="DFDFDF"/>
                </a:solidFill>
                <a:latin typeface="Arial" pitchFamily="34" charset="0"/>
                <a:ea typeface="Arial" pitchFamily="34" charset="-122"/>
                <a:cs typeface="Arial" pitchFamily="34" charset="-120"/>
              </a:rPr>
              <a:t>Every wedding is a live, self-funding brand activation that puts Tap That product into the hands of 100 or more targeted consumers.</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PARTNERSHIP CONCEPTS</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What a co-branded system could look like.</a:t>
            </a:r>
            <a:endParaRPr lang="en-US" sz="2700" dirty="0"/>
          </a:p>
        </p:txBody>
      </p:sp>
      <p:pic>
        <p:nvPicPr>
          <p:cNvPr id="4" name="Image 0" descr="/home/user/tapthatbrewery/00 Admin/06 Presentations/pivot/build/deck-dewalt-collab.jpg">    </p:cNvPr>
          <p:cNvPicPr>
            <a:picLocks noChangeAspect="1"/>
          </p:cNvPicPr>
          <p:nvPr/>
        </p:nvPicPr>
        <p:blipFill>
          <a:blip r:embed="rId1"/>
          <a:srcRect l="0" r="0" t="0" b="0"/>
          <a:stretch/>
        </p:blipFill>
        <p:spPr>
          <a:xfrm>
            <a:off x="502920" y="1389888"/>
            <a:ext cx="5455768" cy="1975104"/>
          </a:xfrm>
          <a:prstGeom prst="rect">
            <a:avLst/>
          </a:prstGeom>
        </p:spPr>
      </p:pic>
      <p:sp>
        <p:nvSpPr>
          <p:cNvPr id="5" name="Text 2"/>
          <p:cNvSpPr txBox="1"/>
          <p:nvPr/>
        </p:nvSpPr>
        <p:spPr>
          <a:xfrm>
            <a:off x="502920" y="3419856"/>
            <a:ext cx="5455768" cy="256032"/>
          </a:xfrm>
          <a:prstGeom prst="rect">
            <a:avLst/>
          </a:prstGeom>
          <a:noFill/>
          <a:ln/>
        </p:spPr>
        <p:txBody>
          <a:bodyPr wrap="square" lIns="0" tIns="0" rIns="0" bIns="0" rtlCol="0" anchor="ctr"/>
          <a:lstStyle/>
          <a:p>
            <a:pPr indent="0" marL="0">
              <a:buNone/>
            </a:pPr>
            <a:r>
              <a:rPr lang="en-US" sz="1200" b="1" spc="200" kern="0" dirty="0">
                <a:solidFill>
                  <a:srgbClr val="CE9A49"/>
                </a:solidFill>
                <a:latin typeface="Arial Narrow" pitchFamily="34" charset="0"/>
                <a:ea typeface="Arial Narrow" pitchFamily="34" charset="-122"/>
                <a:cs typeface="Arial Narrow" pitchFamily="34" charset="-120"/>
              </a:rPr>
              <a:t>Trade and worksite</a:t>
            </a:r>
            <a:endParaRPr lang="en-US" sz="1200" dirty="0"/>
          </a:p>
        </p:txBody>
      </p:sp>
      <p:pic>
        <p:nvPicPr>
          <p:cNvPr id="6" name="Image 1" descr="/home/user/tapthatbrewery/00 Admin/06 Presentations/pivot/build/deck-raptor-collab.jpg">    </p:cNvPr>
          <p:cNvPicPr>
            <a:picLocks noChangeAspect="1"/>
          </p:cNvPicPr>
          <p:nvPr/>
        </p:nvPicPr>
        <p:blipFill>
          <a:blip r:embed="rId2"/>
          <a:srcRect l="0" r="0" t="0" b="0"/>
          <a:stretch/>
        </p:blipFill>
        <p:spPr>
          <a:xfrm>
            <a:off x="6233008" y="1389888"/>
            <a:ext cx="5455768" cy="1975104"/>
          </a:xfrm>
          <a:prstGeom prst="rect">
            <a:avLst/>
          </a:prstGeom>
        </p:spPr>
      </p:pic>
      <p:sp>
        <p:nvSpPr>
          <p:cNvPr id="7" name="Text 3"/>
          <p:cNvSpPr txBox="1"/>
          <p:nvPr/>
        </p:nvSpPr>
        <p:spPr>
          <a:xfrm>
            <a:off x="6233008" y="3419856"/>
            <a:ext cx="5455768" cy="256032"/>
          </a:xfrm>
          <a:prstGeom prst="rect">
            <a:avLst/>
          </a:prstGeom>
          <a:noFill/>
          <a:ln/>
        </p:spPr>
        <p:txBody>
          <a:bodyPr wrap="square" lIns="0" tIns="0" rIns="0" bIns="0" rtlCol="0" anchor="ctr"/>
          <a:lstStyle/>
          <a:p>
            <a:pPr indent="0" marL="0">
              <a:buNone/>
            </a:pPr>
            <a:r>
              <a:rPr lang="en-US" sz="1200" b="1" spc="200" kern="0" dirty="0">
                <a:solidFill>
                  <a:srgbClr val="CE9A49"/>
                </a:solidFill>
                <a:latin typeface="Arial Narrow" pitchFamily="34" charset="0"/>
                <a:ea typeface="Arial Narrow" pitchFamily="34" charset="-122"/>
                <a:cs typeface="Arial Narrow" pitchFamily="34" charset="-120"/>
              </a:rPr>
              <a:t>Four-wheel drive and touring</a:t>
            </a:r>
            <a:endParaRPr lang="en-US" sz="1200" dirty="0"/>
          </a:p>
        </p:txBody>
      </p:sp>
      <p:pic>
        <p:nvPicPr>
          <p:cNvPr id="8" name="Image 2" descr="/home/user/tapthatbrewery/00 Admin/06 Presentations/pivot/build/deck-harley-collab.jpg">    </p:cNvPr>
          <p:cNvPicPr>
            <a:picLocks noChangeAspect="1"/>
          </p:cNvPicPr>
          <p:nvPr/>
        </p:nvPicPr>
        <p:blipFill>
          <a:blip r:embed="rId3"/>
          <a:srcRect l="0" r="0" t="0" b="0"/>
          <a:stretch/>
        </p:blipFill>
        <p:spPr>
          <a:xfrm>
            <a:off x="502920" y="3931920"/>
            <a:ext cx="5455768" cy="1975104"/>
          </a:xfrm>
          <a:prstGeom prst="rect">
            <a:avLst/>
          </a:prstGeom>
        </p:spPr>
      </p:pic>
      <p:sp>
        <p:nvSpPr>
          <p:cNvPr id="9" name="Text 4"/>
          <p:cNvSpPr txBox="1"/>
          <p:nvPr/>
        </p:nvSpPr>
        <p:spPr>
          <a:xfrm>
            <a:off x="502920" y="5961888"/>
            <a:ext cx="5455768" cy="256032"/>
          </a:xfrm>
          <a:prstGeom prst="rect">
            <a:avLst/>
          </a:prstGeom>
          <a:noFill/>
          <a:ln/>
        </p:spPr>
        <p:txBody>
          <a:bodyPr wrap="square" lIns="0" tIns="0" rIns="0" bIns="0" rtlCol="0" anchor="ctr"/>
          <a:lstStyle/>
          <a:p>
            <a:pPr indent="0" marL="0">
              <a:buNone/>
            </a:pPr>
            <a:r>
              <a:rPr lang="en-US" sz="1200" b="1" spc="200" kern="0" dirty="0">
                <a:solidFill>
                  <a:srgbClr val="CE9A49"/>
                </a:solidFill>
                <a:latin typeface="Arial Narrow" pitchFamily="34" charset="0"/>
                <a:ea typeface="Arial Narrow" pitchFamily="34" charset="-122"/>
                <a:cs typeface="Arial Narrow" pitchFamily="34" charset="-120"/>
              </a:rPr>
              <a:t>Motorcycle clubs</a:t>
            </a:r>
            <a:endParaRPr lang="en-US" sz="1200" dirty="0"/>
          </a:p>
        </p:txBody>
      </p:sp>
      <p:pic>
        <p:nvPicPr>
          <p:cNvPr id="10" name="Image 3" descr="/home/user/tapthatbrewery/00 Admin/06 Presentations/pivot/build/deck-tap-truck.jpg">    </p:cNvPr>
          <p:cNvPicPr>
            <a:picLocks noChangeAspect="1"/>
          </p:cNvPicPr>
          <p:nvPr/>
        </p:nvPicPr>
        <p:blipFill>
          <a:blip r:embed="rId4"/>
          <a:srcRect l="0" r="0" t="0" b="0"/>
          <a:stretch/>
        </p:blipFill>
        <p:spPr>
          <a:xfrm>
            <a:off x="6233008" y="3931920"/>
            <a:ext cx="5455768" cy="1975104"/>
          </a:xfrm>
          <a:prstGeom prst="rect">
            <a:avLst/>
          </a:prstGeom>
        </p:spPr>
      </p:pic>
      <p:sp>
        <p:nvSpPr>
          <p:cNvPr id="11" name="Text 5"/>
          <p:cNvSpPr txBox="1"/>
          <p:nvPr/>
        </p:nvSpPr>
        <p:spPr>
          <a:xfrm>
            <a:off x="6233008" y="5961888"/>
            <a:ext cx="5455768" cy="256032"/>
          </a:xfrm>
          <a:prstGeom prst="rect">
            <a:avLst/>
          </a:prstGeom>
          <a:noFill/>
          <a:ln/>
        </p:spPr>
        <p:txBody>
          <a:bodyPr wrap="square" lIns="0" tIns="0" rIns="0" bIns="0" rtlCol="0" anchor="ctr"/>
          <a:lstStyle/>
          <a:p>
            <a:pPr indent="0" marL="0">
              <a:buNone/>
            </a:pPr>
            <a:r>
              <a:rPr lang="en-US" sz="1200" b="1" spc="200" kern="0" dirty="0">
                <a:solidFill>
                  <a:srgbClr val="CE9A49"/>
                </a:solidFill>
                <a:latin typeface="Arial Narrow" pitchFamily="34" charset="0"/>
                <a:ea typeface="Arial Narrow" pitchFamily="34" charset="-122"/>
                <a:cs typeface="Arial Narrow" pitchFamily="34" charset="-120"/>
              </a:rPr>
              <a:t>Mobile bar for events</a:t>
            </a:r>
            <a:endParaRPr lang="en-US" sz="1200" dirty="0"/>
          </a:p>
        </p:txBody>
      </p:sp>
      <p:sp>
        <p:nvSpPr>
          <p:cNvPr id="12" name="Text 6"/>
          <p:cNvSpPr txBox="1"/>
          <p:nvPr/>
        </p:nvSpPr>
        <p:spPr>
          <a:xfrm>
            <a:off x="502920" y="6272784"/>
            <a:ext cx="11185855" cy="310896"/>
          </a:xfrm>
          <a:prstGeom prst="rect">
            <a:avLst/>
          </a:prstGeom>
          <a:noFill/>
          <a:ln/>
        </p:spPr>
        <p:txBody>
          <a:bodyPr wrap="square" lIns="0" tIns="0" rIns="0" bIns="0" rtlCol="0" anchor="ctr"/>
          <a:lstStyle/>
          <a:p>
            <a:pPr indent="0" marL="0">
              <a:buNone/>
            </a:pPr>
            <a:r>
              <a:rPr lang="en-US" sz="1000" dirty="0">
                <a:solidFill>
                  <a:srgbClr val="A9B8AB"/>
                </a:solidFill>
                <a:latin typeface="Arial" pitchFamily="34" charset="0"/>
                <a:ea typeface="Arial" pitchFamily="34" charset="-122"/>
                <a:cs typeface="Arial" pitchFamily="34" charset="-120"/>
              </a:rPr>
              <a:t>Concept renders for discussion. No approach has been made to any brand shown, and none of these marks are licensed.</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OTHER STRATEGIC NOTES</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Two things to hold on to.</a:t>
            </a:r>
            <a:endParaRPr lang="en-US" sz="2700" dirty="0"/>
          </a:p>
        </p:txBody>
      </p:sp>
      <p:sp>
        <p:nvSpPr>
          <p:cNvPr id="4" name="Shape 2"/>
          <p:cNvSpPr/>
          <p:nvPr/>
        </p:nvSpPr>
        <p:spPr>
          <a:xfrm>
            <a:off x="502920" y="1572768"/>
            <a:ext cx="5410048" cy="3566160"/>
          </a:xfrm>
          <a:prstGeom prst="rect">
            <a:avLst/>
          </a:prstGeom>
          <a:solidFill>
            <a:srgbClr val="0C2113"/>
          </a:solidFill>
          <a:ln w="9525">
            <a:solidFill>
              <a:srgbClr val="25502F"/>
            </a:solidFill>
            <a:prstDash val="solid"/>
          </a:ln>
        </p:spPr>
      </p:sp>
      <p:sp>
        <p:nvSpPr>
          <p:cNvPr id="5" name="Text 3"/>
          <p:cNvSpPr txBox="1"/>
          <p:nvPr/>
        </p:nvSpPr>
        <p:spPr>
          <a:xfrm>
            <a:off x="886968" y="1572768"/>
            <a:ext cx="4641952" cy="3566160"/>
          </a:xfrm>
          <a:prstGeom prst="rect">
            <a:avLst/>
          </a:prstGeom>
          <a:noFill/>
          <a:ln/>
        </p:spPr>
        <p:txBody>
          <a:bodyPr wrap="square" lIns="0" tIns="0" rIns="0" bIns="0" rtlCol="0" anchor="ctr"/>
          <a:lstStyle/>
          <a:p>
            <a:pPr indent="0" marL="0">
              <a:lnSpc>
                <a:spcPct val="130000"/>
              </a:lnSpc>
              <a:spcAft>
                <a:spcPts val="1400"/>
              </a:spcAft>
              <a:buNone/>
            </a:pPr>
            <a:r>
              <a:rPr lang="en-US" sz="2500" b="1" dirty="0">
                <a:solidFill>
                  <a:srgbClr val="CE9A49"/>
                </a:solidFill>
                <a:latin typeface="Arial Narrow" pitchFamily="34" charset="0"/>
                <a:ea typeface="Arial Narrow" pitchFamily="34" charset="-122"/>
                <a:cs typeface="Arial Narrow" pitchFamily="34" charset="-120"/>
              </a:rPr>
              <a:t>Who is the real enemy?</a:t>
            </a:r>
            <a:endParaRPr lang="en-US" sz="2500" dirty="0"/>
          </a:p>
          <a:p>
            <a:pPr indent="0" marL="0">
              <a:lnSpc>
                <a:spcPct val="130000"/>
              </a:lnSpc>
              <a:buNone/>
            </a:pPr>
            <a:r>
              <a:rPr lang="en-US" sz="1500" dirty="0">
                <a:solidFill>
                  <a:srgbClr val="DFDFDF"/>
                </a:solidFill>
                <a:latin typeface="Arial" pitchFamily="34" charset="0"/>
                <a:ea typeface="Arial" pitchFamily="34" charset="-122"/>
                <a:cs typeface="Arial" pitchFamily="34" charset="-120"/>
              </a:rPr>
              <a:t>Overpriced pubs. Not the duopoly, not A&amp;A, not the keg-delivery operators. Speak in unit economics everywhere, and do not get pulled into a keg price war you do not need to fight.</a:t>
            </a:r>
            <a:endParaRPr lang="en-US" sz="2500" dirty="0"/>
          </a:p>
        </p:txBody>
      </p:sp>
      <p:sp>
        <p:nvSpPr>
          <p:cNvPr id="6" name="Shape 4"/>
          <p:cNvSpPr/>
          <p:nvPr/>
        </p:nvSpPr>
        <p:spPr>
          <a:xfrm>
            <a:off x="6278728" y="1572768"/>
            <a:ext cx="5410048" cy="3566160"/>
          </a:xfrm>
          <a:prstGeom prst="rect">
            <a:avLst/>
          </a:prstGeom>
          <a:solidFill>
            <a:srgbClr val="0C2113"/>
          </a:solidFill>
          <a:ln w="9525">
            <a:solidFill>
              <a:srgbClr val="25502F"/>
            </a:solidFill>
            <a:prstDash val="solid"/>
          </a:ln>
        </p:spPr>
      </p:sp>
      <p:sp>
        <p:nvSpPr>
          <p:cNvPr id="7" name="Text 5"/>
          <p:cNvSpPr txBox="1"/>
          <p:nvPr/>
        </p:nvSpPr>
        <p:spPr>
          <a:xfrm>
            <a:off x="6662776" y="1572768"/>
            <a:ext cx="4641952" cy="3566160"/>
          </a:xfrm>
          <a:prstGeom prst="rect">
            <a:avLst/>
          </a:prstGeom>
          <a:noFill/>
          <a:ln/>
        </p:spPr>
        <p:txBody>
          <a:bodyPr wrap="square" lIns="0" tIns="0" rIns="0" bIns="0" rtlCol="0" anchor="ctr"/>
          <a:lstStyle/>
          <a:p>
            <a:pPr indent="0" marL="0">
              <a:lnSpc>
                <a:spcPct val="130000"/>
              </a:lnSpc>
              <a:spcAft>
                <a:spcPts val="1400"/>
              </a:spcAft>
              <a:buNone/>
            </a:pPr>
            <a:r>
              <a:rPr lang="en-US" sz="2500" b="1" dirty="0">
                <a:solidFill>
                  <a:srgbClr val="CE9A49"/>
                </a:solidFill>
                <a:latin typeface="Arial Narrow" pitchFamily="34" charset="0"/>
                <a:ea typeface="Arial Narrow" pitchFamily="34" charset="-122"/>
                <a:cs typeface="Arial Narrow" pitchFamily="34" charset="-120"/>
              </a:rPr>
              <a:t>Handle the census with care</a:t>
            </a:r>
            <a:endParaRPr lang="en-US" sz="2500" dirty="0"/>
          </a:p>
          <a:p>
            <a:pPr indent="0" marL="0">
              <a:lnSpc>
                <a:spcPct val="130000"/>
              </a:lnSpc>
              <a:buNone/>
            </a:pPr>
            <a:r>
              <a:rPr lang="en-US" sz="1500" dirty="0">
                <a:solidFill>
                  <a:srgbClr val="DFDFDF"/>
                </a:solidFill>
                <a:latin typeface="Arial" pitchFamily="34" charset="0"/>
                <a:ea typeface="Arial" pitchFamily="34" charset="-122"/>
                <a:cs typeface="Arial" pitchFamily="34" charset="-120"/>
              </a:rPr>
              <a:t>49 people, forced-choice answers. People do not always know, or say, why they buy. Status, wanting to be seen as successful, compensating for something else: real drivers, rarely spoken. Useful colour. Not a strategy map.</a:t>
            </a:r>
            <a:endParaRPr lang="en-US" sz="2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HOUSEKEEPING / WEBSITE AND BRAND</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Small fixes, disproportionate impact.</a:t>
            </a:r>
            <a:endParaRPr lang="en-US" sz="2700" dirty="0"/>
          </a:p>
        </p:txBody>
      </p:sp>
      <p:sp>
        <p:nvSpPr>
          <p:cNvPr id="4" name="Shape 2"/>
          <p:cNvSpPr/>
          <p:nvPr/>
        </p:nvSpPr>
        <p:spPr>
          <a:xfrm rot="5400000">
            <a:off x="502920" y="1508760"/>
            <a:ext cx="274320" cy="274320"/>
          </a:xfrm>
          <a:prstGeom prst="hexagon">
            <a:avLst/>
          </a:prstGeom>
          <a:solidFill>
            <a:srgbClr val="CE9A49"/>
          </a:solidFill>
          <a:ln w="12700">
            <a:solidFill>
              <a:srgbClr val="CE9A49"/>
            </a:solidFill>
            <a:prstDash val="solid"/>
          </a:ln>
        </p:spPr>
      </p:sp>
      <p:sp>
        <p:nvSpPr>
          <p:cNvPr id="5" name="Text 3"/>
          <p:cNvSpPr txBox="1"/>
          <p:nvPr/>
        </p:nvSpPr>
        <p:spPr>
          <a:xfrm>
            <a:off x="502920" y="1508760"/>
            <a:ext cx="274320" cy="274320"/>
          </a:xfrm>
          <a:prstGeom prst="rect">
            <a:avLst/>
          </a:prstGeom>
          <a:noFill/>
          <a:ln/>
        </p:spPr>
        <p:txBody>
          <a:bodyPr wrap="square" lIns="0" tIns="0" rIns="0" bIns="0" rtlCol="0" anchor="ctr"/>
          <a:lstStyle/>
          <a:p>
            <a:pPr algn="ctr" indent="0" marL="0">
              <a:buNone/>
            </a:pPr>
            <a:r>
              <a:rPr lang="en-US" sz="1100" b="1" dirty="0">
                <a:solidFill>
                  <a:srgbClr val="0C2113"/>
                </a:solidFill>
                <a:latin typeface="Arial Narrow" pitchFamily="34" charset="0"/>
                <a:ea typeface="Arial Narrow" pitchFamily="34" charset="-122"/>
                <a:cs typeface="Arial Narrow" pitchFamily="34" charset="-120"/>
              </a:rPr>
              <a:t>1</a:t>
            </a:r>
            <a:endParaRPr lang="en-US" sz="1100" dirty="0"/>
          </a:p>
        </p:txBody>
      </p:sp>
      <p:sp>
        <p:nvSpPr>
          <p:cNvPr id="6" name="Text 4"/>
          <p:cNvSpPr txBox="1"/>
          <p:nvPr/>
        </p:nvSpPr>
        <p:spPr>
          <a:xfrm>
            <a:off x="905256" y="1481328"/>
            <a:ext cx="1965960" cy="365760"/>
          </a:xfrm>
          <a:prstGeom prst="rect">
            <a:avLst/>
          </a:prstGeom>
          <a:noFill/>
          <a:ln/>
        </p:spPr>
        <p:txBody>
          <a:bodyPr wrap="square" lIns="0" tIns="0" rIns="0" bIns="0" rtlCol="0" anchor="t"/>
          <a:lstStyle/>
          <a:p>
            <a:pPr indent="0" marL="0">
              <a:buNone/>
            </a:pPr>
            <a:r>
              <a:rPr lang="en-US" sz="1500" b="1" dirty="0">
                <a:solidFill>
                  <a:srgbClr val="F4F2ED"/>
                </a:solidFill>
                <a:latin typeface="Arial Narrow" pitchFamily="34" charset="0"/>
                <a:ea typeface="Arial Narrow" pitchFamily="34" charset="-122"/>
                <a:cs typeface="Arial Narrow" pitchFamily="34" charset="-120"/>
              </a:rPr>
              <a:t>Above the fold</a:t>
            </a:r>
            <a:endParaRPr lang="en-US" sz="1500" dirty="0"/>
          </a:p>
        </p:txBody>
      </p:sp>
      <p:sp>
        <p:nvSpPr>
          <p:cNvPr id="7" name="Text 5"/>
          <p:cNvSpPr txBox="1"/>
          <p:nvPr/>
        </p:nvSpPr>
        <p:spPr>
          <a:xfrm>
            <a:off x="2871216" y="1463040"/>
            <a:ext cx="8817559" cy="786384"/>
          </a:xfrm>
          <a:prstGeom prst="rect">
            <a:avLst/>
          </a:prstGeom>
          <a:noFill/>
          <a:ln/>
        </p:spPr>
        <p:txBody>
          <a:bodyPr wrap="square" lIns="0" tIns="0" rIns="0" bIns="0" rtlCol="0" anchor="t"/>
          <a:lstStyle/>
          <a:p>
            <a:pPr indent="0" marL="0">
              <a:lnSpc>
                <a:spcPct val="118000"/>
              </a:lnSpc>
              <a:buNone/>
            </a:pPr>
            <a:r>
              <a:rPr lang="en-US" sz="1250" dirty="0">
                <a:solidFill>
                  <a:srgbClr val="DFDFDF"/>
                </a:solidFill>
                <a:latin typeface="Arial" pitchFamily="34" charset="0"/>
                <a:ea typeface="Arial" pitchFamily="34" charset="-122"/>
                <a:cs typeface="Arial" pitchFamily="34" charset="-120"/>
              </a:rPr>
              <a:t>No hook, background film cut too fast to read, copy pollution, low-resolution static logo.</a:t>
            </a:r>
            <a:endParaRPr lang="en-US" sz="1250" dirty="0"/>
          </a:p>
        </p:txBody>
      </p:sp>
      <p:sp>
        <p:nvSpPr>
          <p:cNvPr id="8" name="Shape 6"/>
          <p:cNvSpPr/>
          <p:nvPr/>
        </p:nvSpPr>
        <p:spPr>
          <a:xfrm rot="5400000">
            <a:off x="502920" y="2441448"/>
            <a:ext cx="274320" cy="274320"/>
          </a:xfrm>
          <a:prstGeom prst="hexagon">
            <a:avLst/>
          </a:prstGeom>
          <a:solidFill>
            <a:srgbClr val="CE9A49"/>
          </a:solidFill>
          <a:ln w="12700">
            <a:solidFill>
              <a:srgbClr val="CE9A49"/>
            </a:solidFill>
            <a:prstDash val="solid"/>
          </a:ln>
        </p:spPr>
      </p:sp>
      <p:sp>
        <p:nvSpPr>
          <p:cNvPr id="9" name="Text 7"/>
          <p:cNvSpPr txBox="1"/>
          <p:nvPr/>
        </p:nvSpPr>
        <p:spPr>
          <a:xfrm>
            <a:off x="502920" y="2441448"/>
            <a:ext cx="274320" cy="274320"/>
          </a:xfrm>
          <a:prstGeom prst="rect">
            <a:avLst/>
          </a:prstGeom>
          <a:noFill/>
          <a:ln/>
        </p:spPr>
        <p:txBody>
          <a:bodyPr wrap="square" lIns="0" tIns="0" rIns="0" bIns="0" rtlCol="0" anchor="ctr"/>
          <a:lstStyle/>
          <a:p>
            <a:pPr algn="ctr" indent="0" marL="0">
              <a:buNone/>
            </a:pPr>
            <a:r>
              <a:rPr lang="en-US" sz="1100" b="1" dirty="0">
                <a:solidFill>
                  <a:srgbClr val="0C2113"/>
                </a:solidFill>
                <a:latin typeface="Arial Narrow" pitchFamily="34" charset="0"/>
                <a:ea typeface="Arial Narrow" pitchFamily="34" charset="-122"/>
                <a:cs typeface="Arial Narrow" pitchFamily="34" charset="-120"/>
              </a:rPr>
              <a:t>2</a:t>
            </a:r>
            <a:endParaRPr lang="en-US" sz="1100" dirty="0"/>
          </a:p>
        </p:txBody>
      </p:sp>
      <p:sp>
        <p:nvSpPr>
          <p:cNvPr id="10" name="Text 8"/>
          <p:cNvSpPr txBox="1"/>
          <p:nvPr/>
        </p:nvSpPr>
        <p:spPr>
          <a:xfrm>
            <a:off x="905256" y="2414016"/>
            <a:ext cx="1965960" cy="365760"/>
          </a:xfrm>
          <a:prstGeom prst="rect">
            <a:avLst/>
          </a:prstGeom>
          <a:noFill/>
          <a:ln/>
        </p:spPr>
        <p:txBody>
          <a:bodyPr wrap="square" lIns="0" tIns="0" rIns="0" bIns="0" rtlCol="0" anchor="t"/>
          <a:lstStyle/>
          <a:p>
            <a:pPr indent="0" marL="0">
              <a:buNone/>
            </a:pPr>
            <a:r>
              <a:rPr lang="en-US" sz="1500" b="1" dirty="0">
                <a:solidFill>
                  <a:srgbClr val="F4F2ED"/>
                </a:solidFill>
                <a:latin typeface="Arial Narrow" pitchFamily="34" charset="0"/>
                <a:ea typeface="Arial Narrow" pitchFamily="34" charset="-122"/>
                <a:cs typeface="Arial Narrow" pitchFamily="34" charset="-120"/>
              </a:rPr>
              <a:t>Missing proof</a:t>
            </a:r>
            <a:endParaRPr lang="en-US" sz="1500" dirty="0"/>
          </a:p>
        </p:txBody>
      </p:sp>
      <p:sp>
        <p:nvSpPr>
          <p:cNvPr id="11" name="Text 9"/>
          <p:cNvSpPr txBox="1"/>
          <p:nvPr/>
        </p:nvSpPr>
        <p:spPr>
          <a:xfrm>
            <a:off x="2871216" y="2395728"/>
            <a:ext cx="8817559" cy="786384"/>
          </a:xfrm>
          <a:prstGeom prst="rect">
            <a:avLst/>
          </a:prstGeom>
          <a:noFill/>
          <a:ln/>
        </p:spPr>
        <p:txBody>
          <a:bodyPr wrap="square" lIns="0" tIns="0" rIns="0" bIns="0" rtlCol="0" anchor="t"/>
          <a:lstStyle/>
          <a:p>
            <a:pPr indent="0" marL="0">
              <a:lnSpc>
                <a:spcPct val="118000"/>
              </a:lnSpc>
              <a:buNone/>
            </a:pPr>
            <a:r>
              <a:rPr lang="en-US" sz="1250" dirty="0">
                <a:solidFill>
                  <a:srgbClr val="DFDFDF"/>
                </a:solidFill>
                <a:latin typeface="Arial" pitchFamily="34" charset="0"/>
                <a:ea typeface="Arial" pitchFamily="34" charset="-122"/>
                <a:cs typeface="Arial" pitchFamily="34" charset="-120"/>
              </a:rPr>
              <a:t>The Crafted Brewers' Choice award, the fits-any-system callout and strong reviews are all buried below the fold.</a:t>
            </a:r>
            <a:endParaRPr lang="en-US" sz="1250" dirty="0"/>
          </a:p>
        </p:txBody>
      </p:sp>
      <p:sp>
        <p:nvSpPr>
          <p:cNvPr id="12" name="Shape 10"/>
          <p:cNvSpPr/>
          <p:nvPr/>
        </p:nvSpPr>
        <p:spPr>
          <a:xfrm rot="5400000">
            <a:off x="502920" y="3374136"/>
            <a:ext cx="274320" cy="274320"/>
          </a:xfrm>
          <a:prstGeom prst="hexagon">
            <a:avLst/>
          </a:prstGeom>
          <a:solidFill>
            <a:srgbClr val="CE9A49"/>
          </a:solidFill>
          <a:ln w="12700">
            <a:solidFill>
              <a:srgbClr val="CE9A49"/>
            </a:solidFill>
            <a:prstDash val="solid"/>
          </a:ln>
        </p:spPr>
      </p:sp>
      <p:sp>
        <p:nvSpPr>
          <p:cNvPr id="13" name="Text 11"/>
          <p:cNvSpPr txBox="1"/>
          <p:nvPr/>
        </p:nvSpPr>
        <p:spPr>
          <a:xfrm>
            <a:off x="502920" y="3374136"/>
            <a:ext cx="274320" cy="274320"/>
          </a:xfrm>
          <a:prstGeom prst="rect">
            <a:avLst/>
          </a:prstGeom>
          <a:noFill/>
          <a:ln/>
        </p:spPr>
        <p:txBody>
          <a:bodyPr wrap="square" lIns="0" tIns="0" rIns="0" bIns="0" rtlCol="0" anchor="ctr"/>
          <a:lstStyle/>
          <a:p>
            <a:pPr algn="ctr" indent="0" marL="0">
              <a:buNone/>
            </a:pPr>
            <a:r>
              <a:rPr lang="en-US" sz="1100" b="1" dirty="0">
                <a:solidFill>
                  <a:srgbClr val="0C2113"/>
                </a:solidFill>
                <a:latin typeface="Arial Narrow" pitchFamily="34" charset="0"/>
                <a:ea typeface="Arial Narrow" pitchFamily="34" charset="-122"/>
                <a:cs typeface="Arial Narrow" pitchFamily="34" charset="-120"/>
              </a:rPr>
              <a:t>3</a:t>
            </a:r>
            <a:endParaRPr lang="en-US" sz="1100" dirty="0"/>
          </a:p>
        </p:txBody>
      </p:sp>
      <p:sp>
        <p:nvSpPr>
          <p:cNvPr id="14" name="Text 12"/>
          <p:cNvSpPr txBox="1"/>
          <p:nvPr/>
        </p:nvSpPr>
        <p:spPr>
          <a:xfrm>
            <a:off x="905256" y="3346704"/>
            <a:ext cx="1965960" cy="365760"/>
          </a:xfrm>
          <a:prstGeom prst="rect">
            <a:avLst/>
          </a:prstGeom>
          <a:noFill/>
          <a:ln/>
        </p:spPr>
        <p:txBody>
          <a:bodyPr wrap="square" lIns="0" tIns="0" rIns="0" bIns="0" rtlCol="0" anchor="t"/>
          <a:lstStyle/>
          <a:p>
            <a:pPr indent="0" marL="0">
              <a:buNone/>
            </a:pPr>
            <a:r>
              <a:rPr lang="en-US" sz="1500" b="1" dirty="0">
                <a:solidFill>
                  <a:srgbClr val="F4F2ED"/>
                </a:solidFill>
                <a:latin typeface="Arial Narrow" pitchFamily="34" charset="0"/>
                <a:ea typeface="Arial Narrow" pitchFamily="34" charset="-122"/>
                <a:cs typeface="Arial Narrow" pitchFamily="34" charset="-120"/>
              </a:rPr>
              <a:t>Hierarchy</a:t>
            </a:r>
            <a:endParaRPr lang="en-US" sz="1500" dirty="0"/>
          </a:p>
        </p:txBody>
      </p:sp>
      <p:sp>
        <p:nvSpPr>
          <p:cNvPr id="15" name="Text 13"/>
          <p:cNvSpPr txBox="1"/>
          <p:nvPr/>
        </p:nvSpPr>
        <p:spPr>
          <a:xfrm>
            <a:off x="2871216" y="3328416"/>
            <a:ext cx="8817559" cy="786384"/>
          </a:xfrm>
          <a:prstGeom prst="rect">
            <a:avLst/>
          </a:prstGeom>
          <a:noFill/>
          <a:ln/>
        </p:spPr>
        <p:txBody>
          <a:bodyPr wrap="square" lIns="0" tIns="0" rIns="0" bIns="0" rtlCol="0" anchor="t"/>
          <a:lstStyle/>
          <a:p>
            <a:pPr indent="0" marL="0">
              <a:lnSpc>
                <a:spcPct val="118000"/>
              </a:lnSpc>
              <a:buNone/>
            </a:pPr>
            <a:r>
              <a:rPr lang="en-US" sz="1250" dirty="0">
                <a:solidFill>
                  <a:srgbClr val="DFDFDF"/>
                </a:solidFill>
                <a:latin typeface="Arial" pitchFamily="34" charset="0"/>
                <a:ea typeface="Arial" pitchFamily="34" charset="-122"/>
                <a:cs typeface="Arial" pitchFamily="34" charset="-120"/>
              </a:rPr>
              <a:t>Four business units treated equally. Prioritise the moments that matter: family, friends, the proud provider role.</a:t>
            </a:r>
            <a:endParaRPr lang="en-US" sz="1250" dirty="0"/>
          </a:p>
        </p:txBody>
      </p:sp>
      <p:sp>
        <p:nvSpPr>
          <p:cNvPr id="16" name="Shape 14"/>
          <p:cNvSpPr/>
          <p:nvPr/>
        </p:nvSpPr>
        <p:spPr>
          <a:xfrm rot="5400000">
            <a:off x="502920" y="4306824"/>
            <a:ext cx="274320" cy="274320"/>
          </a:xfrm>
          <a:prstGeom prst="hexagon">
            <a:avLst/>
          </a:prstGeom>
          <a:solidFill>
            <a:srgbClr val="CE9A49"/>
          </a:solidFill>
          <a:ln w="12700">
            <a:solidFill>
              <a:srgbClr val="CE9A49"/>
            </a:solidFill>
            <a:prstDash val="solid"/>
          </a:ln>
        </p:spPr>
      </p:sp>
      <p:sp>
        <p:nvSpPr>
          <p:cNvPr id="17" name="Text 15"/>
          <p:cNvSpPr txBox="1"/>
          <p:nvPr/>
        </p:nvSpPr>
        <p:spPr>
          <a:xfrm>
            <a:off x="502920" y="4306824"/>
            <a:ext cx="274320" cy="274320"/>
          </a:xfrm>
          <a:prstGeom prst="rect">
            <a:avLst/>
          </a:prstGeom>
          <a:noFill/>
          <a:ln/>
        </p:spPr>
        <p:txBody>
          <a:bodyPr wrap="square" lIns="0" tIns="0" rIns="0" bIns="0" rtlCol="0" anchor="ctr"/>
          <a:lstStyle/>
          <a:p>
            <a:pPr algn="ctr" indent="0" marL="0">
              <a:buNone/>
            </a:pPr>
            <a:r>
              <a:rPr lang="en-US" sz="1100" b="1" dirty="0">
                <a:solidFill>
                  <a:srgbClr val="0C2113"/>
                </a:solidFill>
                <a:latin typeface="Arial Narrow" pitchFamily="34" charset="0"/>
                <a:ea typeface="Arial Narrow" pitchFamily="34" charset="-122"/>
                <a:cs typeface="Arial Narrow" pitchFamily="34" charset="-120"/>
              </a:rPr>
              <a:t>4</a:t>
            </a:r>
            <a:endParaRPr lang="en-US" sz="1100" dirty="0"/>
          </a:p>
        </p:txBody>
      </p:sp>
      <p:sp>
        <p:nvSpPr>
          <p:cNvPr id="18" name="Text 16"/>
          <p:cNvSpPr txBox="1"/>
          <p:nvPr/>
        </p:nvSpPr>
        <p:spPr>
          <a:xfrm>
            <a:off x="905256" y="4279392"/>
            <a:ext cx="1965960" cy="365760"/>
          </a:xfrm>
          <a:prstGeom prst="rect">
            <a:avLst/>
          </a:prstGeom>
          <a:noFill/>
          <a:ln/>
        </p:spPr>
        <p:txBody>
          <a:bodyPr wrap="square" lIns="0" tIns="0" rIns="0" bIns="0" rtlCol="0" anchor="t"/>
          <a:lstStyle/>
          <a:p>
            <a:pPr indent="0" marL="0">
              <a:buNone/>
            </a:pPr>
            <a:r>
              <a:rPr lang="en-US" sz="1500" b="1" dirty="0">
                <a:solidFill>
                  <a:srgbClr val="F4F2ED"/>
                </a:solidFill>
                <a:latin typeface="Arial Narrow" pitchFamily="34" charset="0"/>
                <a:ea typeface="Arial Narrow" pitchFamily="34" charset="-122"/>
                <a:cs typeface="Arial Narrow" pitchFamily="34" charset="-120"/>
              </a:rPr>
              <a:t>Category</a:t>
            </a:r>
            <a:endParaRPr lang="en-US" sz="1500" dirty="0"/>
          </a:p>
        </p:txBody>
      </p:sp>
      <p:sp>
        <p:nvSpPr>
          <p:cNvPr id="19" name="Text 17"/>
          <p:cNvSpPr txBox="1"/>
          <p:nvPr/>
        </p:nvSpPr>
        <p:spPr>
          <a:xfrm>
            <a:off x="2871216" y="4261104"/>
            <a:ext cx="8817559" cy="786384"/>
          </a:xfrm>
          <a:prstGeom prst="rect">
            <a:avLst/>
          </a:prstGeom>
          <a:noFill/>
          <a:ln/>
        </p:spPr>
        <p:txBody>
          <a:bodyPr wrap="square" lIns="0" tIns="0" rIns="0" bIns="0" rtlCol="0" anchor="t"/>
          <a:lstStyle/>
          <a:p>
            <a:pPr indent="0" marL="0">
              <a:lnSpc>
                <a:spcPct val="118000"/>
              </a:lnSpc>
              <a:buNone/>
            </a:pPr>
            <a:r>
              <a:rPr lang="en-US" sz="1250" dirty="0">
                <a:solidFill>
                  <a:srgbClr val="DFDFDF"/>
                </a:solidFill>
                <a:latin typeface="Arial" pitchFamily="34" charset="0"/>
                <a:ea typeface="Arial" pitchFamily="34" charset="-122"/>
                <a:cs typeface="Arial" pitchFamily="34" charset="-120"/>
              </a:rPr>
              <a:t>Commercial brewer invites mainstream price and product comparisons. It needs an elevated category name of its own.</a:t>
            </a:r>
            <a:endParaRPr lang="en-US" sz="1250" dirty="0"/>
          </a:p>
        </p:txBody>
      </p:sp>
      <p:sp>
        <p:nvSpPr>
          <p:cNvPr id="20" name="Shape 18"/>
          <p:cNvSpPr/>
          <p:nvPr/>
        </p:nvSpPr>
        <p:spPr>
          <a:xfrm rot="5400000">
            <a:off x="502920" y="5239512"/>
            <a:ext cx="274320" cy="274320"/>
          </a:xfrm>
          <a:prstGeom prst="hexagon">
            <a:avLst/>
          </a:prstGeom>
          <a:solidFill>
            <a:srgbClr val="CE9A49"/>
          </a:solidFill>
          <a:ln w="12700">
            <a:solidFill>
              <a:srgbClr val="CE9A49"/>
            </a:solidFill>
            <a:prstDash val="solid"/>
          </a:ln>
        </p:spPr>
      </p:sp>
      <p:sp>
        <p:nvSpPr>
          <p:cNvPr id="21" name="Text 19"/>
          <p:cNvSpPr txBox="1"/>
          <p:nvPr/>
        </p:nvSpPr>
        <p:spPr>
          <a:xfrm>
            <a:off x="502920" y="5239512"/>
            <a:ext cx="274320" cy="274320"/>
          </a:xfrm>
          <a:prstGeom prst="rect">
            <a:avLst/>
          </a:prstGeom>
          <a:noFill/>
          <a:ln/>
        </p:spPr>
        <p:txBody>
          <a:bodyPr wrap="square" lIns="0" tIns="0" rIns="0" bIns="0" rtlCol="0" anchor="ctr"/>
          <a:lstStyle/>
          <a:p>
            <a:pPr algn="ctr" indent="0" marL="0">
              <a:buNone/>
            </a:pPr>
            <a:r>
              <a:rPr lang="en-US" sz="1100" b="1" dirty="0">
                <a:solidFill>
                  <a:srgbClr val="0C2113"/>
                </a:solidFill>
                <a:latin typeface="Arial Narrow" pitchFamily="34" charset="0"/>
                <a:ea typeface="Arial Narrow" pitchFamily="34" charset="-122"/>
                <a:cs typeface="Arial Narrow" pitchFamily="34" charset="-120"/>
              </a:rPr>
              <a:t>5</a:t>
            </a:r>
            <a:endParaRPr lang="en-US" sz="1100" dirty="0"/>
          </a:p>
        </p:txBody>
      </p:sp>
      <p:sp>
        <p:nvSpPr>
          <p:cNvPr id="22" name="Text 20"/>
          <p:cNvSpPr txBox="1"/>
          <p:nvPr/>
        </p:nvSpPr>
        <p:spPr>
          <a:xfrm>
            <a:off x="905256" y="5212080"/>
            <a:ext cx="1965960" cy="365760"/>
          </a:xfrm>
          <a:prstGeom prst="rect">
            <a:avLst/>
          </a:prstGeom>
          <a:noFill/>
          <a:ln/>
        </p:spPr>
        <p:txBody>
          <a:bodyPr wrap="square" lIns="0" tIns="0" rIns="0" bIns="0" rtlCol="0" anchor="t"/>
          <a:lstStyle/>
          <a:p>
            <a:pPr indent="0" marL="0">
              <a:buNone/>
            </a:pPr>
            <a:r>
              <a:rPr lang="en-US" sz="1500" b="1" dirty="0">
                <a:solidFill>
                  <a:srgbClr val="F4F2ED"/>
                </a:solidFill>
                <a:latin typeface="Arial Narrow" pitchFamily="34" charset="0"/>
                <a:ea typeface="Arial Narrow" pitchFamily="34" charset="-122"/>
                <a:cs typeface="Arial Narrow" pitchFamily="34" charset="-120"/>
              </a:rPr>
              <a:t>Channel language</a:t>
            </a:r>
            <a:endParaRPr lang="en-US" sz="1500" dirty="0"/>
          </a:p>
        </p:txBody>
      </p:sp>
      <p:sp>
        <p:nvSpPr>
          <p:cNvPr id="23" name="Text 21"/>
          <p:cNvSpPr txBox="1"/>
          <p:nvPr/>
        </p:nvSpPr>
        <p:spPr>
          <a:xfrm>
            <a:off x="2871216" y="5193792"/>
            <a:ext cx="8817559" cy="786384"/>
          </a:xfrm>
          <a:prstGeom prst="rect">
            <a:avLst/>
          </a:prstGeom>
          <a:noFill/>
          <a:ln/>
        </p:spPr>
        <p:txBody>
          <a:bodyPr wrap="square" lIns="0" tIns="0" rIns="0" bIns="0" rtlCol="0" anchor="t"/>
          <a:lstStyle/>
          <a:p>
            <a:pPr indent="0" marL="0">
              <a:lnSpc>
                <a:spcPct val="118000"/>
              </a:lnSpc>
              <a:buNone/>
            </a:pPr>
            <a:r>
              <a:rPr lang="en-US" sz="1250" dirty="0">
                <a:solidFill>
                  <a:srgbClr val="DFDFDF"/>
                </a:solidFill>
                <a:latin typeface="Arial" pitchFamily="34" charset="0"/>
                <a:ea typeface="Arial" pitchFamily="34" charset="-122"/>
                <a:cs typeface="Arial" pitchFamily="34" charset="-120"/>
              </a:rPr>
              <a:t>Wholesale should speak directly to restaurants and sporting clubs: cuisine matching, club-branded kegs, straight to the margin story.</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4361D"/>
        </a:solidFill>
      </p:bgPr>
    </p:bg>
    <p:spTree>
      <p:nvGrpSpPr>
        <p:cNvPr id="1" name=""/>
        <p:cNvGrpSpPr/>
        <p:nvPr/>
      </p:nvGrpSpPr>
      <p:grpSpPr>
        <a:xfrm>
          <a:off x="0" y="0"/>
          <a:ext cx="0" cy="0"/>
          <a:chOff x="0" y="0"/>
          <a:chExt cx="0" cy="0"/>
        </a:xfrm>
      </p:grpSpPr>
      <p:sp>
        <p:nvSpPr>
          <p:cNvPr id="2" name="Text 0"/>
          <p:cNvSpPr txBox="1"/>
          <p:nvPr/>
        </p:nvSpPr>
        <p:spPr>
          <a:xfrm>
            <a:off x="502920" y="310896"/>
            <a:ext cx="11185855" cy="237744"/>
          </a:xfrm>
          <a:prstGeom prst="rect">
            <a:avLst/>
          </a:prstGeom>
          <a:noFill/>
          <a:ln/>
        </p:spPr>
        <p:txBody>
          <a:bodyPr wrap="square" lIns="0" tIns="0" rIns="0" bIns="0" rtlCol="0" anchor="ctr"/>
          <a:lstStyle/>
          <a:p>
            <a:pPr indent="0" marL="0">
              <a:buNone/>
            </a:pPr>
            <a:r>
              <a:rPr lang="en-US" sz="1100" b="1" spc="300" kern="0" dirty="0">
                <a:solidFill>
                  <a:srgbClr val="CE9A49"/>
                </a:solidFill>
                <a:latin typeface="Arial Narrow" pitchFamily="34" charset="0"/>
                <a:ea typeface="Arial Narrow" pitchFamily="34" charset="-122"/>
                <a:cs typeface="Arial Narrow" pitchFamily="34" charset="-120"/>
              </a:rPr>
              <a:t>WHERE JEWELL PROJECTS CAN HELP</a:t>
            </a:r>
            <a:endParaRPr lang="en-US" sz="1100" dirty="0"/>
          </a:p>
        </p:txBody>
      </p:sp>
      <p:sp>
        <p:nvSpPr>
          <p:cNvPr id="3" name="Text 1"/>
          <p:cNvSpPr txBox="1"/>
          <p:nvPr/>
        </p:nvSpPr>
        <p:spPr>
          <a:xfrm>
            <a:off x="502920" y="566928"/>
            <a:ext cx="11185855" cy="603504"/>
          </a:xfrm>
          <a:prstGeom prst="rect">
            <a:avLst/>
          </a:prstGeom>
          <a:noFill/>
          <a:ln/>
        </p:spPr>
        <p:txBody>
          <a:bodyPr wrap="square" lIns="0" tIns="0" rIns="0" bIns="0" rtlCol="0" anchor="t"/>
          <a:lstStyle/>
          <a:p>
            <a:pPr indent="0" marL="0">
              <a:buNone/>
            </a:pPr>
            <a:r>
              <a:rPr lang="en-US" sz="2700" b="1" dirty="0">
                <a:solidFill>
                  <a:srgbClr val="F4F2ED"/>
                </a:solidFill>
                <a:latin typeface="Arial Narrow" pitchFamily="34" charset="0"/>
                <a:ea typeface="Arial Narrow" pitchFamily="34" charset="-122"/>
                <a:cs typeface="Arial Narrow" pitchFamily="34" charset="-120"/>
              </a:rPr>
              <a:t>What we can pick up from here.</a:t>
            </a:r>
            <a:endParaRPr lang="en-US" sz="2700" dirty="0"/>
          </a:p>
        </p:txBody>
      </p:sp>
      <p:sp>
        <p:nvSpPr>
          <p:cNvPr id="4" name="Text 2"/>
          <p:cNvSpPr txBox="1"/>
          <p:nvPr/>
        </p:nvSpPr>
        <p:spPr>
          <a:xfrm>
            <a:off x="502920" y="1481328"/>
            <a:ext cx="5318608" cy="292608"/>
          </a:xfrm>
          <a:prstGeom prst="rect">
            <a:avLst/>
          </a:prstGeom>
          <a:noFill/>
          <a:ln/>
        </p:spPr>
        <p:txBody>
          <a:bodyPr wrap="square" lIns="0" tIns="0" rIns="0" bIns="0" rtlCol="0" anchor="ctr"/>
          <a:lstStyle/>
          <a:p>
            <a:pPr indent="0" marL="0">
              <a:buNone/>
            </a:pPr>
            <a:r>
              <a:rPr lang="en-US" sz="1300" b="1" spc="300" kern="0" dirty="0">
                <a:solidFill>
                  <a:srgbClr val="CE9A49"/>
                </a:solidFill>
                <a:latin typeface="Arial Narrow" pitchFamily="34" charset="0"/>
                <a:ea typeface="Arial Narrow" pitchFamily="34" charset="-122"/>
                <a:cs typeface="Arial Narrow" pitchFamily="34" charset="-120"/>
              </a:rPr>
              <a:t>FROM THE BRIEF</a:t>
            </a:r>
            <a:endParaRPr lang="en-US" sz="1300" dirty="0"/>
          </a:p>
        </p:txBody>
      </p:sp>
      <p:sp>
        <p:nvSpPr>
          <p:cNvPr id="5" name="Shape 3"/>
          <p:cNvSpPr/>
          <p:nvPr/>
        </p:nvSpPr>
        <p:spPr>
          <a:xfrm rot="5400000">
            <a:off x="502920" y="2093976"/>
            <a:ext cx="155448" cy="155448"/>
          </a:xfrm>
          <a:prstGeom prst="hexagon">
            <a:avLst/>
          </a:prstGeom>
          <a:solidFill>
            <a:srgbClr val="CE9A49"/>
          </a:solidFill>
          <a:ln w="12700">
            <a:solidFill>
              <a:srgbClr val="333333"/>
            </a:solidFill>
            <a:prstDash val="solid"/>
          </a:ln>
        </p:spPr>
      </p:sp>
      <p:sp>
        <p:nvSpPr>
          <p:cNvPr id="6" name="Text 4"/>
          <p:cNvSpPr txBox="1"/>
          <p:nvPr/>
        </p:nvSpPr>
        <p:spPr>
          <a:xfrm>
            <a:off x="813816" y="1975104"/>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Website design optimisation</a:t>
            </a:r>
            <a:endParaRPr lang="en-US" sz="1250" dirty="0"/>
          </a:p>
        </p:txBody>
      </p:sp>
      <p:sp>
        <p:nvSpPr>
          <p:cNvPr id="7" name="Shape 5"/>
          <p:cNvSpPr/>
          <p:nvPr/>
        </p:nvSpPr>
        <p:spPr>
          <a:xfrm rot="5400000">
            <a:off x="502920" y="2807208"/>
            <a:ext cx="155448" cy="155448"/>
          </a:xfrm>
          <a:prstGeom prst="hexagon">
            <a:avLst/>
          </a:prstGeom>
          <a:solidFill>
            <a:srgbClr val="CE9A49"/>
          </a:solidFill>
          <a:ln w="12700">
            <a:solidFill>
              <a:srgbClr val="333333"/>
            </a:solidFill>
            <a:prstDash val="solid"/>
          </a:ln>
        </p:spPr>
      </p:sp>
      <p:sp>
        <p:nvSpPr>
          <p:cNvPr id="8" name="Text 6"/>
          <p:cNvSpPr txBox="1"/>
          <p:nvPr/>
        </p:nvSpPr>
        <p:spPr>
          <a:xfrm>
            <a:off x="813816" y="2688336"/>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SEO and GEO best-practice implementation</a:t>
            </a:r>
            <a:endParaRPr lang="en-US" sz="1250" dirty="0"/>
          </a:p>
        </p:txBody>
      </p:sp>
      <p:sp>
        <p:nvSpPr>
          <p:cNvPr id="9" name="Shape 7"/>
          <p:cNvSpPr/>
          <p:nvPr/>
        </p:nvSpPr>
        <p:spPr>
          <a:xfrm rot="5400000">
            <a:off x="502920" y="3520440"/>
            <a:ext cx="155448" cy="155448"/>
          </a:xfrm>
          <a:prstGeom prst="hexagon">
            <a:avLst/>
          </a:prstGeom>
          <a:solidFill>
            <a:srgbClr val="CE9A49"/>
          </a:solidFill>
          <a:ln w="12700">
            <a:solidFill>
              <a:srgbClr val="333333"/>
            </a:solidFill>
            <a:prstDash val="solid"/>
          </a:ln>
        </p:spPr>
      </p:sp>
      <p:sp>
        <p:nvSpPr>
          <p:cNvPr id="10" name="Text 8"/>
          <p:cNvSpPr txBox="1"/>
          <p:nvPr/>
        </p:nvSpPr>
        <p:spPr>
          <a:xfrm>
            <a:off x="813816" y="3401568"/>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PR outreach to tourism operators and experiential platforms</a:t>
            </a:r>
            <a:endParaRPr lang="en-US" sz="1250" dirty="0"/>
          </a:p>
        </p:txBody>
      </p:sp>
      <p:sp>
        <p:nvSpPr>
          <p:cNvPr id="11" name="Shape 9"/>
          <p:cNvSpPr/>
          <p:nvPr/>
        </p:nvSpPr>
        <p:spPr>
          <a:xfrm rot="5400000">
            <a:off x="502920" y="4233672"/>
            <a:ext cx="155448" cy="155448"/>
          </a:xfrm>
          <a:prstGeom prst="hexagon">
            <a:avLst/>
          </a:prstGeom>
          <a:solidFill>
            <a:srgbClr val="CE9A49"/>
          </a:solidFill>
          <a:ln w="12700">
            <a:solidFill>
              <a:srgbClr val="333333"/>
            </a:solidFill>
            <a:prstDash val="solid"/>
          </a:ln>
        </p:spPr>
      </p:sp>
      <p:sp>
        <p:nvSpPr>
          <p:cNvPr id="12" name="Text 10"/>
          <p:cNvSpPr txBox="1"/>
          <p:nvPr/>
        </p:nvSpPr>
        <p:spPr>
          <a:xfrm>
            <a:off x="813816" y="4114800"/>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Influencer outreach</a:t>
            </a:r>
            <a:endParaRPr lang="en-US" sz="1250" dirty="0"/>
          </a:p>
        </p:txBody>
      </p:sp>
      <p:sp>
        <p:nvSpPr>
          <p:cNvPr id="13" name="Shape 11"/>
          <p:cNvSpPr/>
          <p:nvPr/>
        </p:nvSpPr>
        <p:spPr>
          <a:xfrm rot="5400000">
            <a:off x="502920" y="4946904"/>
            <a:ext cx="155448" cy="155448"/>
          </a:xfrm>
          <a:prstGeom prst="hexagon">
            <a:avLst/>
          </a:prstGeom>
          <a:solidFill>
            <a:srgbClr val="CE9A49"/>
          </a:solidFill>
          <a:ln w="12700">
            <a:solidFill>
              <a:srgbClr val="333333"/>
            </a:solidFill>
            <a:prstDash val="solid"/>
          </a:ln>
        </p:spPr>
      </p:sp>
      <p:sp>
        <p:nvSpPr>
          <p:cNvPr id="14" name="Text 12"/>
          <p:cNvSpPr txBox="1"/>
          <p:nvPr/>
        </p:nvSpPr>
        <p:spPr>
          <a:xfrm>
            <a:off x="813816" y="4828032"/>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Partnerships outreach and project management: BBQ brands, system collabs</a:t>
            </a:r>
            <a:endParaRPr lang="en-US" sz="1250" dirty="0"/>
          </a:p>
        </p:txBody>
      </p:sp>
      <p:sp>
        <p:nvSpPr>
          <p:cNvPr id="15" name="Shape 13"/>
          <p:cNvSpPr/>
          <p:nvPr/>
        </p:nvSpPr>
        <p:spPr>
          <a:xfrm rot="5400000">
            <a:off x="502920" y="5660136"/>
            <a:ext cx="155448" cy="155448"/>
          </a:xfrm>
          <a:prstGeom prst="hexagon">
            <a:avLst/>
          </a:prstGeom>
          <a:solidFill>
            <a:srgbClr val="CE9A49"/>
          </a:solidFill>
          <a:ln w="12700">
            <a:solidFill>
              <a:srgbClr val="333333"/>
            </a:solidFill>
            <a:prstDash val="solid"/>
          </a:ln>
        </p:spPr>
      </p:sp>
      <p:sp>
        <p:nvSpPr>
          <p:cNvPr id="16" name="Text 14"/>
          <p:cNvSpPr txBox="1"/>
          <p:nvPr/>
        </p:nvSpPr>
        <p:spPr>
          <a:xfrm>
            <a:off x="813816" y="5541264"/>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Urban Legends collaborative booking tool</a:t>
            </a:r>
            <a:endParaRPr lang="en-US" sz="1250" dirty="0"/>
          </a:p>
        </p:txBody>
      </p:sp>
      <p:sp>
        <p:nvSpPr>
          <p:cNvPr id="17" name="Text 15"/>
          <p:cNvSpPr txBox="1"/>
          <p:nvPr/>
        </p:nvSpPr>
        <p:spPr>
          <a:xfrm>
            <a:off x="6370168" y="1481328"/>
            <a:ext cx="5318608" cy="292608"/>
          </a:xfrm>
          <a:prstGeom prst="rect">
            <a:avLst/>
          </a:prstGeom>
          <a:noFill/>
          <a:ln/>
        </p:spPr>
        <p:txBody>
          <a:bodyPr wrap="square" lIns="0" tIns="0" rIns="0" bIns="0" rtlCol="0" anchor="ctr"/>
          <a:lstStyle/>
          <a:p>
            <a:pPr indent="0" marL="0">
              <a:buNone/>
            </a:pPr>
            <a:r>
              <a:rPr lang="en-US" sz="1300" b="1" spc="300" kern="0" dirty="0">
                <a:solidFill>
                  <a:srgbClr val="CE9A49"/>
                </a:solidFill>
                <a:latin typeface="Arial Narrow" pitchFamily="34" charset="0"/>
                <a:ea typeface="Arial Narrow" pitchFamily="34" charset="-122"/>
                <a:cs typeface="Arial Narrow" pitchFamily="34" charset="-120"/>
              </a:rPr>
              <a:t>ALSO WORTH ADDING</a:t>
            </a:r>
            <a:endParaRPr lang="en-US" sz="1300" dirty="0"/>
          </a:p>
        </p:txBody>
      </p:sp>
      <p:sp>
        <p:nvSpPr>
          <p:cNvPr id="18" name="Shape 16"/>
          <p:cNvSpPr/>
          <p:nvPr/>
        </p:nvSpPr>
        <p:spPr>
          <a:xfrm rot="5400000">
            <a:off x="6370168" y="2093976"/>
            <a:ext cx="155448" cy="155448"/>
          </a:xfrm>
          <a:prstGeom prst="hexagon">
            <a:avLst/>
          </a:prstGeom>
          <a:solidFill>
            <a:srgbClr val="CE9A49"/>
          </a:solidFill>
          <a:ln w="12700">
            <a:solidFill>
              <a:srgbClr val="333333"/>
            </a:solidFill>
            <a:prstDash val="solid"/>
          </a:ln>
        </p:spPr>
      </p:sp>
      <p:sp>
        <p:nvSpPr>
          <p:cNvPr id="19" name="Text 17"/>
          <p:cNvSpPr txBox="1"/>
          <p:nvPr/>
        </p:nvSpPr>
        <p:spPr>
          <a:xfrm>
            <a:off x="6681064" y="1975104"/>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Trigger-based CRM and lifecycle build, which fixes the 90-day SMS problem</a:t>
            </a:r>
            <a:endParaRPr lang="en-US" sz="1250" dirty="0"/>
          </a:p>
        </p:txBody>
      </p:sp>
      <p:sp>
        <p:nvSpPr>
          <p:cNvPr id="20" name="Shape 18"/>
          <p:cNvSpPr/>
          <p:nvPr/>
        </p:nvSpPr>
        <p:spPr>
          <a:xfrm rot="5400000">
            <a:off x="6370168" y="2807208"/>
            <a:ext cx="155448" cy="155448"/>
          </a:xfrm>
          <a:prstGeom prst="hexagon">
            <a:avLst/>
          </a:prstGeom>
          <a:solidFill>
            <a:srgbClr val="CE9A49"/>
          </a:solidFill>
          <a:ln w="12700">
            <a:solidFill>
              <a:srgbClr val="333333"/>
            </a:solidFill>
            <a:prstDash val="solid"/>
          </a:ln>
        </p:spPr>
      </p:sp>
      <p:sp>
        <p:nvSpPr>
          <p:cNvPr id="21" name="Text 19"/>
          <p:cNvSpPr txBox="1"/>
          <p:nvPr/>
        </p:nvSpPr>
        <p:spPr>
          <a:xfrm>
            <a:off x="6681064" y="2688336"/>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Membership programme redesign</a:t>
            </a:r>
            <a:endParaRPr lang="en-US" sz="1250" dirty="0"/>
          </a:p>
        </p:txBody>
      </p:sp>
      <p:sp>
        <p:nvSpPr>
          <p:cNvPr id="22" name="Shape 20"/>
          <p:cNvSpPr/>
          <p:nvPr/>
        </p:nvSpPr>
        <p:spPr>
          <a:xfrm rot="5400000">
            <a:off x="6370168" y="3520440"/>
            <a:ext cx="155448" cy="155448"/>
          </a:xfrm>
          <a:prstGeom prst="hexagon">
            <a:avLst/>
          </a:prstGeom>
          <a:solidFill>
            <a:srgbClr val="CE9A49"/>
          </a:solidFill>
          <a:ln w="12700">
            <a:solidFill>
              <a:srgbClr val="333333"/>
            </a:solidFill>
            <a:prstDash val="solid"/>
          </a:ln>
        </p:spPr>
      </p:sp>
      <p:sp>
        <p:nvSpPr>
          <p:cNvPr id="23" name="Text 21"/>
          <p:cNvSpPr txBox="1"/>
          <p:nvPr/>
        </p:nvSpPr>
        <p:spPr>
          <a:xfrm>
            <a:off x="6681064" y="3401568"/>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Wholesale structure and KPI framework</a:t>
            </a:r>
            <a:endParaRPr lang="en-US" sz="1250" dirty="0"/>
          </a:p>
        </p:txBody>
      </p:sp>
      <p:sp>
        <p:nvSpPr>
          <p:cNvPr id="24" name="Shape 22"/>
          <p:cNvSpPr/>
          <p:nvPr/>
        </p:nvSpPr>
        <p:spPr>
          <a:xfrm rot="5400000">
            <a:off x="6370168" y="4233672"/>
            <a:ext cx="155448" cy="155448"/>
          </a:xfrm>
          <a:prstGeom prst="hexagon">
            <a:avLst/>
          </a:prstGeom>
          <a:solidFill>
            <a:srgbClr val="CE9A49"/>
          </a:solidFill>
          <a:ln w="12700">
            <a:solidFill>
              <a:srgbClr val="333333"/>
            </a:solidFill>
            <a:prstDash val="solid"/>
          </a:ln>
        </p:spPr>
      </p:sp>
      <p:sp>
        <p:nvSpPr>
          <p:cNvPr id="25" name="Text 23"/>
          <p:cNvSpPr txBox="1"/>
          <p:nvPr/>
        </p:nvSpPr>
        <p:spPr>
          <a:xfrm>
            <a:off x="6681064" y="4114800"/>
            <a:ext cx="5007712" cy="603504"/>
          </a:xfrm>
          <a:prstGeom prst="rect">
            <a:avLst/>
          </a:prstGeom>
          <a:noFill/>
          <a:ln/>
        </p:spPr>
        <p:txBody>
          <a:bodyPr wrap="square" lIns="0" tIns="0" rIns="0" bIns="0" rtlCol="0" anchor="ctr"/>
          <a:lstStyle/>
          <a:p>
            <a:pPr indent="0" marL="0">
              <a:lnSpc>
                <a:spcPct val="120000"/>
              </a:lnSpc>
              <a:buNone/>
            </a:pPr>
            <a:r>
              <a:rPr lang="en-US" sz="1250" dirty="0">
                <a:solidFill>
                  <a:srgbClr val="DFDFDF"/>
                </a:solidFill>
                <a:latin typeface="Arial" pitchFamily="34" charset="0"/>
                <a:ea typeface="Arial" pitchFamily="34" charset="-122"/>
                <a:cs typeface="Arial" pitchFamily="34" charset="-120"/>
              </a:rPr>
              <a:t>Event flyer and campaign artwork, in the format shown</a:t>
            </a:r>
            <a:endParaRPr lang="en-US" sz="12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Jewell Projects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Tap That -- The Pivot</dc:title>
  <dc:subject>PptxGenJS Presentation</dc:subject>
  <dc:creator>Jewell Projects</dc:creator>
  <cp:lastModifiedBy>Jewell Projects</cp:lastModifiedBy>
  <cp:revision>1</cp:revision>
  <dcterms:created xsi:type="dcterms:W3CDTF">2026-09-06T22:37:17Z</dcterms:created>
  <dcterms:modified xsi:type="dcterms:W3CDTF">2026-09-06T22:37:17Z</dcterms:modified>
</cp:coreProperties>
</file>